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358" r:id="rId2"/>
    <p:sldId id="453" r:id="rId3"/>
    <p:sldId id="366" r:id="rId4"/>
    <p:sldId id="367" r:id="rId5"/>
    <p:sldId id="429" r:id="rId6"/>
    <p:sldId id="375" r:id="rId7"/>
    <p:sldId id="378" r:id="rId8"/>
    <p:sldId id="379" r:id="rId9"/>
    <p:sldId id="380" r:id="rId10"/>
    <p:sldId id="383" r:id="rId11"/>
    <p:sldId id="384" r:id="rId12"/>
    <p:sldId id="385" r:id="rId13"/>
    <p:sldId id="386" r:id="rId14"/>
    <p:sldId id="387" r:id="rId15"/>
    <p:sldId id="388" r:id="rId16"/>
    <p:sldId id="389" r:id="rId17"/>
    <p:sldId id="390" r:id="rId18"/>
    <p:sldId id="392" r:id="rId19"/>
    <p:sldId id="393" r:id="rId20"/>
    <p:sldId id="394" r:id="rId21"/>
    <p:sldId id="396" r:id="rId22"/>
    <p:sldId id="397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409" r:id="rId31"/>
    <p:sldId id="410" r:id="rId32"/>
    <p:sldId id="411" r:id="rId33"/>
    <p:sldId id="412" r:id="rId34"/>
    <p:sldId id="413" r:id="rId35"/>
    <p:sldId id="414" r:id="rId36"/>
    <p:sldId id="415" r:id="rId37"/>
    <p:sldId id="416" r:id="rId38"/>
    <p:sldId id="460" r:id="rId39"/>
    <p:sldId id="420" r:id="rId40"/>
    <p:sldId id="421" r:id="rId41"/>
    <p:sldId id="422" r:id="rId42"/>
    <p:sldId id="423" r:id="rId43"/>
    <p:sldId id="424" r:id="rId44"/>
    <p:sldId id="425" r:id="rId4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8" autoAdjust="0"/>
    <p:restoredTop sz="94660"/>
  </p:normalViewPr>
  <p:slideViewPr>
    <p:cSldViewPr snapToGrid="0">
      <p:cViewPr varScale="1">
        <p:scale>
          <a:sx n="73" d="100"/>
          <a:sy n="73" d="100"/>
        </p:scale>
        <p:origin x="9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F86CF-1176-4C3E-9361-9D4BAA0DEAA6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DB571-2064-4547-B327-F160B9C143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733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0AE0CC-46AB-412C-9D95-D1239D353B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274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j = strlen(str)-1;</a:t>
            </a:r>
          </a:p>
          <a:p>
            <a:r>
              <a:rPr lang="en-US" altLang="zh-CN"/>
              <a:t>j&gt;=0</a:t>
            </a:r>
          </a:p>
          <a:p>
            <a:r>
              <a:rPr lang="en-US" altLang="zh-CN"/>
              <a:t>ptr[i]='\0';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A5206D-904B-4230-84F4-E1C0F70D07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01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Rectangle 24"/>
          <p:cNvSpPr>
            <a:spLocks noChangeArrowheads="1"/>
          </p:cNvSpPr>
          <p:nvPr/>
        </p:nvSpPr>
        <p:spPr bwMode="auto">
          <a:xfrm>
            <a:off x="0" y="3527425"/>
            <a:ext cx="9144000" cy="33575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7" name="Oval 25"/>
          <p:cNvSpPr>
            <a:spLocks noChangeArrowheads="1"/>
          </p:cNvSpPr>
          <p:nvPr/>
        </p:nvSpPr>
        <p:spPr bwMode="ltGray">
          <a:xfrm>
            <a:off x="1258888" y="4508500"/>
            <a:ext cx="4248150" cy="1800225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86525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200" b="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86525"/>
            <a:ext cx="2895600" cy="168275"/>
          </a:xfrm>
        </p:spPr>
        <p:txBody>
          <a:bodyPr/>
          <a:lstStyle>
            <a:lvl1pPr algn="ctr">
              <a:defRPr sz="1200" b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altLang="zh-CN"/>
              <a:t>Database &amp; Information System Lab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486525"/>
            <a:ext cx="2133600" cy="168275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D08D23FD-98F4-42DC-82C4-4AED005C67E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3141663"/>
            <a:ext cx="9144000" cy="431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0" name="Oval 18"/>
          <p:cNvSpPr>
            <a:spLocks noChangeArrowheads="1"/>
          </p:cNvSpPr>
          <p:nvPr/>
        </p:nvSpPr>
        <p:spPr bwMode="gray">
          <a:xfrm>
            <a:off x="276225" y="1255713"/>
            <a:ext cx="4656138" cy="4837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dist="172739" dir="3238358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" name="Freeform 20" descr="1"/>
          <p:cNvSpPr>
            <a:spLocks/>
          </p:cNvSpPr>
          <p:nvPr/>
        </p:nvSpPr>
        <p:spPr bwMode="gray">
          <a:xfrm>
            <a:off x="1130300" y="1416050"/>
            <a:ext cx="2873375" cy="2182813"/>
          </a:xfrm>
          <a:custGeom>
            <a:avLst/>
            <a:gdLst>
              <a:gd name="T0" fmla="*/ 905 w 1810"/>
              <a:gd name="T1" fmla="*/ 1375 h 1375"/>
              <a:gd name="T2" fmla="*/ 1810 w 1810"/>
              <a:gd name="T3" fmla="*/ 395 h 1375"/>
              <a:gd name="T4" fmla="*/ 876 w 1810"/>
              <a:gd name="T5" fmla="*/ 24 h 1375"/>
              <a:gd name="T6" fmla="*/ 0 w 1810"/>
              <a:gd name="T7" fmla="*/ 396 h 1375"/>
              <a:gd name="T8" fmla="*/ 905 w 1810"/>
              <a:gd name="T9" fmla="*/ 1375 h 1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10" h="1375">
                <a:moveTo>
                  <a:pt x="905" y="1375"/>
                </a:moveTo>
                <a:lnTo>
                  <a:pt x="1810" y="395"/>
                </a:lnTo>
                <a:cubicBezTo>
                  <a:pt x="1612" y="176"/>
                  <a:pt x="1300" y="0"/>
                  <a:pt x="876" y="24"/>
                </a:cubicBezTo>
                <a:cubicBezTo>
                  <a:pt x="452" y="48"/>
                  <a:pt x="252" y="149"/>
                  <a:pt x="0" y="396"/>
                </a:cubicBezTo>
                <a:lnTo>
                  <a:pt x="905" y="1375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cmpd="sng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93" name="Freeform 21" descr="2"/>
          <p:cNvSpPr>
            <a:spLocks/>
          </p:cNvSpPr>
          <p:nvPr/>
        </p:nvSpPr>
        <p:spPr bwMode="gray">
          <a:xfrm>
            <a:off x="376238" y="2147888"/>
            <a:ext cx="2103437" cy="3032125"/>
          </a:xfrm>
          <a:custGeom>
            <a:avLst/>
            <a:gdLst>
              <a:gd name="T0" fmla="*/ 1325 w 1325"/>
              <a:gd name="T1" fmla="*/ 960 h 1910"/>
              <a:gd name="T2" fmla="*/ 414 w 1325"/>
              <a:gd name="T3" fmla="*/ 0 h 1910"/>
              <a:gd name="T4" fmla="*/ 27 w 1325"/>
              <a:gd name="T5" fmla="*/ 1014 h 1910"/>
              <a:gd name="T6" fmla="*/ 402 w 1325"/>
              <a:gd name="T7" fmla="*/ 1910 h 1910"/>
              <a:gd name="T8" fmla="*/ 1325 w 1325"/>
              <a:gd name="T9" fmla="*/ 960 h 19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25" h="1910">
                <a:moveTo>
                  <a:pt x="1325" y="960"/>
                </a:moveTo>
                <a:lnTo>
                  <a:pt x="414" y="0"/>
                </a:lnTo>
                <a:cubicBezTo>
                  <a:pt x="238" y="162"/>
                  <a:pt x="0" y="570"/>
                  <a:pt x="27" y="1014"/>
                </a:cubicBezTo>
                <a:cubicBezTo>
                  <a:pt x="53" y="1458"/>
                  <a:pt x="233" y="1748"/>
                  <a:pt x="402" y="1910"/>
                </a:cubicBezTo>
                <a:lnTo>
                  <a:pt x="1325" y="960"/>
                </a:lnTo>
                <a:close/>
              </a:path>
            </a:pathLst>
          </a:cu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cmpd="sng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94" name="Freeform 22" descr="55282"/>
          <p:cNvSpPr>
            <a:spLocks/>
          </p:cNvSpPr>
          <p:nvPr/>
        </p:nvSpPr>
        <p:spPr bwMode="gray">
          <a:xfrm>
            <a:off x="1085850" y="3730625"/>
            <a:ext cx="2962275" cy="2219325"/>
          </a:xfrm>
          <a:custGeom>
            <a:avLst/>
            <a:gdLst>
              <a:gd name="T0" fmla="*/ 927 w 1866"/>
              <a:gd name="T1" fmla="*/ 0 h 1398"/>
              <a:gd name="T2" fmla="*/ 0 w 1866"/>
              <a:gd name="T3" fmla="*/ 975 h 1398"/>
              <a:gd name="T4" fmla="*/ 996 w 1866"/>
              <a:gd name="T5" fmla="*/ 1387 h 1398"/>
              <a:gd name="T6" fmla="*/ 1866 w 1866"/>
              <a:gd name="T7" fmla="*/ 996 h 1398"/>
              <a:gd name="T8" fmla="*/ 927 w 1866"/>
              <a:gd name="T9" fmla="*/ 0 h 1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66" h="1398">
                <a:moveTo>
                  <a:pt x="927" y="0"/>
                </a:moveTo>
                <a:lnTo>
                  <a:pt x="0" y="975"/>
                </a:lnTo>
                <a:cubicBezTo>
                  <a:pt x="203" y="1204"/>
                  <a:pt x="607" y="1398"/>
                  <a:pt x="996" y="1387"/>
                </a:cubicBezTo>
                <a:cubicBezTo>
                  <a:pt x="1385" y="1375"/>
                  <a:pt x="1707" y="1159"/>
                  <a:pt x="1866" y="996"/>
                </a:cubicBezTo>
                <a:lnTo>
                  <a:pt x="927" y="0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cmpd="sng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24200" y="762000"/>
            <a:ext cx="5715000" cy="1828800"/>
          </a:xfrm>
        </p:spPr>
        <p:txBody>
          <a:bodyPr/>
          <a:lstStyle>
            <a:lvl1pPr algn="r">
              <a:defRPr sz="4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zh-CN" noProof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4343400" y="3178175"/>
            <a:ext cx="4572000" cy="3810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3091" name="Freeform 19" descr="4"/>
          <p:cNvSpPr>
            <a:spLocks/>
          </p:cNvSpPr>
          <p:nvPr/>
        </p:nvSpPr>
        <p:spPr bwMode="gray">
          <a:xfrm>
            <a:off x="2625725" y="2119313"/>
            <a:ext cx="2139950" cy="3116262"/>
          </a:xfrm>
          <a:custGeom>
            <a:avLst/>
            <a:gdLst>
              <a:gd name="T0" fmla="*/ 951 w 1348"/>
              <a:gd name="T1" fmla="*/ 1963 h 1963"/>
              <a:gd name="T2" fmla="*/ 1338 w 1348"/>
              <a:gd name="T3" fmla="*/ 977 h 1963"/>
              <a:gd name="T4" fmla="*/ 905 w 1348"/>
              <a:gd name="T5" fmla="*/ 0 h 1963"/>
              <a:gd name="T6" fmla="*/ 0 w 1348"/>
              <a:gd name="T7" fmla="*/ 987 h 1963"/>
              <a:gd name="T8" fmla="*/ 951 w 1348"/>
              <a:gd name="T9" fmla="*/ 1963 h 19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48" h="1963">
                <a:moveTo>
                  <a:pt x="951" y="1963"/>
                </a:moveTo>
                <a:cubicBezTo>
                  <a:pt x="1244" y="1689"/>
                  <a:pt x="1348" y="1323"/>
                  <a:pt x="1338" y="977"/>
                </a:cubicBezTo>
                <a:cubicBezTo>
                  <a:pt x="1329" y="629"/>
                  <a:pt x="1132" y="226"/>
                  <a:pt x="905" y="0"/>
                </a:cubicBezTo>
                <a:lnTo>
                  <a:pt x="0" y="987"/>
                </a:lnTo>
                <a:lnTo>
                  <a:pt x="951" y="1963"/>
                </a:lnTo>
                <a:close/>
              </a:path>
            </a:pathLst>
          </a:cu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cmpd="sng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95" name="Oval 23"/>
          <p:cNvSpPr>
            <a:spLocks noChangeArrowheads="1"/>
          </p:cNvSpPr>
          <p:nvPr/>
        </p:nvSpPr>
        <p:spPr bwMode="gray">
          <a:xfrm>
            <a:off x="1806575" y="2924796"/>
            <a:ext cx="1685305" cy="168530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6" name="图片 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024025"/>
            <a:ext cx="1512168" cy="1485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595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93290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622E5D-7BC3-44E6-BA65-C8AAD10FCEE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083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1E1BC1-228F-482E-8CFA-8633C1FC6F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7334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41425"/>
            <a:ext cx="4038600" cy="5248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41425"/>
            <a:ext cx="4038600" cy="5248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FFE93A-C8A7-4BF0-809C-5CD04739F1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1796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76F0EF-F4D1-4F26-B161-37BB4C201B5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1620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2182AA-7D37-4F4A-B3FF-2ED9AFB978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085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DCE65-C438-467B-808B-2463479BB9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348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EE4E85-E134-4C6A-94D1-DAD0BEFDD1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0405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18A697-B4F1-4FE4-813C-D5798309C9E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202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9AD19F-6278-4277-B296-4C15C3C3FB5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8958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76450" cy="6337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076950" cy="6337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9EBAB-404B-4162-86EA-3134271E5A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591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241425"/>
            <a:ext cx="8229600" cy="5248275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6324600" y="6564313"/>
            <a:ext cx="2362200" cy="2444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124200" y="6553200"/>
            <a:ext cx="2133600" cy="234950"/>
          </a:xfrm>
        </p:spPr>
        <p:txBody>
          <a:bodyPr/>
          <a:lstStyle>
            <a:lvl1pPr>
              <a:defRPr/>
            </a:lvl1pPr>
          </a:lstStyle>
          <a:p>
            <a:fld id="{B2637C74-671B-49DE-889D-7CB4D76831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9087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241425"/>
            <a:ext cx="8229600" cy="5248275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6324600" y="6564313"/>
            <a:ext cx="2362200" cy="2444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124200" y="6553200"/>
            <a:ext cx="2133600" cy="234950"/>
          </a:xfrm>
        </p:spPr>
        <p:txBody>
          <a:bodyPr/>
          <a:lstStyle>
            <a:lvl1pPr>
              <a:defRPr/>
            </a:lvl1pPr>
          </a:lstStyle>
          <a:p>
            <a:fld id="{F3D66CF0-E22F-4DAB-9A91-EF1638D719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235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 userDrawn="1"/>
        </p:nvSpPr>
        <p:spPr bwMode="gray">
          <a:xfrm>
            <a:off x="0" y="798513"/>
            <a:ext cx="9144000" cy="31273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white">
          <a:xfrm>
            <a:off x="0" y="0"/>
            <a:ext cx="9144000" cy="8366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14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324600" y="6564313"/>
            <a:ext cx="2362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 i="1">
                <a:latin typeface="Comic Sans MS" panose="030F0702030302020204" pitchFamily="66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fld id="{40B0C06F-4C5E-4398-9EA9-FF291EBC996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381000" y="152400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grpSp>
        <p:nvGrpSpPr>
          <p:cNvPr id="1041" name="Group 17"/>
          <p:cNvGrpSpPr>
            <a:grpSpLocks/>
          </p:cNvGrpSpPr>
          <p:nvPr/>
        </p:nvGrpSpPr>
        <p:grpSpPr bwMode="auto">
          <a:xfrm>
            <a:off x="7308850" y="188913"/>
            <a:ext cx="1665288" cy="1512887"/>
            <a:chOff x="4604" y="119"/>
            <a:chExt cx="1049" cy="953"/>
          </a:xfrm>
        </p:grpSpPr>
        <p:sp>
          <p:nvSpPr>
            <p:cNvPr id="1042" name="Oval 18"/>
            <p:cNvSpPr>
              <a:spLocks noChangeArrowheads="1"/>
            </p:cNvSpPr>
            <p:nvPr userDrawn="1"/>
          </p:nvSpPr>
          <p:spPr bwMode="gray">
            <a:xfrm>
              <a:off x="4921" y="845"/>
              <a:ext cx="732" cy="227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tx1">
                    <a:gamma/>
                    <a:tint val="0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3" name="Oval 19"/>
            <p:cNvSpPr>
              <a:spLocks noChangeArrowheads="1"/>
            </p:cNvSpPr>
            <p:nvPr userDrawn="1"/>
          </p:nvSpPr>
          <p:spPr bwMode="gray">
            <a:xfrm>
              <a:off x="4604" y="119"/>
              <a:ext cx="932" cy="9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dist="63500" dir="2212194" algn="ctr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" name="Freeform 20" descr="4"/>
            <p:cNvSpPr>
              <a:spLocks/>
            </p:cNvSpPr>
            <p:nvPr userDrawn="1"/>
          </p:nvSpPr>
          <p:spPr bwMode="gray">
            <a:xfrm>
              <a:off x="5077" y="281"/>
              <a:ext cx="426" cy="588"/>
            </a:xfrm>
            <a:custGeom>
              <a:avLst/>
              <a:gdLst>
                <a:gd name="T0" fmla="*/ 951 w 1348"/>
                <a:gd name="T1" fmla="*/ 1963 h 1963"/>
                <a:gd name="T2" fmla="*/ 1338 w 1348"/>
                <a:gd name="T3" fmla="*/ 977 h 1963"/>
                <a:gd name="T4" fmla="*/ 905 w 1348"/>
                <a:gd name="T5" fmla="*/ 0 h 1963"/>
                <a:gd name="T6" fmla="*/ 0 w 1348"/>
                <a:gd name="T7" fmla="*/ 987 h 1963"/>
                <a:gd name="T8" fmla="*/ 951 w 1348"/>
                <a:gd name="T9" fmla="*/ 1963 h 1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8" h="1963">
                  <a:moveTo>
                    <a:pt x="951" y="1963"/>
                  </a:moveTo>
                  <a:cubicBezTo>
                    <a:pt x="1244" y="1689"/>
                    <a:pt x="1348" y="1323"/>
                    <a:pt x="1338" y="977"/>
                  </a:cubicBezTo>
                  <a:cubicBezTo>
                    <a:pt x="1329" y="629"/>
                    <a:pt x="1132" y="226"/>
                    <a:pt x="905" y="0"/>
                  </a:cubicBezTo>
                  <a:lnTo>
                    <a:pt x="0" y="987"/>
                  </a:lnTo>
                  <a:lnTo>
                    <a:pt x="951" y="1963"/>
                  </a:lnTo>
                  <a:close/>
                </a:path>
              </a:pathLst>
            </a:custGeom>
            <a:blipFill dpi="0" rotWithShape="1">
              <a:blip r:embed="rId15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76200" cmpd="sng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Freeform 21" descr="1"/>
            <p:cNvSpPr>
              <a:spLocks/>
            </p:cNvSpPr>
            <p:nvPr userDrawn="1"/>
          </p:nvSpPr>
          <p:spPr bwMode="gray">
            <a:xfrm>
              <a:off x="4779" y="144"/>
              <a:ext cx="572" cy="416"/>
            </a:xfrm>
            <a:custGeom>
              <a:avLst/>
              <a:gdLst>
                <a:gd name="T0" fmla="*/ 905 w 1810"/>
                <a:gd name="T1" fmla="*/ 1388 h 1388"/>
                <a:gd name="T2" fmla="*/ 1810 w 1810"/>
                <a:gd name="T3" fmla="*/ 408 h 1388"/>
                <a:gd name="T4" fmla="*/ 874 w 1810"/>
                <a:gd name="T5" fmla="*/ 40 h 1388"/>
                <a:gd name="T6" fmla="*/ 0 w 1810"/>
                <a:gd name="T7" fmla="*/ 409 h 1388"/>
                <a:gd name="T8" fmla="*/ 905 w 1810"/>
                <a:gd name="T9" fmla="*/ 1388 h 1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0" h="1388">
                  <a:moveTo>
                    <a:pt x="905" y="1388"/>
                  </a:moveTo>
                  <a:lnTo>
                    <a:pt x="1810" y="408"/>
                  </a:lnTo>
                  <a:cubicBezTo>
                    <a:pt x="1612" y="189"/>
                    <a:pt x="1272" y="0"/>
                    <a:pt x="874" y="40"/>
                  </a:cubicBezTo>
                  <a:cubicBezTo>
                    <a:pt x="541" y="52"/>
                    <a:pt x="252" y="162"/>
                    <a:pt x="0" y="409"/>
                  </a:cubicBezTo>
                  <a:lnTo>
                    <a:pt x="905" y="1388"/>
                  </a:lnTo>
                  <a:close/>
                </a:path>
              </a:pathLst>
            </a:custGeom>
            <a:blipFill dpi="0" rotWithShape="1">
              <a:blip r:embed="rId16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76200" cmpd="sng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Freeform 22" descr="2"/>
            <p:cNvSpPr>
              <a:spLocks/>
            </p:cNvSpPr>
            <p:nvPr userDrawn="1"/>
          </p:nvSpPr>
          <p:spPr bwMode="gray">
            <a:xfrm>
              <a:off x="4629" y="286"/>
              <a:ext cx="419" cy="572"/>
            </a:xfrm>
            <a:custGeom>
              <a:avLst/>
              <a:gdLst>
                <a:gd name="T0" fmla="*/ 1325 w 1325"/>
                <a:gd name="T1" fmla="*/ 960 h 1910"/>
                <a:gd name="T2" fmla="*/ 414 w 1325"/>
                <a:gd name="T3" fmla="*/ 0 h 1910"/>
                <a:gd name="T4" fmla="*/ 27 w 1325"/>
                <a:gd name="T5" fmla="*/ 1014 h 1910"/>
                <a:gd name="T6" fmla="*/ 402 w 1325"/>
                <a:gd name="T7" fmla="*/ 1910 h 1910"/>
                <a:gd name="T8" fmla="*/ 1325 w 1325"/>
                <a:gd name="T9" fmla="*/ 960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5" h="1910">
                  <a:moveTo>
                    <a:pt x="1325" y="960"/>
                  </a:moveTo>
                  <a:lnTo>
                    <a:pt x="414" y="0"/>
                  </a:lnTo>
                  <a:cubicBezTo>
                    <a:pt x="238" y="162"/>
                    <a:pt x="0" y="570"/>
                    <a:pt x="27" y="1014"/>
                  </a:cubicBezTo>
                  <a:cubicBezTo>
                    <a:pt x="53" y="1458"/>
                    <a:pt x="233" y="1748"/>
                    <a:pt x="402" y="1910"/>
                  </a:cubicBezTo>
                  <a:lnTo>
                    <a:pt x="1325" y="960"/>
                  </a:lnTo>
                  <a:close/>
                </a:path>
              </a:pathLst>
            </a:custGeom>
            <a:blipFill dpi="0" rotWithShape="1">
              <a:blip r:embed="rId17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76200" cmpd="sng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Freeform 23" descr="55282"/>
            <p:cNvSpPr>
              <a:spLocks/>
            </p:cNvSpPr>
            <p:nvPr userDrawn="1"/>
          </p:nvSpPr>
          <p:spPr bwMode="gray">
            <a:xfrm>
              <a:off x="4770" y="585"/>
              <a:ext cx="590" cy="418"/>
            </a:xfrm>
            <a:custGeom>
              <a:avLst/>
              <a:gdLst>
                <a:gd name="T0" fmla="*/ 927 w 1866"/>
                <a:gd name="T1" fmla="*/ 0 h 1398"/>
                <a:gd name="T2" fmla="*/ 0 w 1866"/>
                <a:gd name="T3" fmla="*/ 975 h 1398"/>
                <a:gd name="T4" fmla="*/ 996 w 1866"/>
                <a:gd name="T5" fmla="*/ 1387 h 1398"/>
                <a:gd name="T6" fmla="*/ 1866 w 1866"/>
                <a:gd name="T7" fmla="*/ 996 h 1398"/>
                <a:gd name="T8" fmla="*/ 927 w 1866"/>
                <a:gd name="T9" fmla="*/ 0 h 1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6" h="1398">
                  <a:moveTo>
                    <a:pt x="927" y="0"/>
                  </a:moveTo>
                  <a:lnTo>
                    <a:pt x="0" y="975"/>
                  </a:lnTo>
                  <a:cubicBezTo>
                    <a:pt x="203" y="1204"/>
                    <a:pt x="607" y="1398"/>
                    <a:pt x="996" y="1387"/>
                  </a:cubicBezTo>
                  <a:cubicBezTo>
                    <a:pt x="1385" y="1375"/>
                    <a:pt x="1707" y="1159"/>
                    <a:pt x="1866" y="996"/>
                  </a:cubicBezTo>
                  <a:lnTo>
                    <a:pt x="927" y="0"/>
                  </a:lnTo>
                  <a:close/>
                </a:path>
              </a:pathLst>
            </a:custGeom>
            <a:blipFill dpi="0" rotWithShape="1">
              <a:blip r:embed="rId18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76200" cmpd="sng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" name="Oval 24"/>
            <p:cNvSpPr>
              <a:spLocks noChangeArrowheads="1"/>
            </p:cNvSpPr>
            <p:nvPr userDrawn="1"/>
          </p:nvSpPr>
          <p:spPr bwMode="gray">
            <a:xfrm>
              <a:off x="4921" y="391"/>
              <a:ext cx="331" cy="3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p:pic>
        <p:nvPicPr>
          <p:cNvPr id="16" name="图片 3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885" y="656744"/>
            <a:ext cx="476531" cy="4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7828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omic Sans MS" panose="030F0702030302020204" pitchFamily="66" charset="0"/>
          <a:ea typeface="华文新魏" panose="02010800040101010101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2"/>
          </a:solidFill>
          <a:latin typeface="Comic Sans MS" panose="030F0702030302020204" pitchFamily="66" charset="0"/>
          <a:ea typeface="华文新魏" panose="02010800040101010101" pitchFamily="2" charset="-122"/>
          <a:cs typeface="Times New Roman" panose="02020603050405020304" pitchFamily="18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Comic Sans MS" panose="030F0702030302020204" pitchFamily="66" charset="0"/>
          <a:ea typeface="华文新魏" panose="02010800040101010101" pitchFamily="2" charset="-122"/>
          <a:cs typeface="Times New Roman" panose="02020603050405020304" pitchFamily="18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 kern="1200">
          <a:solidFill>
            <a:schemeClr val="tx1"/>
          </a:solidFill>
          <a:latin typeface="Comic Sans MS" panose="030F0702030302020204" pitchFamily="66" charset="0"/>
          <a:ea typeface="华文新魏" panose="02010800040101010101" pitchFamily="2" charset="-122"/>
          <a:cs typeface="Times New Roman" panose="02020603050405020304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Comic Sans MS" panose="030F0702030302020204" pitchFamily="66" charset="0"/>
          <a:ea typeface="华文新魏" panose="02010800040101010101" pitchFamily="2" charset="-122"/>
          <a:cs typeface="Times New Roman" panose="02020603050405020304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Comic Sans MS" panose="030F0702030302020204" pitchFamily="66" charset="0"/>
          <a:ea typeface="华文新魏" panose="0201080004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高级语言程序设计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52" name="Oval 4"/>
          <p:cNvSpPr>
            <a:spLocks noChangeArrowheads="1"/>
          </p:cNvSpPr>
          <p:nvPr/>
        </p:nvSpPr>
        <p:spPr bwMode="ltGray">
          <a:xfrm>
            <a:off x="5724376" y="566124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5725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6012160" y="5590981"/>
            <a:ext cx="27751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计算机学院</a:t>
            </a:r>
            <a:endParaRPr lang="en-US" altLang="zh-CN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007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期末复习</a:t>
            </a:r>
            <a:endParaRPr lang="en-US" altLang="zh-CN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828800" y="2024063"/>
            <a:ext cx="762000" cy="665162"/>
            <a:chOff x="1110" y="2656"/>
            <a:chExt cx="1549" cy="1351"/>
          </a:xfrm>
        </p:grpSpPr>
        <p:sp>
          <p:nvSpPr>
            <p:cNvPr id="40964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965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828800" y="2938463"/>
            <a:ext cx="762000" cy="665162"/>
            <a:chOff x="3174" y="2656"/>
            <a:chExt cx="1549" cy="1351"/>
          </a:xfrm>
        </p:grpSpPr>
        <p:sp>
          <p:nvSpPr>
            <p:cNvPr id="40968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969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2438400" y="26336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2667000" y="2100263"/>
            <a:ext cx="1008609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题型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gray">
          <a:xfrm>
            <a:off x="2025650" y="21224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1</a:t>
            </a:r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>
            <a:off x="2438400" y="35480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>
            <a:off x="2667000" y="3014663"/>
            <a:ext cx="224452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复习知识点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gray">
          <a:xfrm>
            <a:off x="2025650" y="30368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2</a:t>
            </a:r>
          </a:p>
        </p:txBody>
      </p: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1828800" y="3830638"/>
            <a:ext cx="762000" cy="665162"/>
            <a:chOff x="1110" y="2656"/>
            <a:chExt cx="1549" cy="1351"/>
          </a:xfrm>
        </p:grpSpPr>
        <p:sp>
          <p:nvSpPr>
            <p:cNvPr id="40978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979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40985" name="Line 25"/>
          <p:cNvSpPr>
            <a:spLocks noChangeShapeType="1"/>
          </p:cNvSpPr>
          <p:nvPr/>
        </p:nvSpPr>
        <p:spPr bwMode="auto">
          <a:xfrm>
            <a:off x="2438400" y="444023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2667000" y="3906838"/>
            <a:ext cx="2656496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考试题目示例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gray">
          <a:xfrm>
            <a:off x="2025650" y="39290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3</a:t>
            </a:r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308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chemeClr val="tx2"/>
                </a:solidFill>
              </a:rPr>
              <a:t>以下有</a:t>
            </a:r>
            <a:r>
              <a:rPr lang="en-US" altLang="zh-CN" dirty="0">
                <a:solidFill>
                  <a:schemeClr val="tx2"/>
                </a:solidFill>
              </a:rPr>
              <a:t>4</a:t>
            </a:r>
            <a:r>
              <a:rPr lang="zh-CN" altLang="zh-CN" dirty="0">
                <a:solidFill>
                  <a:schemeClr val="tx2"/>
                </a:solidFill>
              </a:rPr>
              <a:t>个用户自定义标识符，其中合法的一个是</a:t>
            </a:r>
            <a:r>
              <a:rPr lang="en-US" altLang="zh-CN" dirty="0">
                <a:solidFill>
                  <a:schemeClr val="tx2"/>
                </a:solidFill>
              </a:rPr>
              <a:t>(    )</a:t>
            </a:r>
            <a:r>
              <a:rPr lang="zh-CN" altLang="zh-CN" dirty="0">
                <a:solidFill>
                  <a:schemeClr val="tx2"/>
                </a:solidFill>
              </a:rPr>
              <a:t>。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br>
              <a:rPr lang="en-US" altLang="zh-CN" dirty="0">
                <a:solidFill>
                  <a:schemeClr val="tx2"/>
                </a:solidFill>
              </a:rPr>
            </a:br>
            <a:r>
              <a:rPr lang="en-US" altLang="zh-CN" dirty="0">
                <a:solidFill>
                  <a:schemeClr val="tx2"/>
                </a:solidFill>
              </a:rPr>
              <a:t>A. C_7          B. do       C. 7d </a:t>
            </a:r>
            <a:r>
              <a:rPr lang="zh-CN" altLang="en-US" dirty="0">
                <a:solidFill>
                  <a:schemeClr val="tx2"/>
                </a:solidFill>
              </a:rPr>
              <a:t>   </a:t>
            </a:r>
            <a:r>
              <a:rPr lang="en-US" altLang="zh-CN" dirty="0">
                <a:solidFill>
                  <a:schemeClr val="tx2"/>
                </a:solidFill>
              </a:rPr>
              <a:t>D. for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616" y="2060848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450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语言的词汇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zh-CN" dirty="0"/>
              <a:t>程序中，字面常量</a:t>
            </a:r>
            <a:r>
              <a:rPr lang="en-US" altLang="zh-CN" dirty="0"/>
              <a:t>012</a:t>
            </a:r>
            <a:r>
              <a:rPr lang="zh-CN" altLang="zh-CN" dirty="0"/>
              <a:t>对应的二进制数与下列哪个二进制数等值（</a:t>
            </a:r>
            <a:r>
              <a:rPr lang="en-US" altLang="zh-CN" dirty="0"/>
              <a:t>    </a:t>
            </a:r>
            <a:r>
              <a:rPr lang="zh-CN" altLang="zh-CN" dirty="0"/>
              <a:t>）</a:t>
            </a:r>
          </a:p>
          <a:p>
            <a:pPr>
              <a:buNone/>
            </a:pPr>
            <a:r>
              <a:rPr lang="en-US" altLang="zh-CN" dirty="0"/>
              <a:t>		A.1010		B.	10010		</a:t>
            </a:r>
          </a:p>
          <a:p>
            <a:pPr>
              <a:buNone/>
            </a:pPr>
            <a:r>
              <a:rPr lang="en-US" altLang="zh-CN" dirty="0"/>
              <a:t>		C.1100		D.	1101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1916832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03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运算符与表达式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设有变量说明“</a:t>
            </a:r>
            <a:r>
              <a:rPr lang="en-US" altLang="zh-CN" dirty="0" err="1"/>
              <a:t>int</a:t>
            </a:r>
            <a:r>
              <a:rPr lang="en-US" altLang="zh-CN" dirty="0"/>
              <a:t> x=5,y=6;</a:t>
            </a:r>
            <a:r>
              <a:rPr lang="zh-CN" altLang="zh-CN" dirty="0"/>
              <a:t>”，执行表达式语句“</a:t>
            </a:r>
            <a:r>
              <a:rPr lang="en-US" altLang="zh-CN" dirty="0"/>
              <a:t>!(++x)||(y*=y);</a:t>
            </a:r>
            <a:r>
              <a:rPr lang="zh-CN" altLang="zh-CN" dirty="0"/>
              <a:t>”后，</a:t>
            </a:r>
            <a:r>
              <a:rPr lang="en-US" altLang="zh-CN" dirty="0"/>
              <a:t>x</a:t>
            </a:r>
            <a:r>
              <a:rPr lang="zh-CN" altLang="zh-CN" dirty="0"/>
              <a:t>和</a:t>
            </a:r>
            <a:r>
              <a:rPr lang="en-US" altLang="zh-CN" dirty="0"/>
              <a:t>y</a:t>
            </a:r>
            <a:r>
              <a:rPr lang="zh-CN" altLang="zh-CN" dirty="0"/>
              <a:t>的值分别为（</a:t>
            </a:r>
            <a:r>
              <a:rPr lang="en-US" altLang="zh-CN" dirty="0"/>
              <a:t>     </a:t>
            </a:r>
            <a:r>
              <a:rPr lang="zh-CN" altLang="zh-CN" dirty="0"/>
              <a:t>）</a:t>
            </a:r>
          </a:p>
          <a:p>
            <a:pPr lvl="0">
              <a:buNone/>
            </a:pPr>
            <a:r>
              <a:rPr lang="en-US" altLang="zh-CN" dirty="0" err="1"/>
              <a:t>A.x</a:t>
            </a:r>
            <a:r>
              <a:rPr lang="en-US" altLang="zh-CN" dirty="0"/>
              <a:t>=5, y=6</a:t>
            </a:r>
            <a:endParaRPr lang="zh-CN" altLang="zh-CN" dirty="0"/>
          </a:p>
          <a:p>
            <a:pPr lvl="0">
              <a:buNone/>
            </a:pPr>
            <a:r>
              <a:rPr lang="en-US" altLang="zh-CN" dirty="0" err="1"/>
              <a:t>B.x</a:t>
            </a:r>
            <a:r>
              <a:rPr lang="en-US" altLang="zh-CN" dirty="0"/>
              <a:t>=6, y=36</a:t>
            </a:r>
            <a:endParaRPr lang="zh-CN" altLang="zh-CN" dirty="0"/>
          </a:p>
          <a:p>
            <a:pPr lvl="0">
              <a:buNone/>
            </a:pPr>
            <a:r>
              <a:rPr lang="en-US" altLang="zh-CN" dirty="0" err="1"/>
              <a:t>C.x</a:t>
            </a:r>
            <a:r>
              <a:rPr lang="en-US" altLang="zh-CN" dirty="0"/>
              <a:t>=5, y=36</a:t>
            </a:r>
            <a:endParaRPr lang="zh-CN" altLang="zh-CN" dirty="0"/>
          </a:p>
          <a:p>
            <a:pPr lvl="0">
              <a:buNone/>
            </a:pPr>
            <a:r>
              <a:rPr lang="en-US" altLang="zh-CN" dirty="0" err="1"/>
              <a:t>D.x</a:t>
            </a:r>
            <a:r>
              <a:rPr lang="en-US" altLang="zh-CN" dirty="0"/>
              <a:t>=6, y=6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03648" y="2420888"/>
            <a:ext cx="424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705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/>
              <a:t>下面的</a:t>
            </a:r>
            <a:r>
              <a:rPr lang="en-US" altLang="zh-CN"/>
              <a:t>C++</a:t>
            </a:r>
            <a:r>
              <a:rPr lang="zh-CN" altLang="zh-CN"/>
              <a:t>关键字中，哪个不能用于变量的说明语句（</a:t>
            </a:r>
            <a:r>
              <a:rPr lang="en-US" altLang="zh-CN"/>
              <a:t>    </a:t>
            </a:r>
            <a:r>
              <a:rPr lang="zh-CN" altLang="zh-CN"/>
              <a:t>）</a:t>
            </a:r>
          </a:p>
          <a:p>
            <a:pPr marL="514350" indent="-514350">
              <a:buNone/>
            </a:pPr>
            <a:r>
              <a:rPr lang="en-US" altLang="zh-CN"/>
              <a:t>A. extern		B.	inline		</a:t>
            </a:r>
          </a:p>
          <a:p>
            <a:pPr marL="514350" indent="-514350">
              <a:buNone/>
            </a:pPr>
            <a:r>
              <a:rPr lang="en-US" altLang="zh-CN"/>
              <a:t>C.	static		D.	int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51720" y="1988840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53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chemeClr val="tx2"/>
                </a:solidFill>
              </a:rPr>
              <a:t>若</a:t>
            </a:r>
            <a:r>
              <a:rPr lang="en-US" altLang="zh-CN" dirty="0" err="1">
                <a:solidFill>
                  <a:schemeClr val="tx2"/>
                </a:solidFill>
              </a:rPr>
              <a:t>i</a:t>
            </a:r>
            <a:r>
              <a:rPr lang="zh-CN" altLang="zh-CN" dirty="0">
                <a:solidFill>
                  <a:schemeClr val="tx2"/>
                </a:solidFill>
              </a:rPr>
              <a:t>，</a:t>
            </a:r>
            <a:r>
              <a:rPr lang="en-US" altLang="zh-CN" dirty="0">
                <a:solidFill>
                  <a:schemeClr val="tx2"/>
                </a:solidFill>
              </a:rPr>
              <a:t>j</a:t>
            </a:r>
            <a:r>
              <a:rPr lang="zh-CN" altLang="zh-CN" dirty="0">
                <a:solidFill>
                  <a:schemeClr val="tx2"/>
                </a:solidFill>
              </a:rPr>
              <a:t>已定义为整型变量，则以下程序段中循环体的执行次数是（ </a:t>
            </a:r>
            <a:r>
              <a:rPr lang="en-US" altLang="zh-CN" dirty="0">
                <a:solidFill>
                  <a:schemeClr val="tx2"/>
                </a:solidFill>
              </a:rPr>
              <a:t>  </a:t>
            </a:r>
            <a:r>
              <a:rPr lang="zh-CN" altLang="zh-CN" dirty="0">
                <a:solidFill>
                  <a:schemeClr val="tx2"/>
                </a:solidFill>
              </a:rPr>
              <a:t>）。</a:t>
            </a: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for(</a:t>
            </a:r>
            <a:r>
              <a:rPr lang="en-US" altLang="zh-CN" dirty="0" err="1">
                <a:solidFill>
                  <a:schemeClr val="tx2"/>
                </a:solidFill>
              </a:rPr>
              <a:t>i</a:t>
            </a:r>
            <a:r>
              <a:rPr lang="en-US" altLang="zh-CN" dirty="0">
                <a:solidFill>
                  <a:schemeClr val="tx2"/>
                </a:solidFill>
              </a:rPr>
              <a:t>=4; </a:t>
            </a:r>
            <a:r>
              <a:rPr lang="en-US" altLang="zh-CN" dirty="0" err="1">
                <a:solidFill>
                  <a:schemeClr val="tx2"/>
                </a:solidFill>
              </a:rPr>
              <a:t>i</a:t>
            </a:r>
            <a:r>
              <a:rPr lang="en-US" altLang="zh-CN" dirty="0">
                <a:solidFill>
                  <a:schemeClr val="tx2"/>
                </a:solidFill>
              </a:rPr>
              <a:t> ; </a:t>
            </a:r>
            <a:r>
              <a:rPr lang="en-US" altLang="zh-CN" dirty="0" err="1">
                <a:solidFill>
                  <a:schemeClr val="tx2"/>
                </a:solidFill>
              </a:rPr>
              <a:t>i</a:t>
            </a:r>
            <a:r>
              <a:rPr lang="en-US" altLang="zh-CN" dirty="0">
                <a:solidFill>
                  <a:schemeClr val="tx2"/>
                </a:solidFill>
              </a:rPr>
              <a:t>--)</a:t>
            </a:r>
            <a:endParaRPr lang="zh-CN" altLang="zh-CN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		for(j=0; j&lt;6 ;j++)</a:t>
            </a:r>
            <a:endParaRPr lang="zh-CN" altLang="zh-CN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			{ </a:t>
            </a:r>
            <a:r>
              <a:rPr lang="zh-CN" altLang="zh-CN" dirty="0">
                <a:solidFill>
                  <a:schemeClr val="tx2"/>
                </a:solidFill>
              </a:rPr>
              <a:t>循环体语句；</a:t>
            </a:r>
            <a:r>
              <a:rPr lang="en-US" altLang="zh-CN" dirty="0">
                <a:solidFill>
                  <a:schemeClr val="tx2"/>
                </a:solidFill>
              </a:rPr>
              <a:t>}</a:t>
            </a:r>
            <a:endParaRPr lang="zh-CN" altLang="zh-CN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A) 20	B) 24	C) 35	D) 30</a:t>
            </a:r>
            <a:endParaRPr lang="zh-CN" altLang="zh-CN" dirty="0">
              <a:solidFill>
                <a:schemeClr val="tx2"/>
              </a:solidFill>
            </a:endParaRPr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79912" y="1988840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091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214282" y="980728"/>
            <a:ext cx="8643998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317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#include &lt;iostream&gt;</a:t>
            </a:r>
          </a:p>
          <a:p>
            <a:pPr marL="0" marR="0" lvl="0" indent="650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using namespace std;</a:t>
            </a:r>
          </a:p>
          <a:p>
            <a:pPr marL="0" marR="0" lvl="0" indent="650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650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650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 a, b;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650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for(a=1, b=1; a&lt;=20; a++)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650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{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650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	if (b%3==1) {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650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      		b+=3;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650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		continue;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650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	}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650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	if(b&gt;10) break;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650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}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650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&lt;&lt;"value a="&lt;&lt;a&lt;&lt;"  value b="&lt;&lt;b&lt;&lt;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650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90045" y="3985349"/>
            <a:ext cx="3926075" cy="5232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value a=21  value b=61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89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153400" cy="5500726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lvl="0">
              <a:spcBef>
                <a:spcPts val="0"/>
              </a:spcBef>
              <a:buNone/>
            </a:pPr>
            <a:r>
              <a:rPr lang="en-US" altLang="zh-CN" sz="24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using namespace std;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void main()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					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char a;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for(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=5;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&gt;=1;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--)  		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{ 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for(j=1; j&lt;=5-i; j++)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&lt;&lt;' ';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a='*';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for(j=1; j&lt;=2*i-1; j++) 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&lt;&lt;a;	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2358385"/>
            <a:ext cx="216217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59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145" name="Rectangle 1"/>
          <p:cNvSpPr>
            <a:spLocks noChangeArrowheads="1"/>
          </p:cNvSpPr>
          <p:nvPr/>
        </p:nvSpPr>
        <p:spPr bwMode="auto">
          <a:xfrm>
            <a:off x="539552" y="1467356"/>
            <a:ext cx="7992888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#include &lt;iostream&gt;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using namespace std;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int n = 5,i,j;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for (i = 1; i &lt;= n; i++)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{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	int result = 1;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	for (j = 1; j &lt;= i; j++);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	{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		result *= j;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	}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	cout &lt;&lt; "result = " &lt;&lt; result &lt;&lt; endl;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}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1772816"/>
            <a:ext cx="2552338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756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下面这个程序用于读入</a:t>
            </a:r>
            <a:r>
              <a:rPr lang="en-US" altLang="zh-CN" dirty="0"/>
              <a:t>5</a:t>
            </a:r>
            <a:r>
              <a:rPr lang="zh-CN" altLang="zh-CN" dirty="0"/>
              <a:t>个整数，当程序读入的数据为正整数时，则显示该数，否则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1</a:t>
            </a:r>
            <a:r>
              <a:rPr lang="zh-CN" altLang="en-US" dirty="0"/>
              <a:t>）循环结束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2</a:t>
            </a:r>
            <a:r>
              <a:rPr lang="zh-CN" altLang="en-US" dirty="0"/>
              <a:t>）不显示该数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82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Courier New" pitchFamily="49" charset="0"/>
                <a:cs typeface="Courier New" pitchFamily="49" charset="0"/>
              </a:rPr>
              <a:t>u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sing namespace std;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void main()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 n;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=1;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&lt;=5;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{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&lt;&lt;"Please enter the integer number:\n";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___________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if (n &lt;= 0)  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_____________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___________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&lt;&lt;"Program is over!\n";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42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输入一个字母，如果是小写字母，则把它变成大写字母输出；如果是大写字母，则把它变成小写字母输出；其它字符不变。请完善程序。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0769" name="Rectangle 1"/>
          <p:cNvSpPr>
            <a:spLocks noChangeArrowheads="1"/>
          </p:cNvSpPr>
          <p:nvPr/>
        </p:nvSpPr>
        <p:spPr bwMode="auto">
          <a:xfrm>
            <a:off x="144016" y="3114541"/>
            <a:ext cx="8604448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#include&lt;iostream&gt;</a:t>
            </a:r>
          </a:p>
          <a:p>
            <a:pPr marL="0" marR="0" lvl="0" indent="5349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using namespace std;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534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534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534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char ch;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534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cin&gt;&gt;ch;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534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if (______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）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______)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534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	if(ch &gt;= 'a' &amp;&amp; ch &lt;= 'z')</a:t>
            </a:r>
          </a:p>
          <a:p>
            <a:pPr marL="0" marR="0" lvl="0" indent="534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		_______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）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________;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534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	else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534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		_______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）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________;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534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	cout&lt;&lt;ch&lt;&lt;endl;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534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15816" y="3781489"/>
            <a:ext cx="6067687" cy="101566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(ch &gt;= 'a' &amp;&amp; ch &lt;= 'z') || (ch &gt;= 'A' &amp;&amp; ch &lt;= 'Z')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ch = ch - 'a' + 'A’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ch = ch - 'A' + 'a'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931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已知能被</a:t>
            </a:r>
            <a:r>
              <a:rPr lang="en-US" altLang="zh-CN" dirty="0"/>
              <a:t>4</a:t>
            </a:r>
            <a:r>
              <a:rPr lang="zh-CN" altLang="zh-CN" dirty="0"/>
              <a:t>整除而不能被</a:t>
            </a:r>
            <a:r>
              <a:rPr lang="en-US" altLang="zh-CN" dirty="0"/>
              <a:t>100</a:t>
            </a:r>
            <a:r>
              <a:rPr lang="zh-CN" altLang="zh-CN" dirty="0"/>
              <a:t>整除的或者能被</a:t>
            </a:r>
            <a:r>
              <a:rPr lang="en-US" altLang="zh-CN" dirty="0"/>
              <a:t>400</a:t>
            </a:r>
            <a:r>
              <a:rPr lang="zh-CN" altLang="zh-CN" dirty="0"/>
              <a:t>整除的年份是润年，则判断某一年是否是润年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920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472518" cy="50292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latin typeface="Courier New" pitchFamily="49" charset="0"/>
                <a:cs typeface="Courier New" pitchFamily="49" charset="0"/>
              </a:rPr>
              <a:t>using namespace std;</a:t>
            </a:r>
            <a:endParaRPr lang="zh-CN" altLang="zh-CN" sz="22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void main()</a:t>
            </a:r>
            <a:endParaRPr lang="zh-CN" altLang="zh-CN" sz="22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zh-CN" altLang="zh-CN" sz="22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	</a:t>
            </a:r>
            <a:r>
              <a:rPr lang="en-US" altLang="zh-CN" sz="2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year,leap</a:t>
            </a: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zh-CN" altLang="zh-CN" sz="22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	</a:t>
            </a:r>
            <a:r>
              <a:rPr lang="en-US" altLang="zh-CN" sz="2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&lt;&lt;"please input the year"&lt;&lt;</a:t>
            </a:r>
            <a:r>
              <a:rPr lang="en-US" altLang="zh-CN" sz="2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zh-CN" altLang="zh-CN" sz="22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&gt;&gt;year;</a:t>
            </a:r>
            <a:endParaRPr lang="zh-CN" altLang="zh-CN" sz="22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	if (</a:t>
            </a:r>
            <a:r>
              <a:rPr lang="en-US" altLang="zh-CN" sz="2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___________</a:t>
            </a: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 </a:t>
            </a:r>
            <a:endParaRPr lang="zh-CN" altLang="zh-CN" sz="22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leap=1;</a:t>
            </a:r>
            <a:endParaRPr lang="zh-CN" altLang="zh-CN" sz="22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else </a:t>
            </a:r>
            <a:r>
              <a:rPr lang="en-US" altLang="zh-CN" sz="2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___________</a:t>
            </a: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zh-CN" altLang="zh-CN" sz="22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if(</a:t>
            </a:r>
            <a:r>
              <a:rPr lang="en-US" altLang="zh-CN" sz="2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___________</a:t>
            </a: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		</a:t>
            </a:r>
            <a:r>
              <a:rPr lang="en-US" altLang="zh-CN" sz="2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zh-CN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是润年</a:t>
            </a: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2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 </a:t>
            </a:r>
            <a:endParaRPr lang="zh-CN" altLang="zh-CN" sz="22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	else  </a:t>
            </a:r>
            <a:r>
              <a:rPr lang="en-US" altLang="zh-CN" sz="2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zh-CN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不是润年</a:t>
            </a: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2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zh-CN" altLang="zh-CN" sz="22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zh-CN" sz="22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endParaRPr lang="zh-CN" altLang="en-US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5612173"/>
            <a:ext cx="6279283" cy="101566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(year%4==0 &amp;&amp; year %100 !=0) || year % 400==0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leap = 0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leap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528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153400" cy="5419748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利用公式</a:t>
            </a:r>
            <a:r>
              <a:rPr lang="en-US" altLang="zh-CN" dirty="0"/>
              <a:t>                      </a:t>
            </a:r>
            <a:r>
              <a:rPr lang="zh-CN" altLang="zh-CN" dirty="0"/>
              <a:t>前</a:t>
            </a:r>
            <a:r>
              <a:rPr lang="en-US" altLang="zh-CN" dirty="0"/>
              <a:t>100</a:t>
            </a:r>
            <a:r>
              <a:rPr lang="zh-CN" altLang="zh-CN" dirty="0"/>
              <a:t>项之积，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编程计算并输出</a:t>
            </a:r>
            <a:r>
              <a:rPr lang="en-US" altLang="zh-CN" dirty="0"/>
              <a:t>π</a:t>
            </a:r>
            <a:r>
              <a:rPr lang="zh-CN" altLang="zh-CN" dirty="0"/>
              <a:t>的值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Courier New" pitchFamily="49" charset="0"/>
                <a:cs typeface="Courier New" pitchFamily="49" charset="0"/>
              </a:rPr>
              <a:t>u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sing namespace std;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void main()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float term, result = 1.0; 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n; 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___________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{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term = 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___________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result = result * term;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&lt;&lt;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___________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93185" name="Object 1"/>
          <p:cNvGraphicFramePr>
            <a:graphicFrameLocks noChangeAspect="1"/>
          </p:cNvGraphicFramePr>
          <p:nvPr>
            <p:extLst/>
          </p:nvPr>
        </p:nvGraphicFramePr>
        <p:xfrm>
          <a:off x="1979712" y="1039244"/>
          <a:ext cx="3429024" cy="733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公式" r:id="rId3" imgW="1701800" imgH="368300" progId="Equation.3">
                  <p:embed/>
                </p:oleObj>
              </mc:Choice>
              <mc:Fallback>
                <p:oleObj name="公式" r:id="rId3" imgW="1701800" imgH="368300" progId="Equation.3">
                  <p:embed/>
                  <p:pic>
                    <p:nvPicPr>
                      <p:cNvPr id="9318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1039244"/>
                        <a:ext cx="3429024" cy="7335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4355976" y="2284773"/>
            <a:ext cx="4647426" cy="101566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result *= 2,n = 1; n &lt;= 50; n++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(2.0*n/(2.0*n-1))*((2.0*n)/(2.0*n+1))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result;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4391025" y="3969940"/>
            <a:ext cx="4647426" cy="101566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n= 1; n &lt;= 50; n++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(2.0*n/(2.0*n-1))*((2.0*n)/(2.0*n+1))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result*2;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921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求出</a:t>
            </a:r>
            <a:r>
              <a:rPr lang="en-US" altLang="zh-CN" dirty="0"/>
              <a:t>50</a:t>
            </a:r>
            <a:r>
              <a:rPr lang="zh-CN" altLang="zh-CN" dirty="0"/>
              <a:t>以内所有能被</a:t>
            </a:r>
            <a:r>
              <a:rPr lang="en-US" altLang="zh-CN" dirty="0"/>
              <a:t>3</a:t>
            </a:r>
            <a:r>
              <a:rPr lang="zh-CN" altLang="zh-CN" dirty="0"/>
              <a:t>整除的整数的平方和并输出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dirty="0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dirty="0">
                <a:latin typeface="Courier New" pitchFamily="49" charset="0"/>
                <a:cs typeface="Courier New" pitchFamily="49" charset="0"/>
              </a:rPr>
              <a:t>using namespace std;</a:t>
            </a:r>
            <a:endParaRPr lang="zh-CN" altLang="zh-CN" dirty="0">
              <a:latin typeface="Courier New" pitchFamily="49" charset="0"/>
              <a:cs typeface="Courier New" pitchFamily="49" charset="0"/>
            </a:endParaRPr>
          </a:p>
          <a:p>
            <a:pPr marL="0" indent="65088" eaLnBrk="0" hangingPunct="0">
              <a:spcBef>
                <a:spcPct val="0"/>
              </a:spcBef>
              <a:buClrTx/>
              <a:buNone/>
            </a:pPr>
            <a:r>
              <a:rPr lang="en-US" altLang="zh-CN" sz="2800" kern="1200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main(){</a:t>
            </a:r>
            <a:endParaRPr lang="zh-CN" altLang="zh-CN" sz="2800" kern="1200" dirty="0">
              <a:solidFill>
                <a:schemeClr val="tx2"/>
              </a:solidFill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indent="65088" eaLnBrk="0" hangingPunct="0">
              <a:spcBef>
                <a:spcPct val="0"/>
              </a:spcBef>
              <a:buClrTx/>
              <a:buNone/>
            </a:pPr>
            <a:r>
              <a:rPr lang="en-US" altLang="zh-CN" sz="2800" kern="1200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2800" kern="1200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__________	</a:t>
            </a:r>
            <a:endParaRPr lang="zh-CN" altLang="zh-CN" sz="2800" kern="1200" dirty="0">
              <a:solidFill>
                <a:srgbClr val="0000FF"/>
              </a:solidFill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indent="65088" eaLnBrk="0" hangingPunct="0">
              <a:spcBef>
                <a:spcPct val="0"/>
              </a:spcBef>
              <a:buClrTx/>
              <a:buNone/>
            </a:pPr>
            <a:r>
              <a:rPr lang="en-US" altLang="zh-CN" sz="2800" kern="1200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for(</a:t>
            </a:r>
            <a:r>
              <a:rPr lang="en-US" altLang="zh-CN" sz="2800" kern="1200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altLang="zh-CN" sz="2800" kern="1200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800" kern="1200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</a:t>
            </a:r>
            <a:r>
              <a:rPr lang="en-US" altLang="zh-CN" sz="2800" kern="1200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=2;  </a:t>
            </a:r>
            <a:r>
              <a:rPr lang="en-US" altLang="zh-CN" sz="2800" kern="1200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</a:t>
            </a:r>
            <a:r>
              <a:rPr lang="en-US" altLang="zh-CN" sz="2800" kern="1200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&lt;50 ;  </a:t>
            </a:r>
            <a:r>
              <a:rPr lang="en-US" altLang="zh-CN" sz="2800" kern="1200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_______</a:t>
            </a:r>
            <a:r>
              <a:rPr lang="en-US" altLang="zh-CN" sz="2800" kern="1200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)</a:t>
            </a:r>
            <a:endParaRPr lang="zh-CN" altLang="zh-CN" sz="2800" kern="1200" dirty="0">
              <a:solidFill>
                <a:schemeClr val="tx2"/>
              </a:solidFill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indent="65088" eaLnBrk="0" hangingPunct="0">
              <a:spcBef>
                <a:spcPct val="0"/>
              </a:spcBef>
              <a:buClrTx/>
              <a:buNone/>
            </a:pPr>
            <a:r>
              <a:rPr lang="en-US" altLang="zh-CN" sz="2800" kern="1200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		s += </a:t>
            </a:r>
            <a:r>
              <a:rPr lang="en-US" altLang="zh-CN" sz="2800" kern="1200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_______</a:t>
            </a:r>
            <a:r>
              <a:rPr lang="en-US" altLang="zh-CN" sz="2800" kern="1200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;</a:t>
            </a:r>
            <a:endParaRPr lang="zh-CN" altLang="zh-CN" sz="2800" kern="1200" dirty="0">
              <a:solidFill>
                <a:schemeClr val="tx2"/>
              </a:solidFill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indent="65088" eaLnBrk="0" hangingPunct="0">
              <a:spcBef>
                <a:spcPct val="0"/>
              </a:spcBef>
              <a:buClrTx/>
              <a:buNone/>
            </a:pPr>
            <a:r>
              <a:rPr lang="en-US" altLang="zh-CN" sz="2800" kern="1200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2800" kern="1200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lang="en-US" altLang="zh-CN" sz="2800" kern="1200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&lt;&lt;"s="&lt;&lt;s&lt;&lt;</a:t>
            </a:r>
            <a:r>
              <a:rPr lang="en-US" altLang="zh-CN" sz="2800" kern="1200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lang="en-US" altLang="zh-CN" sz="2800" kern="1200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  <a:endParaRPr lang="zh-CN" altLang="zh-CN" sz="2800" kern="1200" dirty="0">
              <a:solidFill>
                <a:schemeClr val="tx2"/>
              </a:solidFill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indent="65088" eaLnBrk="0" hangingPunct="0">
              <a:spcBef>
                <a:spcPct val="0"/>
              </a:spcBef>
              <a:buClrTx/>
              <a:buNone/>
            </a:pPr>
            <a:r>
              <a:rPr lang="en-US" altLang="zh-CN" sz="2800" kern="1200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  <a:endParaRPr lang="zh-CN" altLang="en-US" sz="2800" kern="1200" dirty="0">
              <a:solidFill>
                <a:schemeClr val="tx2"/>
              </a:solidFill>
              <a:latin typeface="Courier New" pitchFamily="49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5612173"/>
            <a:ext cx="1784463" cy="101566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s=0;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i+=3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(i+1)*(i+1)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83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chemeClr val="tx2"/>
                </a:solidFill>
              </a:rPr>
              <a:t>已知：</a:t>
            </a:r>
            <a:r>
              <a:rPr lang="en-US" altLang="zh-CN" dirty="0" err="1">
                <a:solidFill>
                  <a:schemeClr val="tx2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a[3][5];</a:t>
            </a:r>
            <a:r>
              <a:rPr lang="zh-CN" altLang="zh-CN" dirty="0">
                <a:solidFill>
                  <a:schemeClr val="tx2"/>
                </a:solidFill>
              </a:rPr>
              <a:t>则对数组元素的非法引用是（ </a:t>
            </a:r>
            <a:r>
              <a:rPr lang="en-US" altLang="zh-CN" dirty="0">
                <a:solidFill>
                  <a:schemeClr val="tx2"/>
                </a:solidFill>
              </a:rPr>
              <a:t>  </a:t>
            </a:r>
            <a:r>
              <a:rPr lang="zh-CN" altLang="zh-CN" dirty="0">
                <a:solidFill>
                  <a:schemeClr val="tx2"/>
                </a:solidFill>
              </a:rPr>
              <a:t>）。</a:t>
            </a: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A. a[0][2*1]					</a:t>
            </a: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B. a[0][0]	</a:t>
            </a: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C. a[3][0]					</a:t>
            </a: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D. a[0][4]</a:t>
            </a:r>
            <a:endParaRPr lang="zh-CN" altLang="zh-CN" dirty="0">
              <a:solidFill>
                <a:schemeClr val="tx2"/>
              </a:solidFill>
            </a:endParaRPr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9632" y="1988840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381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chemeClr val="tx2"/>
                </a:solidFill>
              </a:rPr>
              <a:t>可以用数组名作为字符串变量整体输出的合法的数组说明语句是（ </a:t>
            </a:r>
            <a:r>
              <a:rPr lang="en-US" altLang="zh-CN" dirty="0">
                <a:solidFill>
                  <a:schemeClr val="tx2"/>
                </a:solidFill>
              </a:rPr>
              <a:t>  </a:t>
            </a:r>
            <a:r>
              <a:rPr lang="zh-CN" altLang="zh-CN" dirty="0">
                <a:solidFill>
                  <a:schemeClr val="tx2"/>
                </a:solidFill>
              </a:rPr>
              <a:t>）。</a:t>
            </a: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A) char a[]="string ";	</a:t>
            </a: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B) </a:t>
            </a:r>
            <a:r>
              <a:rPr lang="en-US" altLang="zh-CN" dirty="0" err="1">
                <a:solidFill>
                  <a:schemeClr val="tx2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a[5] = {0,1,2,3,4,5};</a:t>
            </a: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C) char a= "string ";	</a:t>
            </a: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D) char a[ ]= {‘1’,’2’,’3’,’4’,’5’};</a:t>
            </a:r>
            <a:endParaRPr lang="zh-CN" altLang="zh-CN" dirty="0">
              <a:solidFill>
                <a:schemeClr val="tx2"/>
              </a:solidFill>
            </a:endParaRPr>
          </a:p>
          <a:p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03481" y="1988840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485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chemeClr val="tx2"/>
                </a:solidFill>
              </a:rPr>
              <a:t>在下面的数组定义中，有语法错误的是（ </a:t>
            </a:r>
            <a:r>
              <a:rPr lang="en-US" altLang="zh-CN" dirty="0">
                <a:solidFill>
                  <a:schemeClr val="tx2"/>
                </a:solidFill>
              </a:rPr>
              <a:t>  </a:t>
            </a:r>
            <a:r>
              <a:rPr lang="zh-CN" altLang="zh-CN" dirty="0">
                <a:solidFill>
                  <a:schemeClr val="tx2"/>
                </a:solidFill>
              </a:rPr>
              <a:t>）。</a:t>
            </a: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A. </a:t>
            </a:r>
            <a:r>
              <a:rPr lang="en-US" altLang="zh-CN" dirty="0" err="1">
                <a:solidFill>
                  <a:schemeClr val="tx2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a[ ]={1,2,3,4}; </a:t>
            </a: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B. </a:t>
            </a:r>
            <a:r>
              <a:rPr lang="en-US" altLang="zh-CN" dirty="0" err="1">
                <a:solidFill>
                  <a:schemeClr val="tx2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a[10]={0};</a:t>
            </a: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C. </a:t>
            </a:r>
            <a:r>
              <a:rPr lang="en-US" altLang="zh-CN" dirty="0" err="1">
                <a:solidFill>
                  <a:schemeClr val="tx2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a[ ]; </a:t>
            </a: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D. </a:t>
            </a:r>
            <a:r>
              <a:rPr lang="en-US" altLang="zh-CN" dirty="0" err="1">
                <a:solidFill>
                  <a:schemeClr val="tx2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a[5];</a:t>
            </a:r>
            <a:endParaRPr lang="zh-CN" altLang="zh-CN" dirty="0">
              <a:solidFill>
                <a:schemeClr val="tx2"/>
              </a:solidFill>
            </a:endParaRPr>
          </a:p>
          <a:p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09839" y="1556792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418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295400"/>
            <a:ext cx="8786874" cy="5029200"/>
          </a:xfrm>
        </p:spPr>
        <p:txBody>
          <a:bodyPr/>
          <a:lstStyle/>
          <a:p>
            <a:r>
              <a:rPr lang="zh-CN" altLang="zh-CN" dirty="0">
                <a:solidFill>
                  <a:schemeClr val="tx2"/>
                </a:solidFill>
              </a:rPr>
              <a:t>下面能正确定义一个</a:t>
            </a:r>
            <a:r>
              <a:rPr lang="en-US" altLang="zh-CN" dirty="0" err="1">
                <a:solidFill>
                  <a:schemeClr val="tx2"/>
                </a:solidFill>
              </a:rPr>
              <a:t>int</a:t>
            </a:r>
            <a:r>
              <a:rPr lang="zh-CN" altLang="zh-CN" dirty="0">
                <a:solidFill>
                  <a:schemeClr val="tx2"/>
                </a:solidFill>
              </a:rPr>
              <a:t>型二维数组</a:t>
            </a:r>
            <a:r>
              <a:rPr lang="en-US" altLang="zh-CN" dirty="0">
                <a:solidFill>
                  <a:schemeClr val="tx2"/>
                </a:solidFill>
              </a:rPr>
              <a:t>a</a:t>
            </a:r>
            <a:r>
              <a:rPr lang="zh-CN" altLang="zh-CN" dirty="0">
                <a:solidFill>
                  <a:schemeClr val="tx2"/>
                </a:solidFill>
              </a:rPr>
              <a:t>的语句是（ 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zh-CN" altLang="zh-CN" dirty="0">
                <a:solidFill>
                  <a:schemeClr val="tx2"/>
                </a:solidFill>
              </a:rPr>
              <a:t>）。</a:t>
            </a: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A</a:t>
            </a:r>
            <a:r>
              <a:rPr lang="zh-CN" altLang="zh-CN" dirty="0">
                <a:solidFill>
                  <a:schemeClr val="tx2"/>
                </a:solidFill>
              </a:rPr>
              <a:t>．</a:t>
            </a:r>
            <a:r>
              <a:rPr lang="en-US" altLang="zh-CN" dirty="0" err="1">
                <a:solidFill>
                  <a:schemeClr val="tx2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a[][]={2,3,0,0,4,0,5,0,0,0,0,0};</a:t>
            </a:r>
            <a:endParaRPr lang="zh-CN" altLang="zh-CN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B</a:t>
            </a:r>
            <a:r>
              <a:rPr lang="zh-CN" altLang="zh-CN" dirty="0">
                <a:solidFill>
                  <a:schemeClr val="tx2"/>
                </a:solidFill>
              </a:rPr>
              <a:t>．</a:t>
            </a:r>
            <a:r>
              <a:rPr lang="en-US" altLang="zh-CN" dirty="0" err="1">
                <a:solidFill>
                  <a:schemeClr val="tx2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a[][4]= {2,3,0,0,4,0,5,0,0,0,0,0};</a:t>
            </a:r>
            <a:endParaRPr lang="zh-CN" altLang="zh-CN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C</a:t>
            </a:r>
            <a:r>
              <a:rPr lang="zh-CN" altLang="zh-CN" dirty="0">
                <a:solidFill>
                  <a:schemeClr val="tx2"/>
                </a:solidFill>
              </a:rPr>
              <a:t>．</a:t>
            </a:r>
            <a:r>
              <a:rPr lang="en-US" altLang="zh-CN" dirty="0" err="1">
                <a:solidFill>
                  <a:schemeClr val="tx2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a[3][4]= {{2,3},{4,,5}};</a:t>
            </a:r>
            <a:endParaRPr lang="zh-CN" altLang="zh-CN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D</a:t>
            </a:r>
            <a:r>
              <a:rPr lang="zh-CN" altLang="zh-CN" dirty="0">
                <a:solidFill>
                  <a:schemeClr val="tx2"/>
                </a:solidFill>
              </a:rPr>
              <a:t>．</a:t>
            </a:r>
            <a:r>
              <a:rPr lang="en-US" altLang="zh-CN" dirty="0" err="1">
                <a:solidFill>
                  <a:schemeClr val="tx2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a[][]={{2,3,0,0},{4,0,5,0},{0,0,0,0}};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6376" y="1628800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48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/>
              <a:t>下面对于二维数组的说明及初始化，不正确的是（</a:t>
            </a:r>
            <a:r>
              <a:rPr lang="en-US" altLang="zh-CN"/>
              <a:t>    </a:t>
            </a:r>
            <a:r>
              <a:rPr lang="zh-CN" altLang="zh-CN"/>
              <a:t>）</a:t>
            </a:r>
          </a:p>
          <a:p>
            <a:pPr lvl="0"/>
            <a:r>
              <a:rPr lang="en-US" altLang="zh-CN"/>
              <a:t>char a[][10]={"C++","programming"};</a:t>
            </a:r>
            <a:endParaRPr lang="zh-CN" altLang="zh-CN"/>
          </a:p>
          <a:p>
            <a:pPr lvl="0"/>
            <a:r>
              <a:rPr lang="en-US" altLang="zh-CN"/>
              <a:t>int a[2][5] = {1,2,3,4,5,6,7,8,9,10};</a:t>
            </a:r>
            <a:endParaRPr lang="zh-CN" altLang="zh-CN"/>
          </a:p>
          <a:p>
            <a:pPr lvl="0"/>
            <a:r>
              <a:rPr lang="en-US" altLang="zh-CN"/>
              <a:t>float a[2][5] = {1.0,5.5,9.9};</a:t>
            </a:r>
            <a:endParaRPr lang="zh-CN" altLang="zh-CN"/>
          </a:p>
          <a:p>
            <a:r>
              <a:rPr lang="en-US" altLang="zh-CN"/>
              <a:t>double a[][5] = {1,2.0,3,4.5,5.5};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31640" y="1988840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9745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182988"/>
            <a:ext cx="8153400" cy="5298798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void main(){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char a[10]="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bacdfgeih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";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for(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=0;i&lt;9;i++){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for(j=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i;j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&lt;9;j++){		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		char t;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		if (a[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]&gt;a[j]){	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			t=a[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];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			a[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]=a[j];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				a[j]=t; }		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}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}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a[9]='\0';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&lt;&lt;a&lt;&lt;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865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 power(int m);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void main() {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a[3][3],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 j;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for (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&lt;3;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 { 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for (j=0; j&lt;3; j++) {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	a[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][j]=(i+2)*(j+1)+1;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  "&lt;&lt;a[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}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}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 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endParaRPr lang="zh-CN" altLang="en-US" sz="2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91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2400" dirty="0"/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&lt;&lt;"----</a:t>
            </a:r>
            <a:r>
              <a:rPr lang="zh-CN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执行结果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----"&lt;&lt;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m=a[0][0], s=0;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for (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&lt;3;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		for (j=0; j&lt;3; j++) {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	if ( a[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][j]&lt;m ) m=a[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][j];  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	if (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!=j ) s+=power(a[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][j]); 	    }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&lt;&lt;"m="&lt;&lt;m&lt;&lt;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&lt;&lt;"s="&lt;&lt;s&lt;&lt;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power(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m){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return m*=m;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4581128"/>
            <a:ext cx="22098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9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276872"/>
          </a:xfrm>
        </p:spPr>
        <p:txBody>
          <a:bodyPr/>
          <a:lstStyle/>
          <a:p>
            <a:r>
              <a:rPr lang="zh-CN" altLang="zh-CN" dirty="0"/>
              <a:t>下面函数实现</a:t>
            </a:r>
            <a:r>
              <a:rPr lang="en-US" altLang="zh-CN" dirty="0" err="1"/>
              <a:t>strcmp</a:t>
            </a:r>
            <a:r>
              <a:rPr lang="zh-CN" altLang="zh-CN" dirty="0"/>
              <a:t>的功能，将两个字符串</a:t>
            </a:r>
            <a:r>
              <a:rPr lang="en-US" altLang="zh-CN" dirty="0"/>
              <a:t>s</a:t>
            </a:r>
            <a:r>
              <a:rPr lang="zh-CN" altLang="zh-CN" dirty="0"/>
              <a:t>和</a:t>
            </a:r>
            <a:r>
              <a:rPr lang="en-US" altLang="zh-CN" dirty="0"/>
              <a:t>t</a:t>
            </a:r>
            <a:r>
              <a:rPr lang="zh-CN" altLang="zh-CN" dirty="0"/>
              <a:t>进行比较，如果相等返回</a:t>
            </a:r>
            <a:r>
              <a:rPr lang="en-US" altLang="zh-CN" dirty="0"/>
              <a:t>0</a:t>
            </a:r>
            <a:r>
              <a:rPr lang="zh-CN" altLang="zh-CN" dirty="0"/>
              <a:t>，否则返回两个字符串中第一个不相同字符的</a:t>
            </a:r>
            <a:r>
              <a:rPr lang="en-US" altLang="zh-CN" dirty="0"/>
              <a:t>ASCII</a:t>
            </a:r>
            <a:r>
              <a:rPr lang="zh-CN" altLang="zh-CN" dirty="0"/>
              <a:t>码值之差。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zh-CN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 MyStrcmp(char s[], char t[])</a:t>
            </a:r>
          </a:p>
          <a:p>
            <a:pPr>
              <a:spcBef>
                <a:spcPts val="0"/>
              </a:spcBef>
              <a:buNone/>
            </a:pPr>
            <a:r>
              <a:rPr lang="zh-CN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zh-CN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int i;</a:t>
            </a:r>
          </a:p>
          <a:p>
            <a:pPr>
              <a:spcBef>
                <a:spcPts val="0"/>
              </a:spcBef>
              <a:buNone/>
            </a:pPr>
            <a:r>
              <a:rPr lang="zh-CN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;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{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		if (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  return  0 ;   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__________</a:t>
            </a:r>
            <a:endParaRPr lang="zh-CN" altLang="zh-CN" sz="2400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72200" y="5501012"/>
            <a:ext cx="2823209" cy="101566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s[i]==t[i]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s[i]=='\0‘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return (int)(s[i]-t[i]);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764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304404"/>
            <a:ext cx="8229600" cy="4932908"/>
          </a:xfrm>
        </p:spPr>
        <p:txBody>
          <a:bodyPr/>
          <a:lstStyle/>
          <a:p>
            <a:r>
              <a:rPr lang="zh-CN" altLang="zh-CN" dirty="0"/>
              <a:t>任意输入一个字符串，在星期名表中查找该字符串，若找到，则打印“已找到</a:t>
            </a:r>
            <a:r>
              <a:rPr lang="en-US" altLang="zh-CN" dirty="0"/>
              <a:t>”</a:t>
            </a:r>
            <a:r>
              <a:rPr lang="zh-CN" altLang="zh-CN" dirty="0"/>
              <a:t>，否则打印“没找到</a:t>
            </a:r>
            <a:r>
              <a:rPr lang="en-US" altLang="zh-CN" dirty="0"/>
              <a:t>”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#include &lt;iostream&gt;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#include &lt;cstring&gt;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using namespace std;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                  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void main() { 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__________</a:t>
            </a:r>
            <a:endParaRPr lang="zh-CN" altLang="zh-CN" sz="2000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char x[10];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char 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weekDay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[7][10]= {"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Sunday","Monday","Tuesday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",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Wednesday","Thursday","Friday","Saturday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"}; 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zh-CN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请输入一个字符串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:";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</a:t>
            </a:r>
            <a:endParaRPr lang="zh-CN" altLang="en-US" sz="2000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267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/>
              <a:t>  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&lt; 7 &amp;&amp; !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findFlag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{   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if (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strcmp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x,weekDay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])==0)</a:t>
            </a:r>
          </a:p>
          <a:p>
            <a:pPr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		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findFlag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1;    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if </a:t>
            </a:r>
            <a:r>
              <a:rPr lang="en-US" altLang="zh-CN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</a:t>
            </a:r>
            <a:endParaRPr lang="zh-CN" altLang="zh-CN" sz="2000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zh-CN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已找到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\n";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else  </a:t>
            </a:r>
            <a:r>
              <a:rPr lang="en-US" altLang="zh-CN" sz="20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zh-CN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没找到</a:t>
            </a: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!\n";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20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zh-CN" sz="20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08104" y="5157192"/>
            <a:ext cx="2619628" cy="101566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bool findFlag = 0;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cin&gt;&gt;x;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(findFlag)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71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下列函数实现将字符串</a:t>
            </a:r>
            <a:r>
              <a:rPr lang="en-US" altLang="zh-CN" dirty="0" err="1"/>
              <a:t>str</a:t>
            </a:r>
            <a:r>
              <a:rPr lang="zh-CN" altLang="zh-CN" dirty="0"/>
              <a:t>的内容逆序存放到</a:t>
            </a:r>
            <a:r>
              <a:rPr lang="en-US" altLang="zh-CN" dirty="0" err="1"/>
              <a:t>ptr</a:t>
            </a:r>
            <a:r>
              <a:rPr lang="zh-CN" altLang="zh-CN" dirty="0"/>
              <a:t>中（假设两者长度相等）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#include &lt;cstring&gt;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void Inverse(char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[], char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[]){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0, j;        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	</a:t>
            </a:r>
            <a:r>
              <a:rPr lang="de-DE" altLang="zh-CN" sz="2400" i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_____________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de-DE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	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__________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 	{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	ptr[i] = str[j];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	</a:t>
            </a:r>
            <a:r>
              <a:rPr lang="en-US" altLang="zh-CN" sz="24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++; 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     j--;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	}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	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__________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08104" y="5157192"/>
            <a:ext cx="2372765" cy="101566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j = strlen(str)-1;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str[i]!='\0'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ptr[i] = '\0';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70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结构类型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000"/>
              <a:t>电影《</a:t>
            </a:r>
            <a:r>
              <a:rPr lang="en-US" altLang="zh-CN" sz="2000"/>
              <a:t>2012</a:t>
            </a:r>
            <a:r>
              <a:rPr lang="zh-CN" altLang="zh-CN" sz="2000"/>
              <a:t>》中提到的历法来自于玛雅文明。玛雅文明是最早发明、使用历法的文明之一。玛雅人日常生活使用的是哈布历（</a:t>
            </a:r>
            <a:r>
              <a:rPr lang="en-US" altLang="zh-CN" sz="2000"/>
              <a:t>Haab’</a:t>
            </a:r>
            <a:r>
              <a:rPr lang="zh-CN" altLang="zh-CN" sz="2000"/>
              <a:t>）。哈布历规定一年</a:t>
            </a:r>
            <a:r>
              <a:rPr lang="en-US" altLang="zh-CN" sz="2000"/>
              <a:t>365</a:t>
            </a:r>
            <a:r>
              <a:rPr lang="zh-CN" altLang="zh-CN" sz="2000"/>
              <a:t>天，分为</a:t>
            </a:r>
            <a:r>
              <a:rPr lang="en-US" altLang="zh-CN" sz="2000"/>
              <a:t>19</a:t>
            </a:r>
            <a:r>
              <a:rPr lang="zh-CN" altLang="zh-CN" sz="2000"/>
              <a:t>个月，前</a:t>
            </a:r>
            <a:r>
              <a:rPr lang="en-US" altLang="zh-CN" sz="2000"/>
              <a:t>18</a:t>
            </a:r>
            <a:r>
              <a:rPr lang="zh-CN" altLang="zh-CN" sz="2000"/>
              <a:t>个月每月</a:t>
            </a:r>
            <a:r>
              <a:rPr lang="en-US" altLang="zh-CN" sz="2000"/>
              <a:t>20</a:t>
            </a:r>
            <a:r>
              <a:rPr lang="zh-CN" altLang="zh-CN" sz="2000"/>
              <a:t>天，第</a:t>
            </a:r>
            <a:r>
              <a:rPr lang="en-US" altLang="zh-CN" sz="2000"/>
              <a:t>19</a:t>
            </a:r>
            <a:r>
              <a:rPr lang="zh-CN" altLang="zh-CN" sz="2000"/>
              <a:t>个月</a:t>
            </a:r>
            <a:r>
              <a:rPr lang="en-US" altLang="zh-CN" sz="2000"/>
              <a:t>5</a:t>
            </a:r>
            <a:r>
              <a:rPr lang="zh-CN" altLang="zh-CN" sz="2000"/>
              <a:t>天。玛雅文明还使用一种用于宗教祭祀的卓尔金历（</a:t>
            </a:r>
            <a:r>
              <a:rPr lang="en-US" altLang="zh-CN" sz="2000"/>
              <a:t>Tzolk'in</a:t>
            </a:r>
            <a:r>
              <a:rPr lang="zh-CN" altLang="zh-CN" sz="2000"/>
              <a:t>，就是这个历法预言</a:t>
            </a:r>
            <a:r>
              <a:rPr lang="en-US" altLang="zh-CN" sz="2000"/>
              <a:t>2012</a:t>
            </a:r>
            <a:r>
              <a:rPr lang="zh-CN" altLang="zh-CN" sz="2000"/>
              <a:t>年的灾难）。卓尔金历规定一年</a:t>
            </a:r>
            <a:r>
              <a:rPr lang="en-US" altLang="zh-CN" sz="2000"/>
              <a:t>260</a:t>
            </a:r>
            <a:r>
              <a:rPr lang="zh-CN" altLang="zh-CN" sz="2000"/>
              <a:t>天，分为</a:t>
            </a:r>
            <a:r>
              <a:rPr lang="en-US" altLang="zh-CN" sz="2000"/>
              <a:t>13</a:t>
            </a:r>
            <a:r>
              <a:rPr lang="zh-CN" altLang="zh-CN" sz="2000"/>
              <a:t>个月，每个月</a:t>
            </a:r>
            <a:r>
              <a:rPr lang="en-US" altLang="zh-CN" sz="2000"/>
              <a:t>20</a:t>
            </a:r>
            <a:r>
              <a:rPr lang="zh-CN" altLang="zh-CN" sz="2000"/>
              <a:t>天。哈布历和卓尔金历的公元</a:t>
            </a:r>
            <a:r>
              <a:rPr lang="en-US" altLang="zh-CN" sz="2000"/>
              <a:t>0</a:t>
            </a:r>
            <a:r>
              <a:rPr lang="zh-CN" altLang="zh-CN" sz="2000"/>
              <a:t>年</a:t>
            </a:r>
            <a:r>
              <a:rPr lang="en-US" altLang="zh-CN" sz="2000"/>
              <a:t>1</a:t>
            </a:r>
            <a:r>
              <a:rPr lang="zh-CN" altLang="zh-CN" sz="2000"/>
              <a:t>月</a:t>
            </a:r>
            <a:r>
              <a:rPr lang="en-US" altLang="zh-CN" sz="2000"/>
              <a:t>1</a:t>
            </a:r>
            <a:r>
              <a:rPr lang="zh-CN" altLang="zh-CN" sz="2000"/>
              <a:t>日是同一天开始的（考古学家认为是公元前</a:t>
            </a:r>
            <a:r>
              <a:rPr lang="en-US" altLang="zh-CN" sz="2000"/>
              <a:t>3114</a:t>
            </a:r>
            <a:r>
              <a:rPr lang="zh-CN" altLang="zh-CN" sz="2000"/>
              <a:t>年</a:t>
            </a:r>
            <a:r>
              <a:rPr lang="en-US" altLang="zh-CN" sz="2000"/>
              <a:t>8</a:t>
            </a:r>
            <a:r>
              <a:rPr lang="zh-CN" altLang="zh-CN" sz="2000"/>
              <a:t>月</a:t>
            </a:r>
            <a:r>
              <a:rPr lang="en-US" altLang="zh-CN" sz="2000"/>
              <a:t>31</a:t>
            </a:r>
            <a:r>
              <a:rPr lang="zh-CN" altLang="zh-CN" sz="2000"/>
              <a:t>日），请编写一个程序实现哈布历和卓尔金历的相互转换，要求：</a:t>
            </a:r>
          </a:p>
          <a:p>
            <a:pPr lvl="1"/>
            <a:r>
              <a:rPr lang="zh-CN" altLang="zh-CN" sz="2000"/>
              <a:t>如果输入一组（至少</a:t>
            </a:r>
            <a:r>
              <a:rPr lang="en-US" altLang="zh-CN" sz="2000"/>
              <a:t>5</a:t>
            </a:r>
            <a:r>
              <a:rPr lang="zh-CN" altLang="zh-CN" sz="2000"/>
              <a:t>个）哈布历日期，将其转换为卓尔金历日期（日期以日 月 年的顺序表示），并按照日期由小到大的顺序输出</a:t>
            </a:r>
          </a:p>
          <a:p>
            <a:pPr lvl="1"/>
            <a:r>
              <a:rPr lang="zh-CN" altLang="zh-CN" sz="2000"/>
              <a:t>如果输入一组（至少</a:t>
            </a:r>
            <a:r>
              <a:rPr lang="en-US" altLang="zh-CN" sz="2000"/>
              <a:t>5</a:t>
            </a:r>
            <a:r>
              <a:rPr lang="zh-CN" altLang="zh-CN" sz="2000"/>
              <a:t>个）卓尔金历日期，将其转换为哈布历日期（日期以日 月 年的顺序表示），并按照日期由小到大的顺序输出</a:t>
            </a:r>
            <a:endParaRPr lang="zh-CN" altLang="en-US" sz="20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94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结构类型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2817" name="Rectangle 1"/>
          <p:cNvSpPr>
            <a:spLocks noChangeArrowheads="1"/>
          </p:cNvSpPr>
          <p:nvPr/>
        </p:nvSpPr>
        <p:spPr bwMode="auto">
          <a:xfrm>
            <a:off x="216024" y="1184553"/>
            <a:ext cx="8676456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Calibri" pitchFamily="34" charset="0"/>
              </a:rPr>
              <a:t>例如：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输入历法（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H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表示哈布历，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T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表示卓尔金历）：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H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输出历法卓尔金历（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T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），排序后结果为：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宋体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11560" y="2204864"/>
          <a:ext cx="2880320" cy="1524000"/>
        </p:xfrm>
        <a:graphic>
          <a:graphicData uri="http://schemas.openxmlformats.org/drawingml/2006/table">
            <a:tbl>
              <a:tblPr/>
              <a:tblGrid>
                <a:gridCol w="667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6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43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8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11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2002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3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13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3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1996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3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7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16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2563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3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16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1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835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43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1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9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245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11560" y="4293096"/>
          <a:ext cx="2376264" cy="1800200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6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8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344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11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4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1172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13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4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2802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18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4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2811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2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4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</a:rPr>
                        <a:t>3599</a:t>
                      </a:r>
                      <a:endParaRPr lang="zh-CN" sz="2000" b="1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00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结构类型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3568" y="1268760"/>
            <a:ext cx="756084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#include &lt;iostream&gt;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using namespace std;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const int N = 5;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struct date{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int year;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int month;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int day;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}calendar[N];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 sort_calendar(date[],int);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 swap(date&amp;,date&amp;);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62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结构类型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7504" y="1624732"/>
            <a:ext cx="88924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 main(){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char ch;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int day ,mon, year;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long sum;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cout &lt;&lt; “please input catelog of calendar: ”;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cin&gt;&gt;ch;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79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结构类型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9512" y="1303015"/>
            <a:ext cx="878497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if( (ch==‘H’) || (ch==‘h’))	{//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哈布历法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for(int i=0;i&lt;N;i++){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cin&gt;&gt;calendar[i].day&gt;&gt;calendar[i].month&gt;&gt;calendar[i].year;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day = calendar[i].day;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mon = calendar[i].month;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year = calendar[i].year;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sum= day+mon*20+year*365;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year=sum/260;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sum=sum % 260;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mon=sum/20;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day=sum%20;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calendar[i].day = day;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calendar[i].month = mon;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calendar[i].year = year;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}	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cout&lt;&lt;“Output calendar of Tzolk‘in”&lt;&lt;endl;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 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97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结构类型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9512" y="1048082"/>
            <a:ext cx="864096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else{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if ((ch=='T') || (ch=='t'))	{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for(int i=0;i&lt;N;i++)	{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cin&gt;&gt;calendar[i].day&gt;&gt;calendar[i].month&gt;&gt;calendar[i].year;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day = calendar[i].day;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mon = calendar[i].month;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year = calendar[i].year;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sum= day+mon*20+year*260;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year=sum/365;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sum=sum % 365;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mon=sum/20;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day=sum%20;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calendar[i].day = day;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calendar[i].month = mon;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calendar[i].year = year;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}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cout&lt;&lt;"Output calendar of Haab'"&lt;&lt;endl;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}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else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cout &lt;&lt;"input error"&lt;&lt;endl;}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19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结构类型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9552" y="2551837"/>
            <a:ext cx="835292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sort_calendar(calendar,N);//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日期排序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for(int i=0;i&lt;N;i++)//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结果输出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cout&lt;&lt;calendar[i].day&lt;&lt;" "&lt;&lt;calendar[i].month&lt;&lt;" "&lt;&lt;calendar[i].year&lt;&lt;endl;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19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结构类型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1142156"/>
            <a:ext cx="792088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 sort_calendar(date d[],int n){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for(int i=0;i&lt;n-1;i++)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for(int j=i;j&gt;0;j--)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if(d[j].year&lt;d[j-1].year)	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swap(d[j],d[j-1]);			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else	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if(d[j].year==d[j-1].year)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 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(d[j].month&lt;d[j-1].month)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       swap(d[j],d[j-1]);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 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else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       if(d[j].month==d[j-1].month)	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         if(d[j].day&lt;d[j-1].day)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           swap(d[j],d[j-1]);		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}//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交换函数定义略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86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4393C-3B5C-4C25-8297-C24B9A0A0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静态变量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987F63-9B1D-4B6C-B467-85B4EF389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2E5D-7BC3-44E6-BA65-C8AAD10FCEE5}" type="slidenum">
              <a:rPr lang="en-US" altLang="zh-CN" smtClean="0"/>
              <a:pPr/>
              <a:t>38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920EA1-E021-4D40-A153-8BCF5AC5D291}"/>
              </a:ext>
            </a:extLst>
          </p:cNvPr>
          <p:cNvSpPr/>
          <p:nvPr/>
        </p:nvSpPr>
        <p:spPr>
          <a:xfrm>
            <a:off x="294640" y="1221029"/>
            <a:ext cx="854456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#include&lt;iostream&gt;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int fun(int a, int b) {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    static int n = 2;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	int m = 0;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	n += </a:t>
            </a:r>
            <a:r>
              <a:rPr lang="en-US" altLang="zh-CN" sz="2000" b="1" dirty="0" err="1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m+b</a:t>
            </a:r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	m += </a:t>
            </a:r>
            <a:r>
              <a:rPr lang="en-US" altLang="zh-CN" sz="2000" b="1" dirty="0" err="1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n+a</a:t>
            </a:r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	return m;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int main() { 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      int x = 4, y = 1, r1, r2; 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	r1 = fun(x, y);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      r2 = fun(x, y) + fun(x, y);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zh-CN" sz="2000" b="1" dirty="0" err="1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&lt;&lt;r1&lt;&lt;','&lt;&lt;r2&lt;&lt;</a:t>
            </a:r>
            <a:r>
              <a:rPr lang="en-US" altLang="zh-CN" sz="2000" b="1" dirty="0" err="1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	return 0;</a:t>
            </a:r>
          </a:p>
          <a:p>
            <a:r>
              <a:rPr lang="en-US" altLang="zh-CN" sz="2000" b="1" dirty="0">
                <a:solidFill>
                  <a:srgbClr val="19426B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BBA45E3-92EA-425C-90E5-8361B2F48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06" y="6155443"/>
            <a:ext cx="487722" cy="4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3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1742</a:t>
            </a:r>
            <a:r>
              <a:rPr lang="zh-CN" altLang="zh-CN"/>
              <a:t>年</a:t>
            </a:r>
            <a:r>
              <a:rPr lang="en-US" altLang="zh-CN"/>
              <a:t>6</a:t>
            </a:r>
            <a:r>
              <a:rPr lang="zh-CN" altLang="zh-CN"/>
              <a:t>月</a:t>
            </a:r>
            <a:r>
              <a:rPr lang="en-US" altLang="zh-CN"/>
              <a:t>7</a:t>
            </a:r>
            <a:r>
              <a:rPr lang="zh-CN" altLang="zh-CN"/>
              <a:t>日，哥德巴赫写信给欧拉，提出了以下猜想：任何一个大于等于</a:t>
            </a:r>
            <a:r>
              <a:rPr lang="en-US" altLang="zh-CN"/>
              <a:t>6</a:t>
            </a:r>
            <a:r>
              <a:rPr lang="zh-CN" altLang="zh-CN"/>
              <a:t>的偶数都可以表示成为两个奇素数之和；任何一个大于等于</a:t>
            </a:r>
            <a:r>
              <a:rPr lang="en-US" altLang="zh-CN"/>
              <a:t>9</a:t>
            </a:r>
            <a:r>
              <a:rPr lang="zh-CN" altLang="zh-CN"/>
              <a:t>的奇数都可以表示成为三个奇素数之和——这就是著名的哥德巴赫猜想。</a:t>
            </a:r>
          </a:p>
          <a:p>
            <a:pPr lvl="1"/>
            <a:r>
              <a:rPr lang="zh-CN" altLang="zh-CN"/>
              <a:t>请编写程序验证在</a:t>
            </a:r>
            <a:r>
              <a:rPr lang="en-US" altLang="zh-CN"/>
              <a:t>10000</a:t>
            </a:r>
            <a:r>
              <a:rPr lang="zh-CN" altLang="zh-CN"/>
              <a:t>以内哥德巴赫猜想是否成立。如果成立输出</a:t>
            </a:r>
            <a:r>
              <a:rPr lang="en-US" altLang="zh-CN"/>
              <a:t>Yes</a:t>
            </a:r>
            <a:r>
              <a:rPr lang="zh-CN" altLang="zh-CN"/>
              <a:t>否则输出</a:t>
            </a:r>
            <a:r>
              <a:rPr lang="en-US" altLang="zh-CN"/>
              <a:t>No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6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判断素数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3568" y="2276872"/>
            <a:ext cx="784887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isprime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(int n) {	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//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判定素数函数，如果素数返回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，否则返回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0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for(int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=2;i&lt;n/2;i++)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if(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n%i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==0)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	return 0;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return 1;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81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1812880"/>
            <a:ext cx="82809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 even(int n) {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//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判定一个大于等于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6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的偶数是否符合哥德巴赫猜想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for ( int i=3;i&lt;n;i+=2)	{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if(isprime(i)&amp;&amp;isprime(n-i))	{ 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	return 1;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}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}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return 0;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00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1997839"/>
            <a:ext cx="813690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 odd(int n) {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//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判定一个大于等于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9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的奇数是否符合哥德巴赫猜想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for ( int i=3;i&lt;n;i+=2)	{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if(isprime(i) &amp;&amp; even(n-i)){ 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	return 1;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}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}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return 0;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2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536" y="1628800"/>
            <a:ext cx="820891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 main(){	//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主程序 在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6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到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10000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，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9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到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10000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做循环分别判定偶数和奇数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bool g1=true,g2=true;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for(int i=6;i&lt;=10000;i+=2)	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g1=g1 &amp;&amp; even(i);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for(i=9;i&lt;=10000;i+=2)	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g2 = g2 &amp;&amp; odd(i);}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if(g1&amp;&amp;g2)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cout&lt;&lt;"Yes"&lt;&lt;endl;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else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cout&lt;&lt;"No"&lt;&lt;endl;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4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字符数组与字符串</a:t>
            </a:r>
            <a:endParaRPr lang="en-US" altLang="zh-CN" dirty="0"/>
          </a:p>
          <a:p>
            <a:pPr lvl="1"/>
            <a:r>
              <a:rPr lang="zh-CN" altLang="en-US" dirty="0"/>
              <a:t>统计字符、“短”字符串在某个“长”字符串中出现的次数、每次出现时字符或“短”字符串的下标</a:t>
            </a:r>
            <a:endParaRPr lang="en-US" altLang="zh-CN" dirty="0"/>
          </a:p>
          <a:p>
            <a:pPr lvl="1"/>
            <a:r>
              <a:rPr lang="zh-CN" altLang="en-US" dirty="0"/>
              <a:t>按照某些规则，将一个或几个字符串进行变换，得到新的字符串</a:t>
            </a:r>
            <a:endParaRPr lang="en-US" altLang="zh-CN" dirty="0"/>
          </a:p>
          <a:p>
            <a:pPr lvl="2"/>
            <a:r>
              <a:rPr lang="zh-CN" altLang="en-US" dirty="0"/>
              <a:t>注意，在表示新字符串的字符数组的适当位置设置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'\0'</a:t>
            </a:r>
            <a:r>
              <a:rPr lang="zh-CN" altLang="en-US" dirty="0"/>
              <a:t>，作为串尾符</a:t>
            </a:r>
            <a:endParaRPr lang="en-US" altLang="zh-CN" dirty="0"/>
          </a:p>
          <a:p>
            <a:pPr lvl="1"/>
            <a:r>
              <a:rPr lang="zh-CN" altLang="en-US" dirty="0"/>
              <a:t>字符串的输出，包括正序、逆序、指定字符的输出等等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BA5DA-9399-4747-BBF5-65A2C231688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966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mple">
  <a:themeElements>
    <a:clrScheme name="sample 2">
      <a:dk1>
        <a:srgbClr val="19426B"/>
      </a:dk1>
      <a:lt1>
        <a:srgbClr val="FFFFFF"/>
      </a:lt1>
      <a:dk2>
        <a:srgbClr val="008080"/>
      </a:dk2>
      <a:lt2>
        <a:srgbClr val="B2B2B2"/>
      </a:lt2>
      <a:accent1>
        <a:srgbClr val="35C9C2"/>
      </a:accent1>
      <a:accent2>
        <a:srgbClr val="398AC7"/>
      </a:accent2>
      <a:accent3>
        <a:srgbClr val="FFFFFF"/>
      </a:accent3>
      <a:accent4>
        <a:srgbClr val="14375A"/>
      </a:accent4>
      <a:accent5>
        <a:srgbClr val="AEE1DD"/>
      </a:accent5>
      <a:accent6>
        <a:srgbClr val="337DB4"/>
      </a:accent6>
      <a:hlink>
        <a:srgbClr val="8BBC00"/>
      </a:hlink>
      <a:folHlink>
        <a:srgbClr val="6D50CA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ample 1">
        <a:dk1>
          <a:srgbClr val="000000"/>
        </a:dk1>
        <a:lt1>
          <a:srgbClr val="FFFFFF"/>
        </a:lt1>
        <a:dk2>
          <a:srgbClr val="1640B6"/>
        </a:dk2>
        <a:lt2>
          <a:srgbClr val="B2B2B2"/>
        </a:lt2>
        <a:accent1>
          <a:srgbClr val="48BDEC"/>
        </a:accent1>
        <a:accent2>
          <a:srgbClr val="E68402"/>
        </a:accent2>
        <a:accent3>
          <a:srgbClr val="FFFFFF"/>
        </a:accent3>
        <a:accent4>
          <a:srgbClr val="000000"/>
        </a:accent4>
        <a:accent5>
          <a:srgbClr val="B1DBF4"/>
        </a:accent5>
        <a:accent6>
          <a:srgbClr val="D07702"/>
        </a:accent6>
        <a:hlink>
          <a:srgbClr val="339966"/>
        </a:hlink>
        <a:folHlink>
          <a:srgbClr val="7E88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426B"/>
        </a:dk1>
        <a:lt1>
          <a:srgbClr val="FFFFFF"/>
        </a:lt1>
        <a:dk2>
          <a:srgbClr val="008080"/>
        </a:dk2>
        <a:lt2>
          <a:srgbClr val="B2B2B2"/>
        </a:lt2>
        <a:accent1>
          <a:srgbClr val="35C9C2"/>
        </a:accent1>
        <a:accent2>
          <a:srgbClr val="398AC7"/>
        </a:accent2>
        <a:accent3>
          <a:srgbClr val="FFFFFF"/>
        </a:accent3>
        <a:accent4>
          <a:srgbClr val="14375A"/>
        </a:accent4>
        <a:accent5>
          <a:srgbClr val="AEE1DD"/>
        </a:accent5>
        <a:accent6>
          <a:srgbClr val="337DB4"/>
        </a:accent6>
        <a:hlink>
          <a:srgbClr val="8BBC00"/>
        </a:hlink>
        <a:folHlink>
          <a:srgbClr val="6D50C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25095D"/>
        </a:dk1>
        <a:lt1>
          <a:srgbClr val="FFFFFF"/>
        </a:lt1>
        <a:dk2>
          <a:srgbClr val="235752"/>
        </a:dk2>
        <a:lt2>
          <a:srgbClr val="B2B2B2"/>
        </a:lt2>
        <a:accent1>
          <a:srgbClr val="DAAF34"/>
        </a:accent1>
        <a:accent2>
          <a:srgbClr val="6F9A3C"/>
        </a:accent2>
        <a:accent3>
          <a:srgbClr val="FFFFFF"/>
        </a:accent3>
        <a:accent4>
          <a:srgbClr val="1E064E"/>
        </a:accent4>
        <a:accent5>
          <a:srgbClr val="EAD4AE"/>
        </a:accent5>
        <a:accent6>
          <a:srgbClr val="648B35"/>
        </a:accent6>
        <a:hlink>
          <a:srgbClr val="8DAED9"/>
        </a:hlink>
        <a:folHlink>
          <a:srgbClr val="A8CB7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1708</Words>
  <Application>Microsoft Office PowerPoint</Application>
  <PresentationFormat>全屏显示(4:3)</PresentationFormat>
  <Paragraphs>551</Paragraphs>
  <Slides>44</Slides>
  <Notes>2</Notes>
  <HiddenSlides>3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7" baseType="lpstr">
      <vt:lpstr>等线</vt:lpstr>
      <vt:lpstr>华文新魏</vt:lpstr>
      <vt:lpstr>楷体_GB2312</vt:lpstr>
      <vt:lpstr>宋体</vt:lpstr>
      <vt:lpstr>Arial</vt:lpstr>
      <vt:lpstr>Calibri</vt:lpstr>
      <vt:lpstr>Comic Sans MS</vt:lpstr>
      <vt:lpstr>Courier New</vt:lpstr>
      <vt:lpstr>Times New Roman</vt:lpstr>
      <vt:lpstr>Verdana</vt:lpstr>
      <vt:lpstr>Wingdings</vt:lpstr>
      <vt:lpstr>sample</vt:lpstr>
      <vt:lpstr>公式</vt:lpstr>
      <vt:lpstr>高级语言程序设计</vt:lpstr>
      <vt:lpstr>期末复习</vt:lpstr>
      <vt:lpstr>C++语言的词汇</vt:lpstr>
      <vt:lpstr>C++语言的词汇</vt:lpstr>
      <vt:lpstr>运算符与表达式</vt:lpstr>
      <vt:lpstr>C++语句</vt:lpstr>
      <vt:lpstr>C++语句</vt:lpstr>
      <vt:lpstr>C++语句</vt:lpstr>
      <vt:lpstr>C++语句</vt:lpstr>
      <vt:lpstr>C++语句</vt:lpstr>
      <vt:lpstr>C++语句</vt:lpstr>
      <vt:lpstr>C++语句</vt:lpstr>
      <vt:lpstr>C++语句</vt:lpstr>
      <vt:lpstr>C++语句</vt:lpstr>
      <vt:lpstr>C++语句</vt:lpstr>
      <vt:lpstr>C++语句</vt:lpstr>
      <vt:lpstr>C++语句</vt:lpstr>
      <vt:lpstr>数组</vt:lpstr>
      <vt:lpstr>数组</vt:lpstr>
      <vt:lpstr>数组</vt:lpstr>
      <vt:lpstr>数组</vt:lpstr>
      <vt:lpstr>数组</vt:lpstr>
      <vt:lpstr>数组</vt:lpstr>
      <vt:lpstr>数组</vt:lpstr>
      <vt:lpstr>数组</vt:lpstr>
      <vt:lpstr>字符数组</vt:lpstr>
      <vt:lpstr>字符数组</vt:lpstr>
      <vt:lpstr>字符数组</vt:lpstr>
      <vt:lpstr>字符数组</vt:lpstr>
      <vt:lpstr>结构类型</vt:lpstr>
      <vt:lpstr>结构类型</vt:lpstr>
      <vt:lpstr>结构类型</vt:lpstr>
      <vt:lpstr>结构类型</vt:lpstr>
      <vt:lpstr>结构类型</vt:lpstr>
      <vt:lpstr>结构类型</vt:lpstr>
      <vt:lpstr>结构类型</vt:lpstr>
      <vt:lpstr>结构类型</vt:lpstr>
      <vt:lpstr>静态变量</vt:lpstr>
      <vt:lpstr>函数</vt:lpstr>
      <vt:lpstr>函数</vt:lpstr>
      <vt:lpstr>函数</vt:lpstr>
      <vt:lpstr>函数</vt:lpstr>
      <vt:lpstr>函数</vt:lpstr>
      <vt:lpstr>函数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高级语言程序设计</dc:title>
  <dc:creator>guomy</dc:creator>
  <cp:lastModifiedBy>h</cp:lastModifiedBy>
  <cp:revision>13</cp:revision>
  <dcterms:created xsi:type="dcterms:W3CDTF">2023-02-08T07:56:25Z</dcterms:created>
  <dcterms:modified xsi:type="dcterms:W3CDTF">2024-12-26T03:42:39Z</dcterms:modified>
</cp:coreProperties>
</file>