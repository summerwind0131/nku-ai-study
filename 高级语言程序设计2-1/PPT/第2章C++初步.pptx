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367" r:id="rId3"/>
    <p:sldId id="514" r:id="rId4"/>
    <p:sldId id="450" r:id="rId5"/>
    <p:sldId id="452" r:id="rId6"/>
    <p:sldId id="453" r:id="rId7"/>
    <p:sldId id="451" r:id="rId8"/>
    <p:sldId id="454" r:id="rId9"/>
    <p:sldId id="455" r:id="rId10"/>
    <p:sldId id="456" r:id="rId11"/>
    <p:sldId id="457" r:id="rId12"/>
    <p:sldId id="458" r:id="rId13"/>
    <p:sldId id="459" r:id="rId14"/>
    <p:sldId id="460" r:id="rId15"/>
    <p:sldId id="461" r:id="rId16"/>
    <p:sldId id="462" r:id="rId17"/>
    <p:sldId id="463" r:id="rId18"/>
    <p:sldId id="464" r:id="rId19"/>
    <p:sldId id="465" r:id="rId20"/>
    <p:sldId id="466" r:id="rId22"/>
    <p:sldId id="467" r:id="rId23"/>
    <p:sldId id="468" r:id="rId24"/>
    <p:sldId id="469" r:id="rId25"/>
    <p:sldId id="470" r:id="rId26"/>
    <p:sldId id="471" r:id="rId27"/>
    <p:sldId id="472" r:id="rId28"/>
    <p:sldId id="473" r:id="rId29"/>
    <p:sldId id="474" r:id="rId30"/>
    <p:sldId id="475" r:id="rId31"/>
    <p:sldId id="476" r:id="rId32"/>
    <p:sldId id="477" r:id="rId33"/>
    <p:sldId id="478" r:id="rId34"/>
    <p:sldId id="479" r:id="rId35"/>
    <p:sldId id="480" r:id="rId36"/>
    <p:sldId id="481" r:id="rId37"/>
    <p:sldId id="482" r:id="rId38"/>
    <p:sldId id="483" r:id="rId39"/>
    <p:sldId id="484" r:id="rId40"/>
    <p:sldId id="485" r:id="rId41"/>
    <p:sldId id="486" r:id="rId42"/>
    <p:sldId id="487" r:id="rId43"/>
    <p:sldId id="488" r:id="rId44"/>
    <p:sldId id="489" r:id="rId45"/>
    <p:sldId id="490" r:id="rId46"/>
    <p:sldId id="491" r:id="rId47"/>
    <p:sldId id="492" r:id="rId48"/>
    <p:sldId id="493" r:id="rId49"/>
    <p:sldId id="494" r:id="rId50"/>
    <p:sldId id="495" r:id="rId51"/>
    <p:sldId id="496" r:id="rId52"/>
    <p:sldId id="497" r:id="rId53"/>
    <p:sldId id="498" r:id="rId54"/>
    <p:sldId id="499" r:id="rId55"/>
    <p:sldId id="500" r:id="rId56"/>
    <p:sldId id="501" r:id="rId57"/>
    <p:sldId id="502" r:id="rId58"/>
    <p:sldId id="503" r:id="rId59"/>
    <p:sldId id="504" r:id="rId60"/>
    <p:sldId id="505" r:id="rId61"/>
    <p:sldId id="506" r:id="rId62"/>
    <p:sldId id="507" r:id="rId63"/>
    <p:sldId id="508" r:id="rId64"/>
    <p:sldId id="509" r:id="rId65"/>
    <p:sldId id="510" r:id="rId66"/>
    <p:sldId id="511" r:id="rId67"/>
    <p:sldId id="512" r:id="rId68"/>
    <p:sldId id="275" r:id="rId69"/>
  </p:sldIdLst>
  <p:sldSz cx="9144000" cy="6858000" type="screen4x3"/>
  <p:notesSz cx="6858000" cy="9144000"/>
  <p:custDataLst>
    <p:tags r:id="rId73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CCCCFF"/>
    <a:srgbClr val="E8EDFE"/>
    <a:srgbClr val="E2E9FE"/>
    <a:srgbClr val="ECF0FE"/>
    <a:srgbClr val="C4D1FC"/>
    <a:srgbClr val="BDDE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81" autoAdjust="0"/>
    <p:restoredTop sz="80024"/>
  </p:normalViewPr>
  <p:slideViewPr>
    <p:cSldViewPr showGuides="1">
      <p:cViewPr varScale="1">
        <p:scale>
          <a:sx n="65" d="100"/>
          <a:sy n="65" d="100"/>
        </p:scale>
        <p:origin x="1282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3" Type="http://schemas.openxmlformats.org/officeDocument/2006/relationships/tags" Target="tags/tag1.xml"/><Relationship Id="rId72" Type="http://schemas.openxmlformats.org/officeDocument/2006/relationships/tableStyles" Target="tableStyles.xml"/><Relationship Id="rId71" Type="http://schemas.openxmlformats.org/officeDocument/2006/relationships/viewProps" Target="viewProps.xml"/><Relationship Id="rId70" Type="http://schemas.openxmlformats.org/officeDocument/2006/relationships/presProps" Target="presProps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5F4AD7-7AB1-49DF-8F37-BB1E1B8A5EC5}" type="doc">
      <dgm:prSet loTypeId="urn:microsoft.com/office/officeart/2005/8/layout/process5#1" loCatId="process" qsTypeId="urn:microsoft.com/office/officeart/2005/8/quickstyle/simple5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07718547-56E4-4663-8BEC-F14392BAF9F4}">
      <dgm:prSet phldrT="[文本]"/>
      <dgm:spPr/>
      <dgm:t>
        <a:bodyPr/>
        <a:lstStyle/>
        <a:p>
          <a:r>
            <a:rPr lang="zh-CN" altLang="en-US" b="1" dirty="0"/>
            <a:t>创建</a:t>
          </a:r>
          <a:r>
            <a:rPr lang="en-US" altLang="zh-CN" b="1" dirty="0"/>
            <a:t>C++</a:t>
          </a:r>
          <a:r>
            <a:rPr lang="zh-CN" altLang="en-US" b="1" dirty="0"/>
            <a:t>程序源文件</a:t>
          </a:r>
        </a:p>
      </dgm:t>
    </dgm:pt>
    <dgm:pt modelId="{55810120-FCA9-4CAB-946E-DC144186496A}" cxnId="{B37B4E1F-F133-4116-9333-6855ED7F55A7}" type="parTrans">
      <dgm:prSet/>
      <dgm:spPr/>
      <dgm:t>
        <a:bodyPr/>
        <a:lstStyle/>
        <a:p>
          <a:endParaRPr lang="zh-CN" altLang="en-US" b="1"/>
        </a:p>
      </dgm:t>
    </dgm:pt>
    <dgm:pt modelId="{F342D50D-A3EC-49B0-B75E-B7872E108DDE}" cxnId="{B37B4E1F-F133-4116-9333-6855ED7F55A7}" type="sibTrans">
      <dgm:prSet/>
      <dgm:spPr/>
      <dgm:t>
        <a:bodyPr/>
        <a:lstStyle/>
        <a:p>
          <a:endParaRPr lang="zh-CN" altLang="en-US" b="1"/>
        </a:p>
      </dgm:t>
    </dgm:pt>
    <dgm:pt modelId="{E6598B10-DFDD-4E4D-94D8-118403B36491}">
      <dgm:prSet phldrT="[文本]"/>
      <dgm:spPr/>
      <dgm:t>
        <a:bodyPr/>
        <a:lstStyle/>
        <a:p>
          <a:r>
            <a:rPr lang="zh-CN" altLang="en-US" b="1" dirty="0"/>
            <a:t>编辑</a:t>
          </a:r>
          <a:r>
            <a:rPr lang="en-US" altLang="zh-CN" b="1" dirty="0"/>
            <a:t>C++</a:t>
          </a:r>
          <a:r>
            <a:rPr lang="zh-CN" altLang="en-US" b="1" dirty="0"/>
            <a:t>程序代码</a:t>
          </a:r>
        </a:p>
      </dgm:t>
    </dgm:pt>
    <dgm:pt modelId="{D066C4D9-C3FD-401F-AB5F-8C67F122AE8E}" cxnId="{7C1AA815-6AB4-4B7D-8D4A-A045537274E4}" type="parTrans">
      <dgm:prSet/>
      <dgm:spPr/>
      <dgm:t>
        <a:bodyPr/>
        <a:lstStyle/>
        <a:p>
          <a:endParaRPr lang="zh-CN" altLang="en-US" b="1"/>
        </a:p>
      </dgm:t>
    </dgm:pt>
    <dgm:pt modelId="{DE790D94-1192-4D88-93EE-215C269042F9}" cxnId="{7C1AA815-6AB4-4B7D-8D4A-A045537274E4}" type="sibTrans">
      <dgm:prSet/>
      <dgm:spPr/>
      <dgm:t>
        <a:bodyPr/>
        <a:lstStyle/>
        <a:p>
          <a:endParaRPr lang="zh-CN" altLang="en-US" b="1"/>
        </a:p>
      </dgm:t>
    </dgm:pt>
    <dgm:pt modelId="{3D78F417-B9F3-4977-B03D-651367F43BB5}">
      <dgm:prSet phldrT="[文本]"/>
      <dgm:spPr/>
      <dgm:t>
        <a:bodyPr/>
        <a:lstStyle/>
        <a:p>
          <a:r>
            <a:rPr lang="zh-CN" altLang="en-US" b="1" dirty="0"/>
            <a:t>调试</a:t>
          </a:r>
        </a:p>
      </dgm:t>
    </dgm:pt>
    <dgm:pt modelId="{23E593D1-8AB5-45E9-9E20-B4C45726AA57}" cxnId="{B5B1190C-BEDC-45C9-BEB5-17477D149305}" type="parTrans">
      <dgm:prSet/>
      <dgm:spPr/>
      <dgm:t>
        <a:bodyPr/>
        <a:lstStyle/>
        <a:p>
          <a:endParaRPr lang="zh-CN" altLang="en-US" b="1"/>
        </a:p>
      </dgm:t>
    </dgm:pt>
    <dgm:pt modelId="{40A84FA4-F9BF-43AE-BB86-B9ADBCF63AB5}" cxnId="{B5B1190C-BEDC-45C9-BEB5-17477D149305}" type="sibTrans">
      <dgm:prSet/>
      <dgm:spPr/>
      <dgm:t>
        <a:bodyPr/>
        <a:lstStyle/>
        <a:p>
          <a:endParaRPr lang="zh-CN" altLang="en-US" b="1"/>
        </a:p>
      </dgm:t>
    </dgm:pt>
    <dgm:pt modelId="{9F963F3B-6BA5-438C-A9B7-5D23A46A4F2A}">
      <dgm:prSet phldrT="[文本]"/>
      <dgm:spPr/>
      <dgm:t>
        <a:bodyPr/>
        <a:lstStyle/>
        <a:p>
          <a:r>
            <a:rPr lang="zh-CN" altLang="en-US" b="1" dirty="0"/>
            <a:t>编译</a:t>
          </a:r>
        </a:p>
      </dgm:t>
    </dgm:pt>
    <dgm:pt modelId="{021ABCF6-F68A-41AC-9DD2-1C80204948A2}" cxnId="{11EAD7FB-F98D-4CDA-A8BB-C5FB465D392E}" type="parTrans">
      <dgm:prSet/>
      <dgm:spPr/>
      <dgm:t>
        <a:bodyPr/>
        <a:lstStyle/>
        <a:p>
          <a:endParaRPr lang="zh-CN" altLang="en-US" b="1"/>
        </a:p>
      </dgm:t>
    </dgm:pt>
    <dgm:pt modelId="{8415CAA7-1307-4D2F-A972-72B8B7076AAE}" cxnId="{11EAD7FB-F98D-4CDA-A8BB-C5FB465D392E}" type="sibTrans">
      <dgm:prSet/>
      <dgm:spPr/>
      <dgm:t>
        <a:bodyPr/>
        <a:lstStyle/>
        <a:p>
          <a:endParaRPr lang="zh-CN" altLang="en-US" b="1"/>
        </a:p>
      </dgm:t>
    </dgm:pt>
    <dgm:pt modelId="{D81797F6-E6FC-4910-9D02-02FFCFA42DE0}">
      <dgm:prSet phldrT="[文本]"/>
      <dgm:spPr/>
      <dgm:t>
        <a:bodyPr/>
        <a:lstStyle/>
        <a:p>
          <a:r>
            <a:rPr lang="zh-CN" altLang="en-US" b="1" dirty="0"/>
            <a:t>链接</a:t>
          </a:r>
        </a:p>
      </dgm:t>
    </dgm:pt>
    <dgm:pt modelId="{CAB1C94A-E755-42D1-9428-B85DF9E3819F}" cxnId="{4D2B5C89-6E7F-4EAC-AE6C-804310429D93}" type="parTrans">
      <dgm:prSet/>
      <dgm:spPr/>
      <dgm:t>
        <a:bodyPr/>
        <a:lstStyle/>
        <a:p>
          <a:endParaRPr lang="zh-CN" altLang="en-US" b="1"/>
        </a:p>
      </dgm:t>
    </dgm:pt>
    <dgm:pt modelId="{5DDD5500-2599-4200-81CA-C52C1D260F03}" cxnId="{4D2B5C89-6E7F-4EAC-AE6C-804310429D93}" type="sibTrans">
      <dgm:prSet/>
      <dgm:spPr/>
      <dgm:t>
        <a:bodyPr/>
        <a:lstStyle/>
        <a:p>
          <a:endParaRPr lang="zh-CN" altLang="en-US" b="1"/>
        </a:p>
      </dgm:t>
    </dgm:pt>
    <dgm:pt modelId="{1E19D02C-1A84-451E-82E7-9C7D724B902C}">
      <dgm:prSet phldrT="[文本]"/>
      <dgm:spPr/>
      <dgm:t>
        <a:bodyPr/>
        <a:lstStyle/>
        <a:p>
          <a:r>
            <a:rPr lang="zh-CN" altLang="en-US" b="1" dirty="0"/>
            <a:t>生成可执行程序</a:t>
          </a:r>
        </a:p>
      </dgm:t>
    </dgm:pt>
    <dgm:pt modelId="{84468195-4CE6-441A-8DA0-B17CAB3E1009}" cxnId="{F97C94F1-1003-475A-8CCC-E9D264A75605}" type="parTrans">
      <dgm:prSet/>
      <dgm:spPr/>
      <dgm:t>
        <a:bodyPr/>
        <a:lstStyle/>
        <a:p>
          <a:endParaRPr lang="zh-CN" altLang="en-US" b="1"/>
        </a:p>
      </dgm:t>
    </dgm:pt>
    <dgm:pt modelId="{DF0DB0D3-242D-497B-BB19-CB9D15C15FD9}" cxnId="{F97C94F1-1003-475A-8CCC-E9D264A75605}" type="sibTrans">
      <dgm:prSet/>
      <dgm:spPr/>
      <dgm:t>
        <a:bodyPr/>
        <a:lstStyle/>
        <a:p>
          <a:endParaRPr lang="zh-CN" altLang="en-US" b="1"/>
        </a:p>
      </dgm:t>
    </dgm:pt>
    <dgm:pt modelId="{3F19124D-D57E-4A0F-8881-6491FE465183}">
      <dgm:prSet phldrT="[文本]"/>
      <dgm:spPr/>
      <dgm:t>
        <a:bodyPr/>
        <a:lstStyle/>
        <a:p>
          <a:r>
            <a:rPr lang="zh-CN" altLang="en-US" b="1" dirty="0"/>
            <a:t>建立工程</a:t>
          </a:r>
        </a:p>
      </dgm:t>
    </dgm:pt>
    <dgm:pt modelId="{865635B3-E86C-4E3D-9DA0-F1ADBE7BF795}" cxnId="{14CF3AED-496E-4A7A-99F0-9CDEEA5FA87B}" type="sibTrans">
      <dgm:prSet/>
      <dgm:spPr/>
      <dgm:t>
        <a:bodyPr/>
        <a:lstStyle/>
        <a:p>
          <a:endParaRPr lang="zh-CN" altLang="en-US" b="1"/>
        </a:p>
      </dgm:t>
    </dgm:pt>
    <dgm:pt modelId="{5D6C2F90-2B0B-47A0-9F45-7232CA5E9CE2}" cxnId="{14CF3AED-496E-4A7A-99F0-9CDEEA5FA87B}" type="parTrans">
      <dgm:prSet/>
      <dgm:spPr/>
      <dgm:t>
        <a:bodyPr/>
        <a:lstStyle/>
        <a:p>
          <a:endParaRPr lang="zh-CN" altLang="en-US" b="1"/>
        </a:p>
      </dgm:t>
    </dgm:pt>
    <dgm:pt modelId="{6DFC78FD-29E2-4FCF-9000-3595BB6DD3C5}">
      <dgm:prSet phldrT="[文本]"/>
      <dgm:spPr/>
      <dgm:t>
        <a:bodyPr/>
        <a:lstStyle/>
        <a:p>
          <a:r>
            <a:rPr lang="zh-CN" altLang="en-US" b="1" dirty="0"/>
            <a:t>运行</a:t>
          </a:r>
        </a:p>
      </dgm:t>
    </dgm:pt>
    <dgm:pt modelId="{E912D5D3-F47A-4C26-8C95-14D99D87661C}" cxnId="{B2B2E090-E0D4-4632-A1FC-09FB22E0DC0C}" type="parTrans">
      <dgm:prSet/>
      <dgm:spPr/>
      <dgm:t>
        <a:bodyPr/>
        <a:lstStyle/>
        <a:p>
          <a:endParaRPr lang="zh-CN" altLang="en-US"/>
        </a:p>
      </dgm:t>
    </dgm:pt>
    <dgm:pt modelId="{A43887D1-E2FD-4B41-81EF-921A589048EA}" cxnId="{B2B2E090-E0D4-4632-A1FC-09FB22E0DC0C}" type="sibTrans">
      <dgm:prSet/>
      <dgm:spPr/>
      <dgm:t>
        <a:bodyPr/>
        <a:lstStyle/>
        <a:p>
          <a:endParaRPr lang="zh-CN" altLang="en-US"/>
        </a:p>
      </dgm:t>
    </dgm:pt>
    <dgm:pt modelId="{9F041DD3-A459-4BEE-8684-D587B3643E75}" type="pres">
      <dgm:prSet presAssocID="{D55F4AD7-7AB1-49DF-8F37-BB1E1B8A5EC5}" presName="diagram" presStyleCnt="0">
        <dgm:presLayoutVars>
          <dgm:dir/>
          <dgm:resizeHandles val="exact"/>
        </dgm:presLayoutVars>
      </dgm:prSet>
      <dgm:spPr/>
    </dgm:pt>
    <dgm:pt modelId="{46BD4EC1-44D8-4257-92A3-A5607C5DDF07}" type="pres">
      <dgm:prSet presAssocID="{3F19124D-D57E-4A0F-8881-6491FE465183}" presName="node" presStyleLbl="node1" presStyleIdx="0" presStyleCnt="8">
        <dgm:presLayoutVars>
          <dgm:bulletEnabled val="1"/>
        </dgm:presLayoutVars>
      </dgm:prSet>
      <dgm:spPr/>
    </dgm:pt>
    <dgm:pt modelId="{077A4CA9-5C9F-4876-A7B1-45F6B9ED7DE8}" type="pres">
      <dgm:prSet presAssocID="{865635B3-E86C-4E3D-9DA0-F1ADBE7BF795}" presName="sibTrans" presStyleLbl="sibTrans2D1" presStyleIdx="0" presStyleCnt="7"/>
      <dgm:spPr/>
    </dgm:pt>
    <dgm:pt modelId="{ADA603E1-6547-4C30-9A97-73249541EC7F}" type="pres">
      <dgm:prSet presAssocID="{865635B3-E86C-4E3D-9DA0-F1ADBE7BF795}" presName="connectorText" presStyleLbl="sibTrans2D1" presStyleIdx="0" presStyleCnt="7"/>
      <dgm:spPr/>
    </dgm:pt>
    <dgm:pt modelId="{0CA8B255-004A-4626-A5F4-D0DAC32CE648}" type="pres">
      <dgm:prSet presAssocID="{07718547-56E4-4663-8BEC-F14392BAF9F4}" presName="node" presStyleLbl="node1" presStyleIdx="1" presStyleCnt="8">
        <dgm:presLayoutVars>
          <dgm:bulletEnabled val="1"/>
        </dgm:presLayoutVars>
      </dgm:prSet>
      <dgm:spPr/>
    </dgm:pt>
    <dgm:pt modelId="{A7F6F851-D7F2-414D-9284-1C6668F8C64A}" type="pres">
      <dgm:prSet presAssocID="{F342D50D-A3EC-49B0-B75E-B7872E108DDE}" presName="sibTrans" presStyleLbl="sibTrans2D1" presStyleIdx="1" presStyleCnt="7"/>
      <dgm:spPr/>
    </dgm:pt>
    <dgm:pt modelId="{C127C8E5-5FF6-44C3-A7D5-653150C8596B}" type="pres">
      <dgm:prSet presAssocID="{F342D50D-A3EC-49B0-B75E-B7872E108DDE}" presName="connectorText" presStyleLbl="sibTrans2D1" presStyleIdx="1" presStyleCnt="7"/>
      <dgm:spPr/>
    </dgm:pt>
    <dgm:pt modelId="{79F7EF67-0646-4F9D-9F10-1F13985A4F87}" type="pres">
      <dgm:prSet presAssocID="{E6598B10-DFDD-4E4D-94D8-118403B36491}" presName="node" presStyleLbl="node1" presStyleIdx="2" presStyleCnt="8">
        <dgm:presLayoutVars>
          <dgm:bulletEnabled val="1"/>
        </dgm:presLayoutVars>
      </dgm:prSet>
      <dgm:spPr/>
    </dgm:pt>
    <dgm:pt modelId="{41325567-1F1D-4382-B610-448DC492EDAA}" type="pres">
      <dgm:prSet presAssocID="{DE790D94-1192-4D88-93EE-215C269042F9}" presName="sibTrans" presStyleLbl="sibTrans2D1" presStyleIdx="2" presStyleCnt="7"/>
      <dgm:spPr/>
    </dgm:pt>
    <dgm:pt modelId="{60FEA274-5F45-4D78-BE4E-5C00476B36C8}" type="pres">
      <dgm:prSet presAssocID="{DE790D94-1192-4D88-93EE-215C269042F9}" presName="connectorText" presStyleLbl="sibTrans2D1" presStyleIdx="2" presStyleCnt="7"/>
      <dgm:spPr/>
    </dgm:pt>
    <dgm:pt modelId="{73A16AEB-62FE-4B19-A520-EDBD3FDA1C8D}" type="pres">
      <dgm:prSet presAssocID="{3D78F417-B9F3-4977-B03D-651367F43BB5}" presName="node" presStyleLbl="node1" presStyleIdx="3" presStyleCnt="8">
        <dgm:presLayoutVars>
          <dgm:bulletEnabled val="1"/>
        </dgm:presLayoutVars>
      </dgm:prSet>
      <dgm:spPr/>
    </dgm:pt>
    <dgm:pt modelId="{D380A920-134E-48E5-A6EC-34AB31977141}" type="pres">
      <dgm:prSet presAssocID="{40A84FA4-F9BF-43AE-BB86-B9ADBCF63AB5}" presName="sibTrans" presStyleLbl="sibTrans2D1" presStyleIdx="3" presStyleCnt="7"/>
      <dgm:spPr/>
    </dgm:pt>
    <dgm:pt modelId="{7B114734-9A24-4713-AF7D-F3A8D1C76E0B}" type="pres">
      <dgm:prSet presAssocID="{40A84FA4-F9BF-43AE-BB86-B9ADBCF63AB5}" presName="connectorText" presStyleLbl="sibTrans2D1" presStyleIdx="3" presStyleCnt="7"/>
      <dgm:spPr/>
    </dgm:pt>
    <dgm:pt modelId="{4E4B8322-AA4A-4885-96DE-1DD11A993666}" type="pres">
      <dgm:prSet presAssocID="{9F963F3B-6BA5-438C-A9B7-5D23A46A4F2A}" presName="node" presStyleLbl="node1" presStyleIdx="4" presStyleCnt="8">
        <dgm:presLayoutVars>
          <dgm:bulletEnabled val="1"/>
        </dgm:presLayoutVars>
      </dgm:prSet>
      <dgm:spPr/>
    </dgm:pt>
    <dgm:pt modelId="{FD64510A-CFBD-4131-8A0F-9030CD6118F6}" type="pres">
      <dgm:prSet presAssocID="{8415CAA7-1307-4D2F-A972-72B8B7076AAE}" presName="sibTrans" presStyleLbl="sibTrans2D1" presStyleIdx="4" presStyleCnt="7"/>
      <dgm:spPr/>
    </dgm:pt>
    <dgm:pt modelId="{9748803F-B8FE-48D1-B6F3-09211CCAE417}" type="pres">
      <dgm:prSet presAssocID="{8415CAA7-1307-4D2F-A972-72B8B7076AAE}" presName="connectorText" presStyleLbl="sibTrans2D1" presStyleIdx="4" presStyleCnt="7"/>
      <dgm:spPr/>
    </dgm:pt>
    <dgm:pt modelId="{7864B772-1D8A-4710-82CD-AC275436A40E}" type="pres">
      <dgm:prSet presAssocID="{D81797F6-E6FC-4910-9D02-02FFCFA42DE0}" presName="node" presStyleLbl="node1" presStyleIdx="5" presStyleCnt="8">
        <dgm:presLayoutVars>
          <dgm:bulletEnabled val="1"/>
        </dgm:presLayoutVars>
      </dgm:prSet>
      <dgm:spPr/>
    </dgm:pt>
    <dgm:pt modelId="{FAF25200-9640-4D11-91E8-205C8E33D247}" type="pres">
      <dgm:prSet presAssocID="{5DDD5500-2599-4200-81CA-C52C1D260F03}" presName="sibTrans" presStyleLbl="sibTrans2D1" presStyleIdx="5" presStyleCnt="7"/>
      <dgm:spPr/>
    </dgm:pt>
    <dgm:pt modelId="{886B58FC-3F9E-495A-9992-F4FF0AA0A945}" type="pres">
      <dgm:prSet presAssocID="{5DDD5500-2599-4200-81CA-C52C1D260F03}" presName="connectorText" presStyleLbl="sibTrans2D1" presStyleIdx="5" presStyleCnt="7"/>
      <dgm:spPr/>
    </dgm:pt>
    <dgm:pt modelId="{B00D81CF-D6D9-4144-903C-2D60CDEE9048}" type="pres">
      <dgm:prSet presAssocID="{1E19D02C-1A84-451E-82E7-9C7D724B902C}" presName="node" presStyleLbl="node1" presStyleIdx="6" presStyleCnt="8">
        <dgm:presLayoutVars>
          <dgm:bulletEnabled val="1"/>
        </dgm:presLayoutVars>
      </dgm:prSet>
      <dgm:spPr/>
    </dgm:pt>
    <dgm:pt modelId="{9C91F13C-101A-4D60-BD71-CF509CB51939}" type="pres">
      <dgm:prSet presAssocID="{DF0DB0D3-242D-497B-BB19-CB9D15C15FD9}" presName="sibTrans" presStyleLbl="sibTrans2D1" presStyleIdx="6" presStyleCnt="7"/>
      <dgm:spPr/>
    </dgm:pt>
    <dgm:pt modelId="{37B16D28-7F9C-486F-8B57-72E2529C2315}" type="pres">
      <dgm:prSet presAssocID="{DF0DB0D3-242D-497B-BB19-CB9D15C15FD9}" presName="connectorText" presStyleLbl="sibTrans2D1" presStyleIdx="6" presStyleCnt="7"/>
      <dgm:spPr/>
    </dgm:pt>
    <dgm:pt modelId="{7660FB68-90AE-46E3-96F5-4C961F9037CE}" type="pres">
      <dgm:prSet presAssocID="{6DFC78FD-29E2-4FCF-9000-3595BB6DD3C5}" presName="node" presStyleLbl="node1" presStyleIdx="7" presStyleCnt="8">
        <dgm:presLayoutVars>
          <dgm:bulletEnabled val="1"/>
        </dgm:presLayoutVars>
      </dgm:prSet>
      <dgm:spPr/>
    </dgm:pt>
  </dgm:ptLst>
  <dgm:cxnLst>
    <dgm:cxn modelId="{40B23C01-E8A6-436E-8CE6-6E4181B75B27}" type="presOf" srcId="{8415CAA7-1307-4D2F-A972-72B8B7076AAE}" destId="{9748803F-B8FE-48D1-B6F3-09211CCAE417}" srcOrd="1" destOrd="0" presId="urn:microsoft.com/office/officeart/2005/8/layout/process5#1"/>
    <dgm:cxn modelId="{BEC38702-BFF0-474F-BE02-14B446DD70D8}" type="presOf" srcId="{865635B3-E86C-4E3D-9DA0-F1ADBE7BF795}" destId="{077A4CA9-5C9F-4876-A7B1-45F6B9ED7DE8}" srcOrd="0" destOrd="0" presId="urn:microsoft.com/office/officeart/2005/8/layout/process5#1"/>
    <dgm:cxn modelId="{74428605-6CFB-4F54-AF51-3E779B6302DA}" type="presOf" srcId="{5DDD5500-2599-4200-81CA-C52C1D260F03}" destId="{886B58FC-3F9E-495A-9992-F4FF0AA0A945}" srcOrd="1" destOrd="0" presId="urn:microsoft.com/office/officeart/2005/8/layout/process5#1"/>
    <dgm:cxn modelId="{B5B1190C-BEDC-45C9-BEB5-17477D149305}" srcId="{D55F4AD7-7AB1-49DF-8F37-BB1E1B8A5EC5}" destId="{3D78F417-B9F3-4977-B03D-651367F43BB5}" srcOrd="3" destOrd="0" parTransId="{23E593D1-8AB5-45E9-9E20-B4C45726AA57}" sibTransId="{40A84FA4-F9BF-43AE-BB86-B9ADBCF63AB5}"/>
    <dgm:cxn modelId="{818BED0D-5A6F-449D-B9EE-8179E1468FD4}" type="presOf" srcId="{8415CAA7-1307-4D2F-A972-72B8B7076AAE}" destId="{FD64510A-CFBD-4131-8A0F-9030CD6118F6}" srcOrd="0" destOrd="0" presId="urn:microsoft.com/office/officeart/2005/8/layout/process5#1"/>
    <dgm:cxn modelId="{FCE1E810-DECC-48B0-848E-E714F246A5B5}" type="presOf" srcId="{DF0DB0D3-242D-497B-BB19-CB9D15C15FD9}" destId="{9C91F13C-101A-4D60-BD71-CF509CB51939}" srcOrd="0" destOrd="0" presId="urn:microsoft.com/office/officeart/2005/8/layout/process5#1"/>
    <dgm:cxn modelId="{7C1AA815-6AB4-4B7D-8D4A-A045537274E4}" srcId="{D55F4AD7-7AB1-49DF-8F37-BB1E1B8A5EC5}" destId="{E6598B10-DFDD-4E4D-94D8-118403B36491}" srcOrd="2" destOrd="0" parTransId="{D066C4D9-C3FD-401F-AB5F-8C67F122AE8E}" sibTransId="{DE790D94-1192-4D88-93EE-215C269042F9}"/>
    <dgm:cxn modelId="{F99A351D-4CF9-4B04-A031-6A948BB6C772}" type="presOf" srcId="{40A84FA4-F9BF-43AE-BB86-B9ADBCF63AB5}" destId="{D380A920-134E-48E5-A6EC-34AB31977141}" srcOrd="0" destOrd="0" presId="urn:microsoft.com/office/officeart/2005/8/layout/process5#1"/>
    <dgm:cxn modelId="{B37B4E1F-F133-4116-9333-6855ED7F55A7}" srcId="{D55F4AD7-7AB1-49DF-8F37-BB1E1B8A5EC5}" destId="{07718547-56E4-4663-8BEC-F14392BAF9F4}" srcOrd="1" destOrd="0" parTransId="{55810120-FCA9-4CAB-946E-DC144186496A}" sibTransId="{F342D50D-A3EC-49B0-B75E-B7872E108DDE}"/>
    <dgm:cxn modelId="{E180AE36-6F9C-44E0-8E61-E8DB79C6A345}" type="presOf" srcId="{D81797F6-E6FC-4910-9D02-02FFCFA42DE0}" destId="{7864B772-1D8A-4710-82CD-AC275436A40E}" srcOrd="0" destOrd="0" presId="urn:microsoft.com/office/officeart/2005/8/layout/process5#1"/>
    <dgm:cxn modelId="{E423A238-2924-4A6B-8BF5-CEDF505FDBDA}" type="presOf" srcId="{865635B3-E86C-4E3D-9DA0-F1ADBE7BF795}" destId="{ADA603E1-6547-4C30-9A97-73249541EC7F}" srcOrd="1" destOrd="0" presId="urn:microsoft.com/office/officeart/2005/8/layout/process5#1"/>
    <dgm:cxn modelId="{9438FF40-4513-4480-B146-BB5FA7196B00}" type="presOf" srcId="{1E19D02C-1A84-451E-82E7-9C7D724B902C}" destId="{B00D81CF-D6D9-4144-903C-2D60CDEE9048}" srcOrd="0" destOrd="0" presId="urn:microsoft.com/office/officeart/2005/8/layout/process5#1"/>
    <dgm:cxn modelId="{B175E95D-F543-48E9-A5DF-495AAED3A3AB}" type="presOf" srcId="{F342D50D-A3EC-49B0-B75E-B7872E108DDE}" destId="{A7F6F851-D7F2-414D-9284-1C6668F8C64A}" srcOrd="0" destOrd="0" presId="urn:microsoft.com/office/officeart/2005/8/layout/process5#1"/>
    <dgm:cxn modelId="{376DA449-CF49-4DAA-A4F7-A1BE0A77D9EC}" type="presOf" srcId="{07718547-56E4-4663-8BEC-F14392BAF9F4}" destId="{0CA8B255-004A-4626-A5F4-D0DAC32CE648}" srcOrd="0" destOrd="0" presId="urn:microsoft.com/office/officeart/2005/8/layout/process5#1"/>
    <dgm:cxn modelId="{F67F634A-BDED-4E0A-B87C-69BB1E6342CB}" type="presOf" srcId="{F342D50D-A3EC-49B0-B75E-B7872E108DDE}" destId="{C127C8E5-5FF6-44C3-A7D5-653150C8596B}" srcOrd="1" destOrd="0" presId="urn:microsoft.com/office/officeart/2005/8/layout/process5#1"/>
    <dgm:cxn modelId="{00CAD972-DA9F-422C-970A-87C5B39B08C6}" type="presOf" srcId="{DF0DB0D3-242D-497B-BB19-CB9D15C15FD9}" destId="{37B16D28-7F9C-486F-8B57-72E2529C2315}" srcOrd="1" destOrd="0" presId="urn:microsoft.com/office/officeart/2005/8/layout/process5#1"/>
    <dgm:cxn modelId="{6A593658-02CA-410B-8F46-3466AF708BF1}" type="presOf" srcId="{6DFC78FD-29E2-4FCF-9000-3595BB6DD3C5}" destId="{7660FB68-90AE-46E3-96F5-4C961F9037CE}" srcOrd="0" destOrd="0" presId="urn:microsoft.com/office/officeart/2005/8/layout/process5#1"/>
    <dgm:cxn modelId="{77D2BA78-D491-4334-BB7B-053FF974E177}" type="presOf" srcId="{DE790D94-1192-4D88-93EE-215C269042F9}" destId="{60FEA274-5F45-4D78-BE4E-5C00476B36C8}" srcOrd="1" destOrd="0" presId="urn:microsoft.com/office/officeart/2005/8/layout/process5#1"/>
    <dgm:cxn modelId="{4D2B5C89-6E7F-4EAC-AE6C-804310429D93}" srcId="{D55F4AD7-7AB1-49DF-8F37-BB1E1B8A5EC5}" destId="{D81797F6-E6FC-4910-9D02-02FFCFA42DE0}" srcOrd="5" destOrd="0" parTransId="{CAB1C94A-E755-42D1-9428-B85DF9E3819F}" sibTransId="{5DDD5500-2599-4200-81CA-C52C1D260F03}"/>
    <dgm:cxn modelId="{B2B2E090-E0D4-4632-A1FC-09FB22E0DC0C}" srcId="{D55F4AD7-7AB1-49DF-8F37-BB1E1B8A5EC5}" destId="{6DFC78FD-29E2-4FCF-9000-3595BB6DD3C5}" srcOrd="7" destOrd="0" parTransId="{E912D5D3-F47A-4C26-8C95-14D99D87661C}" sibTransId="{A43887D1-E2FD-4B41-81EF-921A589048EA}"/>
    <dgm:cxn modelId="{73F010A1-86D8-4B1F-B0F2-4FA8CB5105A5}" type="presOf" srcId="{9F963F3B-6BA5-438C-A9B7-5D23A46A4F2A}" destId="{4E4B8322-AA4A-4885-96DE-1DD11A993666}" srcOrd="0" destOrd="0" presId="urn:microsoft.com/office/officeart/2005/8/layout/process5#1"/>
    <dgm:cxn modelId="{A231BEA4-6F8D-43A5-8D24-6F1DB6991C43}" type="presOf" srcId="{3D78F417-B9F3-4977-B03D-651367F43BB5}" destId="{73A16AEB-62FE-4B19-A520-EDBD3FDA1C8D}" srcOrd="0" destOrd="0" presId="urn:microsoft.com/office/officeart/2005/8/layout/process5#1"/>
    <dgm:cxn modelId="{9370AAA8-615B-4CCE-8EEB-321D7F79F759}" type="presOf" srcId="{5DDD5500-2599-4200-81CA-C52C1D260F03}" destId="{FAF25200-9640-4D11-91E8-205C8E33D247}" srcOrd="0" destOrd="0" presId="urn:microsoft.com/office/officeart/2005/8/layout/process5#1"/>
    <dgm:cxn modelId="{C92373AA-6BDD-4DCC-B8DF-3B0E502BEB24}" type="presOf" srcId="{E6598B10-DFDD-4E4D-94D8-118403B36491}" destId="{79F7EF67-0646-4F9D-9F10-1F13985A4F87}" srcOrd="0" destOrd="0" presId="urn:microsoft.com/office/officeart/2005/8/layout/process5#1"/>
    <dgm:cxn modelId="{3C9DA8DA-6870-4A93-A7F9-889F145D8439}" type="presOf" srcId="{40A84FA4-F9BF-43AE-BB86-B9ADBCF63AB5}" destId="{7B114734-9A24-4713-AF7D-F3A8D1C76E0B}" srcOrd="1" destOrd="0" presId="urn:microsoft.com/office/officeart/2005/8/layout/process5#1"/>
    <dgm:cxn modelId="{14CF3AED-496E-4A7A-99F0-9CDEEA5FA87B}" srcId="{D55F4AD7-7AB1-49DF-8F37-BB1E1B8A5EC5}" destId="{3F19124D-D57E-4A0F-8881-6491FE465183}" srcOrd="0" destOrd="0" parTransId="{5D6C2F90-2B0B-47A0-9F45-7232CA5E9CE2}" sibTransId="{865635B3-E86C-4E3D-9DA0-F1ADBE7BF795}"/>
    <dgm:cxn modelId="{B9151FEF-4276-41DD-9F9A-C556DC439FC3}" type="presOf" srcId="{DE790D94-1192-4D88-93EE-215C269042F9}" destId="{41325567-1F1D-4382-B610-448DC492EDAA}" srcOrd="0" destOrd="0" presId="urn:microsoft.com/office/officeart/2005/8/layout/process5#1"/>
    <dgm:cxn modelId="{7F4838EF-6088-4780-885B-41A448776DA3}" type="presOf" srcId="{D55F4AD7-7AB1-49DF-8F37-BB1E1B8A5EC5}" destId="{9F041DD3-A459-4BEE-8684-D587B3643E75}" srcOrd="0" destOrd="0" presId="urn:microsoft.com/office/officeart/2005/8/layout/process5#1"/>
    <dgm:cxn modelId="{F97C94F1-1003-475A-8CCC-E9D264A75605}" srcId="{D55F4AD7-7AB1-49DF-8F37-BB1E1B8A5EC5}" destId="{1E19D02C-1A84-451E-82E7-9C7D724B902C}" srcOrd="6" destOrd="0" parTransId="{84468195-4CE6-441A-8DA0-B17CAB3E1009}" sibTransId="{DF0DB0D3-242D-497B-BB19-CB9D15C15FD9}"/>
    <dgm:cxn modelId="{0B2C0BF5-2919-4D32-956E-F4B54B214C43}" type="presOf" srcId="{3F19124D-D57E-4A0F-8881-6491FE465183}" destId="{46BD4EC1-44D8-4257-92A3-A5607C5DDF07}" srcOrd="0" destOrd="0" presId="urn:microsoft.com/office/officeart/2005/8/layout/process5#1"/>
    <dgm:cxn modelId="{11EAD7FB-F98D-4CDA-A8BB-C5FB465D392E}" srcId="{D55F4AD7-7AB1-49DF-8F37-BB1E1B8A5EC5}" destId="{9F963F3B-6BA5-438C-A9B7-5D23A46A4F2A}" srcOrd="4" destOrd="0" parTransId="{021ABCF6-F68A-41AC-9DD2-1C80204948A2}" sibTransId="{8415CAA7-1307-4D2F-A972-72B8B7076AAE}"/>
    <dgm:cxn modelId="{F55F5CFB-D666-4698-8A6B-42A6160B4E8B}" type="presParOf" srcId="{9F041DD3-A459-4BEE-8684-D587B3643E75}" destId="{46BD4EC1-44D8-4257-92A3-A5607C5DDF07}" srcOrd="0" destOrd="0" presId="urn:microsoft.com/office/officeart/2005/8/layout/process5#1"/>
    <dgm:cxn modelId="{CD5A00FE-C540-49DD-A5F3-50C73F441859}" type="presParOf" srcId="{9F041DD3-A459-4BEE-8684-D587B3643E75}" destId="{077A4CA9-5C9F-4876-A7B1-45F6B9ED7DE8}" srcOrd="1" destOrd="0" presId="urn:microsoft.com/office/officeart/2005/8/layout/process5#1"/>
    <dgm:cxn modelId="{CE241D27-5CC0-43B3-874E-132F66FB242F}" type="presParOf" srcId="{077A4CA9-5C9F-4876-A7B1-45F6B9ED7DE8}" destId="{ADA603E1-6547-4C30-9A97-73249541EC7F}" srcOrd="0" destOrd="0" presId="urn:microsoft.com/office/officeart/2005/8/layout/process5#1"/>
    <dgm:cxn modelId="{C339EDA4-427F-4A39-9B91-84FE801668DD}" type="presParOf" srcId="{9F041DD3-A459-4BEE-8684-D587B3643E75}" destId="{0CA8B255-004A-4626-A5F4-D0DAC32CE648}" srcOrd="2" destOrd="0" presId="urn:microsoft.com/office/officeart/2005/8/layout/process5#1"/>
    <dgm:cxn modelId="{14B57244-D75E-4828-B859-E2ADC0DA24B0}" type="presParOf" srcId="{9F041DD3-A459-4BEE-8684-D587B3643E75}" destId="{A7F6F851-D7F2-414D-9284-1C6668F8C64A}" srcOrd="3" destOrd="0" presId="urn:microsoft.com/office/officeart/2005/8/layout/process5#1"/>
    <dgm:cxn modelId="{E0BFD525-9CFB-464B-92C4-97E372141707}" type="presParOf" srcId="{A7F6F851-D7F2-414D-9284-1C6668F8C64A}" destId="{C127C8E5-5FF6-44C3-A7D5-653150C8596B}" srcOrd="0" destOrd="0" presId="urn:microsoft.com/office/officeart/2005/8/layout/process5#1"/>
    <dgm:cxn modelId="{D1578489-D3DA-4C95-8958-655AFCB8D71F}" type="presParOf" srcId="{9F041DD3-A459-4BEE-8684-D587B3643E75}" destId="{79F7EF67-0646-4F9D-9F10-1F13985A4F87}" srcOrd="4" destOrd="0" presId="urn:microsoft.com/office/officeart/2005/8/layout/process5#1"/>
    <dgm:cxn modelId="{7CF2A736-39C1-44E2-AE48-990650B633D5}" type="presParOf" srcId="{9F041DD3-A459-4BEE-8684-D587B3643E75}" destId="{41325567-1F1D-4382-B610-448DC492EDAA}" srcOrd="5" destOrd="0" presId="urn:microsoft.com/office/officeart/2005/8/layout/process5#1"/>
    <dgm:cxn modelId="{65F09291-DFBA-424E-BC32-24E1B4133588}" type="presParOf" srcId="{41325567-1F1D-4382-B610-448DC492EDAA}" destId="{60FEA274-5F45-4D78-BE4E-5C00476B36C8}" srcOrd="0" destOrd="0" presId="urn:microsoft.com/office/officeart/2005/8/layout/process5#1"/>
    <dgm:cxn modelId="{9851C418-DAC5-49D1-AA91-3E239CA34565}" type="presParOf" srcId="{9F041DD3-A459-4BEE-8684-D587B3643E75}" destId="{73A16AEB-62FE-4B19-A520-EDBD3FDA1C8D}" srcOrd="6" destOrd="0" presId="urn:microsoft.com/office/officeart/2005/8/layout/process5#1"/>
    <dgm:cxn modelId="{1FFF3EB7-F1CA-4154-A031-2C1FD30D79EA}" type="presParOf" srcId="{9F041DD3-A459-4BEE-8684-D587B3643E75}" destId="{D380A920-134E-48E5-A6EC-34AB31977141}" srcOrd="7" destOrd="0" presId="urn:microsoft.com/office/officeart/2005/8/layout/process5#1"/>
    <dgm:cxn modelId="{48B4662B-9A29-4499-B9BE-2F8948197DC6}" type="presParOf" srcId="{D380A920-134E-48E5-A6EC-34AB31977141}" destId="{7B114734-9A24-4713-AF7D-F3A8D1C76E0B}" srcOrd="0" destOrd="0" presId="urn:microsoft.com/office/officeart/2005/8/layout/process5#1"/>
    <dgm:cxn modelId="{203C8B73-BEB2-4E5F-8B98-7AA7E8B138FE}" type="presParOf" srcId="{9F041DD3-A459-4BEE-8684-D587B3643E75}" destId="{4E4B8322-AA4A-4885-96DE-1DD11A993666}" srcOrd="8" destOrd="0" presId="urn:microsoft.com/office/officeart/2005/8/layout/process5#1"/>
    <dgm:cxn modelId="{ADAAC65B-A20A-4854-80A3-4B2506331815}" type="presParOf" srcId="{9F041DD3-A459-4BEE-8684-D587B3643E75}" destId="{FD64510A-CFBD-4131-8A0F-9030CD6118F6}" srcOrd="9" destOrd="0" presId="urn:microsoft.com/office/officeart/2005/8/layout/process5#1"/>
    <dgm:cxn modelId="{604060B7-D466-4564-AD22-A13DAAEFADE5}" type="presParOf" srcId="{FD64510A-CFBD-4131-8A0F-9030CD6118F6}" destId="{9748803F-B8FE-48D1-B6F3-09211CCAE417}" srcOrd="0" destOrd="0" presId="urn:microsoft.com/office/officeart/2005/8/layout/process5#1"/>
    <dgm:cxn modelId="{7B6F6898-F360-4B57-81A9-E2FAED034480}" type="presParOf" srcId="{9F041DD3-A459-4BEE-8684-D587B3643E75}" destId="{7864B772-1D8A-4710-82CD-AC275436A40E}" srcOrd="10" destOrd="0" presId="urn:microsoft.com/office/officeart/2005/8/layout/process5#1"/>
    <dgm:cxn modelId="{DF6E08E9-D826-4EA1-8AF5-272833808EAC}" type="presParOf" srcId="{9F041DD3-A459-4BEE-8684-D587B3643E75}" destId="{FAF25200-9640-4D11-91E8-205C8E33D247}" srcOrd="11" destOrd="0" presId="urn:microsoft.com/office/officeart/2005/8/layout/process5#1"/>
    <dgm:cxn modelId="{B4338D58-F68B-4389-9C2F-382936CBDCAF}" type="presParOf" srcId="{FAF25200-9640-4D11-91E8-205C8E33D247}" destId="{886B58FC-3F9E-495A-9992-F4FF0AA0A945}" srcOrd="0" destOrd="0" presId="urn:microsoft.com/office/officeart/2005/8/layout/process5#1"/>
    <dgm:cxn modelId="{63250A35-0C22-46A2-B29D-4C9D3B1668DF}" type="presParOf" srcId="{9F041DD3-A459-4BEE-8684-D587B3643E75}" destId="{B00D81CF-D6D9-4144-903C-2D60CDEE9048}" srcOrd="12" destOrd="0" presId="urn:microsoft.com/office/officeart/2005/8/layout/process5#1"/>
    <dgm:cxn modelId="{CABFF480-6092-49B1-B996-B5B420DC3BC8}" type="presParOf" srcId="{9F041DD3-A459-4BEE-8684-D587B3643E75}" destId="{9C91F13C-101A-4D60-BD71-CF509CB51939}" srcOrd="13" destOrd="0" presId="urn:microsoft.com/office/officeart/2005/8/layout/process5#1"/>
    <dgm:cxn modelId="{A8020D5D-85AE-4E09-A831-7074DB750044}" type="presParOf" srcId="{9C91F13C-101A-4D60-BD71-CF509CB51939}" destId="{37B16D28-7F9C-486F-8B57-72E2529C2315}" srcOrd="0" destOrd="0" presId="urn:microsoft.com/office/officeart/2005/8/layout/process5#1"/>
    <dgm:cxn modelId="{0325941D-7AAC-4ABA-8A10-A2432643EB5F}" type="presParOf" srcId="{9F041DD3-A459-4BEE-8684-D587B3643E75}" destId="{7660FB68-90AE-46E3-96F5-4C961F9037CE}" srcOrd="14" destOrd="0" presId="urn:microsoft.com/office/officeart/2005/8/layout/process5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BD4EC1-44D8-4257-92A3-A5607C5DDF07}">
      <dsp:nvSpPr>
        <dsp:cNvPr id="0" name=""/>
        <dsp:cNvSpPr/>
      </dsp:nvSpPr>
      <dsp:spPr>
        <a:xfrm>
          <a:off x="404286" y="1895"/>
          <a:ext cx="1932849" cy="11597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建立工程</a:t>
          </a:r>
        </a:p>
      </dsp:txBody>
      <dsp:txXfrm>
        <a:off x="438253" y="35862"/>
        <a:ext cx="1864915" cy="1091775"/>
      </dsp:txXfrm>
    </dsp:sp>
    <dsp:sp modelId="{077A4CA9-5C9F-4876-A7B1-45F6B9ED7DE8}">
      <dsp:nvSpPr>
        <dsp:cNvPr id="0" name=""/>
        <dsp:cNvSpPr/>
      </dsp:nvSpPr>
      <dsp:spPr>
        <a:xfrm>
          <a:off x="2507226" y="342077"/>
          <a:ext cx="409764" cy="47934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b="1" kern="1200"/>
        </a:p>
      </dsp:txBody>
      <dsp:txXfrm>
        <a:off x="2507226" y="437946"/>
        <a:ext cx="286835" cy="287608"/>
      </dsp:txXfrm>
    </dsp:sp>
    <dsp:sp modelId="{0CA8B255-004A-4626-A5F4-D0DAC32CE648}">
      <dsp:nvSpPr>
        <dsp:cNvPr id="0" name=""/>
        <dsp:cNvSpPr/>
      </dsp:nvSpPr>
      <dsp:spPr>
        <a:xfrm>
          <a:off x="3110275" y="1895"/>
          <a:ext cx="1932849" cy="11597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创建</a:t>
          </a:r>
          <a:r>
            <a:rPr lang="en-US" altLang="zh-CN" sz="2300" b="1" kern="1200" dirty="0"/>
            <a:t>C++</a:t>
          </a:r>
          <a:r>
            <a:rPr lang="zh-CN" altLang="en-US" sz="2300" b="1" kern="1200" dirty="0"/>
            <a:t>程序源文件</a:t>
          </a:r>
        </a:p>
      </dsp:txBody>
      <dsp:txXfrm>
        <a:off x="3144242" y="35862"/>
        <a:ext cx="1864915" cy="1091775"/>
      </dsp:txXfrm>
    </dsp:sp>
    <dsp:sp modelId="{A7F6F851-D7F2-414D-9284-1C6668F8C64A}">
      <dsp:nvSpPr>
        <dsp:cNvPr id="0" name=""/>
        <dsp:cNvSpPr/>
      </dsp:nvSpPr>
      <dsp:spPr>
        <a:xfrm>
          <a:off x="5213215" y="342077"/>
          <a:ext cx="409764" cy="47934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b="1" kern="1200"/>
        </a:p>
      </dsp:txBody>
      <dsp:txXfrm>
        <a:off x="5213215" y="437946"/>
        <a:ext cx="286835" cy="287608"/>
      </dsp:txXfrm>
    </dsp:sp>
    <dsp:sp modelId="{79F7EF67-0646-4F9D-9F10-1F13985A4F87}">
      <dsp:nvSpPr>
        <dsp:cNvPr id="0" name=""/>
        <dsp:cNvSpPr/>
      </dsp:nvSpPr>
      <dsp:spPr>
        <a:xfrm>
          <a:off x="5816264" y="1895"/>
          <a:ext cx="1932849" cy="11597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编辑</a:t>
          </a:r>
          <a:r>
            <a:rPr lang="en-US" altLang="zh-CN" sz="2300" b="1" kern="1200" dirty="0"/>
            <a:t>C++</a:t>
          </a:r>
          <a:r>
            <a:rPr lang="zh-CN" altLang="en-US" sz="2300" b="1" kern="1200" dirty="0"/>
            <a:t>程序代码</a:t>
          </a:r>
        </a:p>
      </dsp:txBody>
      <dsp:txXfrm>
        <a:off x="5850231" y="35862"/>
        <a:ext cx="1864915" cy="1091775"/>
      </dsp:txXfrm>
    </dsp:sp>
    <dsp:sp modelId="{41325567-1F1D-4382-B610-448DC492EDAA}">
      <dsp:nvSpPr>
        <dsp:cNvPr id="0" name=""/>
        <dsp:cNvSpPr/>
      </dsp:nvSpPr>
      <dsp:spPr>
        <a:xfrm rot="5400000">
          <a:off x="6577807" y="1296904"/>
          <a:ext cx="409764" cy="47934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b="1" kern="1200"/>
        </a:p>
      </dsp:txBody>
      <dsp:txXfrm rot="-5400000">
        <a:off x="6638886" y="1331695"/>
        <a:ext cx="287608" cy="286835"/>
      </dsp:txXfrm>
    </dsp:sp>
    <dsp:sp modelId="{73A16AEB-62FE-4B19-A520-EDBD3FDA1C8D}">
      <dsp:nvSpPr>
        <dsp:cNvPr id="0" name=""/>
        <dsp:cNvSpPr/>
      </dsp:nvSpPr>
      <dsp:spPr>
        <a:xfrm>
          <a:off x="5816264" y="1934745"/>
          <a:ext cx="1932849" cy="11597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调试</a:t>
          </a:r>
        </a:p>
      </dsp:txBody>
      <dsp:txXfrm>
        <a:off x="5850231" y="1968712"/>
        <a:ext cx="1864915" cy="1091775"/>
      </dsp:txXfrm>
    </dsp:sp>
    <dsp:sp modelId="{D380A920-134E-48E5-A6EC-34AB31977141}">
      <dsp:nvSpPr>
        <dsp:cNvPr id="0" name=""/>
        <dsp:cNvSpPr/>
      </dsp:nvSpPr>
      <dsp:spPr>
        <a:xfrm rot="10800000">
          <a:off x="5236409" y="2274926"/>
          <a:ext cx="409764" cy="47934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b="1" kern="1200"/>
        </a:p>
      </dsp:txBody>
      <dsp:txXfrm rot="10800000">
        <a:off x="5359338" y="2370795"/>
        <a:ext cx="286835" cy="287608"/>
      </dsp:txXfrm>
    </dsp:sp>
    <dsp:sp modelId="{4E4B8322-AA4A-4885-96DE-1DD11A993666}">
      <dsp:nvSpPr>
        <dsp:cNvPr id="0" name=""/>
        <dsp:cNvSpPr/>
      </dsp:nvSpPr>
      <dsp:spPr>
        <a:xfrm>
          <a:off x="3110275" y="1934745"/>
          <a:ext cx="1932849" cy="11597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编译</a:t>
          </a:r>
        </a:p>
      </dsp:txBody>
      <dsp:txXfrm>
        <a:off x="3144242" y="1968712"/>
        <a:ext cx="1864915" cy="1091775"/>
      </dsp:txXfrm>
    </dsp:sp>
    <dsp:sp modelId="{FD64510A-CFBD-4131-8A0F-9030CD6118F6}">
      <dsp:nvSpPr>
        <dsp:cNvPr id="0" name=""/>
        <dsp:cNvSpPr/>
      </dsp:nvSpPr>
      <dsp:spPr>
        <a:xfrm rot="10800000">
          <a:off x="2530420" y="2274926"/>
          <a:ext cx="409764" cy="47934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b="1" kern="1200"/>
        </a:p>
      </dsp:txBody>
      <dsp:txXfrm rot="10800000">
        <a:off x="2653349" y="2370795"/>
        <a:ext cx="286835" cy="287608"/>
      </dsp:txXfrm>
    </dsp:sp>
    <dsp:sp modelId="{7864B772-1D8A-4710-82CD-AC275436A40E}">
      <dsp:nvSpPr>
        <dsp:cNvPr id="0" name=""/>
        <dsp:cNvSpPr/>
      </dsp:nvSpPr>
      <dsp:spPr>
        <a:xfrm>
          <a:off x="404286" y="1934745"/>
          <a:ext cx="1932849" cy="11597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链接</a:t>
          </a:r>
        </a:p>
      </dsp:txBody>
      <dsp:txXfrm>
        <a:off x="438253" y="1968712"/>
        <a:ext cx="1864915" cy="1091775"/>
      </dsp:txXfrm>
    </dsp:sp>
    <dsp:sp modelId="{FAF25200-9640-4D11-91E8-205C8E33D247}">
      <dsp:nvSpPr>
        <dsp:cNvPr id="0" name=""/>
        <dsp:cNvSpPr/>
      </dsp:nvSpPr>
      <dsp:spPr>
        <a:xfrm rot="5400000">
          <a:off x="1165828" y="3229754"/>
          <a:ext cx="409764" cy="47934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b="1" kern="1200"/>
        </a:p>
      </dsp:txBody>
      <dsp:txXfrm rot="-5400000">
        <a:off x="1226907" y="3264545"/>
        <a:ext cx="287608" cy="286835"/>
      </dsp:txXfrm>
    </dsp:sp>
    <dsp:sp modelId="{B00D81CF-D6D9-4144-903C-2D60CDEE9048}">
      <dsp:nvSpPr>
        <dsp:cNvPr id="0" name=""/>
        <dsp:cNvSpPr/>
      </dsp:nvSpPr>
      <dsp:spPr>
        <a:xfrm>
          <a:off x="404286" y="3867594"/>
          <a:ext cx="1932849" cy="11597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生成可执行程序</a:t>
          </a:r>
        </a:p>
      </dsp:txBody>
      <dsp:txXfrm>
        <a:off x="438253" y="3901561"/>
        <a:ext cx="1864915" cy="1091775"/>
      </dsp:txXfrm>
    </dsp:sp>
    <dsp:sp modelId="{9C91F13C-101A-4D60-BD71-CF509CB51939}">
      <dsp:nvSpPr>
        <dsp:cNvPr id="0" name=""/>
        <dsp:cNvSpPr/>
      </dsp:nvSpPr>
      <dsp:spPr>
        <a:xfrm>
          <a:off x="2507226" y="4207776"/>
          <a:ext cx="409764" cy="47934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b="1" kern="1200"/>
        </a:p>
      </dsp:txBody>
      <dsp:txXfrm>
        <a:off x="2507226" y="4303645"/>
        <a:ext cx="286835" cy="287608"/>
      </dsp:txXfrm>
    </dsp:sp>
    <dsp:sp modelId="{7660FB68-90AE-46E3-96F5-4C961F9037CE}">
      <dsp:nvSpPr>
        <dsp:cNvPr id="0" name=""/>
        <dsp:cNvSpPr/>
      </dsp:nvSpPr>
      <dsp:spPr>
        <a:xfrm>
          <a:off x="3110275" y="3867594"/>
          <a:ext cx="1932849" cy="11597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运行</a:t>
          </a:r>
        </a:p>
      </dsp:txBody>
      <dsp:txXfrm>
        <a:off x="3144242" y="3901561"/>
        <a:ext cx="1864915" cy="10917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#1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bkpt" val="endCnv"/>
          <dgm:param type="contDir" val="revDir"/>
          <dgm:param type="grDir" val="tL"/>
          <dgm:param type="flowDir" val="row"/>
        </dgm:alg>
      </dgm:if>
      <dgm:else name="Name2">
        <dgm:alg type="snake">
          <dgm:param type="bkpt" val="endCnv"/>
          <dgm:param type="contDir" val="rev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AA0B39C-FEB4-4FFE-BED5-C2BA12422EFD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American Standard Code for Information Interchange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128</a:t>
            </a:r>
            <a:r>
              <a:rPr lang="zh-CN" altLang="en-US" dirty="0"/>
              <a:t>个码</a:t>
            </a:r>
            <a:endParaRPr lang="en-US" altLang="zh-CN" dirty="0"/>
          </a:p>
          <a:p>
            <a:r>
              <a:rPr lang="en-US" altLang="zh-CN" dirty="0"/>
              <a:t>Byte  8</a:t>
            </a:r>
            <a:r>
              <a:rPr lang="zh-CN" altLang="en-US" dirty="0"/>
              <a:t>个二进制    </a:t>
            </a:r>
            <a:r>
              <a:rPr lang="en-US" altLang="zh-CN" dirty="0"/>
              <a:t>256</a:t>
            </a:r>
            <a:r>
              <a:rPr lang="zh-CN" altLang="en-US" dirty="0"/>
              <a:t>个字符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作用？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AE0CC-46AB-412C-9D95-D1239D353B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AE0CC-46AB-412C-9D95-D1239D353B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3A</a:t>
            </a:r>
            <a:r>
              <a:rPr lang="zh-CN" altLang="en-US" dirty="0"/>
              <a:t>，</a:t>
            </a:r>
            <a:r>
              <a:rPr lang="en-US" altLang="zh-CN" dirty="0"/>
              <a:t>A*B</a:t>
            </a:r>
            <a:r>
              <a:rPr lang="zh-CN" altLang="en-US" dirty="0"/>
              <a:t>，￥</a:t>
            </a:r>
            <a:r>
              <a:rPr lang="en-US" altLang="zh-CN" dirty="0"/>
              <a:t>43.5</a:t>
            </a:r>
            <a:r>
              <a:rPr lang="zh-CN" altLang="en-US" dirty="0"/>
              <a:t>，中间不可以插入空格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有效长度</a:t>
            </a:r>
            <a:r>
              <a:rPr lang="en-US" altLang="zh-CN" dirty="0"/>
              <a:t>32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AE0CC-46AB-412C-9D95-D1239D353B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字面常量属于</a:t>
            </a:r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解释一下为什么以</a:t>
            </a:r>
            <a:r>
              <a:rPr lang="en-US" altLang="zh-CN" dirty="0"/>
              <a:t>2</a:t>
            </a:r>
            <a:r>
              <a:rPr lang="en-US" altLang="zh-CN" baseline="30000" dirty="0"/>
              <a:t>10</a:t>
            </a:r>
            <a:r>
              <a:rPr lang="en-US" altLang="zh-CN" dirty="0"/>
              <a:t>-1</a:t>
            </a:r>
            <a:r>
              <a:rPr lang="zh-CN" altLang="en-US" dirty="0"/>
              <a:t>为移位基准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试一下</a:t>
            </a:r>
            <a:r>
              <a:rPr lang="en-US" altLang="zh-CN" dirty="0"/>
              <a:t>P41</a:t>
            </a:r>
            <a:r>
              <a:rPr lang="zh-CN" altLang="en-US" dirty="0"/>
              <a:t>页的程序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提问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31"/>
          <p:cNvSpPr/>
          <p:nvPr/>
        </p:nvSpPr>
        <p:spPr bwMode="gray">
          <a:xfrm>
            <a:off x="0" y="3481388"/>
            <a:ext cx="9155113" cy="3376613"/>
          </a:xfrm>
          <a:custGeom>
            <a:avLst/>
            <a:gdLst>
              <a:gd name="T0" fmla="*/ 0 w 5767"/>
              <a:gd name="T1" fmla="*/ 2147483647 h 2127"/>
              <a:gd name="T2" fmla="*/ 2147483647 w 5767"/>
              <a:gd name="T3" fmla="*/ 0 h 2127"/>
              <a:gd name="T4" fmla="*/ 2147483647 w 5767"/>
              <a:gd name="T5" fmla="*/ 2147483647 h 2127"/>
              <a:gd name="T6" fmla="*/ 0 w 5767"/>
              <a:gd name="T7" fmla="*/ 2147483647 h 2127"/>
              <a:gd name="T8" fmla="*/ 0 w 5767"/>
              <a:gd name="T9" fmla="*/ 2147483647 h 21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767" h="2127">
                <a:moveTo>
                  <a:pt x="0" y="1760"/>
                </a:moveTo>
                <a:lnTo>
                  <a:pt x="5767" y="0"/>
                </a:lnTo>
                <a:lnTo>
                  <a:pt x="5760" y="2127"/>
                </a:lnTo>
                <a:lnTo>
                  <a:pt x="0" y="2127"/>
                </a:lnTo>
                <a:lnTo>
                  <a:pt x="0" y="176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AutoShape 32" descr="06"/>
          <p:cNvSpPr>
            <a:spLocks noChangeArrowheads="1"/>
          </p:cNvSpPr>
          <p:nvPr/>
        </p:nvSpPr>
        <p:spPr bwMode="gray">
          <a:xfrm rot="20584390">
            <a:off x="-141287" y="5310188"/>
            <a:ext cx="2541588" cy="573088"/>
          </a:xfrm>
          <a:prstGeom prst="parallelogram">
            <a:avLst>
              <a:gd name="adj" fmla="val 30059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AutoShape 33" descr="05"/>
          <p:cNvSpPr>
            <a:spLocks noChangeArrowheads="1"/>
          </p:cNvSpPr>
          <p:nvPr/>
        </p:nvSpPr>
        <p:spPr bwMode="gray">
          <a:xfrm rot="20584390">
            <a:off x="2154238" y="4610100"/>
            <a:ext cx="2546350" cy="573088"/>
          </a:xfrm>
          <a:prstGeom prst="parallelogram">
            <a:avLst>
              <a:gd name="adj" fmla="val 30115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AutoShape 34" descr="03"/>
          <p:cNvSpPr>
            <a:spLocks noChangeArrowheads="1"/>
          </p:cNvSpPr>
          <p:nvPr/>
        </p:nvSpPr>
        <p:spPr bwMode="gray">
          <a:xfrm rot="20584390">
            <a:off x="4448175" y="3908425"/>
            <a:ext cx="2552700" cy="573088"/>
          </a:xfrm>
          <a:prstGeom prst="parallelogram">
            <a:avLst>
              <a:gd name="adj" fmla="val 3019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AutoShape 35" descr="02"/>
          <p:cNvSpPr>
            <a:spLocks noChangeArrowheads="1"/>
          </p:cNvSpPr>
          <p:nvPr/>
        </p:nvSpPr>
        <p:spPr bwMode="gray">
          <a:xfrm rot="20584390">
            <a:off x="6751638" y="3206750"/>
            <a:ext cx="2533650" cy="573088"/>
          </a:xfrm>
          <a:prstGeom prst="parallelogram">
            <a:avLst>
              <a:gd name="adj" fmla="val 29965"/>
            </a:avLst>
          </a:prstGeom>
          <a:blipFill dpi="0" rotWithShape="1">
            <a:blip r:embed="rId5" cstate="screen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Picture 6" descr="imiweblogo4副本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28600" y="228600"/>
            <a:ext cx="1057275" cy="635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457200" y="2133600"/>
            <a:ext cx="5475288" cy="3810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400"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371600"/>
            <a:ext cx="8077200" cy="682625"/>
          </a:xfrm>
        </p:spPr>
        <p:txBody>
          <a:bodyPr/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20" name="Rectangle 4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457200" y="6477000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5"/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3124200" y="6477000"/>
            <a:ext cx="2895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6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6553200" y="6477000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95400"/>
            <a:ext cx="40767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295400"/>
            <a:ext cx="40767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228600"/>
            <a:ext cx="2076450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6076950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295400"/>
            <a:ext cx="8305800" cy="495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None/>
              <a:defRPr lang="zh-CN" altLang="en-US" sz="2800" b="1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124200" y="6553200"/>
            <a:ext cx="2133600" cy="2349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CC3D3-6DD1-47F6-B73C-CD02A1922274}" type="slidenum">
              <a:rPr lang="ko-KR" altLang="en-US"/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None/>
              <a:defRPr lang="zh-CN" altLang="en-US" sz="2800" b="1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124200" y="6553200"/>
            <a:ext cx="2133600" cy="2349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CC3D3-6DD1-47F6-B73C-CD02A1922274}" type="slidenum">
              <a:rPr lang="ko-KR" altLang="en-US"/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None/>
              <a:defRPr lang="zh-CN" altLang="en-US" sz="2800" b="1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124200" y="6553200"/>
            <a:ext cx="2133600" cy="2349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CC3D3-6DD1-47F6-B73C-CD02A1922274}" type="slidenum">
              <a:rPr lang="ko-KR" altLang="en-US"/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None/>
              <a:defRPr lang="zh-CN" altLang="en-US" sz="2800" b="1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124200" y="6553200"/>
            <a:ext cx="2133600" cy="2349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CC3D3-6DD1-47F6-B73C-CD02A1922274}" type="slidenum">
              <a:rPr lang="ko-KR" altLang="en-US"/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vmlDrawing" Target="../drawings/vmlDrawing1.vml"/><Relationship Id="rId23" Type="http://schemas.openxmlformats.org/officeDocument/2006/relationships/image" Target="../media/image5.jpeg"/><Relationship Id="rId22" Type="http://schemas.openxmlformats.org/officeDocument/2006/relationships/image" Target="../media/image7.jpeg"/><Relationship Id="rId21" Type="http://schemas.openxmlformats.org/officeDocument/2006/relationships/image" Target="../media/image3.jpeg"/><Relationship Id="rId20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.jpeg"/><Relationship Id="rId18" Type="http://schemas.openxmlformats.org/officeDocument/2006/relationships/image" Target="../media/image6.png"/><Relationship Id="rId17" Type="http://schemas.openxmlformats.org/officeDocument/2006/relationships/oleObject" Target="../embeddings/oleObject1.bin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35"/>
          <p:cNvGraphicFramePr>
            <a:graphicFrameLocks noChangeAspect="1"/>
          </p:cNvGraphicFramePr>
          <p:nvPr/>
        </p:nvGraphicFramePr>
        <p:xfrm>
          <a:off x="0" y="0"/>
          <a:ext cx="9144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7" imgW="13004800" imgH="1612900" progId="Photoshop.Image.6">
                  <p:embed/>
                </p:oleObj>
              </mc:Choice>
              <mc:Fallback>
                <p:oleObj name="" r:id="rId17" imgW="13004800" imgH="1612900" progId="Photoshop.Image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0" name="Freeform 36"/>
          <p:cNvSpPr/>
          <p:nvPr/>
        </p:nvSpPr>
        <p:spPr bwMode="ltGray">
          <a:xfrm>
            <a:off x="0" y="0"/>
            <a:ext cx="9144000" cy="6858000"/>
          </a:xfrm>
          <a:custGeom>
            <a:avLst/>
            <a:gdLst/>
            <a:ahLst/>
            <a:cxnLst>
              <a:cxn ang="0">
                <a:pos x="1488" y="0"/>
              </a:cxn>
              <a:cxn ang="0">
                <a:pos x="564" y="617"/>
              </a:cxn>
              <a:cxn ang="0">
                <a:pos x="0" y="1734"/>
              </a:cxn>
              <a:cxn ang="0">
                <a:pos x="0" y="4320"/>
              </a:cxn>
              <a:cxn ang="0">
                <a:pos x="5760" y="4320"/>
              </a:cxn>
              <a:cxn ang="0">
                <a:pos x="5760" y="0"/>
              </a:cxn>
              <a:cxn ang="0">
                <a:pos x="1488" y="0"/>
              </a:cxn>
            </a:cxnLst>
            <a:rect l="0" t="0" r="r" b="b"/>
            <a:pathLst>
              <a:path w="5760" h="4320">
                <a:moveTo>
                  <a:pt x="1488" y="0"/>
                </a:moveTo>
                <a:cubicBezTo>
                  <a:pt x="1093" y="94"/>
                  <a:pt x="670" y="476"/>
                  <a:pt x="564" y="617"/>
                </a:cubicBezTo>
                <a:cubicBezTo>
                  <a:pt x="458" y="758"/>
                  <a:pt x="94" y="1117"/>
                  <a:pt x="0" y="1734"/>
                </a:cubicBez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1488" y="0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alpha val="39000"/>
                </a:schemeClr>
              </a:gs>
              <a:gs pos="100000">
                <a:schemeClr val="accent1">
                  <a:gamma/>
                  <a:tint val="0"/>
                  <a:invGamma/>
                </a:schemeClr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28" name="Group 37"/>
          <p:cNvGrpSpPr/>
          <p:nvPr/>
        </p:nvGrpSpPr>
        <p:grpSpPr>
          <a:xfrm>
            <a:off x="0" y="914400"/>
            <a:ext cx="9144000" cy="350838"/>
            <a:chOff x="0" y="672"/>
            <a:chExt cx="5760" cy="221"/>
          </a:xfrm>
        </p:grpSpPr>
        <p:sp>
          <p:nvSpPr>
            <p:cNvPr id="2" name="AutoShape 38" descr="06"/>
            <p:cNvSpPr>
              <a:spLocks noChangeArrowheads="1"/>
            </p:cNvSpPr>
            <p:nvPr/>
          </p:nvSpPr>
          <p:spPr bwMode="gray">
            <a:xfrm>
              <a:off x="0" y="674"/>
              <a:ext cx="1443" cy="219"/>
            </a:xfrm>
            <a:prstGeom prst="parallelogram">
              <a:avLst>
                <a:gd name="adj" fmla="val 0"/>
              </a:avLst>
            </a:prstGeom>
            <a:blipFill dpi="0" rotWithShape="1">
              <a:blip r:embed="rId19"/>
              <a:srcRect/>
              <a:stretch>
                <a:fillRect/>
              </a:stretch>
            </a:blip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AutoShape 39" descr="05"/>
            <p:cNvSpPr>
              <a:spLocks noChangeArrowheads="1"/>
            </p:cNvSpPr>
            <p:nvPr/>
          </p:nvSpPr>
          <p:spPr bwMode="gray">
            <a:xfrm>
              <a:off x="1434" y="674"/>
              <a:ext cx="1446" cy="219"/>
            </a:xfrm>
            <a:prstGeom prst="parallelogram">
              <a:avLst>
                <a:gd name="adj" fmla="val 0"/>
              </a:avLst>
            </a:prstGeom>
            <a:blipFill dpi="0" rotWithShape="1">
              <a:blip r:embed="rId20"/>
              <a:srcRect/>
              <a:stretch>
                <a:fillRect/>
              </a:stretch>
            </a:blip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6" name="AutoShape 40" descr="03"/>
            <p:cNvSpPr>
              <a:spLocks noChangeArrowheads="1"/>
            </p:cNvSpPr>
            <p:nvPr/>
          </p:nvSpPr>
          <p:spPr bwMode="gray">
            <a:xfrm>
              <a:off x="2876" y="674"/>
              <a:ext cx="1449" cy="219"/>
            </a:xfrm>
            <a:prstGeom prst="parallelogram">
              <a:avLst>
                <a:gd name="adj" fmla="val 0"/>
              </a:avLst>
            </a:prstGeom>
            <a:blipFill dpi="0" rotWithShape="1">
              <a:blip r:embed="rId21"/>
              <a:srcRect/>
              <a:stretch>
                <a:fillRect/>
              </a:stretch>
            </a:blip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AutoShape 41" descr="02"/>
            <p:cNvSpPr>
              <a:spLocks noChangeArrowheads="1"/>
            </p:cNvSpPr>
            <p:nvPr/>
          </p:nvSpPr>
          <p:spPr bwMode="gray">
            <a:xfrm>
              <a:off x="4322" y="672"/>
              <a:ext cx="1438" cy="219"/>
            </a:xfrm>
            <a:prstGeom prst="parallelogram">
              <a:avLst>
                <a:gd name="adj" fmla="val 0"/>
              </a:avLst>
            </a:prstGeom>
            <a:blipFill dpi="0" rotWithShape="1">
              <a:blip r:embed="rId22" cstate="screen"/>
              <a:srcRect/>
              <a:stretch>
                <a:fillRect/>
              </a:stretch>
            </a:blip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9" name="Rectangle 3"/>
          <p:cNvSpPr>
            <a:spLocks noGrp="1"/>
          </p:cNvSpPr>
          <p:nvPr>
            <p:ph type="body" idx="1"/>
          </p:nvPr>
        </p:nvSpPr>
        <p:spPr>
          <a:xfrm>
            <a:off x="381000" y="1295400"/>
            <a:ext cx="8305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2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63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3" name="TextBox 13"/>
          <p:cNvSpPr txBox="1">
            <a:spLocks noChangeArrowheads="1"/>
          </p:cNvSpPr>
          <p:nvPr/>
        </p:nvSpPr>
        <p:spPr bwMode="auto">
          <a:xfrm>
            <a:off x="4419600" y="6400800"/>
            <a:ext cx="4267200" cy="307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skerville Old Face" panose="02020602080505020303" pitchFamily="18" charset="0"/>
                <a:ea typeface="华文楷体" panose="02010600040101010101" pitchFamily="2" charset="-122"/>
                <a:cs typeface="+mn-cs"/>
              </a:rPr>
              <a:t>Institute of Machine Intelligence, Nankai University</a:t>
            </a:r>
            <a:endParaRPr kumimoji="0" lang="zh-CN" altLang="en-US" sz="14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askerville Old Face" panose="02020602080505020303" pitchFamily="18" charset="0"/>
              <a:ea typeface="华文楷体" panose="02010600040101010101" pitchFamily="2" charset="-122"/>
              <a:cs typeface="+mn-cs"/>
            </a:endParaRPr>
          </a:p>
        </p:txBody>
      </p:sp>
      <p:pic>
        <p:nvPicPr>
          <p:cNvPr id="1033" name="Picture 6" descr="imiweblogo4副本2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0" y="152400"/>
            <a:ext cx="1057275" cy="635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w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6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71600"/>
            <a:ext cx="6858000" cy="682625"/>
          </a:xfrm>
        </p:spPr>
        <p:txBody>
          <a:bodyPr/>
          <a:lstStyle/>
          <a:p>
            <a:r>
              <a:rPr lang="zh-CN" altLang="en-US" sz="4800" dirty="0">
                <a:latin typeface="华文新魏" panose="02010800040101010101" pitchFamily="2" charset="-122"/>
                <a:ea typeface="华文新魏" panose="02010800040101010101" pitchFamily="2" charset="-122"/>
              </a:rPr>
              <a:t>高级语言程序设计</a:t>
            </a:r>
            <a:endParaRPr lang="en-US" altLang="zh-CN" sz="4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1219200" y="2362200"/>
            <a:ext cx="471601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许静</a:t>
            </a:r>
            <a:endParaRPr lang="en-US" altLang="zh-CN" sz="4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/>
            <a:r>
              <a:rPr lang="zh-CN" altLang="en-US" sz="4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人工智能学院</a:t>
            </a:r>
            <a:endParaRPr lang="en-US" altLang="zh-CN" sz="4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/>
            <a:r>
              <a:rPr lang="zh-CN" altLang="en-US" sz="4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机器智能所</a:t>
            </a:r>
            <a:endParaRPr lang="en-US" altLang="zh-CN" sz="4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19600" y="5181600"/>
            <a:ext cx="4267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13920892351</a:t>
            </a:r>
            <a:endParaRPr lang="en-US" altLang="zh-CN" sz="2800" dirty="0"/>
          </a:p>
          <a:p>
            <a:r>
              <a:rPr lang="zh-CN" altLang="en-US" sz="2800" dirty="0"/>
              <a:t>人工智能学院南楼</a:t>
            </a:r>
            <a:r>
              <a:rPr lang="en-US" altLang="zh-CN" sz="2800" dirty="0"/>
              <a:t>401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41425"/>
            <a:ext cx="8003232" cy="5248275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1292225"/>
            <a:ext cx="6677025" cy="4937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</a:t>
            </a:r>
            <a:r>
              <a:rPr lang="en-US" altLang="zh-CN" dirty="0"/>
              <a:t>C++</a:t>
            </a:r>
            <a:r>
              <a:rPr lang="zh-CN" altLang="en-US" dirty="0"/>
              <a:t>语言初步</a:t>
            </a:r>
            <a:endParaRPr lang="en-US" altLang="zh-CN" dirty="0"/>
          </a:p>
        </p:txBody>
      </p:sp>
      <p:grpSp>
        <p:nvGrpSpPr>
          <p:cNvPr id="2" name="Group 3"/>
          <p:cNvGrpSpPr/>
          <p:nvPr/>
        </p:nvGrpSpPr>
        <p:grpSpPr bwMode="auto">
          <a:xfrm>
            <a:off x="1828800" y="1714488"/>
            <a:ext cx="762000" cy="665162"/>
            <a:chOff x="1110" y="2656"/>
            <a:chExt cx="1549" cy="1351"/>
          </a:xfrm>
        </p:grpSpPr>
        <p:sp>
          <p:nvSpPr>
            <p:cNvPr id="40964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5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6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7"/>
          <p:cNvGrpSpPr/>
          <p:nvPr/>
        </p:nvGrpSpPr>
        <p:grpSpPr bwMode="auto">
          <a:xfrm>
            <a:off x="1828800" y="2628888"/>
            <a:ext cx="762000" cy="665162"/>
            <a:chOff x="3174" y="2656"/>
            <a:chExt cx="1549" cy="1351"/>
          </a:xfrm>
        </p:grpSpPr>
        <p:sp>
          <p:nvSpPr>
            <p:cNvPr id="40968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9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0" name="AutoShape 10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71" name="Line 11"/>
          <p:cNvSpPr>
            <a:spLocks noChangeShapeType="1"/>
          </p:cNvSpPr>
          <p:nvPr/>
        </p:nvSpPr>
        <p:spPr bwMode="auto">
          <a:xfrm>
            <a:off x="2438400" y="232408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2" name="Text Box 12"/>
          <p:cNvSpPr txBox="1">
            <a:spLocks noChangeArrowheads="1"/>
          </p:cNvSpPr>
          <p:nvPr/>
        </p:nvSpPr>
        <p:spPr bwMode="auto">
          <a:xfrm>
            <a:off x="2667000" y="1790688"/>
            <a:ext cx="3013967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solidFill>
                  <a:srgbClr val="C00000"/>
                </a:solidFill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solidFill>
                  <a:srgbClr val="C00000"/>
                </a:solidFill>
                <a:ea typeface="宋体" panose="02010600030101010101" pitchFamily="2" charset="-122"/>
              </a:rPr>
              <a:t>程序的组成</a:t>
            </a:r>
            <a:endParaRPr lang="en-US" altLang="zh-CN" sz="3200" b="1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40973" name="Text Box 13"/>
          <p:cNvSpPr txBox="1">
            <a:spLocks noChangeArrowheads="1"/>
          </p:cNvSpPr>
          <p:nvPr/>
        </p:nvSpPr>
        <p:spPr bwMode="gray">
          <a:xfrm>
            <a:off x="2025650" y="181291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40974" name="Line 14"/>
          <p:cNvSpPr>
            <a:spLocks noChangeShapeType="1"/>
          </p:cNvSpPr>
          <p:nvPr/>
        </p:nvSpPr>
        <p:spPr bwMode="auto">
          <a:xfrm>
            <a:off x="2438400" y="323848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5" name="Text Box 15"/>
          <p:cNvSpPr txBox="1">
            <a:spLocks noChangeArrowheads="1"/>
          </p:cNvSpPr>
          <p:nvPr/>
        </p:nvSpPr>
        <p:spPr bwMode="auto">
          <a:xfrm>
            <a:off x="2667000" y="2705088"/>
            <a:ext cx="3834704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ea typeface="宋体" panose="02010600030101010101" pitchFamily="2" charset="-122"/>
              </a:rPr>
              <a:t>语言的基本符号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40976" name="Text Box 16"/>
          <p:cNvSpPr txBox="1">
            <a:spLocks noChangeArrowheads="1"/>
          </p:cNvSpPr>
          <p:nvPr/>
        </p:nvSpPr>
        <p:spPr bwMode="gray">
          <a:xfrm>
            <a:off x="2025650" y="272731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2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pSp>
        <p:nvGrpSpPr>
          <p:cNvPr id="4" name="Group 17"/>
          <p:cNvGrpSpPr/>
          <p:nvPr/>
        </p:nvGrpSpPr>
        <p:grpSpPr bwMode="auto">
          <a:xfrm>
            <a:off x="1828800" y="3521063"/>
            <a:ext cx="762000" cy="665162"/>
            <a:chOff x="1110" y="2656"/>
            <a:chExt cx="1549" cy="1351"/>
          </a:xfrm>
        </p:grpSpPr>
        <p:sp>
          <p:nvSpPr>
            <p:cNvPr id="40978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9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AutoShape 20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1"/>
          <p:cNvGrpSpPr/>
          <p:nvPr/>
        </p:nvGrpSpPr>
        <p:grpSpPr bwMode="auto">
          <a:xfrm>
            <a:off x="1828800" y="4435463"/>
            <a:ext cx="762000" cy="665162"/>
            <a:chOff x="3174" y="2656"/>
            <a:chExt cx="1549" cy="1351"/>
          </a:xfrm>
        </p:grpSpPr>
        <p:sp>
          <p:nvSpPr>
            <p:cNvPr id="40982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3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4" name="AutoShape 24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85" name="Line 25"/>
          <p:cNvSpPr>
            <a:spLocks noChangeShapeType="1"/>
          </p:cNvSpPr>
          <p:nvPr/>
        </p:nvSpPr>
        <p:spPr bwMode="auto">
          <a:xfrm>
            <a:off x="2438400" y="41306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6" name="Text Box 26"/>
          <p:cNvSpPr txBox="1">
            <a:spLocks noChangeArrowheads="1"/>
          </p:cNvSpPr>
          <p:nvPr/>
        </p:nvSpPr>
        <p:spPr bwMode="auto">
          <a:xfrm>
            <a:off x="2667000" y="3597263"/>
            <a:ext cx="3013967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ea typeface="宋体" panose="02010600030101010101" pitchFamily="2" charset="-122"/>
              </a:rPr>
              <a:t>语言的词汇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40987" name="Text Box 27"/>
          <p:cNvSpPr txBox="1">
            <a:spLocks noChangeArrowheads="1"/>
          </p:cNvSpPr>
          <p:nvPr/>
        </p:nvSpPr>
        <p:spPr bwMode="gray">
          <a:xfrm>
            <a:off x="2025650" y="36194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3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40988" name="Line 28"/>
          <p:cNvSpPr>
            <a:spLocks noChangeShapeType="1"/>
          </p:cNvSpPr>
          <p:nvPr/>
        </p:nvSpPr>
        <p:spPr bwMode="auto">
          <a:xfrm>
            <a:off x="2438400" y="50450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9" name="Text Box 29"/>
          <p:cNvSpPr txBox="1">
            <a:spLocks noChangeArrowheads="1"/>
          </p:cNvSpPr>
          <p:nvPr/>
        </p:nvSpPr>
        <p:spPr bwMode="auto">
          <a:xfrm>
            <a:off x="2667000" y="4511663"/>
            <a:ext cx="3834704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ea typeface="宋体" panose="02010600030101010101" pitchFamily="2" charset="-122"/>
              </a:rPr>
              <a:t>程序的基本框架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40990" name="Text Box 30"/>
          <p:cNvSpPr txBox="1">
            <a:spLocks noChangeArrowheads="1"/>
          </p:cNvSpPr>
          <p:nvPr/>
        </p:nvSpPr>
        <p:spPr bwMode="gray">
          <a:xfrm>
            <a:off x="2025650" y="45338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4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pSp>
        <p:nvGrpSpPr>
          <p:cNvPr id="6" name="Group 3"/>
          <p:cNvGrpSpPr/>
          <p:nvPr/>
        </p:nvGrpSpPr>
        <p:grpSpPr bwMode="auto">
          <a:xfrm>
            <a:off x="1828800" y="5335606"/>
            <a:ext cx="762000" cy="665162"/>
            <a:chOff x="1110" y="2656"/>
            <a:chExt cx="1549" cy="1351"/>
          </a:xfrm>
        </p:grpSpPr>
        <p:sp>
          <p:nvSpPr>
            <p:cNvPr id="41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" name="Line 11"/>
          <p:cNvSpPr>
            <a:spLocks noChangeShapeType="1"/>
          </p:cNvSpPr>
          <p:nvPr/>
        </p:nvSpPr>
        <p:spPr bwMode="auto">
          <a:xfrm>
            <a:off x="2437200" y="5945206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Text Box 12"/>
          <p:cNvSpPr txBox="1">
            <a:spLocks noChangeArrowheads="1"/>
          </p:cNvSpPr>
          <p:nvPr/>
        </p:nvSpPr>
        <p:spPr bwMode="auto">
          <a:xfrm>
            <a:off x="2667600" y="5411806"/>
            <a:ext cx="3834704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ea typeface="宋体" panose="02010600030101010101" pitchFamily="2" charset="-122"/>
              </a:rPr>
              <a:t>程序的设计思路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46" name="Text Box 13"/>
          <p:cNvSpPr txBox="1">
            <a:spLocks noChangeArrowheads="1"/>
          </p:cNvSpPr>
          <p:nvPr/>
        </p:nvSpPr>
        <p:spPr bwMode="gray">
          <a:xfrm>
            <a:off x="2026800" y="5434031"/>
            <a:ext cx="356188" cy="46166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5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程序组成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6000"/>
            <a:ext cx="8229600" cy="528630"/>
          </a:xfrm>
        </p:spPr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  <a:sym typeface="+mn-ea"/>
              </a:rPr>
              <a:t>【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例</a:t>
            </a:r>
            <a:r>
              <a:rPr lang="en-US" altLang="zh-CN" dirty="0">
                <a:solidFill>
                  <a:srgbClr val="C00000"/>
                </a:solidFill>
                <a:sym typeface="+mn-ea"/>
              </a:rPr>
              <a:t>2.1】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835696" y="1988840"/>
            <a:ext cx="595956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main()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&lt;&lt;"a=";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&gt;&gt;a;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&lt;&lt;"b=";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&gt;&gt;b;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 =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&lt;&lt;"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="&lt;&lt;c&lt;&lt;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程序组成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6000"/>
            <a:ext cx="8229600" cy="528630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关键字</a:t>
            </a:r>
            <a:r>
              <a:rPr lang="en-US" altLang="zh-CN" dirty="0"/>
              <a:t>+</a:t>
            </a:r>
            <a:r>
              <a:rPr lang="zh-CN" altLang="en-US" kern="12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标识符</a:t>
            </a:r>
            <a:r>
              <a:rPr lang="en-US" altLang="zh-CN" dirty="0"/>
              <a:t>+</a:t>
            </a:r>
            <a:r>
              <a:rPr lang="zh-CN" altLang="en-US" dirty="0">
                <a:solidFill>
                  <a:srgbClr val="7030A0"/>
                </a:solidFill>
              </a:rPr>
              <a:t>字面常量</a:t>
            </a:r>
            <a:r>
              <a:rPr lang="en-US" altLang="zh-CN" dirty="0"/>
              <a:t>+</a:t>
            </a:r>
            <a:r>
              <a:rPr lang="zh-CN" altLang="en-US" dirty="0">
                <a:solidFill>
                  <a:srgbClr val="00B050"/>
                </a:solidFill>
              </a:rPr>
              <a:t>运算符</a:t>
            </a:r>
            <a:r>
              <a:rPr lang="en-US" altLang="zh-CN" dirty="0"/>
              <a:t>+</a:t>
            </a:r>
            <a:r>
              <a:rPr lang="zh-CN" altLang="en-US" dirty="0">
                <a:solidFill>
                  <a:srgbClr val="FF0000"/>
                </a:solidFill>
              </a:rPr>
              <a:t>分隔符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07704" y="1988840"/>
            <a:ext cx="552751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zh-CN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CN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"a="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"b="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 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lang="en-US" altLang="zh-CN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程序组成</a:t>
            </a:r>
            <a:endParaRPr lang="en-US" altLang="zh-CN" dirty="0"/>
          </a:p>
        </p:txBody>
      </p:sp>
      <p:sp>
        <p:nvSpPr>
          <p:cNvPr id="48131" name="AutoShape 3"/>
          <p:cNvSpPr>
            <a:spLocks noChangeArrowheads="1"/>
          </p:cNvSpPr>
          <p:nvPr/>
        </p:nvSpPr>
        <p:spPr bwMode="auto">
          <a:xfrm>
            <a:off x="457200" y="1643050"/>
            <a:ext cx="5715000" cy="4495800"/>
          </a:xfrm>
          <a:prstGeom prst="rightArrow">
            <a:avLst>
              <a:gd name="adj1" fmla="val 79306"/>
              <a:gd name="adj2" fmla="val 31485"/>
            </a:avLst>
          </a:prstGeom>
          <a:gradFill rotWithShape="1">
            <a:gsLst>
              <a:gs pos="0">
                <a:schemeClr val="bg2">
                  <a:alpha val="14999"/>
                </a:schemeClr>
              </a:gs>
              <a:gs pos="100000">
                <a:schemeClr val="bg2">
                  <a:gamma/>
                  <a:tint val="57647"/>
                  <a:invGamma/>
                </a:scheme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2" name="AutoShape 4"/>
          <p:cNvSpPr>
            <a:spLocks noChangeArrowheads="1"/>
          </p:cNvSpPr>
          <p:nvPr/>
        </p:nvSpPr>
        <p:spPr bwMode="gray">
          <a:xfrm>
            <a:off x="838200" y="2252650"/>
            <a:ext cx="4038600" cy="990600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sz="2800" dirty="0">
                <a:solidFill>
                  <a:schemeClr val="bg1"/>
                </a:solidFill>
                <a:ea typeface="宋体" panose="02010600030101010101" pitchFamily="2" charset="-122"/>
              </a:rPr>
              <a:t>字符序列</a:t>
            </a:r>
            <a:endParaRPr lang="en-US" altLang="zh-CN" sz="28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48133" name="AutoShape 5"/>
          <p:cNvSpPr>
            <a:spLocks noChangeArrowheads="1"/>
          </p:cNvSpPr>
          <p:nvPr/>
        </p:nvSpPr>
        <p:spPr bwMode="gray">
          <a:xfrm>
            <a:off x="838200" y="3395650"/>
            <a:ext cx="4038600" cy="990600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rgbClr val="699D5F"/>
              </a:gs>
              <a:gs pos="100000">
                <a:srgbClr val="699D5F">
                  <a:gamma/>
                  <a:shade val="46275"/>
                  <a:invGamma/>
                </a:srgbClr>
              </a:gs>
            </a:gsLst>
            <a:lin ang="5400000" scaled="1"/>
          </a:gradFill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lvl="1"/>
            <a:r>
              <a:rPr lang="zh-CN" altLang="en-US" sz="2400" dirty="0">
                <a:solidFill>
                  <a:schemeClr val="bg1"/>
                </a:solidFill>
              </a:rPr>
              <a:t>关键字</a:t>
            </a:r>
            <a:r>
              <a:rPr lang="en-US" altLang="zh-CN" sz="2400" dirty="0">
                <a:solidFill>
                  <a:schemeClr val="bg1"/>
                </a:solidFill>
              </a:rPr>
              <a:t>+</a:t>
            </a:r>
            <a:r>
              <a:rPr lang="zh-CN" altLang="en-US" sz="2400" dirty="0">
                <a:solidFill>
                  <a:schemeClr val="bg1"/>
                </a:solidFill>
              </a:rPr>
              <a:t>标识符</a:t>
            </a:r>
            <a:r>
              <a:rPr lang="en-US" altLang="zh-CN" sz="2400" dirty="0">
                <a:solidFill>
                  <a:schemeClr val="bg1"/>
                </a:solidFill>
              </a:rPr>
              <a:t>+</a:t>
            </a:r>
            <a:r>
              <a:rPr lang="zh-CN" altLang="en-US" sz="2400" dirty="0">
                <a:solidFill>
                  <a:schemeClr val="bg1"/>
                </a:solidFill>
              </a:rPr>
              <a:t>字面常量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lvl="1"/>
            <a:r>
              <a:rPr lang="en-US" altLang="zh-CN" sz="2400" dirty="0">
                <a:solidFill>
                  <a:schemeClr val="bg1"/>
                </a:solidFill>
              </a:rPr>
              <a:t>+</a:t>
            </a:r>
            <a:r>
              <a:rPr lang="zh-CN" altLang="en-US" sz="2400" dirty="0">
                <a:solidFill>
                  <a:schemeClr val="bg1"/>
                </a:solidFill>
              </a:rPr>
              <a:t>运算符</a:t>
            </a:r>
            <a:r>
              <a:rPr lang="en-US" altLang="zh-CN" sz="2400" dirty="0">
                <a:solidFill>
                  <a:schemeClr val="bg1"/>
                </a:solidFill>
              </a:rPr>
              <a:t>+</a:t>
            </a:r>
            <a:r>
              <a:rPr lang="zh-CN" altLang="en-US" sz="2400" dirty="0">
                <a:solidFill>
                  <a:schemeClr val="bg1"/>
                </a:solidFill>
              </a:rPr>
              <a:t>分隔符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48134" name="AutoShape 6"/>
          <p:cNvSpPr>
            <a:spLocks noChangeArrowheads="1"/>
          </p:cNvSpPr>
          <p:nvPr/>
        </p:nvSpPr>
        <p:spPr bwMode="gray">
          <a:xfrm>
            <a:off x="838200" y="4538650"/>
            <a:ext cx="4038600" cy="990600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lvl="1"/>
            <a:r>
              <a:rPr lang="zh-CN" altLang="en-US" sz="2800" dirty="0">
                <a:solidFill>
                  <a:schemeClr val="bg1"/>
                </a:solidFill>
              </a:rPr>
              <a:t>           语句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48135" name="AutoShape 7"/>
          <p:cNvSpPr>
            <a:spLocks noChangeArrowheads="1"/>
          </p:cNvSpPr>
          <p:nvPr/>
        </p:nvSpPr>
        <p:spPr bwMode="auto">
          <a:xfrm>
            <a:off x="5943600" y="3167050"/>
            <a:ext cx="2514600" cy="1295400"/>
          </a:xfrm>
          <a:prstGeom prst="roundRect">
            <a:avLst>
              <a:gd name="adj" fmla="val 9106"/>
            </a:avLst>
          </a:prstGeom>
          <a:noFill/>
          <a:ln w="25400">
            <a:noFill/>
            <a:round/>
          </a:ln>
          <a:effectLst/>
        </p:spPr>
        <p:txBody>
          <a:bodyPr anchor="ctr"/>
          <a:lstStyle/>
          <a:p>
            <a:pPr algn="ctr"/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C++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程序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程序组成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6000"/>
            <a:ext cx="8229600" cy="528630"/>
          </a:xfrm>
        </p:spPr>
        <p:txBody>
          <a:bodyPr/>
          <a:lstStyle/>
          <a:p>
            <a:r>
              <a:rPr lang="zh-CN" altLang="en-US" dirty="0"/>
              <a:t>语句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27584" y="1988840"/>
            <a:ext cx="756084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预处理命令语句</a:t>
            </a:r>
            <a:endParaRPr lang="en-US" altLang="zh-CN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main()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函数定义语句</a:t>
            </a:r>
            <a:endParaRPr lang="en-US" altLang="zh-CN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声明语句</a:t>
            </a:r>
            <a:endParaRPr lang="en-US" altLang="zh-CN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&lt;&lt;“a=”;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输出语句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&gt;&gt;a;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输入语句</a:t>
            </a:r>
            <a:endParaRPr lang="en-US" altLang="zh-CN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&lt;&lt;“b=”;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输出语句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&gt;&gt;b;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输入语句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 =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声明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zh-CN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赋值语句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&lt;&lt;"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="&lt;&lt;c&lt;&lt;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</a:t>
            </a:r>
            <a:r>
              <a:rPr lang="zh-CN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输出语句</a:t>
            </a: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程序组成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2128837"/>
            <a:ext cx="8915400" cy="26003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初识</a:t>
            </a:r>
            <a:r>
              <a:rPr lang="en-US" altLang="zh-CN" dirty="0"/>
              <a:t>C++</a:t>
            </a:r>
            <a:r>
              <a:rPr lang="zh-CN" altLang="en-US" dirty="0"/>
              <a:t>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6000"/>
            <a:ext cx="8229600" cy="600068"/>
          </a:xfrm>
        </p:spPr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2.1】</a:t>
            </a:r>
            <a:r>
              <a:rPr lang="zh-CN" altLang="en-US" dirty="0">
                <a:solidFill>
                  <a:srgbClr val="C00000"/>
                </a:solidFill>
              </a:rPr>
              <a:t>最简单的</a:t>
            </a:r>
            <a:r>
              <a:rPr lang="en-US" altLang="zh-CN" dirty="0">
                <a:solidFill>
                  <a:srgbClr val="C00000"/>
                </a:solidFill>
              </a:rPr>
              <a:t>C++</a:t>
            </a:r>
            <a:r>
              <a:rPr lang="zh-CN" altLang="en-US" dirty="0">
                <a:solidFill>
                  <a:srgbClr val="C00000"/>
                </a:solidFill>
              </a:rPr>
              <a:t>程序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899592" y="2786058"/>
            <a:ext cx="806489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2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  <a:endParaRPr lang="en-US" altLang="zh-CN" sz="2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2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&lt;&lt;"This is a C++ Program."&lt;&lt;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  <a:endParaRPr lang="en-US" altLang="zh-CN" sz="2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初识</a:t>
            </a:r>
            <a:r>
              <a:rPr lang="en-US" altLang="zh-CN" dirty="0"/>
              <a:t>C++</a:t>
            </a:r>
            <a:r>
              <a:rPr lang="zh-CN" altLang="en-US" dirty="0"/>
              <a:t>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注释</a:t>
            </a:r>
            <a:endParaRPr lang="en-US" altLang="zh-CN" dirty="0"/>
          </a:p>
          <a:p>
            <a:pPr lvl="1"/>
            <a:r>
              <a:rPr lang="en-US" altLang="zh-CN" dirty="0"/>
              <a:t>//</a:t>
            </a:r>
            <a:endParaRPr lang="en-US" altLang="zh-CN" dirty="0"/>
          </a:p>
          <a:p>
            <a:pPr lvl="1"/>
            <a:r>
              <a:rPr lang="en-US" altLang="zh-CN" dirty="0"/>
              <a:t>/*</a:t>
            </a:r>
            <a:r>
              <a:rPr lang="zh-CN" altLang="en-US" dirty="0"/>
              <a:t>和</a:t>
            </a:r>
            <a:r>
              <a:rPr lang="en-US" altLang="zh-CN" dirty="0"/>
              <a:t>*/</a:t>
            </a:r>
            <a:endParaRPr lang="en-US" altLang="zh-CN" dirty="0"/>
          </a:p>
          <a:p>
            <a:r>
              <a:rPr lang="zh-CN" altLang="en-US" dirty="0"/>
              <a:t>文件嵌入命令</a:t>
            </a:r>
            <a:endParaRPr lang="en-US" altLang="zh-CN" dirty="0"/>
          </a:p>
          <a:p>
            <a:pPr lvl="1"/>
            <a:r>
              <a:rPr lang="en-US" altLang="zh-CN" dirty="0"/>
              <a:t>#include</a:t>
            </a:r>
            <a:endParaRPr lang="en-US" altLang="zh-CN" dirty="0"/>
          </a:p>
          <a:p>
            <a:pPr lvl="1"/>
            <a:r>
              <a:rPr lang="zh-CN" altLang="en-US" dirty="0"/>
              <a:t>将</a:t>
            </a:r>
            <a:r>
              <a:rPr lang="en-US" altLang="zh-CN" dirty="0"/>
              <a:t>&lt;</a:t>
            </a:r>
            <a:r>
              <a:rPr lang="zh-CN" altLang="en-US" dirty="0"/>
              <a:t>和</a:t>
            </a:r>
            <a:r>
              <a:rPr lang="en-US" altLang="zh-CN" dirty="0"/>
              <a:t>&gt;</a:t>
            </a:r>
            <a:r>
              <a:rPr lang="zh-CN" altLang="en-US" dirty="0"/>
              <a:t>内指定的文件嵌入到命令所在位置</a:t>
            </a:r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初识</a:t>
            </a:r>
            <a:r>
              <a:rPr lang="en-US" altLang="zh-CN" dirty="0"/>
              <a:t>C++</a:t>
            </a:r>
            <a:r>
              <a:rPr lang="zh-CN" altLang="en-US" dirty="0"/>
              <a:t>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主函数</a:t>
            </a:r>
            <a:endParaRPr lang="en-US" altLang="zh-CN" dirty="0"/>
          </a:p>
          <a:p>
            <a:pPr lvl="1"/>
            <a:r>
              <a:rPr lang="en-US" altLang="zh-CN" dirty="0" err="1"/>
              <a:t>int</a:t>
            </a:r>
            <a:r>
              <a:rPr lang="en-US" altLang="zh-CN" dirty="0"/>
              <a:t> main(){ }</a:t>
            </a:r>
            <a:endParaRPr lang="en-US" altLang="zh-CN" dirty="0"/>
          </a:p>
          <a:p>
            <a:r>
              <a:rPr lang="zh-CN" altLang="en-US" dirty="0"/>
              <a:t>输出语句</a:t>
            </a:r>
            <a:endParaRPr lang="en-US" altLang="zh-CN" dirty="0"/>
          </a:p>
          <a:p>
            <a:pPr lvl="1"/>
            <a:r>
              <a:rPr lang="en-US" altLang="zh-CN" dirty="0" err="1"/>
              <a:t>cout</a:t>
            </a:r>
            <a:endParaRPr lang="en-US" altLang="zh-CN" dirty="0"/>
          </a:p>
          <a:p>
            <a:pPr lvl="1"/>
            <a:r>
              <a:rPr lang="zh-CN" altLang="en-US" dirty="0"/>
              <a:t>标准</a:t>
            </a:r>
            <a:r>
              <a:rPr lang="zh-CN" altLang="en-US" dirty="0">
                <a:solidFill>
                  <a:srgbClr val="C00000"/>
                </a:solidFill>
              </a:rPr>
              <a:t>输出流</a:t>
            </a:r>
            <a:r>
              <a:rPr lang="zh-CN" altLang="en-US" dirty="0"/>
              <a:t>对象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zh-CN" altLang="en-US" dirty="0"/>
              <a:t>标准输出语句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 err="1"/>
              <a:t>cout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/>
              <a:t>&lt;&lt;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 err="1"/>
              <a:t>endl</a:t>
            </a:r>
            <a:endParaRPr lang="en-US" altLang="zh-CN" dirty="0"/>
          </a:p>
          <a:p>
            <a:pPr>
              <a:spcBef>
                <a:spcPts val="600"/>
              </a:spcBef>
            </a:pPr>
            <a:r>
              <a:rPr lang="zh-CN" altLang="en-US" dirty="0"/>
              <a:t>标准输入语句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 err="1"/>
              <a:t>cin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/>
              <a:t>&gt;&gt;</a:t>
            </a:r>
            <a:endParaRPr lang="en-US" altLang="zh-CN" dirty="0"/>
          </a:p>
          <a:p>
            <a:pPr>
              <a:spcBef>
                <a:spcPts val="600"/>
              </a:spcBef>
            </a:pPr>
            <a:r>
              <a:rPr lang="zh-CN" altLang="en-US" dirty="0"/>
              <a:t>标准流类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 err="1"/>
              <a:t>iostream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标准流类对象：</a:t>
            </a:r>
            <a:r>
              <a:rPr lang="en-US" altLang="zh-CN" dirty="0" err="1"/>
              <a:t>cout</a:t>
            </a:r>
            <a:r>
              <a:rPr lang="zh-CN" altLang="en-US" dirty="0"/>
              <a:t>、</a:t>
            </a:r>
            <a:r>
              <a:rPr lang="en-US" altLang="zh-CN" dirty="0" err="1"/>
              <a:t>cin</a:t>
            </a:r>
            <a:r>
              <a:rPr lang="zh-CN" altLang="en-US" dirty="0"/>
              <a:t>、</a:t>
            </a:r>
            <a:r>
              <a:rPr lang="en-US" altLang="zh-CN" dirty="0" err="1"/>
              <a:t>cerr</a:t>
            </a:r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语言的输入输出函数</a:t>
            </a:r>
            <a:endParaRPr lang="en-US" altLang="zh-CN" dirty="0"/>
          </a:p>
          <a:p>
            <a:pPr lvl="1"/>
            <a:r>
              <a:rPr lang="zh-CN" altLang="en-US" dirty="0"/>
              <a:t>头文件</a:t>
            </a:r>
            <a:r>
              <a:rPr lang="en-US" altLang="zh-CN" dirty="0" err="1"/>
              <a:t>stdio.h</a:t>
            </a:r>
            <a:endParaRPr lang="en-US" altLang="zh-CN" dirty="0"/>
          </a:p>
          <a:p>
            <a:pPr lvl="1"/>
            <a:r>
              <a:rPr lang="zh-CN" altLang="en-US" dirty="0"/>
              <a:t>标准输入函数</a:t>
            </a:r>
            <a:r>
              <a:rPr lang="en-US" altLang="zh-CN" dirty="0" err="1"/>
              <a:t>scanf</a:t>
            </a:r>
            <a:endParaRPr lang="en-US" altLang="zh-CN" dirty="0"/>
          </a:p>
          <a:p>
            <a:pPr lvl="2"/>
            <a:r>
              <a:rPr lang="en-US" altLang="zh-CN" dirty="0" err="1"/>
              <a:t>scanf</a:t>
            </a:r>
            <a:r>
              <a:rPr lang="en-US" altLang="zh-CN" dirty="0"/>
              <a:t>(“%</a:t>
            </a:r>
            <a:r>
              <a:rPr lang="en-US" altLang="zh-CN" dirty="0" err="1"/>
              <a:t>d”,&amp;a</a:t>
            </a:r>
            <a:r>
              <a:rPr lang="en-US" altLang="zh-CN" dirty="0"/>
              <a:t>);</a:t>
            </a:r>
            <a:endParaRPr lang="en-US" altLang="zh-CN" dirty="0"/>
          </a:p>
          <a:p>
            <a:pPr lvl="2"/>
            <a:r>
              <a:rPr lang="en-US" altLang="zh-CN" dirty="0" err="1"/>
              <a:t>cin</a:t>
            </a:r>
            <a:r>
              <a:rPr lang="en-US" altLang="zh-CN" dirty="0"/>
              <a:t>&gt;&gt;a;</a:t>
            </a:r>
            <a:endParaRPr lang="en-US" altLang="zh-CN" dirty="0"/>
          </a:p>
          <a:p>
            <a:pPr lvl="1"/>
            <a:r>
              <a:rPr lang="zh-CN" altLang="en-US" dirty="0"/>
              <a:t>标准输出函数</a:t>
            </a:r>
            <a:r>
              <a:rPr lang="en-US" altLang="zh-CN" dirty="0" err="1"/>
              <a:t>printf</a:t>
            </a:r>
            <a:endParaRPr lang="en-US" altLang="zh-CN" dirty="0"/>
          </a:p>
          <a:p>
            <a:pPr lvl="2"/>
            <a:r>
              <a:rPr lang="en-US" altLang="zh-CN" dirty="0" err="1"/>
              <a:t>printf</a:t>
            </a:r>
            <a:r>
              <a:rPr lang="en-US" altLang="zh-CN" dirty="0"/>
              <a:t>(“Let’s learn to write a C++ program.”);</a:t>
            </a:r>
            <a:endParaRPr lang="en-US" altLang="zh-CN" dirty="0"/>
          </a:p>
          <a:p>
            <a:pPr lvl="2"/>
            <a:r>
              <a:rPr lang="en-US" altLang="zh-CN" dirty="0" err="1"/>
              <a:t>cout</a:t>
            </a:r>
            <a:r>
              <a:rPr lang="en-US" altLang="zh-CN" dirty="0"/>
              <a:t>&lt;&lt; “Let’s learn to write a C++ program.”;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2.2】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&lt;iostream&gt;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std;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name[20];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&lt;&lt;"What's your name?"&lt;&lt;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	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&gt;&gt;name;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&lt;&lt;"Welcome "&lt;&lt;name&lt;&lt;</a:t>
            </a:r>
            <a:r>
              <a:rPr lang="en-US" altLang="zh-CN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029200"/>
          </a:xfrm>
        </p:spPr>
        <p:txBody>
          <a:bodyPr/>
          <a:lstStyle/>
          <a:p>
            <a:r>
              <a:rPr lang="en-US" altLang="zh-CN" sz="2400" dirty="0">
                <a:solidFill>
                  <a:srgbClr val="C00000"/>
                </a:solidFill>
              </a:rPr>
              <a:t>【</a:t>
            </a:r>
            <a:r>
              <a:rPr lang="zh-CN" altLang="en-US" sz="2400" dirty="0">
                <a:solidFill>
                  <a:srgbClr val="C00000"/>
                </a:solidFill>
              </a:rPr>
              <a:t>例</a:t>
            </a:r>
            <a:r>
              <a:rPr lang="en-US" altLang="zh-CN" sz="2400" dirty="0">
                <a:solidFill>
                  <a:srgbClr val="C00000"/>
                </a:solidFill>
              </a:rPr>
              <a:t>2.3】</a:t>
            </a:r>
            <a:r>
              <a:rPr lang="zh-CN" altLang="en-US" sz="2400" dirty="0">
                <a:solidFill>
                  <a:srgbClr val="C00000"/>
                </a:solidFill>
              </a:rPr>
              <a:t>输出本学期的课程表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altLang="zh-CN" sz="11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altLang="zh-CN" sz="11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11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altLang="zh-CN" sz="11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11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11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altLang="zh-CN" sz="11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11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iomanip</a:t>
            </a:r>
            <a:r>
              <a:rPr lang="en-US" altLang="zh-CN" sz="11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11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11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</a:t>
            </a:r>
            <a:r>
              <a:rPr lang="en-US" altLang="zh-CN" sz="11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1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sz="11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1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11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sz="11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</a:t>
            </a:r>
            <a:endParaRPr lang="en-US" altLang="zh-CN" sz="11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11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                                    </a:t>
            </a:r>
            <a:r>
              <a:rPr lang="zh-CN" altLang="en-US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课程表                                  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05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&lt;&lt;"============================================================================"&lt;&lt;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05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cout.setf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::left);</a:t>
            </a:r>
            <a:endParaRPr lang="en-US" altLang="zh-CN" sz="105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(10)&lt;&lt;"</a:t>
            </a:r>
            <a:r>
              <a:rPr lang="zh-CN" altLang="en-US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时间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</a:t>
            </a:r>
            <a:r>
              <a:rPr lang="zh-CN" altLang="en-US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星期一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</a:t>
            </a:r>
            <a:r>
              <a:rPr lang="zh-CN" altLang="en-US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星期二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</a:t>
            </a:r>
            <a:r>
              <a:rPr lang="zh-CN" altLang="en-US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星期三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</a:t>
            </a:r>
            <a:r>
              <a:rPr lang="zh-CN" altLang="en-US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星期四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</a:t>
            </a:r>
            <a:r>
              <a:rPr lang="zh-CN" altLang="en-US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星期五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05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&lt;&lt;"----------------------------------------------------------------------------"&lt;&lt;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05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(10)&lt;&lt;"8:00"&lt;&lt;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</a:t>
            </a:r>
            <a:r>
              <a:rPr lang="zh-CN" altLang="en-US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高等数学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</a:t>
            </a:r>
            <a:r>
              <a:rPr lang="zh-CN" altLang="en-US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高等数学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</a:t>
            </a:r>
            <a:r>
              <a:rPr lang="zh-CN" altLang="en-US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线性代数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05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&lt;&lt;"----------------------------------------------------------------------------"&lt;&lt;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05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(10)&lt;&lt;"10:00"&lt;&lt;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</a:t>
            </a:r>
            <a:r>
              <a:rPr lang="zh-CN" altLang="en-US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政治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</a:t>
            </a:r>
            <a:r>
              <a:rPr lang="zh-CN" altLang="en-US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线性代数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</a:t>
            </a:r>
            <a:r>
              <a:rPr lang="zh-CN" altLang="en-US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习题课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</a:t>
            </a:r>
            <a:r>
              <a:rPr lang="zh-CN" altLang="en-US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英语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05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&lt;&lt;"----------------------------------------------------------------------------"&lt;&lt;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05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(10)&lt;&lt;"14:00"&lt;&lt;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</a:t>
            </a:r>
            <a:r>
              <a:rPr lang="zh-CN" altLang="en-US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体育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</a:t>
            </a:r>
            <a:r>
              <a:rPr lang="zh-CN" altLang="en-US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英语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</a:t>
            </a:r>
            <a:r>
              <a:rPr lang="zh-CN" altLang="en-US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习题课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05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&lt;&lt;"----------------------------------------------------------------------------"&lt;&lt;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05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(10)&lt;&lt;"16:00"&lt;&lt;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</a:t>
            </a:r>
            <a:r>
              <a:rPr lang="zh-CN" altLang="en-US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实验课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05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&lt;&lt;"----------------------------------------------------------------------------"&lt;&lt;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05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(10)&lt;&lt;"18:30"&lt;&lt;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</a:t>
            </a:r>
            <a:r>
              <a:rPr lang="zh-CN" altLang="en-US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实验课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(15)&lt;&lt;""&lt;&lt;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	</a:t>
            </a:r>
            <a:endParaRPr lang="en-US" altLang="zh-CN" sz="105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&lt;&lt;"============================================================================"&lt;&lt;</a:t>
            </a:r>
            <a:r>
              <a:rPr lang="en-US" altLang="zh-CN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05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05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图片 5" descr="课表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79712" y="2426158"/>
            <a:ext cx="6190477" cy="34761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2.4】</a:t>
            </a:r>
            <a:r>
              <a:rPr lang="zh-CN" altLang="en-US" dirty="0">
                <a:solidFill>
                  <a:srgbClr val="C00000"/>
                </a:solidFill>
              </a:rPr>
              <a:t>简单的计算程序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</a:t>
            </a: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  <a:endParaRPr lang="en-US" altLang="zh-CN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char op;</a:t>
            </a:r>
            <a:endParaRPr lang="en-US" altLang="zh-CN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a=10,b=6;</a:t>
            </a:r>
            <a:endParaRPr lang="en-US" altLang="zh-CN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&lt;&lt;"Select operation('+' or '-'):";</a:t>
            </a:r>
            <a:endParaRPr lang="en-US" altLang="zh-CN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&gt;&gt;op;</a:t>
            </a:r>
            <a:endParaRPr lang="en-US" altLang="zh-CN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(op){</a:t>
            </a:r>
            <a:endParaRPr lang="en-US" altLang="zh-CN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'+':</a:t>
            </a:r>
            <a:endParaRPr lang="en-US" altLang="zh-CN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&lt;&lt;"a"&lt;&lt;op&lt;&lt;"b="&lt;&lt;</a:t>
            </a:r>
            <a:r>
              <a:rPr lang="en-US" altLang="zh-CN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altLang="zh-CN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break;</a:t>
            </a:r>
            <a:endParaRPr lang="en-US" altLang="zh-CN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'-':</a:t>
            </a:r>
            <a:endParaRPr lang="en-US" altLang="zh-CN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&lt;&lt;"a"&lt;&lt;op&lt;&lt;"b="&lt;&lt;a-b&lt;&lt;</a:t>
            </a:r>
            <a:r>
              <a:rPr lang="en-US" altLang="zh-CN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break;</a:t>
            </a:r>
            <a:endParaRPr lang="en-US" altLang="zh-CN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altLang="zh-CN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&lt;&lt;"No such operation!"&lt;&lt;</a:t>
            </a:r>
            <a:r>
              <a:rPr lang="en-US" altLang="zh-CN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altLang="zh-CN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图片 5" descr="计算器程序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636393" y="548680"/>
            <a:ext cx="4475336" cy="24482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</a:t>
            </a:r>
            <a:r>
              <a:rPr lang="en-US" altLang="zh-CN" dirty="0"/>
              <a:t>C++</a:t>
            </a:r>
            <a:r>
              <a:rPr lang="zh-CN" altLang="en-US" dirty="0"/>
              <a:t>语言初步</a:t>
            </a:r>
            <a:endParaRPr lang="en-US" altLang="zh-CN" dirty="0"/>
          </a:p>
        </p:txBody>
      </p:sp>
      <p:grpSp>
        <p:nvGrpSpPr>
          <p:cNvPr id="2" name="Group 3"/>
          <p:cNvGrpSpPr/>
          <p:nvPr/>
        </p:nvGrpSpPr>
        <p:grpSpPr bwMode="auto">
          <a:xfrm>
            <a:off x="1828800" y="1714488"/>
            <a:ext cx="762000" cy="665162"/>
            <a:chOff x="1110" y="2656"/>
            <a:chExt cx="1549" cy="1351"/>
          </a:xfrm>
        </p:grpSpPr>
        <p:sp>
          <p:nvSpPr>
            <p:cNvPr id="40964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5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6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7"/>
          <p:cNvGrpSpPr/>
          <p:nvPr/>
        </p:nvGrpSpPr>
        <p:grpSpPr bwMode="auto">
          <a:xfrm>
            <a:off x="1828800" y="2628888"/>
            <a:ext cx="762000" cy="665162"/>
            <a:chOff x="3174" y="2656"/>
            <a:chExt cx="1549" cy="1351"/>
          </a:xfrm>
        </p:grpSpPr>
        <p:sp>
          <p:nvSpPr>
            <p:cNvPr id="40968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9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0" name="AutoShape 10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71" name="Line 11"/>
          <p:cNvSpPr>
            <a:spLocks noChangeShapeType="1"/>
          </p:cNvSpPr>
          <p:nvPr/>
        </p:nvSpPr>
        <p:spPr bwMode="auto">
          <a:xfrm>
            <a:off x="2438400" y="232408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2" name="Text Box 12"/>
          <p:cNvSpPr txBox="1">
            <a:spLocks noChangeArrowheads="1"/>
          </p:cNvSpPr>
          <p:nvPr/>
        </p:nvSpPr>
        <p:spPr bwMode="auto">
          <a:xfrm>
            <a:off x="2667000" y="1790688"/>
            <a:ext cx="3013967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ea typeface="宋体" panose="02010600030101010101" pitchFamily="2" charset="-122"/>
              </a:rPr>
              <a:t>程序的组成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40973" name="Text Box 13"/>
          <p:cNvSpPr txBox="1">
            <a:spLocks noChangeArrowheads="1"/>
          </p:cNvSpPr>
          <p:nvPr/>
        </p:nvSpPr>
        <p:spPr bwMode="gray">
          <a:xfrm>
            <a:off x="2025650" y="181291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40974" name="Line 14"/>
          <p:cNvSpPr>
            <a:spLocks noChangeShapeType="1"/>
          </p:cNvSpPr>
          <p:nvPr/>
        </p:nvSpPr>
        <p:spPr bwMode="auto">
          <a:xfrm>
            <a:off x="2438400" y="323848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5" name="Text Box 15"/>
          <p:cNvSpPr txBox="1">
            <a:spLocks noChangeArrowheads="1"/>
          </p:cNvSpPr>
          <p:nvPr/>
        </p:nvSpPr>
        <p:spPr bwMode="auto">
          <a:xfrm>
            <a:off x="2667000" y="2705088"/>
            <a:ext cx="3834704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solidFill>
                  <a:srgbClr val="C00000"/>
                </a:solidFill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solidFill>
                  <a:srgbClr val="C00000"/>
                </a:solidFill>
                <a:ea typeface="宋体" panose="02010600030101010101" pitchFamily="2" charset="-122"/>
              </a:rPr>
              <a:t>语言的基本符号</a:t>
            </a:r>
            <a:endParaRPr lang="en-US" altLang="zh-CN" sz="3200" b="1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40976" name="Text Box 16"/>
          <p:cNvSpPr txBox="1">
            <a:spLocks noChangeArrowheads="1"/>
          </p:cNvSpPr>
          <p:nvPr/>
        </p:nvSpPr>
        <p:spPr bwMode="gray">
          <a:xfrm>
            <a:off x="2025650" y="272731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2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pSp>
        <p:nvGrpSpPr>
          <p:cNvPr id="4" name="Group 17"/>
          <p:cNvGrpSpPr/>
          <p:nvPr/>
        </p:nvGrpSpPr>
        <p:grpSpPr bwMode="auto">
          <a:xfrm>
            <a:off x="1828800" y="3521063"/>
            <a:ext cx="762000" cy="665162"/>
            <a:chOff x="1110" y="2656"/>
            <a:chExt cx="1549" cy="1351"/>
          </a:xfrm>
        </p:grpSpPr>
        <p:sp>
          <p:nvSpPr>
            <p:cNvPr id="40978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9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AutoShape 20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1"/>
          <p:cNvGrpSpPr/>
          <p:nvPr/>
        </p:nvGrpSpPr>
        <p:grpSpPr bwMode="auto">
          <a:xfrm>
            <a:off x="1828800" y="4435463"/>
            <a:ext cx="762000" cy="665162"/>
            <a:chOff x="3174" y="2656"/>
            <a:chExt cx="1549" cy="1351"/>
          </a:xfrm>
        </p:grpSpPr>
        <p:sp>
          <p:nvSpPr>
            <p:cNvPr id="40982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3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4" name="AutoShape 24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85" name="Line 25"/>
          <p:cNvSpPr>
            <a:spLocks noChangeShapeType="1"/>
          </p:cNvSpPr>
          <p:nvPr/>
        </p:nvSpPr>
        <p:spPr bwMode="auto">
          <a:xfrm>
            <a:off x="2438400" y="41306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6" name="Text Box 26"/>
          <p:cNvSpPr txBox="1">
            <a:spLocks noChangeArrowheads="1"/>
          </p:cNvSpPr>
          <p:nvPr/>
        </p:nvSpPr>
        <p:spPr bwMode="auto">
          <a:xfrm>
            <a:off x="2667000" y="3597263"/>
            <a:ext cx="3013967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ea typeface="宋体" panose="02010600030101010101" pitchFamily="2" charset="-122"/>
              </a:rPr>
              <a:t>语言的词汇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40987" name="Text Box 27"/>
          <p:cNvSpPr txBox="1">
            <a:spLocks noChangeArrowheads="1"/>
          </p:cNvSpPr>
          <p:nvPr/>
        </p:nvSpPr>
        <p:spPr bwMode="gray">
          <a:xfrm>
            <a:off x="2025650" y="36194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3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40988" name="Line 28"/>
          <p:cNvSpPr>
            <a:spLocks noChangeShapeType="1"/>
          </p:cNvSpPr>
          <p:nvPr/>
        </p:nvSpPr>
        <p:spPr bwMode="auto">
          <a:xfrm>
            <a:off x="2438400" y="50450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9" name="Text Box 29"/>
          <p:cNvSpPr txBox="1">
            <a:spLocks noChangeArrowheads="1"/>
          </p:cNvSpPr>
          <p:nvPr/>
        </p:nvSpPr>
        <p:spPr bwMode="auto">
          <a:xfrm>
            <a:off x="2667000" y="4511663"/>
            <a:ext cx="3834704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ea typeface="宋体" panose="02010600030101010101" pitchFamily="2" charset="-122"/>
              </a:rPr>
              <a:t>程序的基本框架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40990" name="Text Box 30"/>
          <p:cNvSpPr txBox="1">
            <a:spLocks noChangeArrowheads="1"/>
          </p:cNvSpPr>
          <p:nvPr/>
        </p:nvSpPr>
        <p:spPr bwMode="gray">
          <a:xfrm>
            <a:off x="2025650" y="45338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4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pSp>
        <p:nvGrpSpPr>
          <p:cNvPr id="6" name="Group 3"/>
          <p:cNvGrpSpPr/>
          <p:nvPr/>
        </p:nvGrpSpPr>
        <p:grpSpPr bwMode="auto">
          <a:xfrm>
            <a:off x="1828800" y="5335606"/>
            <a:ext cx="762000" cy="665162"/>
            <a:chOff x="1110" y="2656"/>
            <a:chExt cx="1549" cy="1351"/>
          </a:xfrm>
        </p:grpSpPr>
        <p:sp>
          <p:nvSpPr>
            <p:cNvPr id="41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" name="Line 11"/>
          <p:cNvSpPr>
            <a:spLocks noChangeShapeType="1"/>
          </p:cNvSpPr>
          <p:nvPr/>
        </p:nvSpPr>
        <p:spPr bwMode="auto">
          <a:xfrm>
            <a:off x="2437200" y="5945206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Text Box 12"/>
          <p:cNvSpPr txBox="1">
            <a:spLocks noChangeArrowheads="1"/>
          </p:cNvSpPr>
          <p:nvPr/>
        </p:nvSpPr>
        <p:spPr bwMode="auto">
          <a:xfrm>
            <a:off x="2667600" y="5411806"/>
            <a:ext cx="3834704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ea typeface="宋体" panose="02010600030101010101" pitchFamily="2" charset="-122"/>
              </a:rPr>
              <a:t>程序的设计思路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46" name="Text Box 13"/>
          <p:cNvSpPr txBox="1">
            <a:spLocks noChangeArrowheads="1"/>
          </p:cNvSpPr>
          <p:nvPr/>
        </p:nvSpPr>
        <p:spPr bwMode="gray">
          <a:xfrm>
            <a:off x="2026800" y="5434031"/>
            <a:ext cx="356188" cy="46166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5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基本符号分类与</a:t>
            </a:r>
            <a:r>
              <a:rPr lang="en-US" altLang="zh-CN" dirty="0"/>
              <a:t>ASCII</a:t>
            </a:r>
            <a:r>
              <a:rPr lang="zh-CN" altLang="en-US" dirty="0"/>
              <a:t>码</a:t>
            </a:r>
            <a:endParaRPr lang="zh-CN" altLang="en-US" dirty="0"/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5562600" y="3276600"/>
            <a:ext cx="2286000" cy="26670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 eaLnBrk="0" hangingPunct="0"/>
            <a:endParaRPr lang="zh-CN" altLang="zh-CN">
              <a:latin typeface="Verdana" panose="020B060403050404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715000" y="3471863"/>
            <a:ext cx="2057400" cy="209288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ASCII</a:t>
            </a:r>
            <a:r>
              <a:rPr lang="zh-CN" altLang="en-US" sz="2800" b="1" dirty="0">
                <a:solidFill>
                  <a:srgbClr val="000000"/>
                </a:solidFill>
                <a:ea typeface="宋体" panose="02010600030101010101" pitchFamily="2" charset="-122"/>
              </a:rPr>
              <a:t>码</a:t>
            </a:r>
            <a:endParaRPr lang="en-US" altLang="zh-CN" sz="28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95</a:t>
            </a:r>
            <a:r>
              <a:rPr lang="zh-CN" altLang="en-US" dirty="0"/>
              <a:t>个基本符号</a:t>
            </a:r>
            <a:endParaRPr lang="en-US" altLang="zh-CN" dirty="0"/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33</a:t>
            </a:r>
            <a:r>
              <a:rPr lang="zh-CN" altLang="en-US" dirty="0"/>
              <a:t>个控制符号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rgbClr val="C00000"/>
                </a:solidFill>
              </a:rPr>
              <a:t>P32</a:t>
            </a:r>
            <a:r>
              <a:rPr lang="zh-CN" altLang="en-US" sz="1400" dirty="0">
                <a:solidFill>
                  <a:srgbClr val="C00000"/>
                </a:solidFill>
              </a:rPr>
              <a:t>表</a:t>
            </a:r>
            <a:r>
              <a:rPr lang="en-US" altLang="zh-CN" sz="1400" dirty="0">
                <a:solidFill>
                  <a:srgbClr val="C00000"/>
                </a:solidFill>
              </a:rPr>
              <a:t>2.2</a:t>
            </a:r>
            <a:endParaRPr lang="en-US" altLang="zh-CN" sz="1400" dirty="0">
              <a:solidFill>
                <a:srgbClr val="C00000"/>
              </a:solidFill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扩展</a:t>
            </a:r>
            <a:r>
              <a:rPr lang="en-US" altLang="zh-CN" dirty="0"/>
              <a:t>ASCII</a:t>
            </a:r>
            <a:r>
              <a:rPr lang="zh-CN" altLang="en-US" dirty="0"/>
              <a:t>码表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1143000" y="3276600"/>
            <a:ext cx="2286000" cy="26670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 eaLnBrk="0" hangingPunct="0"/>
            <a:endParaRPr lang="zh-CN" altLang="zh-CN">
              <a:latin typeface="Verdana" panose="020B0604030504040204" pitchFamily="34" charset="0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238249" y="3476624"/>
            <a:ext cx="2436020" cy="1769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ea typeface="宋体" panose="02010600030101010101" pitchFamily="2" charset="-122"/>
              </a:rPr>
              <a:t>分类</a:t>
            </a:r>
            <a:endParaRPr lang="en-US" altLang="zh-CN" sz="28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字母（</a:t>
            </a:r>
            <a:r>
              <a:rPr lang="en-US" altLang="zh-CN" dirty="0"/>
              <a:t>52</a:t>
            </a:r>
            <a:r>
              <a:rPr lang="zh-CN" altLang="en-US" dirty="0"/>
              <a:t>个）</a:t>
            </a:r>
            <a:endParaRPr lang="en-US" altLang="zh-CN" dirty="0"/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数字（</a:t>
            </a:r>
            <a:r>
              <a:rPr lang="en-US" altLang="zh-CN" dirty="0"/>
              <a:t>10</a:t>
            </a:r>
            <a:r>
              <a:rPr lang="zh-CN" altLang="en-US" dirty="0"/>
              <a:t>个）</a:t>
            </a:r>
            <a:endParaRPr lang="en-US" altLang="zh-CN" dirty="0"/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特殊符号（</a:t>
            </a:r>
            <a:r>
              <a:rPr lang="en-US" altLang="zh-CN" dirty="0"/>
              <a:t>33</a:t>
            </a:r>
            <a:r>
              <a:rPr lang="zh-CN" altLang="en-US" dirty="0"/>
              <a:t>个）</a:t>
            </a:r>
            <a:endParaRPr lang="zh-CN" altLang="en-US" dirty="0"/>
          </a:p>
        </p:txBody>
      </p:sp>
      <p:sp>
        <p:nvSpPr>
          <p:cNvPr id="10" name="Freeform 8"/>
          <p:cNvSpPr/>
          <p:nvPr/>
        </p:nvSpPr>
        <p:spPr bwMode="gray">
          <a:xfrm>
            <a:off x="3222625" y="3179763"/>
            <a:ext cx="903288" cy="1241425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31765"/>
                  <a:invGamma/>
                </a:schemeClr>
              </a:gs>
            </a:gsLst>
            <a:lin ang="0" scaled="1"/>
          </a:gradFill>
          <a:ln w="0">
            <a:noFill/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AutoShape 9"/>
          <p:cNvSpPr>
            <a:spLocks noChangeAspect="1" noChangeArrowheads="1" noTextEdit="1"/>
          </p:cNvSpPr>
          <p:nvPr/>
        </p:nvSpPr>
        <p:spPr bwMode="gray">
          <a:xfrm flipH="1">
            <a:off x="4868863" y="3176588"/>
            <a:ext cx="909637" cy="1244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"/>
          <p:cNvSpPr/>
          <p:nvPr/>
        </p:nvSpPr>
        <p:spPr bwMode="gray">
          <a:xfrm flipH="1">
            <a:off x="4875213" y="3179763"/>
            <a:ext cx="903287" cy="1241425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31765"/>
                  <a:invGamma/>
                </a:schemeClr>
              </a:gs>
            </a:gsLst>
            <a:lin ang="0" scaled="1"/>
          </a:gradFill>
          <a:ln w="0">
            <a:noFill/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1"/>
          <p:cNvGrpSpPr/>
          <p:nvPr/>
        </p:nvGrpSpPr>
        <p:grpSpPr bwMode="auto">
          <a:xfrm>
            <a:off x="3048000" y="1552575"/>
            <a:ext cx="2998788" cy="1601788"/>
            <a:chOff x="1997" y="1314"/>
            <a:chExt cx="1889" cy="1009"/>
          </a:xfrm>
        </p:grpSpPr>
        <p:grpSp>
          <p:nvGrpSpPr>
            <p:cNvPr id="13" name="Group 12"/>
            <p:cNvGrpSpPr/>
            <p:nvPr/>
          </p:nvGrpSpPr>
          <p:grpSpPr bwMode="auto">
            <a:xfrm>
              <a:off x="1997" y="1404"/>
              <a:ext cx="1889" cy="919"/>
              <a:chOff x="1973" y="1027"/>
              <a:chExt cx="1926" cy="937"/>
            </a:xfrm>
          </p:grpSpPr>
          <p:sp>
            <p:nvSpPr>
              <p:cNvPr id="19" name="Oval 13"/>
              <p:cNvSpPr>
                <a:spLocks noChangeArrowheads="1"/>
              </p:cNvSpPr>
              <p:nvPr/>
            </p:nvSpPr>
            <p:spPr bwMode="gray">
              <a:xfrm>
                <a:off x="1994" y="105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8627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Oval 14"/>
              <p:cNvSpPr>
                <a:spLocks noChangeArrowheads="1"/>
              </p:cNvSpPr>
              <p:nvPr/>
            </p:nvSpPr>
            <p:spPr bwMode="gray">
              <a:xfrm>
                <a:off x="1973" y="102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44314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" name="Oval 15"/>
            <p:cNvSpPr>
              <a:spLocks noChangeArrowheads="1"/>
            </p:cNvSpPr>
            <p:nvPr/>
          </p:nvSpPr>
          <p:spPr bwMode="gray">
            <a:xfrm>
              <a:off x="2086" y="1314"/>
              <a:ext cx="1691" cy="845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6" name="Oval 16"/>
            <p:cNvSpPr>
              <a:spLocks noChangeArrowheads="1"/>
            </p:cNvSpPr>
            <p:nvPr/>
          </p:nvSpPr>
          <p:spPr bwMode="gray">
            <a:xfrm>
              <a:off x="2108" y="1319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gamma/>
                    <a:tint val="34902"/>
                    <a:invGamma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7" name="Oval 17"/>
            <p:cNvSpPr>
              <a:spLocks noChangeArrowheads="1"/>
            </p:cNvSpPr>
            <p:nvPr/>
          </p:nvSpPr>
          <p:spPr bwMode="gray">
            <a:xfrm>
              <a:off x="2125" y="1327"/>
              <a:ext cx="1570" cy="770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79216"/>
                    <a:invGamma/>
                  </a:schemeClr>
                </a:gs>
                <a:gs pos="100000">
                  <a:schemeClr val="accent1">
                    <a:alpha val="48000"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8" name="Oval 18"/>
            <p:cNvSpPr>
              <a:spLocks noChangeArrowheads="1"/>
            </p:cNvSpPr>
            <p:nvPr/>
          </p:nvSpPr>
          <p:spPr bwMode="gray">
            <a:xfrm>
              <a:off x="2208" y="1344"/>
              <a:ext cx="1382" cy="6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>
                    <a:alpha val="38000"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3895267" y="1857364"/>
            <a:ext cx="1210589" cy="40011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dirty="0">
                <a:solidFill>
                  <a:srgbClr val="000000"/>
                </a:solidFill>
                <a:ea typeface="宋体" panose="02010600030101010101" pitchFamily="2" charset="-122"/>
              </a:rPr>
              <a:t>基本符号</a:t>
            </a:r>
            <a:endParaRPr lang="en-US" altLang="zh-CN" sz="2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基本符号的</a:t>
            </a:r>
            <a:r>
              <a:rPr lang="en-US" altLang="zh-CN" dirty="0"/>
              <a:t>ASCII</a:t>
            </a:r>
            <a:r>
              <a:rPr lang="zh-CN" altLang="en-US" dirty="0"/>
              <a:t>码表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1562096"/>
          </a:xfrm>
        </p:spPr>
        <p:txBody>
          <a:bodyPr/>
          <a:lstStyle/>
          <a:p>
            <a:r>
              <a:rPr lang="zh-CN" altLang="en-US" dirty="0"/>
              <a:t>字符型数据的含义</a:t>
            </a:r>
            <a:endParaRPr lang="en-US" altLang="zh-CN" dirty="0"/>
          </a:p>
          <a:p>
            <a:pPr lvl="1"/>
            <a:r>
              <a:rPr lang="zh-CN" altLang="en-US" dirty="0"/>
              <a:t>字符本身</a:t>
            </a:r>
            <a:endParaRPr lang="en-US" altLang="zh-CN" dirty="0"/>
          </a:p>
          <a:p>
            <a:pPr lvl="1"/>
            <a:r>
              <a:rPr lang="zh-CN" altLang="en-US" dirty="0"/>
              <a:t>字符的</a:t>
            </a:r>
            <a:r>
              <a:rPr lang="en-US" altLang="zh-CN" dirty="0"/>
              <a:t>ASCII</a:t>
            </a:r>
            <a:r>
              <a:rPr lang="zh-CN" altLang="en-US" dirty="0"/>
              <a:t>码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763688" y="3140968"/>
            <a:ext cx="619268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2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  <a:endParaRPr lang="en-US" altLang="zh-CN" sz="2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2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c1 = 'a';</a:t>
            </a:r>
            <a:endParaRPr lang="en-US" altLang="zh-CN" sz="2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i1 = c1;</a:t>
            </a:r>
            <a:endParaRPr lang="en-US" altLang="zh-CN" sz="2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&lt;&lt;c1&lt;&lt;" "&lt;&lt;i1&lt;&lt;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基本符号的</a:t>
            </a:r>
            <a:r>
              <a:rPr lang="en-US" altLang="zh-CN" dirty="0"/>
              <a:t>ASCII</a:t>
            </a:r>
            <a:r>
              <a:rPr lang="zh-CN" altLang="en-US" dirty="0"/>
              <a:t>码表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以上程序输出的结果为字符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/>
              <a:t>ASCII</a:t>
            </a:r>
            <a:r>
              <a:rPr lang="zh-CN" altLang="en-US" dirty="0"/>
              <a:t>码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12" y="2262187"/>
            <a:ext cx="7191375" cy="23336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</a:t>
            </a:r>
            <a:r>
              <a:rPr lang="en-US" altLang="zh-CN" dirty="0"/>
              <a:t>C++</a:t>
            </a:r>
            <a:r>
              <a:rPr lang="zh-CN" altLang="en-US" dirty="0"/>
              <a:t>语言初步</a:t>
            </a:r>
            <a:endParaRPr lang="en-US" altLang="zh-CN" dirty="0"/>
          </a:p>
        </p:txBody>
      </p:sp>
      <p:grpSp>
        <p:nvGrpSpPr>
          <p:cNvPr id="2" name="Group 3"/>
          <p:cNvGrpSpPr/>
          <p:nvPr/>
        </p:nvGrpSpPr>
        <p:grpSpPr bwMode="auto">
          <a:xfrm>
            <a:off x="1828800" y="1714488"/>
            <a:ext cx="762000" cy="665162"/>
            <a:chOff x="1110" y="2656"/>
            <a:chExt cx="1549" cy="1351"/>
          </a:xfrm>
        </p:grpSpPr>
        <p:sp>
          <p:nvSpPr>
            <p:cNvPr id="40964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5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6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7"/>
          <p:cNvGrpSpPr/>
          <p:nvPr/>
        </p:nvGrpSpPr>
        <p:grpSpPr bwMode="auto">
          <a:xfrm>
            <a:off x="1828800" y="2628888"/>
            <a:ext cx="762000" cy="665162"/>
            <a:chOff x="3174" y="2656"/>
            <a:chExt cx="1549" cy="1351"/>
          </a:xfrm>
        </p:grpSpPr>
        <p:sp>
          <p:nvSpPr>
            <p:cNvPr id="40968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9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0" name="AutoShape 10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71" name="Line 11"/>
          <p:cNvSpPr>
            <a:spLocks noChangeShapeType="1"/>
          </p:cNvSpPr>
          <p:nvPr/>
        </p:nvSpPr>
        <p:spPr bwMode="auto">
          <a:xfrm>
            <a:off x="2438400" y="232408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2" name="Text Box 12"/>
          <p:cNvSpPr txBox="1">
            <a:spLocks noChangeArrowheads="1"/>
          </p:cNvSpPr>
          <p:nvPr/>
        </p:nvSpPr>
        <p:spPr bwMode="auto">
          <a:xfrm>
            <a:off x="2667000" y="1790688"/>
            <a:ext cx="3013967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ea typeface="宋体" panose="02010600030101010101" pitchFamily="2" charset="-122"/>
              </a:rPr>
              <a:t>程序的组成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40973" name="Text Box 13"/>
          <p:cNvSpPr txBox="1">
            <a:spLocks noChangeArrowheads="1"/>
          </p:cNvSpPr>
          <p:nvPr/>
        </p:nvSpPr>
        <p:spPr bwMode="gray">
          <a:xfrm>
            <a:off x="2025650" y="181291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40974" name="Line 14"/>
          <p:cNvSpPr>
            <a:spLocks noChangeShapeType="1"/>
          </p:cNvSpPr>
          <p:nvPr/>
        </p:nvSpPr>
        <p:spPr bwMode="auto">
          <a:xfrm>
            <a:off x="2438400" y="323848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5" name="Text Box 15"/>
          <p:cNvSpPr txBox="1">
            <a:spLocks noChangeArrowheads="1"/>
          </p:cNvSpPr>
          <p:nvPr/>
        </p:nvSpPr>
        <p:spPr bwMode="auto">
          <a:xfrm>
            <a:off x="2667000" y="2705088"/>
            <a:ext cx="3834704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ea typeface="宋体" panose="02010600030101010101" pitchFamily="2" charset="-122"/>
              </a:rPr>
              <a:t>语言的基本符号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40976" name="Text Box 16"/>
          <p:cNvSpPr txBox="1">
            <a:spLocks noChangeArrowheads="1"/>
          </p:cNvSpPr>
          <p:nvPr/>
        </p:nvSpPr>
        <p:spPr bwMode="gray">
          <a:xfrm>
            <a:off x="2025650" y="272731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2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pSp>
        <p:nvGrpSpPr>
          <p:cNvPr id="4" name="Group 17"/>
          <p:cNvGrpSpPr/>
          <p:nvPr/>
        </p:nvGrpSpPr>
        <p:grpSpPr bwMode="auto">
          <a:xfrm>
            <a:off x="1828800" y="3521063"/>
            <a:ext cx="762000" cy="665162"/>
            <a:chOff x="1110" y="2656"/>
            <a:chExt cx="1549" cy="1351"/>
          </a:xfrm>
        </p:grpSpPr>
        <p:sp>
          <p:nvSpPr>
            <p:cNvPr id="40978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9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AutoShape 20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1"/>
          <p:cNvGrpSpPr/>
          <p:nvPr/>
        </p:nvGrpSpPr>
        <p:grpSpPr bwMode="auto">
          <a:xfrm>
            <a:off x="1828800" y="4435463"/>
            <a:ext cx="762000" cy="665162"/>
            <a:chOff x="3174" y="2656"/>
            <a:chExt cx="1549" cy="1351"/>
          </a:xfrm>
        </p:grpSpPr>
        <p:sp>
          <p:nvSpPr>
            <p:cNvPr id="40982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3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4" name="AutoShape 24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85" name="Line 25"/>
          <p:cNvSpPr>
            <a:spLocks noChangeShapeType="1"/>
          </p:cNvSpPr>
          <p:nvPr/>
        </p:nvSpPr>
        <p:spPr bwMode="auto">
          <a:xfrm>
            <a:off x="2438400" y="41306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6" name="Text Box 26"/>
          <p:cNvSpPr txBox="1">
            <a:spLocks noChangeArrowheads="1"/>
          </p:cNvSpPr>
          <p:nvPr/>
        </p:nvSpPr>
        <p:spPr bwMode="auto">
          <a:xfrm>
            <a:off x="2667000" y="3597263"/>
            <a:ext cx="3013967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solidFill>
                  <a:srgbClr val="C00000"/>
                </a:solidFill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solidFill>
                  <a:srgbClr val="C00000"/>
                </a:solidFill>
                <a:ea typeface="宋体" panose="02010600030101010101" pitchFamily="2" charset="-122"/>
              </a:rPr>
              <a:t>语言的词汇</a:t>
            </a:r>
            <a:endParaRPr lang="en-US" altLang="zh-CN" sz="3200" b="1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40987" name="Text Box 27"/>
          <p:cNvSpPr txBox="1">
            <a:spLocks noChangeArrowheads="1"/>
          </p:cNvSpPr>
          <p:nvPr/>
        </p:nvSpPr>
        <p:spPr bwMode="gray">
          <a:xfrm>
            <a:off x="2025650" y="36194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3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40988" name="Line 28"/>
          <p:cNvSpPr>
            <a:spLocks noChangeShapeType="1"/>
          </p:cNvSpPr>
          <p:nvPr/>
        </p:nvSpPr>
        <p:spPr bwMode="auto">
          <a:xfrm>
            <a:off x="2438400" y="50450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9" name="Text Box 29"/>
          <p:cNvSpPr txBox="1">
            <a:spLocks noChangeArrowheads="1"/>
          </p:cNvSpPr>
          <p:nvPr/>
        </p:nvSpPr>
        <p:spPr bwMode="auto">
          <a:xfrm>
            <a:off x="2667000" y="4511663"/>
            <a:ext cx="3834704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ea typeface="宋体" panose="02010600030101010101" pitchFamily="2" charset="-122"/>
              </a:rPr>
              <a:t>程序的基本框架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40990" name="Text Box 30"/>
          <p:cNvSpPr txBox="1">
            <a:spLocks noChangeArrowheads="1"/>
          </p:cNvSpPr>
          <p:nvPr/>
        </p:nvSpPr>
        <p:spPr bwMode="gray">
          <a:xfrm>
            <a:off x="2025650" y="45338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4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pSp>
        <p:nvGrpSpPr>
          <p:cNvPr id="6" name="Group 3"/>
          <p:cNvGrpSpPr/>
          <p:nvPr/>
        </p:nvGrpSpPr>
        <p:grpSpPr bwMode="auto">
          <a:xfrm>
            <a:off x="1828800" y="5335606"/>
            <a:ext cx="762000" cy="665162"/>
            <a:chOff x="1110" y="2656"/>
            <a:chExt cx="1549" cy="1351"/>
          </a:xfrm>
        </p:grpSpPr>
        <p:sp>
          <p:nvSpPr>
            <p:cNvPr id="41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" name="Line 11"/>
          <p:cNvSpPr>
            <a:spLocks noChangeShapeType="1"/>
          </p:cNvSpPr>
          <p:nvPr/>
        </p:nvSpPr>
        <p:spPr bwMode="auto">
          <a:xfrm>
            <a:off x="2437200" y="5945206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Text Box 12"/>
          <p:cNvSpPr txBox="1">
            <a:spLocks noChangeArrowheads="1"/>
          </p:cNvSpPr>
          <p:nvPr/>
        </p:nvSpPr>
        <p:spPr bwMode="auto">
          <a:xfrm>
            <a:off x="2667600" y="5411806"/>
            <a:ext cx="3834704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ea typeface="宋体" panose="02010600030101010101" pitchFamily="2" charset="-122"/>
              </a:rPr>
              <a:t>程序的设计思路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46" name="Text Box 13"/>
          <p:cNvSpPr txBox="1">
            <a:spLocks noChangeArrowheads="1"/>
          </p:cNvSpPr>
          <p:nvPr/>
        </p:nvSpPr>
        <p:spPr bwMode="gray">
          <a:xfrm>
            <a:off x="2026800" y="5434031"/>
            <a:ext cx="356188" cy="46166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5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  <a:endParaRPr lang="zh-CN" altLang="en-US" dirty="0"/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gray">
          <a:xfrm rot="16200000">
            <a:off x="4218203" y="2475373"/>
            <a:ext cx="79216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gray">
          <a:xfrm rot="2697709">
            <a:off x="4936586" y="4738211"/>
            <a:ext cx="792162" cy="288925"/>
          </a:xfrm>
          <a:prstGeom prst="rightArrow">
            <a:avLst>
              <a:gd name="adj1" fmla="val 35167"/>
              <a:gd name="adj2" fmla="val 111028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gray">
          <a:xfrm rot="11771456">
            <a:off x="2953499" y="3321113"/>
            <a:ext cx="79216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 rot="8130257">
            <a:off x="3331698" y="4749231"/>
            <a:ext cx="79216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gray">
          <a:xfrm rot="20424492">
            <a:off x="5397401" y="3323976"/>
            <a:ext cx="79216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Oval 9"/>
          <p:cNvSpPr>
            <a:spLocks noChangeArrowheads="1"/>
          </p:cNvSpPr>
          <p:nvPr/>
        </p:nvSpPr>
        <p:spPr bwMode="gray">
          <a:xfrm>
            <a:off x="2692400" y="1970088"/>
            <a:ext cx="3743325" cy="3744912"/>
          </a:xfrm>
          <a:prstGeom prst="ellipse">
            <a:avLst/>
          </a:prstGeom>
          <a:noFill/>
          <a:ln w="38100" algn="ctr">
            <a:solidFill>
              <a:schemeClr val="tx2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Group 10"/>
          <p:cNvGrpSpPr/>
          <p:nvPr/>
        </p:nvGrpSpPr>
        <p:grpSpPr bwMode="auto">
          <a:xfrm>
            <a:off x="4425951" y="1785926"/>
            <a:ext cx="360363" cy="360363"/>
            <a:chOff x="1973" y="1706"/>
            <a:chExt cx="227" cy="227"/>
          </a:xfrm>
        </p:grpSpPr>
        <p:sp>
          <p:nvSpPr>
            <p:cNvPr id="14" name="Oval 11"/>
            <p:cNvSpPr>
              <a:spLocks noChangeArrowheads="1"/>
            </p:cNvSpPr>
            <p:nvPr/>
          </p:nvSpPr>
          <p:spPr bwMode="gray">
            <a:xfrm>
              <a:off x="1973" y="1706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12"/>
            <p:cNvSpPr>
              <a:spLocks noChangeArrowheads="1"/>
            </p:cNvSpPr>
            <p:nvPr/>
          </p:nvSpPr>
          <p:spPr bwMode="gray">
            <a:xfrm>
              <a:off x="1983" y="1725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16"/>
          <p:cNvGrpSpPr/>
          <p:nvPr/>
        </p:nvGrpSpPr>
        <p:grpSpPr bwMode="auto">
          <a:xfrm>
            <a:off x="3143240" y="5072074"/>
            <a:ext cx="360362" cy="360362"/>
            <a:chOff x="2109" y="3612"/>
            <a:chExt cx="227" cy="227"/>
          </a:xfrm>
        </p:grpSpPr>
        <p:sp>
          <p:nvSpPr>
            <p:cNvPr id="20" name="Oval 17"/>
            <p:cNvSpPr>
              <a:spLocks noChangeArrowheads="1"/>
            </p:cNvSpPr>
            <p:nvPr/>
          </p:nvSpPr>
          <p:spPr bwMode="gray">
            <a:xfrm>
              <a:off x="2109" y="3612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18"/>
            <p:cNvSpPr>
              <a:spLocks noChangeArrowheads="1"/>
            </p:cNvSpPr>
            <p:nvPr/>
          </p:nvSpPr>
          <p:spPr bwMode="gray">
            <a:xfrm>
              <a:off x="2119" y="3631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19"/>
          <p:cNvGrpSpPr/>
          <p:nvPr/>
        </p:nvGrpSpPr>
        <p:grpSpPr bwMode="auto">
          <a:xfrm>
            <a:off x="6140464" y="3068638"/>
            <a:ext cx="360362" cy="360362"/>
            <a:chOff x="3470" y="1706"/>
            <a:chExt cx="227" cy="227"/>
          </a:xfrm>
        </p:grpSpPr>
        <p:sp>
          <p:nvSpPr>
            <p:cNvPr id="23" name="Oval 20"/>
            <p:cNvSpPr>
              <a:spLocks noChangeArrowheads="1"/>
            </p:cNvSpPr>
            <p:nvPr/>
          </p:nvSpPr>
          <p:spPr bwMode="gray">
            <a:xfrm>
              <a:off x="3470" y="1706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21"/>
            <p:cNvSpPr>
              <a:spLocks noChangeArrowheads="1"/>
            </p:cNvSpPr>
            <p:nvPr/>
          </p:nvSpPr>
          <p:spPr bwMode="gray">
            <a:xfrm>
              <a:off x="3480" y="1725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" name="Group 22"/>
          <p:cNvGrpSpPr/>
          <p:nvPr/>
        </p:nvGrpSpPr>
        <p:grpSpPr bwMode="auto">
          <a:xfrm>
            <a:off x="2640002" y="3140076"/>
            <a:ext cx="360362" cy="360362"/>
            <a:chOff x="3923" y="2659"/>
            <a:chExt cx="227" cy="227"/>
          </a:xfrm>
        </p:grpSpPr>
        <p:sp>
          <p:nvSpPr>
            <p:cNvPr id="26" name="Oval 23"/>
            <p:cNvSpPr>
              <a:spLocks noChangeArrowheads="1"/>
            </p:cNvSpPr>
            <p:nvPr/>
          </p:nvSpPr>
          <p:spPr bwMode="gray">
            <a:xfrm>
              <a:off x="3923" y="2659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Oval 24"/>
            <p:cNvSpPr>
              <a:spLocks noChangeArrowheads="1"/>
            </p:cNvSpPr>
            <p:nvPr/>
          </p:nvSpPr>
          <p:spPr bwMode="gray">
            <a:xfrm>
              <a:off x="3933" y="2678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Group 25"/>
          <p:cNvGrpSpPr/>
          <p:nvPr/>
        </p:nvGrpSpPr>
        <p:grpSpPr bwMode="auto">
          <a:xfrm>
            <a:off x="5568959" y="5072074"/>
            <a:ext cx="360363" cy="360362"/>
            <a:chOff x="3515" y="3521"/>
            <a:chExt cx="227" cy="227"/>
          </a:xfrm>
        </p:grpSpPr>
        <p:sp>
          <p:nvSpPr>
            <p:cNvPr id="29" name="Oval 26"/>
            <p:cNvSpPr>
              <a:spLocks noChangeArrowheads="1"/>
            </p:cNvSpPr>
            <p:nvPr/>
          </p:nvSpPr>
          <p:spPr bwMode="gray">
            <a:xfrm>
              <a:off x="3515" y="3521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Oval 27"/>
            <p:cNvSpPr>
              <a:spLocks noChangeArrowheads="1"/>
            </p:cNvSpPr>
            <p:nvPr/>
          </p:nvSpPr>
          <p:spPr bwMode="gray">
            <a:xfrm>
              <a:off x="3525" y="3540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" name="Oval 28"/>
          <p:cNvSpPr>
            <a:spLocks noChangeArrowheads="1"/>
          </p:cNvSpPr>
          <p:nvPr/>
        </p:nvSpPr>
        <p:spPr bwMode="gray">
          <a:xfrm>
            <a:off x="3624263" y="2922588"/>
            <a:ext cx="1944687" cy="1944687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tint val="0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tint val="0"/>
                  <a:invGamma/>
                </a:schemeClr>
              </a:gs>
            </a:gsLst>
            <a:lin ang="2700000" scaled="1"/>
          </a:gradFill>
          <a:ln w="38100" algn="ctr">
            <a:noFill/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" name="Oval 29"/>
          <p:cNvSpPr>
            <a:spLocks noChangeArrowheads="1"/>
          </p:cNvSpPr>
          <p:nvPr/>
        </p:nvSpPr>
        <p:spPr bwMode="gray">
          <a:xfrm>
            <a:off x="3617913" y="2906713"/>
            <a:ext cx="1944687" cy="1944687"/>
          </a:xfrm>
          <a:prstGeom prst="ellipse">
            <a:avLst/>
          </a:prstGeom>
          <a:gradFill rotWithShape="1">
            <a:gsLst>
              <a:gs pos="0">
                <a:schemeClr val="hlink">
                  <a:alpha val="32001"/>
                </a:schemeClr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2700000" scaled="1"/>
          </a:gradFill>
          <a:ln w="38100" algn="ctr">
            <a:noFill/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" name="Oval 30"/>
          <p:cNvSpPr>
            <a:spLocks noChangeArrowheads="1"/>
          </p:cNvSpPr>
          <p:nvPr/>
        </p:nvSpPr>
        <p:spPr bwMode="gray">
          <a:xfrm>
            <a:off x="3751263" y="3049588"/>
            <a:ext cx="1690687" cy="1690687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shade val="54118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54118"/>
                  <a:invGamma/>
                </a:schemeClr>
              </a:gs>
            </a:gsLst>
            <a:lin ang="18900000" scaled="1"/>
          </a:gradFill>
          <a:ln w="38100" algn="ctr">
            <a:noFill/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4" name="Oval 31"/>
          <p:cNvSpPr>
            <a:spLocks noChangeArrowheads="1"/>
          </p:cNvSpPr>
          <p:nvPr/>
        </p:nvSpPr>
        <p:spPr bwMode="gray">
          <a:xfrm>
            <a:off x="3733800" y="3022600"/>
            <a:ext cx="1690688" cy="1690688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shade val="63529"/>
                  <a:invGamma/>
                </a:schemeClr>
              </a:gs>
              <a:gs pos="100000">
                <a:schemeClr val="hlink">
                  <a:alpha val="0"/>
                </a:schemeClr>
              </a:gs>
            </a:gsLst>
            <a:lin ang="2700000" scaled="1"/>
          </a:gradFill>
          <a:ln w="38100" algn="ctr">
            <a:noFill/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5" name="Oval 32"/>
          <p:cNvSpPr>
            <a:spLocks noChangeArrowheads="1"/>
          </p:cNvSpPr>
          <p:nvPr/>
        </p:nvSpPr>
        <p:spPr bwMode="gray">
          <a:xfrm>
            <a:off x="3835400" y="3133725"/>
            <a:ext cx="1522413" cy="1522413"/>
          </a:xfrm>
          <a:prstGeom prst="ellipse">
            <a:avLst/>
          </a:prstGeom>
          <a:solidFill>
            <a:srgbClr val="333333"/>
          </a:solidFill>
          <a:ln w="38100" algn="ctr">
            <a:noFill/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6" name="Oval 33"/>
          <p:cNvSpPr>
            <a:spLocks noChangeArrowheads="1"/>
          </p:cNvSpPr>
          <p:nvPr/>
        </p:nvSpPr>
        <p:spPr bwMode="auto">
          <a:xfrm>
            <a:off x="3857625" y="3152775"/>
            <a:ext cx="1471613" cy="1473200"/>
          </a:xfrm>
          <a:prstGeom prst="ellipse">
            <a:avLst/>
          </a:prstGeom>
          <a:gradFill rotWithShape="1">
            <a:gsLst>
              <a:gs pos="0">
                <a:srgbClr val="D6E1E2">
                  <a:gamma/>
                  <a:shade val="46275"/>
                  <a:invGamma/>
                </a:srgbClr>
              </a:gs>
              <a:gs pos="100000">
                <a:srgbClr val="D6E1E2"/>
              </a:gs>
            </a:gsLst>
            <a:lin ang="5400000" scaled="1"/>
          </a:gradFill>
          <a:ln w="9525" algn="ctr">
            <a:noFill/>
            <a:rou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7" name="Oval 34"/>
          <p:cNvSpPr>
            <a:spLocks noChangeArrowheads="1"/>
          </p:cNvSpPr>
          <p:nvPr/>
        </p:nvSpPr>
        <p:spPr bwMode="auto">
          <a:xfrm>
            <a:off x="3875088" y="3162300"/>
            <a:ext cx="1438275" cy="1435100"/>
          </a:xfrm>
          <a:prstGeom prst="ellipse">
            <a:avLst/>
          </a:prstGeom>
          <a:gradFill rotWithShape="1">
            <a:gsLst>
              <a:gs pos="0">
                <a:srgbClr val="D6E1E2">
                  <a:alpha val="0"/>
                </a:srgbClr>
              </a:gs>
              <a:gs pos="100000">
                <a:srgbClr val="D6E1E2">
                  <a:gamma/>
                  <a:tint val="34902"/>
                  <a:invGamma/>
                </a:srgbClr>
              </a:gs>
            </a:gsLst>
            <a:lin ang="5400000" scaled="1"/>
          </a:gradFill>
          <a:ln w="9525" algn="ctr">
            <a:noFill/>
            <a:rou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8" name="Oval 35"/>
          <p:cNvSpPr>
            <a:spLocks noChangeArrowheads="1"/>
          </p:cNvSpPr>
          <p:nvPr/>
        </p:nvSpPr>
        <p:spPr bwMode="auto">
          <a:xfrm>
            <a:off x="3890963" y="3176588"/>
            <a:ext cx="1366837" cy="1341437"/>
          </a:xfrm>
          <a:prstGeom prst="ellipse">
            <a:avLst/>
          </a:prstGeom>
          <a:gradFill rotWithShape="1">
            <a:gsLst>
              <a:gs pos="0">
                <a:srgbClr val="D6E1E2">
                  <a:gamma/>
                  <a:shade val="79216"/>
                  <a:invGamma/>
                </a:srgbClr>
              </a:gs>
              <a:gs pos="100000">
                <a:srgbClr val="D6E1E2">
                  <a:alpha val="48000"/>
                </a:srgbClr>
              </a:gs>
            </a:gsLst>
            <a:lin ang="5400000" scaled="1"/>
          </a:gradFill>
          <a:ln w="9525" algn="ctr">
            <a:noFill/>
            <a:rou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9" name="Oval 36"/>
          <p:cNvSpPr>
            <a:spLocks noChangeArrowheads="1"/>
          </p:cNvSpPr>
          <p:nvPr/>
        </p:nvSpPr>
        <p:spPr bwMode="auto">
          <a:xfrm>
            <a:off x="3971925" y="3213100"/>
            <a:ext cx="1214438" cy="1090613"/>
          </a:xfrm>
          <a:prstGeom prst="ellipse">
            <a:avLst/>
          </a:prstGeom>
          <a:gradFill rotWithShape="1">
            <a:gsLst>
              <a:gs pos="0">
                <a:srgbClr val="D6E1E2">
                  <a:gamma/>
                  <a:tint val="0"/>
                  <a:invGamma/>
                </a:srgbClr>
              </a:gs>
              <a:gs pos="100000">
                <a:srgbClr val="D6E1E2">
                  <a:alpha val="38000"/>
                </a:srgbClr>
              </a:gs>
            </a:gsLst>
            <a:lin ang="5400000" scaled="1"/>
          </a:gradFill>
          <a:ln w="9525" algn="ctr">
            <a:noFill/>
            <a:rou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0" name="Text Box 37"/>
          <p:cNvSpPr txBox="1">
            <a:spLocks noChangeArrowheads="1"/>
          </p:cNvSpPr>
          <p:nvPr/>
        </p:nvSpPr>
        <p:spPr bwMode="auto">
          <a:xfrm>
            <a:off x="4158881" y="3622675"/>
            <a:ext cx="864339" cy="5232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</a:rPr>
              <a:t>C++</a:t>
            </a:r>
            <a:endParaRPr lang="en-US" altLang="zh-CN" sz="28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1" name="Text Box 38"/>
          <p:cNvSpPr txBox="1">
            <a:spLocks noChangeArrowheads="1"/>
          </p:cNvSpPr>
          <p:nvPr/>
        </p:nvSpPr>
        <p:spPr bwMode="auto">
          <a:xfrm>
            <a:off x="1376481" y="3071810"/>
            <a:ext cx="1266693" cy="5232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标识符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2" name="Text Box 39"/>
          <p:cNvSpPr txBox="1">
            <a:spLocks noChangeArrowheads="1"/>
          </p:cNvSpPr>
          <p:nvPr/>
        </p:nvSpPr>
        <p:spPr bwMode="auto">
          <a:xfrm>
            <a:off x="3881371" y="1196752"/>
            <a:ext cx="1266693" cy="5232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关键字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3" name="Text Box 40"/>
          <p:cNvSpPr txBox="1">
            <a:spLocks noChangeArrowheads="1"/>
          </p:cNvSpPr>
          <p:nvPr/>
        </p:nvSpPr>
        <p:spPr bwMode="auto">
          <a:xfrm>
            <a:off x="6545031" y="3000372"/>
            <a:ext cx="1627369" cy="5232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字面常量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4" name="Text Box 41"/>
          <p:cNvSpPr txBox="1">
            <a:spLocks noChangeArrowheads="1"/>
          </p:cNvSpPr>
          <p:nvPr/>
        </p:nvSpPr>
        <p:spPr bwMode="auto">
          <a:xfrm>
            <a:off x="6041611" y="5286388"/>
            <a:ext cx="1266693" cy="5232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运算符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6" name="Text Box 43"/>
          <p:cNvSpPr txBox="1">
            <a:spLocks noChangeArrowheads="1"/>
          </p:cNvSpPr>
          <p:nvPr/>
        </p:nvSpPr>
        <p:spPr bwMode="auto">
          <a:xfrm>
            <a:off x="1835696" y="5305024"/>
            <a:ext cx="1266693" cy="5232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分割符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关键字（</a:t>
            </a:r>
            <a:r>
              <a:rPr lang="en-US" altLang="zh-CN" dirty="0"/>
              <a:t>key word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一类特定的具有专门含义的单词</a:t>
            </a:r>
            <a:endParaRPr lang="en-US" altLang="zh-CN" dirty="0"/>
          </a:p>
          <a:p>
            <a:pPr lvl="1"/>
            <a:r>
              <a:rPr lang="zh-CN" altLang="en-US" dirty="0"/>
              <a:t>又称为保留字（</a:t>
            </a:r>
            <a:r>
              <a:rPr lang="en-US" altLang="zh-CN" dirty="0"/>
              <a:t>reserved word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例如（见</a:t>
            </a:r>
            <a:r>
              <a:rPr lang="en-US" altLang="zh-CN" dirty="0"/>
              <a:t>P34</a:t>
            </a:r>
            <a:r>
              <a:rPr lang="zh-CN" altLang="en-US" dirty="0"/>
              <a:t>表</a:t>
            </a:r>
            <a:r>
              <a:rPr lang="en-US" altLang="zh-CN" dirty="0"/>
              <a:t>2.3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（在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C++11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语法中并没有明确规定）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（声明一个整形变量）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……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标识符（</a:t>
            </a:r>
            <a:r>
              <a:rPr lang="en-US" altLang="zh-CN" dirty="0"/>
              <a:t>identifier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为程序中使用的数据（常量或变量）、函数、类、对象、文件等起的“</a:t>
            </a:r>
            <a:r>
              <a:rPr lang="zh-CN" altLang="en-US" dirty="0">
                <a:solidFill>
                  <a:srgbClr val="C00000"/>
                </a:solidFill>
              </a:rPr>
              <a:t>名字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/>
            <a:r>
              <a:rPr lang="zh-CN" altLang="en-US" dirty="0"/>
              <a:t>组成规则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7030A0"/>
                </a:solidFill>
              </a:rPr>
              <a:t>以字母或下划线“</a:t>
            </a:r>
            <a:r>
              <a:rPr lang="en-US" altLang="zh-CN" dirty="0">
                <a:solidFill>
                  <a:srgbClr val="7030A0"/>
                </a:solidFill>
              </a:rPr>
              <a:t>_</a:t>
            </a:r>
            <a:r>
              <a:rPr lang="zh-CN" altLang="en-US" dirty="0">
                <a:solidFill>
                  <a:srgbClr val="7030A0"/>
                </a:solidFill>
              </a:rPr>
              <a:t>”开头，由字母、数字、下划线组成的字符串</a:t>
            </a:r>
            <a:endParaRPr lang="en-US" altLang="zh-CN" dirty="0">
              <a:solidFill>
                <a:srgbClr val="7030A0"/>
              </a:solidFill>
            </a:endParaRPr>
          </a:p>
          <a:p>
            <a:pPr lvl="2"/>
            <a:r>
              <a:rPr lang="zh-CN" altLang="en-US" dirty="0">
                <a:solidFill>
                  <a:srgbClr val="7030A0"/>
                </a:solidFill>
              </a:rPr>
              <a:t>不能与关键字重名</a:t>
            </a:r>
            <a:endParaRPr lang="en-US" altLang="zh-CN" dirty="0">
              <a:solidFill>
                <a:srgbClr val="7030A0"/>
              </a:solidFill>
            </a:endParaRPr>
          </a:p>
          <a:p>
            <a:pPr lvl="2"/>
            <a:r>
              <a:rPr lang="zh-CN" altLang="en-US" dirty="0">
                <a:solidFill>
                  <a:srgbClr val="7030A0"/>
                </a:solidFill>
              </a:rPr>
              <a:t>标识符区分大小写</a:t>
            </a:r>
            <a:endParaRPr lang="en-US" altLang="zh-CN" dirty="0">
              <a:solidFill>
                <a:srgbClr val="7030A0"/>
              </a:solidFill>
            </a:endParaRPr>
          </a:p>
          <a:p>
            <a:pPr lvl="2"/>
            <a:r>
              <a:rPr lang="zh-CN" altLang="en-US" dirty="0">
                <a:solidFill>
                  <a:srgbClr val="7030A0"/>
                </a:solidFill>
              </a:rPr>
              <a:t>有效长度有规定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标识符的命名</a:t>
            </a:r>
            <a:endParaRPr lang="en-US" altLang="zh-CN" dirty="0"/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zh-CN" altLang="en-US" dirty="0"/>
              <a:t>匈牙利命名法（</a:t>
            </a:r>
            <a:r>
              <a:rPr lang="en-US" altLang="en-US" dirty="0"/>
              <a:t> Hungarian 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7030A0"/>
                </a:solidFill>
              </a:rPr>
              <a:t>变量名应尽量表达变量的含义</a:t>
            </a:r>
            <a:endParaRPr lang="en-US" altLang="zh-CN" dirty="0">
              <a:solidFill>
                <a:srgbClr val="7030A0"/>
              </a:solidFill>
            </a:endParaRP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7030A0"/>
                </a:solidFill>
              </a:rPr>
              <a:t>变量名前加前缀以说明变量的类型及性质</a:t>
            </a:r>
            <a:endParaRPr lang="en-US" altLang="zh-CN" dirty="0">
              <a:solidFill>
                <a:srgbClr val="7030A0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zh-CN" altLang="en-US" dirty="0"/>
              <a:t>骆驼命名法（</a:t>
            </a:r>
            <a:r>
              <a:rPr lang="en-US" altLang="zh-CN" dirty="0" err="1"/>
              <a:t>camelCase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7030A0"/>
                </a:solidFill>
              </a:rPr>
              <a:t>混合使用大小写字母来构成变量和函数的名字</a:t>
            </a:r>
            <a:endParaRPr lang="en-US" altLang="zh-CN" dirty="0">
              <a:solidFill>
                <a:srgbClr val="7030A0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zh-CN" altLang="en-US" dirty="0"/>
              <a:t>帕斯卡命名法</a:t>
            </a:r>
            <a:r>
              <a:rPr lang="en-US" altLang="zh-CN" dirty="0"/>
              <a:t>(</a:t>
            </a:r>
            <a:r>
              <a:rPr lang="en-US" altLang="zh-CN" dirty="0" err="1"/>
              <a:t>PascalCase</a:t>
            </a:r>
            <a:r>
              <a:rPr lang="en-US" altLang="zh-CN" dirty="0"/>
              <a:t>)</a:t>
            </a:r>
            <a:endParaRPr lang="en-US" altLang="zh-CN" dirty="0"/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zh-CN" altLang="en-US" dirty="0">
                <a:solidFill>
                  <a:srgbClr val="7030A0"/>
                </a:solidFill>
              </a:rPr>
              <a:t>首字母大写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750" y="1600200"/>
            <a:ext cx="8424863" cy="481965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>
                <a:ea typeface="宋体" panose="02010600030101010101" pitchFamily="2" charset="-122"/>
              </a:rPr>
              <a:t>MyData----</a:t>
            </a:r>
            <a:r>
              <a:rPr lang="zh-CN" altLang="en-US">
                <a:solidFill>
                  <a:srgbClr val="3333CC"/>
                </a:solidFill>
                <a:ea typeface="黑体" panose="02010609060101010101" pitchFamily="49" charset="-122"/>
              </a:rPr>
              <a:t>帕斯卡命名法</a:t>
            </a:r>
            <a:endParaRPr lang="en-US" altLang="zh-CN">
              <a:solidFill>
                <a:srgbClr val="3333CC"/>
              </a:solidFill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>
                <a:ea typeface="宋体" panose="02010600030101010101" pitchFamily="2" charset="-122"/>
              </a:rPr>
              <a:t>myData----</a:t>
            </a:r>
            <a:r>
              <a:rPr lang="zh-CN" altLang="en-US">
                <a:solidFill>
                  <a:srgbClr val="3333CC"/>
                </a:solidFill>
                <a:ea typeface="黑体" panose="02010609060101010101" pitchFamily="49" charset="-122"/>
              </a:rPr>
              <a:t>骆驼命名法</a:t>
            </a:r>
            <a:endParaRPr lang="zh-CN" altLang="en-US">
              <a:solidFill>
                <a:srgbClr val="3333CC"/>
              </a:solidFill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>
                <a:ea typeface="宋体" panose="02010600030101010101" pitchFamily="2" charset="-122"/>
              </a:rPr>
              <a:t>iMyData----</a:t>
            </a:r>
            <a:r>
              <a:rPr lang="zh-CN" altLang="en-US">
                <a:solidFill>
                  <a:srgbClr val="3333CC"/>
                </a:solidFill>
                <a:ea typeface="黑体" panose="02010609060101010101" pitchFamily="49" charset="-122"/>
              </a:rPr>
              <a:t>匈牙利命名法</a:t>
            </a:r>
            <a:endParaRPr lang="zh-CN" altLang="en-US">
              <a:solidFill>
                <a:srgbClr val="3333CC"/>
              </a:solidFill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>
                <a:ea typeface="宋体" panose="02010600030101010101" pitchFamily="2" charset="-122"/>
              </a:rPr>
              <a:t>_mydata</a:t>
            </a:r>
            <a:r>
              <a:rPr lang="zh-CN" altLang="en-US">
                <a:ea typeface="宋体" panose="02010600030101010101" pitchFamily="2" charset="-122"/>
              </a:rPr>
              <a:t>和</a:t>
            </a:r>
            <a:r>
              <a:rPr lang="en-US" altLang="zh-CN">
                <a:ea typeface="宋体" panose="02010600030101010101" pitchFamily="2" charset="-122"/>
              </a:rPr>
              <a:t>my_data----</a:t>
            </a:r>
            <a:r>
              <a:rPr lang="zh-CN" altLang="en-US">
                <a:solidFill>
                  <a:srgbClr val="3333CC"/>
                </a:solidFill>
                <a:ea typeface="黑体" panose="02010609060101010101" pitchFamily="49" charset="-122"/>
              </a:rPr>
              <a:t>下划线命名法</a:t>
            </a:r>
            <a:endParaRPr lang="zh-CN" altLang="en-US">
              <a:solidFill>
                <a:srgbClr val="3333CC"/>
              </a:solidFill>
              <a:ea typeface="黑体" panose="02010609060101010101" pitchFamily="49" charset="-122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  <a:noFill/>
        </p:spPr>
        <p:txBody>
          <a:bodyPr/>
          <a:lstStyle/>
          <a:p>
            <a:pPr eaLnBrk="1" hangingPunct="1"/>
            <a:r>
              <a:rPr lang="zh-CN" altLang="en-US"/>
              <a:t>常用的命名法</a:t>
            </a:r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1990724"/>
          </a:xfrm>
        </p:spPr>
        <p:txBody>
          <a:bodyPr/>
          <a:lstStyle/>
          <a:p>
            <a:r>
              <a:rPr lang="zh-CN" altLang="en-US" dirty="0"/>
              <a:t>匈牙利命名法</a:t>
            </a:r>
            <a:endParaRPr lang="en-US" altLang="zh-CN" dirty="0"/>
          </a:p>
          <a:p>
            <a:pPr lvl="1"/>
            <a:r>
              <a:rPr lang="zh-CN" altLang="en-US" dirty="0"/>
              <a:t>标识符名应尽量表达该标识符的含义</a:t>
            </a:r>
            <a:endParaRPr lang="en-US" altLang="zh-CN" dirty="0"/>
          </a:p>
          <a:p>
            <a:pPr lvl="2"/>
            <a:r>
              <a:rPr lang="zh-CN" altLang="en-US" dirty="0"/>
              <a:t>常量、变量、函数、类、对象等等</a:t>
            </a:r>
            <a:endParaRPr lang="en-US" altLang="zh-CN" dirty="0"/>
          </a:p>
          <a:p>
            <a:pPr lvl="1"/>
            <a:r>
              <a:rPr lang="zh-CN" altLang="en-US" dirty="0"/>
              <a:t>标识符名前面应加前缀表示其数据类型或性质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28662" y="3284984"/>
          <a:ext cx="742955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722"/>
                <a:gridCol w="2757054"/>
                <a:gridCol w="899705"/>
                <a:gridCol w="281507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前缀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含义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前缀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含义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BOOL (int)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Long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by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Unsigned Char (byte)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solidFill>
                            <a:srgbClr val="0000FF"/>
                          </a:solidFill>
                        </a:rPr>
                        <a:t>lp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Long pointer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Char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>
                          <a:solidFill>
                            <a:srgbClr val="0000FF"/>
                          </a:solidFill>
                        </a:rPr>
                        <a:t>p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Pointer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solidFill>
                            <a:srgbClr val="0000FF"/>
                          </a:solidFill>
                        </a:rPr>
                        <a:t>dw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DWORD (unsigned long)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m_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>
                          <a:solidFill>
                            <a:srgbClr val="0000FF"/>
                          </a:solidFill>
                        </a:rPr>
                        <a:t>Data member of a class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fn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Function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solidFill>
                            <a:srgbClr val="0000FF"/>
                          </a:solidFill>
                        </a:rPr>
                        <a:t>str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solidFill>
                            <a:srgbClr val="0000FF"/>
                          </a:solidFill>
                        </a:rPr>
                        <a:t>CString</a:t>
                      </a:r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 (MFC Class)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g_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global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Unsigned int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Integer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w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WORD (unsigned short)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下列字符串中</a:t>
            </a:r>
            <a:r>
              <a:rPr lang="en-US" altLang="zh-CN" dirty="0"/>
              <a:t>,</a:t>
            </a:r>
            <a:r>
              <a:rPr lang="zh-CN" altLang="en-US" dirty="0"/>
              <a:t>不可以用作</a:t>
            </a:r>
            <a:r>
              <a:rPr lang="en-US" altLang="zh-CN" dirty="0"/>
              <a:t>C++</a:t>
            </a:r>
            <a:r>
              <a:rPr lang="zh-CN" altLang="en-US" dirty="0"/>
              <a:t>标识符的是 </a:t>
            </a:r>
            <a:endParaRPr lang="zh-CN" altLang="en-US" dirty="0"/>
          </a:p>
          <a:p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   A</a:t>
            </a:r>
            <a:r>
              <a:rPr lang="zh-CN" altLang="en-US" dirty="0"/>
              <a:t>： </a:t>
            </a:r>
            <a:r>
              <a:rPr lang="en-US" altLang="zh-CN" dirty="0"/>
              <a:t>y_2006      B</a:t>
            </a:r>
            <a:r>
              <a:rPr lang="zh-CN" altLang="en-US" dirty="0"/>
              <a:t>： </a:t>
            </a:r>
            <a:r>
              <a:rPr lang="en-US" altLang="zh-CN" dirty="0"/>
              <a:t>____TEST__H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C</a:t>
            </a:r>
            <a:r>
              <a:rPr lang="zh-CN" altLang="en-US" dirty="0"/>
              <a:t>： </a:t>
            </a:r>
            <a:r>
              <a:rPr lang="en-US" altLang="zh-CN" dirty="0"/>
              <a:t>Return        D</a:t>
            </a:r>
            <a:r>
              <a:rPr lang="zh-CN" altLang="en-US" dirty="0"/>
              <a:t>： </a:t>
            </a:r>
            <a:r>
              <a:rPr lang="en-US" altLang="zh-CN" dirty="0"/>
              <a:t>switch 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D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3124200" y="6553200"/>
            <a:ext cx="2133600" cy="234950"/>
          </a:xfrm>
          <a:prstGeom prst="rect">
            <a:avLst/>
          </a:prstGeom>
        </p:spPr>
        <p:txBody>
          <a:bodyPr/>
          <a:lstStyle/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匈牙利命名法</a:t>
            </a:r>
            <a:endParaRPr lang="en-US" altLang="zh-CN" dirty="0"/>
          </a:p>
          <a:p>
            <a:pPr lvl="1"/>
            <a:r>
              <a:rPr lang="zh-CN" altLang="en-US" dirty="0"/>
              <a:t>某些前缀可组合使用</a:t>
            </a:r>
            <a:endParaRPr lang="en-US" altLang="zh-CN" dirty="0"/>
          </a:p>
          <a:p>
            <a:pPr lvl="2"/>
            <a:r>
              <a:rPr lang="en-US" altLang="zh-CN" dirty="0" err="1">
                <a:solidFill>
                  <a:srgbClr val="7030A0"/>
                </a:solidFill>
              </a:rPr>
              <a:t>pszMyString</a:t>
            </a:r>
            <a:r>
              <a:rPr lang="en-US" altLang="zh-CN" dirty="0">
                <a:solidFill>
                  <a:srgbClr val="7030A0"/>
                </a:solidFill>
              </a:rPr>
              <a:t>    A pointer to a string.</a:t>
            </a:r>
            <a:endParaRPr lang="en-US" altLang="zh-CN" dirty="0">
              <a:solidFill>
                <a:srgbClr val="7030A0"/>
              </a:solidFill>
            </a:endParaRPr>
          </a:p>
          <a:p>
            <a:pPr lvl="2"/>
            <a:r>
              <a:rPr lang="en-US" altLang="zh-CN" dirty="0" err="1">
                <a:solidFill>
                  <a:srgbClr val="7030A0"/>
                </a:solidFill>
              </a:rPr>
              <a:t>m_pszMyString</a:t>
            </a:r>
            <a:r>
              <a:rPr lang="en-US" altLang="zh-CN" dirty="0">
                <a:solidFill>
                  <a:srgbClr val="7030A0"/>
                </a:solidFill>
              </a:rPr>
              <a:t>  A pointer to a string that is a data member of a class.</a:t>
            </a:r>
            <a:endParaRPr lang="en-US" altLang="zh-CN" dirty="0">
              <a:solidFill>
                <a:srgbClr val="7030A0"/>
              </a:solidFill>
            </a:endParaRPr>
          </a:p>
          <a:p>
            <a:pPr lvl="2"/>
            <a:r>
              <a:rPr lang="en-US" altLang="zh-CN" dirty="0" err="1">
                <a:solidFill>
                  <a:srgbClr val="7030A0"/>
                </a:solidFill>
              </a:rPr>
              <a:t>pfnMyFunction</a:t>
            </a:r>
            <a:r>
              <a:rPr lang="en-US" altLang="zh-CN" dirty="0">
                <a:solidFill>
                  <a:srgbClr val="7030A0"/>
                </a:solidFill>
              </a:rPr>
              <a:t>  A pointer to a function</a:t>
            </a:r>
            <a:endParaRPr lang="en-US" altLang="zh-CN" dirty="0">
              <a:solidFill>
                <a:srgbClr val="7030A0"/>
              </a:solidFill>
            </a:endParaRPr>
          </a:p>
          <a:p>
            <a:pPr lvl="1"/>
            <a:r>
              <a:rPr lang="zh-CN" altLang="en-US" dirty="0"/>
              <a:t>类名以</a:t>
            </a:r>
            <a:r>
              <a:rPr lang="en-US" altLang="zh-CN" dirty="0"/>
              <a:t>C</a:t>
            </a:r>
            <a:r>
              <a:rPr lang="zh-CN" altLang="en-US" dirty="0"/>
              <a:t>为前缀</a:t>
            </a:r>
            <a:endParaRPr lang="en-US" altLang="zh-CN" dirty="0"/>
          </a:p>
          <a:p>
            <a:pPr lvl="2"/>
            <a:r>
              <a:rPr lang="en-US" altLang="zh-CN" dirty="0" err="1">
                <a:solidFill>
                  <a:srgbClr val="7030A0"/>
                </a:solidFill>
              </a:rPr>
              <a:t>CMyClass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常量：固定不变的量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字面常量</a:t>
            </a:r>
            <a:r>
              <a:rPr lang="zh-CN" altLang="en-US" dirty="0"/>
              <a:t>（属于</a:t>
            </a:r>
            <a:r>
              <a:rPr lang="en-US" altLang="zh-CN" dirty="0"/>
              <a:t>C++</a:t>
            </a:r>
            <a:r>
              <a:rPr lang="zh-CN" altLang="en-US" dirty="0"/>
              <a:t>语言的词汇）</a:t>
            </a:r>
            <a:endParaRPr lang="en-US" altLang="zh-CN" dirty="0"/>
          </a:p>
          <a:p>
            <a:pPr lvl="2"/>
            <a:r>
              <a:rPr lang="zh-CN" altLang="en-US" dirty="0"/>
              <a:t>整型常量（</a:t>
            </a:r>
            <a:r>
              <a:rPr lang="en-US" altLang="zh-CN" dirty="0"/>
              <a:t>int</a:t>
            </a:r>
            <a:r>
              <a:rPr lang="zh-CN" altLang="en-US" dirty="0"/>
              <a:t>）：整数</a:t>
            </a:r>
            <a:endParaRPr lang="en-US" altLang="zh-CN" dirty="0"/>
          </a:p>
          <a:p>
            <a:pPr lvl="3"/>
            <a:r>
              <a:rPr lang="zh-CN" altLang="en-US" dirty="0">
                <a:solidFill>
                  <a:srgbClr val="C00000"/>
                </a:solidFill>
              </a:rPr>
              <a:t>十进制、八进制（</a:t>
            </a:r>
            <a:r>
              <a:rPr lang="en-US" altLang="zh-CN" dirty="0">
                <a:solidFill>
                  <a:srgbClr val="C00000"/>
                </a:solidFill>
              </a:rPr>
              <a:t>0</a:t>
            </a:r>
            <a:r>
              <a:rPr lang="zh-CN" altLang="en-US" dirty="0">
                <a:solidFill>
                  <a:srgbClr val="C00000"/>
                </a:solidFill>
              </a:rPr>
              <a:t>开头）、十六进制（</a:t>
            </a:r>
            <a:r>
              <a:rPr lang="en-US" altLang="zh-CN" dirty="0">
                <a:solidFill>
                  <a:srgbClr val="C00000"/>
                </a:solidFill>
              </a:rPr>
              <a:t>0x</a:t>
            </a:r>
            <a:r>
              <a:rPr lang="zh-CN" altLang="en-US" dirty="0">
                <a:solidFill>
                  <a:srgbClr val="C00000"/>
                </a:solidFill>
              </a:rPr>
              <a:t>或</a:t>
            </a:r>
            <a:r>
              <a:rPr lang="en-US" altLang="zh-CN" dirty="0">
                <a:solidFill>
                  <a:srgbClr val="C00000"/>
                </a:solidFill>
              </a:rPr>
              <a:t>0X</a:t>
            </a:r>
            <a:r>
              <a:rPr lang="zh-CN" altLang="en-US" dirty="0">
                <a:solidFill>
                  <a:srgbClr val="C00000"/>
                </a:solidFill>
              </a:rPr>
              <a:t>开头）</a:t>
            </a:r>
            <a:endParaRPr lang="en-US" altLang="zh-CN" dirty="0">
              <a:solidFill>
                <a:srgbClr val="C00000"/>
              </a:solidFill>
            </a:endParaRPr>
          </a:p>
          <a:p>
            <a:pPr lvl="2"/>
            <a:r>
              <a:rPr lang="zh-CN" altLang="en-US" dirty="0"/>
              <a:t>浮点型常量（</a:t>
            </a:r>
            <a:r>
              <a:rPr lang="en-US" altLang="zh-CN" dirty="0"/>
              <a:t>float</a:t>
            </a:r>
            <a:r>
              <a:rPr lang="zh-CN" altLang="en-US" dirty="0"/>
              <a:t>）：小数</a:t>
            </a:r>
            <a:endParaRPr lang="en-US" altLang="zh-CN" dirty="0"/>
          </a:p>
          <a:p>
            <a:pPr lvl="2"/>
            <a:r>
              <a:rPr lang="zh-CN" altLang="en-US" dirty="0"/>
              <a:t>字符常量（</a:t>
            </a:r>
            <a:r>
              <a:rPr lang="en-US" altLang="zh-CN" dirty="0"/>
              <a:t>char</a:t>
            </a:r>
            <a:r>
              <a:rPr lang="zh-CN" altLang="en-US" dirty="0"/>
              <a:t>）：一个字符，由单引号标识</a:t>
            </a:r>
            <a:endParaRPr lang="en-US" altLang="zh-CN" dirty="0"/>
          </a:p>
          <a:p>
            <a:pPr lvl="3"/>
            <a:r>
              <a:rPr lang="en-US" altLang="zh-CN" dirty="0"/>
              <a:t>‘a’</a:t>
            </a:r>
            <a:endParaRPr lang="en-US" altLang="zh-CN" dirty="0"/>
          </a:p>
          <a:p>
            <a:pPr lvl="2"/>
            <a:r>
              <a:rPr lang="zh-CN" altLang="en-US" dirty="0"/>
              <a:t>字符串常量：多个字符，以字符</a:t>
            </a:r>
            <a:r>
              <a:rPr lang="en-US" altLang="zh-CN" dirty="0"/>
              <a:t>’\0’</a:t>
            </a:r>
            <a:r>
              <a:rPr lang="zh-CN" altLang="en-US" dirty="0"/>
              <a:t>结尾，由双引号标识</a:t>
            </a:r>
            <a:endParaRPr lang="en-US" altLang="zh-CN" dirty="0"/>
          </a:p>
          <a:p>
            <a:pPr lvl="3"/>
            <a:r>
              <a:rPr lang="en-US" altLang="zh-CN" dirty="0"/>
              <a:t>“</a:t>
            </a:r>
            <a:r>
              <a:rPr lang="en-US" altLang="zh-CN" dirty="0" err="1"/>
              <a:t>abcde</a:t>
            </a:r>
            <a:r>
              <a:rPr lang="en-US" altLang="zh-CN" dirty="0">
                <a:solidFill>
                  <a:srgbClr val="C00000"/>
                </a:solidFill>
              </a:rPr>
              <a:t>\0</a:t>
            </a:r>
            <a:r>
              <a:rPr lang="en-US" altLang="zh-CN" dirty="0"/>
              <a:t>”  </a:t>
            </a:r>
            <a:r>
              <a:rPr lang="zh-CN" altLang="en-US" dirty="0"/>
              <a:t>所以五个字符会占有</a:t>
            </a:r>
            <a:r>
              <a:rPr lang="en-US" altLang="zh-CN" dirty="0"/>
              <a:t>6</a:t>
            </a:r>
            <a:r>
              <a:rPr lang="zh-CN" altLang="en-US" dirty="0"/>
              <a:t>个字节（</a:t>
            </a:r>
            <a:r>
              <a:rPr lang="en-US" altLang="zh-CN" dirty="0"/>
              <a:t>byte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常量</a:t>
            </a:r>
            <a:endParaRPr lang="en-US" altLang="zh-CN" dirty="0"/>
          </a:p>
          <a:p>
            <a:pPr lvl="1"/>
            <a:r>
              <a:rPr lang="zh-CN" altLang="en-US" dirty="0"/>
              <a:t>有名常量</a:t>
            </a:r>
            <a:endParaRPr lang="en-US" altLang="zh-CN" dirty="0"/>
          </a:p>
          <a:p>
            <a:pPr lvl="2"/>
            <a:r>
              <a:rPr lang="zh-CN" altLang="en-US" dirty="0"/>
              <a:t>为常量设置一个“名字”</a:t>
            </a:r>
            <a:endParaRPr lang="en-US" altLang="zh-CN" dirty="0"/>
          </a:p>
          <a:p>
            <a:pPr lvl="2"/>
            <a:r>
              <a:rPr lang="zh-CN" altLang="en-US" dirty="0"/>
              <a:t>常量名是标识符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常量的数据类型</a:t>
            </a:r>
            <a:endParaRPr lang="en-US" altLang="zh-CN" dirty="0"/>
          </a:p>
          <a:p>
            <a:pPr lvl="1"/>
            <a:r>
              <a:rPr lang="zh-CN" altLang="en-US" dirty="0"/>
              <a:t>整型常量</a:t>
            </a:r>
            <a:endParaRPr lang="en-US" altLang="zh-CN" dirty="0"/>
          </a:p>
          <a:p>
            <a:pPr lvl="2"/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zh-CN" altLang="en-US" dirty="0"/>
              <a:t>型常量即整型常量，实际上就是整数。</a:t>
            </a:r>
            <a:endParaRPr lang="en-US" altLang="zh-CN" dirty="0"/>
          </a:p>
          <a:p>
            <a:pPr lvl="2"/>
            <a:r>
              <a:rPr lang="en-US" altLang="zh-CN" dirty="0"/>
              <a:t>C++</a:t>
            </a:r>
            <a:r>
              <a:rPr lang="zh-CN" altLang="en-US" dirty="0"/>
              <a:t>程序中除允许一般的十进制整数之外，还允许八进制整数和十六进制整数出现。</a:t>
            </a:r>
            <a:endParaRPr lang="en-US" altLang="zh-CN" dirty="0"/>
          </a:p>
          <a:p>
            <a:pPr lvl="2"/>
            <a:r>
              <a:rPr lang="zh-CN" altLang="en-US" dirty="0"/>
              <a:t>八进制：以</a:t>
            </a:r>
            <a:r>
              <a:rPr lang="en-US" altLang="zh-CN" dirty="0"/>
              <a:t>0</a:t>
            </a:r>
            <a:r>
              <a:rPr lang="zh-CN" altLang="en-US" dirty="0"/>
              <a:t>开头的整数</a:t>
            </a:r>
            <a:endParaRPr lang="en-US" altLang="zh-CN" dirty="0"/>
          </a:p>
          <a:p>
            <a:pPr lvl="2"/>
            <a:r>
              <a:rPr lang="zh-CN" altLang="en-US" dirty="0"/>
              <a:t>十六进制：以</a:t>
            </a:r>
            <a:r>
              <a:rPr lang="zh-CN" altLang="zh-CN" dirty="0"/>
              <a:t>0</a:t>
            </a:r>
            <a:r>
              <a:rPr lang="zh-CN" altLang="en-US" dirty="0"/>
              <a:t>和字母</a:t>
            </a:r>
            <a:r>
              <a:rPr lang="en-US" altLang="zh-CN" dirty="0"/>
              <a:t>X(x)</a:t>
            </a:r>
            <a:r>
              <a:rPr lang="zh-CN" altLang="en-US" dirty="0"/>
              <a:t>开头的整数</a:t>
            </a:r>
            <a:endParaRPr lang="en-US" altLang="zh-CN" dirty="0"/>
          </a:p>
          <a:p>
            <a:pPr lvl="2"/>
            <a:r>
              <a:rPr lang="zh-CN" altLang="en-US" dirty="0"/>
              <a:t>注意，在</a:t>
            </a:r>
            <a:r>
              <a:rPr lang="en-US" altLang="zh-CN" dirty="0"/>
              <a:t>C++</a:t>
            </a:r>
            <a:r>
              <a:rPr lang="zh-CN" altLang="en-US" dirty="0"/>
              <a:t>程序中，各种进制的整数都自动转换为十进制输出</a:t>
            </a:r>
            <a:endParaRPr lang="en-US" altLang="zh-CN" dirty="0"/>
          </a:p>
          <a:p>
            <a:pPr lvl="3"/>
            <a:r>
              <a:rPr lang="zh-CN" altLang="en-US" dirty="0"/>
              <a:t>例如：</a:t>
            </a:r>
            <a:r>
              <a:rPr lang="en-US" altLang="zh-CN" dirty="0" err="1">
                <a:solidFill>
                  <a:srgbClr val="C00000"/>
                </a:solidFill>
              </a:rPr>
              <a:t>cout</a:t>
            </a:r>
            <a:r>
              <a:rPr lang="en-US" altLang="zh-CN" dirty="0">
                <a:solidFill>
                  <a:srgbClr val="C00000"/>
                </a:solidFill>
              </a:rPr>
              <a:t>&lt;&lt;023&lt;&lt;“ ”&lt;&lt;23&lt;&lt;“ ”&lt;&lt;0x23;</a:t>
            </a:r>
            <a:r>
              <a:rPr lang="zh-CN" altLang="en-US" dirty="0"/>
              <a:t>将输出不同的十进整数：</a:t>
            </a:r>
            <a:r>
              <a:rPr lang="en-US" altLang="zh-CN" dirty="0">
                <a:solidFill>
                  <a:srgbClr val="C00000"/>
                </a:solidFill>
              </a:rPr>
              <a:t>19</a:t>
            </a:r>
            <a:r>
              <a:rPr lang="zh-CN" altLang="en-US" dirty="0">
                <a:solidFill>
                  <a:srgbClr val="C00000"/>
                </a:solidFill>
              </a:rPr>
              <a:t>˽</a:t>
            </a:r>
            <a:r>
              <a:rPr lang="en-US" altLang="zh-CN" dirty="0">
                <a:solidFill>
                  <a:srgbClr val="C00000"/>
                </a:solidFill>
              </a:rPr>
              <a:t>23</a:t>
            </a:r>
            <a:r>
              <a:rPr lang="zh-CN" altLang="en-US" dirty="0">
                <a:solidFill>
                  <a:srgbClr val="C00000"/>
                </a:solidFill>
              </a:rPr>
              <a:t>˽</a:t>
            </a:r>
            <a:r>
              <a:rPr lang="en-US" altLang="zh-CN" dirty="0">
                <a:solidFill>
                  <a:srgbClr val="C00000"/>
                </a:solidFill>
              </a:rPr>
              <a:t>35</a:t>
            </a:r>
            <a:r>
              <a:rPr lang="zh-CN" altLang="en-US" dirty="0"/>
              <a:t> </a:t>
            </a:r>
            <a:endParaRPr lang="zh-CN" altLang="en-US" dirty="0"/>
          </a:p>
          <a:p>
            <a:pPr lvl="1"/>
            <a:endParaRPr lang="en-US" altLang="zh-CN" dirty="0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/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1" y="1772816"/>
            <a:ext cx="8935595" cy="2387649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3124200" y="6553200"/>
            <a:ext cx="2133600" cy="234950"/>
          </a:xfrm>
          <a:prstGeom prst="rect">
            <a:avLst/>
          </a:prstGeom>
        </p:spPr>
        <p:txBody>
          <a:bodyPr/>
          <a:lstStyle/>
          <a:p>
            <a:fld id="{81622E5D-7BC3-44E6-BA65-C8AAD10FCEE5}" type="slidenum">
              <a:rPr lang="en-US" altLang="zh-CN" smtClean="0"/>
            </a:fld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381000" y="4509120"/>
            <a:ext cx="836746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023</a:t>
            </a:r>
            <a:r>
              <a:rPr lang="zh-CN" altLang="en-US" dirty="0"/>
              <a:t>是八进制数，会被转换为</a:t>
            </a:r>
            <a:r>
              <a:rPr lang="en-US" altLang="zh-CN" dirty="0"/>
              <a:t>19</a:t>
            </a:r>
            <a:r>
              <a:rPr lang="zh-CN" altLang="en-US" dirty="0"/>
              <a:t>；</a:t>
            </a:r>
            <a:r>
              <a:rPr lang="en-US" altLang="zh-CN" dirty="0"/>
              <a:t>23</a:t>
            </a:r>
            <a:r>
              <a:rPr lang="zh-CN" altLang="en-US" dirty="0"/>
              <a:t>为十进制数，会被直接显示出来；</a:t>
            </a:r>
            <a:r>
              <a:rPr lang="en-US" altLang="zh-CN" dirty="0"/>
              <a:t>0x</a:t>
            </a:r>
            <a:r>
              <a:rPr lang="zh-CN" altLang="en-US" dirty="0"/>
              <a:t>开头 表示是十六进制数，</a:t>
            </a:r>
            <a:r>
              <a:rPr lang="en-US" altLang="zh-CN" dirty="0"/>
              <a:t>0x23</a:t>
            </a:r>
            <a:r>
              <a:rPr lang="zh-CN" altLang="en-US" dirty="0"/>
              <a:t>转化为十进制为</a:t>
            </a:r>
            <a:r>
              <a:rPr lang="en-US" altLang="zh-CN" dirty="0"/>
              <a:t>35</a:t>
            </a:r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常量的数据类型</a:t>
            </a:r>
            <a:endParaRPr lang="en-US" altLang="zh-CN" dirty="0"/>
          </a:p>
          <a:p>
            <a:pPr lvl="1"/>
            <a:r>
              <a:rPr lang="zh-CN" altLang="en-US" dirty="0"/>
              <a:t>浮点型常量</a:t>
            </a:r>
            <a:endParaRPr lang="en-US" altLang="zh-CN" dirty="0"/>
          </a:p>
          <a:p>
            <a:pPr lvl="2"/>
            <a:r>
              <a:rPr lang="zh-CN" altLang="en-US" dirty="0"/>
              <a:t>小数点表示法：</a:t>
            </a:r>
            <a:r>
              <a:rPr lang="en-US" altLang="zh-CN" dirty="0"/>
              <a:t>4.75</a:t>
            </a:r>
            <a:r>
              <a:rPr lang="zh-CN" altLang="en-US" dirty="0"/>
              <a:t>，</a:t>
            </a:r>
            <a:r>
              <a:rPr lang="en-US" altLang="zh-CN" dirty="0"/>
              <a:t>2.0 </a:t>
            </a:r>
            <a:r>
              <a:rPr lang="zh-CN" altLang="en-US" dirty="0"/>
              <a:t> </a:t>
            </a:r>
            <a:endParaRPr lang="en-US" altLang="zh-CN" dirty="0"/>
          </a:p>
          <a:p>
            <a:pPr lvl="2"/>
            <a:r>
              <a:rPr lang="zh-CN" altLang="en-US" dirty="0"/>
              <a:t>科学表示法：</a:t>
            </a:r>
            <a:r>
              <a:rPr lang="en-US" altLang="zh-CN" dirty="0"/>
              <a:t>1.2e4 </a:t>
            </a:r>
            <a:r>
              <a:rPr lang="zh-CN" altLang="en-US" dirty="0"/>
              <a:t>，</a:t>
            </a:r>
            <a:r>
              <a:rPr lang="en-US" altLang="zh-CN" dirty="0"/>
              <a:t>-7.37e-3 </a:t>
            </a:r>
            <a:endParaRPr lang="en-US" altLang="zh-CN" dirty="0"/>
          </a:p>
          <a:p>
            <a:pPr lvl="2"/>
            <a:r>
              <a:rPr lang="zh-CN" altLang="en-US" dirty="0"/>
              <a:t>注意，在</a:t>
            </a:r>
            <a:r>
              <a:rPr lang="en-US" altLang="zh-CN" dirty="0"/>
              <a:t>C++</a:t>
            </a:r>
            <a:r>
              <a:rPr lang="zh-CN" altLang="en-US" dirty="0"/>
              <a:t>程序中，浮点数以十进制的形式输入和输出，浮点数的存储格式与系统要求有关</a:t>
            </a:r>
            <a:endParaRPr lang="en-US" altLang="zh-CN" dirty="0"/>
          </a:p>
          <a:p>
            <a:pPr lvl="3"/>
            <a:r>
              <a:rPr lang="zh-CN" altLang="en-US" dirty="0"/>
              <a:t>例如：</a:t>
            </a:r>
            <a:r>
              <a:rPr lang="en-US" altLang="zh-CN" dirty="0"/>
              <a:t>C++</a:t>
            </a:r>
            <a:r>
              <a:rPr lang="zh-CN" altLang="en-US" dirty="0"/>
              <a:t>中</a:t>
            </a:r>
            <a:r>
              <a:rPr lang="en-US" altLang="zh-CN" dirty="0">
                <a:solidFill>
                  <a:srgbClr val="C00000"/>
                </a:solidFill>
              </a:rPr>
              <a:t>float</a:t>
            </a:r>
            <a:r>
              <a:rPr lang="zh-CN" altLang="en-US" dirty="0"/>
              <a:t>型浮点数占</a:t>
            </a:r>
            <a:r>
              <a:rPr lang="en-US" altLang="zh-CN" dirty="0">
                <a:solidFill>
                  <a:srgbClr val="C00000"/>
                </a:solidFill>
              </a:rPr>
              <a:t>4</a:t>
            </a:r>
            <a:r>
              <a:rPr lang="zh-CN" altLang="en-US" dirty="0"/>
              <a:t>个字节，</a:t>
            </a:r>
            <a:r>
              <a:rPr lang="en-US" altLang="zh-CN" dirty="0">
                <a:solidFill>
                  <a:srgbClr val="7030A0"/>
                </a:solidFill>
              </a:rPr>
              <a:t>double</a:t>
            </a:r>
            <a:r>
              <a:rPr lang="zh-CN" altLang="en-US" dirty="0"/>
              <a:t>型浮点数占</a:t>
            </a:r>
            <a:r>
              <a:rPr lang="en-US" altLang="zh-CN" dirty="0">
                <a:solidFill>
                  <a:srgbClr val="7030A0"/>
                </a:solidFill>
              </a:rPr>
              <a:t>8</a:t>
            </a:r>
            <a:r>
              <a:rPr lang="zh-CN" altLang="en-US" dirty="0"/>
              <a:t>个字节，</a:t>
            </a:r>
            <a:r>
              <a:rPr lang="en-US" altLang="zh-CN" dirty="0">
                <a:solidFill>
                  <a:srgbClr val="00B050"/>
                </a:solidFill>
              </a:rPr>
              <a:t>long double</a:t>
            </a:r>
            <a:r>
              <a:rPr lang="zh-CN" altLang="en-US" dirty="0"/>
              <a:t>型浮点数占</a:t>
            </a:r>
            <a:r>
              <a:rPr lang="en-US" altLang="zh-CN" dirty="0">
                <a:solidFill>
                  <a:srgbClr val="00B050"/>
                </a:solidFill>
              </a:rPr>
              <a:t>10</a:t>
            </a:r>
            <a:r>
              <a:rPr lang="zh-CN" altLang="en-US" dirty="0"/>
              <a:t>个字节。</a:t>
            </a:r>
            <a:endParaRPr lang="en-US" altLang="zh-CN" dirty="0"/>
          </a:p>
          <a:p>
            <a:pPr lvl="3"/>
            <a:r>
              <a:rPr lang="zh-CN" altLang="en-US" dirty="0"/>
              <a:t>浮点型常量按</a:t>
            </a:r>
            <a:r>
              <a:rPr lang="en-US" altLang="zh-CN" dirty="0"/>
              <a:t>double</a:t>
            </a:r>
            <a:r>
              <a:rPr lang="zh-CN" altLang="en-US" dirty="0"/>
              <a:t>型处理，占</a:t>
            </a:r>
            <a:r>
              <a:rPr lang="en-US" altLang="zh-CN" dirty="0"/>
              <a:t>8</a:t>
            </a:r>
            <a:r>
              <a:rPr lang="zh-CN" altLang="en-US" dirty="0"/>
              <a:t>个字节</a:t>
            </a:r>
            <a:endParaRPr lang="en-US" altLang="zh-CN" dirty="0"/>
          </a:p>
          <a:p>
            <a:pPr lvl="4"/>
            <a:r>
              <a:rPr lang="zh-CN" altLang="en-US" sz="1800" dirty="0">
                <a:solidFill>
                  <a:srgbClr val="7030A0"/>
                </a:solidFill>
              </a:rPr>
              <a:t>加后缀</a:t>
            </a:r>
            <a:r>
              <a:rPr lang="en-US" altLang="zh-CN" sz="1800" dirty="0">
                <a:solidFill>
                  <a:srgbClr val="7030A0"/>
                </a:solidFill>
              </a:rPr>
              <a:t>f</a:t>
            </a:r>
            <a:r>
              <a:rPr lang="zh-CN" altLang="en-US" sz="1800" dirty="0">
                <a:solidFill>
                  <a:srgbClr val="7030A0"/>
                </a:solidFill>
              </a:rPr>
              <a:t>或</a:t>
            </a:r>
            <a:r>
              <a:rPr lang="en-US" altLang="zh-CN" sz="1800" dirty="0">
                <a:solidFill>
                  <a:srgbClr val="7030A0"/>
                </a:solidFill>
              </a:rPr>
              <a:t>F</a:t>
            </a:r>
            <a:r>
              <a:rPr lang="zh-CN" altLang="en-US" sz="1800" dirty="0">
                <a:solidFill>
                  <a:srgbClr val="7030A0"/>
                </a:solidFill>
              </a:rPr>
              <a:t>可按</a:t>
            </a:r>
            <a:r>
              <a:rPr lang="en-US" altLang="zh-CN" sz="1800" dirty="0">
                <a:solidFill>
                  <a:srgbClr val="7030A0"/>
                </a:solidFill>
              </a:rPr>
              <a:t>float</a:t>
            </a:r>
            <a:r>
              <a:rPr lang="zh-CN" altLang="en-US" sz="1800" dirty="0">
                <a:solidFill>
                  <a:srgbClr val="7030A0"/>
                </a:solidFill>
              </a:rPr>
              <a:t>型处理，占</a:t>
            </a:r>
            <a:r>
              <a:rPr lang="en-US" altLang="zh-CN" sz="1800" dirty="0">
                <a:solidFill>
                  <a:srgbClr val="7030A0"/>
                </a:solidFill>
              </a:rPr>
              <a:t>4</a:t>
            </a:r>
            <a:r>
              <a:rPr lang="zh-CN" altLang="en-US" sz="1800" dirty="0">
                <a:solidFill>
                  <a:srgbClr val="7030A0"/>
                </a:solidFill>
              </a:rPr>
              <a:t>个字节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lvl="3"/>
            <a:r>
              <a:rPr lang="zh-CN" altLang="en-US" dirty="0"/>
              <a:t>浮点型常量有表示范围，见</a:t>
            </a:r>
            <a:r>
              <a:rPr lang="en-US" altLang="zh-CN" dirty="0"/>
              <a:t>P63</a:t>
            </a:r>
            <a:r>
              <a:rPr lang="zh-CN" altLang="en-US" dirty="0"/>
              <a:t>表</a:t>
            </a:r>
            <a:r>
              <a:rPr lang="en-US" altLang="zh-CN" dirty="0"/>
              <a:t>3.2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4991120"/>
          </a:xfrm>
        </p:spPr>
        <p:txBody>
          <a:bodyPr/>
          <a:lstStyle/>
          <a:p>
            <a:r>
              <a:rPr lang="zh-CN" altLang="en-US" dirty="0"/>
              <a:t>常量的数据类型</a:t>
            </a:r>
            <a:endParaRPr lang="en-US" altLang="zh-CN" dirty="0"/>
          </a:p>
          <a:p>
            <a:pPr lvl="1"/>
            <a:r>
              <a:rPr lang="zh-CN" altLang="en-US" dirty="0"/>
              <a:t>浮点数的存储（以</a:t>
            </a:r>
            <a:r>
              <a:rPr lang="en-US" altLang="zh-CN" dirty="0"/>
              <a:t>double</a:t>
            </a:r>
            <a:r>
              <a:rPr lang="zh-CN" altLang="en-US" dirty="0"/>
              <a:t>型浮点数为例）</a:t>
            </a:r>
            <a:endParaRPr lang="en-US" altLang="zh-CN" dirty="0"/>
          </a:p>
          <a:p>
            <a:pPr lvl="2"/>
            <a:r>
              <a:rPr lang="zh-CN" altLang="en-US" dirty="0"/>
              <a:t>占</a:t>
            </a:r>
            <a:r>
              <a:rPr lang="en-US" altLang="zh-CN" dirty="0"/>
              <a:t>8</a:t>
            </a:r>
            <a:r>
              <a:rPr lang="zh-CN" altLang="en-US" dirty="0"/>
              <a:t>个字节（</a:t>
            </a:r>
            <a:r>
              <a:rPr lang="en-US" altLang="zh-CN" dirty="0"/>
              <a:t>64</a:t>
            </a:r>
            <a:r>
              <a:rPr lang="en-US" altLang="zh-CN" dirty="0">
                <a:solidFill>
                  <a:srgbClr val="C00000"/>
                </a:solidFill>
              </a:rPr>
              <a:t>bit</a:t>
            </a:r>
            <a:r>
              <a:rPr lang="zh-CN" altLang="en-US" dirty="0"/>
              <a:t>）</a:t>
            </a:r>
            <a:endParaRPr lang="en-US" altLang="zh-CN" dirty="0"/>
          </a:p>
          <a:p>
            <a:pPr lvl="3"/>
            <a:r>
              <a:rPr lang="zh-CN" altLang="en-US" dirty="0"/>
              <a:t>符号位</a:t>
            </a:r>
            <a:endParaRPr lang="en-US" altLang="zh-CN" dirty="0"/>
          </a:p>
          <a:p>
            <a:pPr lvl="4"/>
            <a:r>
              <a:rPr lang="zh-CN" altLang="zh-CN" dirty="0"/>
              <a:t>0代表正，1代表为负</a:t>
            </a:r>
            <a:endParaRPr lang="en-US" altLang="zh-CN" dirty="0"/>
          </a:p>
          <a:p>
            <a:pPr lvl="3"/>
            <a:r>
              <a:rPr lang="zh-CN" altLang="en-US" dirty="0"/>
              <a:t>指数位</a:t>
            </a:r>
            <a:endParaRPr lang="en-US" altLang="zh-CN" dirty="0"/>
          </a:p>
          <a:p>
            <a:pPr lvl="4"/>
            <a:r>
              <a:rPr lang="zh-CN" altLang="zh-CN" dirty="0"/>
              <a:t>用于存储科学计数法中的指数数据，并且采用移位存储</a:t>
            </a:r>
            <a:r>
              <a:rPr lang="zh-CN" altLang="en-US" dirty="0"/>
              <a:t>，即以</a:t>
            </a:r>
            <a:r>
              <a:rPr lang="en-US" altLang="zh-CN" dirty="0"/>
              <a:t>2</a:t>
            </a:r>
            <a:r>
              <a:rPr lang="en-US" altLang="zh-CN" baseline="30000" dirty="0"/>
              <a:t>10</a:t>
            </a:r>
            <a:r>
              <a:rPr lang="en-US" altLang="zh-CN" dirty="0"/>
              <a:t>-1</a:t>
            </a:r>
            <a:r>
              <a:rPr lang="zh-CN" altLang="en-US" dirty="0"/>
              <a:t>为基准，加减指数</a:t>
            </a:r>
            <a:endParaRPr lang="en-US" altLang="zh-CN" dirty="0"/>
          </a:p>
          <a:p>
            <a:pPr lvl="3"/>
            <a:r>
              <a:rPr lang="zh-CN" altLang="en-US" dirty="0"/>
              <a:t>尾数</a:t>
            </a:r>
            <a:endParaRPr lang="en-US" altLang="zh-C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78435" y="4797152"/>
            <a:ext cx="473392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常量的数据类型</a:t>
            </a:r>
            <a:r>
              <a:rPr lang="en-US" altLang="zh-CN" dirty="0"/>
              <a:t>  </a:t>
            </a:r>
            <a:endParaRPr lang="en-US" altLang="zh-CN" dirty="0"/>
          </a:p>
          <a:p>
            <a:pPr lvl="1"/>
            <a:r>
              <a:rPr lang="zh-CN" altLang="en-US" dirty="0"/>
              <a:t>浮点数的存储（以</a:t>
            </a:r>
            <a:r>
              <a:rPr lang="en-US" altLang="zh-CN" dirty="0"/>
              <a:t>double</a:t>
            </a:r>
            <a:r>
              <a:rPr lang="zh-CN" altLang="en-US" dirty="0"/>
              <a:t>型浮点数为例）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zh-CN" altLang="en-US" dirty="0"/>
              <a:t>浮点数存储之前做如下转换：</a:t>
            </a:r>
            <a:endParaRPr lang="en-US" altLang="zh-CN" dirty="0"/>
          </a:p>
          <a:p>
            <a:pPr lvl="3">
              <a:spcBef>
                <a:spcPts val="0"/>
              </a:spcBef>
            </a:pPr>
            <a:r>
              <a:rPr lang="zh-CN" altLang="en-US" dirty="0"/>
              <a:t>如：</a:t>
            </a:r>
            <a:r>
              <a:rPr lang="en-US" altLang="zh-CN" dirty="0"/>
              <a:t>120.5(10) = 1110110.1(2) = 1.1101101×2</a:t>
            </a:r>
            <a:r>
              <a:rPr lang="en-US" altLang="zh-CN" baseline="30000" dirty="0"/>
              <a:t>6</a:t>
            </a:r>
            <a:endParaRPr lang="en-US" altLang="zh-CN" baseline="30000" dirty="0"/>
          </a:p>
          <a:p>
            <a:pPr lvl="2">
              <a:spcBef>
                <a:spcPts val="0"/>
              </a:spcBef>
            </a:pPr>
            <a:r>
              <a:rPr lang="zh-CN" altLang="en-US" dirty="0"/>
              <a:t>二进制科学计数法的整数部分必为</a:t>
            </a:r>
            <a:r>
              <a:rPr lang="en-US" altLang="zh-CN" dirty="0"/>
              <a:t>1</a:t>
            </a:r>
            <a:r>
              <a:rPr lang="zh-CN" altLang="en-US" dirty="0"/>
              <a:t>，因此只需存储小数部分即可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zh-CN" altLang="en-US" dirty="0"/>
              <a:t>正数符号位为</a:t>
            </a:r>
            <a:r>
              <a:rPr lang="en-US" altLang="zh-CN" dirty="0"/>
              <a:t>0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zh-CN" altLang="en-US" dirty="0"/>
              <a:t>指数为</a:t>
            </a:r>
            <a:r>
              <a:rPr lang="en-US" altLang="zh-CN" dirty="0"/>
              <a:t>6</a:t>
            </a:r>
            <a:r>
              <a:rPr lang="zh-CN" altLang="en-US" dirty="0"/>
              <a:t>，以</a:t>
            </a:r>
            <a:r>
              <a:rPr lang="en-US" altLang="zh-CN" dirty="0"/>
              <a:t>2</a:t>
            </a:r>
            <a:r>
              <a:rPr lang="en-US" altLang="zh-CN" baseline="30000" dirty="0"/>
              <a:t>10</a:t>
            </a:r>
            <a:r>
              <a:rPr lang="en-US" altLang="zh-CN" dirty="0"/>
              <a:t>-1</a:t>
            </a:r>
            <a:r>
              <a:rPr lang="zh-CN" altLang="en-US" dirty="0"/>
              <a:t>为基准进行移位，得到</a:t>
            </a:r>
            <a:endParaRPr lang="en-US" altLang="zh-CN" dirty="0"/>
          </a:p>
          <a:p>
            <a:pPr lvl="3">
              <a:spcBef>
                <a:spcPts val="0"/>
              </a:spcBef>
            </a:pPr>
            <a:r>
              <a:rPr lang="en-US" altLang="zh-CN" dirty="0"/>
              <a:t>10000000101</a:t>
            </a:r>
            <a:r>
              <a:rPr lang="zh-CN" altLang="en-US" dirty="0"/>
              <a:t>（</a:t>
            </a:r>
            <a:r>
              <a:rPr lang="en-US" altLang="zh-CN" dirty="0"/>
              <a:t>1111111111+110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zh-CN" altLang="en-US" dirty="0"/>
              <a:t>剩余的小数部分从最高位开始填充尾数部分，填充完毕尾数的剩余</a:t>
            </a:r>
            <a:r>
              <a:rPr lang="en-US" altLang="zh-CN" dirty="0"/>
              <a:t>bit</a:t>
            </a:r>
            <a:r>
              <a:rPr lang="zh-CN" altLang="en-US" dirty="0"/>
              <a:t>补</a:t>
            </a:r>
            <a:r>
              <a:rPr lang="en-US" altLang="zh-CN" dirty="0"/>
              <a:t>0</a:t>
            </a:r>
            <a:endParaRPr lang="en-US" altLang="zh-CN" dirty="0"/>
          </a:p>
          <a:p>
            <a:pPr lvl="3">
              <a:spcBef>
                <a:spcPts val="0"/>
              </a:spcBef>
            </a:pPr>
            <a:r>
              <a:rPr lang="en-US" altLang="zh-CN" dirty="0"/>
              <a:t>1101101</a:t>
            </a:r>
            <a:r>
              <a:rPr lang="en-US" altLang="zh-CN" dirty="0">
                <a:solidFill>
                  <a:srgbClr val="C00000"/>
                </a:solidFill>
              </a:rPr>
              <a:t>000000000000000000000000000000000000000000000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常量的数据类型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字符型常量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zh-CN" altLang="en-US" dirty="0"/>
              <a:t>用单引号括起的基本符号</a:t>
            </a:r>
            <a:endParaRPr lang="en-US" altLang="zh-CN" dirty="0"/>
          </a:p>
          <a:p>
            <a:pPr lvl="3">
              <a:spcBef>
                <a:spcPts val="0"/>
              </a:spcBef>
            </a:pPr>
            <a:r>
              <a:rPr lang="en-US" altLang="zh-CN" dirty="0">
                <a:solidFill>
                  <a:srgbClr val="C00000"/>
                </a:solidFill>
                <a:latin typeface="+mn-lt"/>
                <a:ea typeface="楷体_GB2312" pitchFamily="49" charset="-122"/>
              </a:rPr>
              <a:t>‘A’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楷体_GB2312" pitchFamily="49" charset="-122"/>
              </a:rPr>
              <a:t>，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楷体_GB2312" pitchFamily="49" charset="-122"/>
              </a:rPr>
              <a:t>‘g’</a:t>
            </a:r>
            <a:r>
              <a:rPr lang="en-US" altLang="zh-CN" sz="1600" dirty="0">
                <a:solidFill>
                  <a:srgbClr val="C00000"/>
                </a:solidFill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楷体_GB2312" pitchFamily="49" charset="-122"/>
              </a:rPr>
              <a:t>，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楷体_GB2312" pitchFamily="49" charset="-122"/>
              </a:rPr>
              <a:t>‘3’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楷体_GB2312" pitchFamily="49" charset="-122"/>
              </a:rPr>
              <a:t>，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楷体_GB2312" pitchFamily="49" charset="-122"/>
              </a:rPr>
              <a:t>’</a:t>
            </a:r>
            <a:r>
              <a:rPr lang="zh-CN" altLang="en-US" dirty="0">
                <a:solidFill>
                  <a:srgbClr val="C00000"/>
                </a:solidFill>
                <a:latin typeface="+mn-lt"/>
              </a:rPr>
              <a:t>˽</a:t>
            </a:r>
            <a:r>
              <a:rPr lang="en-US" altLang="zh-CN" dirty="0">
                <a:solidFill>
                  <a:srgbClr val="C00000"/>
                </a:solidFill>
                <a:latin typeface="+mn-lt"/>
              </a:rPr>
              <a:t>’</a:t>
            </a:r>
            <a:endParaRPr lang="en-US" altLang="zh-CN" dirty="0">
              <a:latin typeface="+mn-lt"/>
            </a:endParaRPr>
          </a:p>
          <a:p>
            <a:pPr lvl="2">
              <a:spcBef>
                <a:spcPts val="0"/>
              </a:spcBef>
            </a:pPr>
            <a:r>
              <a:rPr lang="zh-CN" altLang="en-US" dirty="0"/>
              <a:t>占</a:t>
            </a:r>
            <a:r>
              <a:rPr lang="en-US" altLang="zh-CN" dirty="0"/>
              <a:t>1</a:t>
            </a:r>
            <a:r>
              <a:rPr lang="zh-CN" altLang="en-US" dirty="0"/>
              <a:t>个字节</a:t>
            </a:r>
            <a:endParaRPr lang="en-US" altLang="zh-CN" dirty="0"/>
          </a:p>
          <a:p>
            <a:pPr lvl="3">
              <a:spcBef>
                <a:spcPts val="0"/>
              </a:spcBef>
            </a:pPr>
            <a:r>
              <a:rPr lang="zh-CN" altLang="en-US" dirty="0"/>
              <a:t>表示范围：</a:t>
            </a:r>
            <a:r>
              <a:rPr lang="en-US" altLang="zh-CN" dirty="0"/>
              <a:t>-128</a:t>
            </a:r>
            <a:r>
              <a:rPr lang="en-US" altLang="zh-C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~</a:t>
            </a:r>
            <a:r>
              <a:rPr lang="en-US" altLang="zh-CN" dirty="0"/>
              <a:t>127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en-US" altLang="zh-CN" dirty="0"/>
              <a:t>ASCII</a:t>
            </a:r>
            <a:r>
              <a:rPr lang="zh-CN" altLang="en-US" dirty="0"/>
              <a:t>码将字符型常量与整型常量建立对应关系</a:t>
            </a:r>
            <a:endParaRPr lang="en-US" altLang="zh-CN" dirty="0"/>
          </a:p>
          <a:p>
            <a:pPr lvl="3">
              <a:spcBef>
                <a:spcPts val="0"/>
              </a:spcBef>
            </a:pPr>
            <a:r>
              <a:rPr lang="en-US" altLang="zh-CN" dirty="0"/>
              <a:t>0</a:t>
            </a:r>
            <a:r>
              <a:rPr lang="en-US" altLang="zh-C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~</a:t>
            </a:r>
            <a:r>
              <a:rPr lang="en-US" altLang="zh-CN" dirty="0"/>
              <a:t>127</a:t>
            </a:r>
            <a:r>
              <a:rPr lang="zh-CN" altLang="en-US" dirty="0"/>
              <a:t>，</a:t>
            </a:r>
            <a:r>
              <a:rPr lang="en-US" altLang="zh-CN" dirty="0"/>
              <a:t>P32</a:t>
            </a:r>
            <a:r>
              <a:rPr lang="zh-CN" altLang="en-US" dirty="0"/>
              <a:t>表</a:t>
            </a:r>
            <a:r>
              <a:rPr lang="en-US" altLang="zh-CN" dirty="0"/>
              <a:t>2.2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布尔型常量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zh-CN" altLang="en-US" dirty="0"/>
              <a:t>有两个值</a:t>
            </a:r>
            <a:endParaRPr lang="en-US" altLang="zh-CN" dirty="0"/>
          </a:p>
          <a:p>
            <a:pPr lvl="3">
              <a:spcBef>
                <a:spcPts val="0"/>
              </a:spcBef>
            </a:pPr>
            <a:r>
              <a:rPr lang="en-US" altLang="zh-CN" dirty="0"/>
              <a:t>false</a:t>
            </a:r>
            <a:endParaRPr lang="en-US" altLang="zh-CN" dirty="0"/>
          </a:p>
          <a:p>
            <a:pPr lvl="3">
              <a:spcBef>
                <a:spcPts val="0"/>
              </a:spcBef>
            </a:pPr>
            <a:r>
              <a:rPr lang="en-US" altLang="zh-CN" dirty="0"/>
              <a:t>true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常量的数据类型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字符串常量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zh-CN" altLang="en-US" dirty="0"/>
              <a:t>用双引号括起来的字符序列</a:t>
            </a:r>
            <a:endParaRPr lang="en-US" altLang="zh-CN" dirty="0"/>
          </a:p>
          <a:p>
            <a:pPr lvl="3">
              <a:spcBef>
                <a:spcPts val="0"/>
              </a:spcBef>
            </a:pPr>
            <a:r>
              <a:rPr lang="zh-CN" altLang="en-US" dirty="0"/>
              <a:t>以字符</a:t>
            </a:r>
            <a:r>
              <a:rPr lang="en-US" altLang="zh-CN" dirty="0">
                <a:solidFill>
                  <a:srgbClr val="C00000"/>
                </a:solidFill>
              </a:rPr>
              <a:t>‘\0’</a:t>
            </a:r>
            <a:r>
              <a:rPr lang="zh-CN" altLang="en-US" dirty="0"/>
              <a:t>结尾</a:t>
            </a:r>
            <a:endParaRPr lang="en-US" altLang="zh-CN" dirty="0"/>
          </a:p>
          <a:p>
            <a:pPr lvl="3">
              <a:spcBef>
                <a:spcPts val="0"/>
              </a:spcBef>
            </a:pPr>
            <a:r>
              <a:rPr lang="zh-CN" altLang="en-US" dirty="0"/>
              <a:t>字符串长度为字符数</a:t>
            </a:r>
            <a:r>
              <a:rPr lang="en-US" altLang="zh-CN" dirty="0"/>
              <a:t>+1</a:t>
            </a:r>
            <a:r>
              <a:rPr lang="zh-CN" altLang="en-US" dirty="0"/>
              <a:t>，如</a:t>
            </a:r>
            <a:r>
              <a:rPr lang="zh-CN" altLang="en-US" sz="1600" dirty="0"/>
              <a:t>“</a:t>
            </a:r>
            <a:r>
              <a:rPr lang="en-US" altLang="zh-CN" sz="1600" dirty="0"/>
              <a:t>string constant</a:t>
            </a:r>
            <a:r>
              <a:rPr lang="zh-CN" altLang="en-US" sz="1600" dirty="0"/>
              <a:t>”长度为</a:t>
            </a:r>
            <a:r>
              <a:rPr lang="en-US" altLang="zh-CN" sz="1600" dirty="0"/>
              <a:t>16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2205038"/>
          </a:xfrm>
        </p:spPr>
        <p:txBody>
          <a:bodyPr/>
          <a:lstStyle/>
          <a:p>
            <a:r>
              <a:rPr lang="zh-CN" altLang="en-US" dirty="0"/>
              <a:t>运算符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由字母、数字之外的第三类基本符号组成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个别关键字如</a:t>
            </a:r>
            <a:r>
              <a:rPr lang="en-US" altLang="zh-CN" dirty="0" err="1"/>
              <a:t>sizeof</a:t>
            </a:r>
            <a:r>
              <a:rPr lang="zh-CN" altLang="en-US" dirty="0"/>
              <a:t>、</a:t>
            </a:r>
            <a:r>
              <a:rPr lang="en-US" altLang="zh-CN" dirty="0"/>
              <a:t>new</a:t>
            </a:r>
            <a:r>
              <a:rPr lang="zh-CN" altLang="en-US" dirty="0"/>
              <a:t>、</a:t>
            </a:r>
            <a:r>
              <a:rPr lang="en-US" altLang="zh-CN" dirty="0"/>
              <a:t>delete</a:t>
            </a:r>
            <a:r>
              <a:rPr lang="zh-CN" altLang="en-US" dirty="0"/>
              <a:t>，也被认为是运算符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其余运算符为：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77900" y="3584104"/>
            <a:ext cx="7189788" cy="1789112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sp>
        <p:nvSpPr>
          <p:cNvPr id="7" name="内容占位符 2"/>
          <p:cNvSpPr txBox="1"/>
          <p:nvPr/>
        </p:nvSpPr>
        <p:spPr bwMode="auto">
          <a:xfrm>
            <a:off x="457200" y="5286388"/>
            <a:ext cx="8153400" cy="5000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某些运算符还有其它用途，如乘运算符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*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23528" y="280183"/>
            <a:ext cx="8642350" cy="17806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indent="630555" hangingPunct="0"/>
            <a:r>
              <a:rPr lang="en-US" altLang="zh-CN" sz="2400" dirty="0">
                <a:solidFill>
                  <a:schemeClr val="accent4"/>
                </a:solidFill>
                <a:latin typeface="宋体" panose="02010600030101010101" pitchFamily="2" charset="-122"/>
              </a:rPr>
              <a:t>C++</a:t>
            </a:r>
            <a:r>
              <a:rPr lang="zh-CN" altLang="en-US" sz="2400" dirty="0">
                <a:solidFill>
                  <a:schemeClr val="accent4"/>
                </a:solidFill>
                <a:latin typeface="宋体" panose="02010600030101010101" pitchFamily="2" charset="-122"/>
              </a:rPr>
              <a:t>语言中支持的算术运算符及算数表达式如下表所示。</a:t>
            </a:r>
            <a:r>
              <a:rPr lang="zh-CN" altLang="zh-CN" sz="2400" dirty="0">
                <a:solidFill>
                  <a:schemeClr val="accent4"/>
                </a:solidFill>
                <a:latin typeface="宋体" panose="02010600030101010101" pitchFamily="2" charset="-122"/>
              </a:rPr>
              <a:t>假设已经定义了变量：</a:t>
            </a:r>
            <a:endParaRPr lang="en-US" altLang="zh-CN" sz="2400" dirty="0">
              <a:solidFill>
                <a:schemeClr val="accent4"/>
              </a:solidFill>
              <a:latin typeface="宋体" panose="02010600030101010101" pitchFamily="2" charset="-122"/>
            </a:endParaRPr>
          </a:p>
          <a:p>
            <a:pPr indent="630555" hangingPunct="0"/>
            <a:r>
              <a:rPr lang="zh-CN" altLang="en-US" sz="2400" b="1" dirty="0">
                <a:solidFill>
                  <a:schemeClr val="accent4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fr-FR" altLang="zh-CN" sz="2400" b="1" dirty="0">
                <a:solidFill>
                  <a:schemeClr val="accent4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int m=10, n=5;</a:t>
            </a:r>
            <a:endParaRPr lang="fr-FR" altLang="zh-CN" sz="2400" b="1" dirty="0">
              <a:solidFill>
                <a:schemeClr val="accent4"/>
              </a:solidFill>
              <a:latin typeface="宋体" panose="02010600030101010101" pitchFamily="2" charset="-122"/>
            </a:endParaRPr>
          </a:p>
          <a:p>
            <a:pPr lvl="0" indent="266700" eaLnBrk="0" hangingPunct="0">
              <a:tabLst>
                <a:tab pos="263525" algn="l"/>
                <a:tab pos="525145" algn="l"/>
                <a:tab pos="788670" algn="l"/>
                <a:tab pos="1050925" algn="l"/>
                <a:tab pos="1314450" algn="l"/>
                <a:tab pos="1577975" algn="l"/>
                <a:tab pos="1839595" algn="l"/>
                <a:tab pos="2103120" algn="l"/>
                <a:tab pos="2365375" algn="l"/>
                <a:tab pos="2628900" algn="l"/>
              </a:tabLst>
            </a:pPr>
            <a:r>
              <a:rPr lang="fr-FR" altLang="zh-CN" sz="2400" b="1" dirty="0">
                <a:solidFill>
                  <a:schemeClr val="accent4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	double x=2.5, y=1.3;</a:t>
            </a:r>
            <a:endParaRPr lang="fr-FR" altLang="zh-CN" sz="2400" b="1" dirty="0">
              <a:solidFill>
                <a:schemeClr val="accent4"/>
              </a:solidFill>
              <a:latin typeface="宋体" panose="02010600030101010101" pitchFamily="2" charset="-122"/>
            </a:endParaRPr>
          </a:p>
          <a:p>
            <a:pPr indent="720725">
              <a:lnSpc>
                <a:spcPct val="150000"/>
              </a:lnSpc>
              <a:spcBef>
                <a:spcPts val="600"/>
              </a:spcBef>
              <a:buClr>
                <a:srgbClr val="7030A0"/>
              </a:buClr>
            </a:pPr>
            <a:endParaRPr lang="zh-CN" altLang="en-US" sz="24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0" y="2060850"/>
          <a:ext cx="9144000" cy="4627004"/>
        </p:xfrm>
        <a:graphic>
          <a:graphicData uri="http://schemas.openxmlformats.org/drawingml/2006/table">
            <a:tbl>
              <a:tblPr/>
              <a:tblGrid>
                <a:gridCol w="1137146"/>
                <a:gridCol w="1412737"/>
                <a:gridCol w="2696672"/>
                <a:gridCol w="1199214"/>
                <a:gridCol w="2698231"/>
              </a:tblGrid>
              <a:tr h="386444"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b="1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运算符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b="1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含</a:t>
                      </a:r>
                      <a:r>
                        <a:rPr lang="en-US" sz="2400" b="1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sz="2400" b="1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义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b="1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</a:t>
                      </a:r>
                      <a:r>
                        <a:rPr lang="en-US" sz="2400" b="1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sz="2400" b="1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能</a:t>
                      </a:r>
                      <a:endParaRPr lang="zh-CN" sz="2400" kern="10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b="1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举例</a:t>
                      </a:r>
                      <a:endParaRPr lang="zh-CN" sz="2400" kern="10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b="1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运算结果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86444">
                <a:tc>
                  <a:txBody>
                    <a:bodyPr/>
                    <a:lstStyle/>
                    <a:p>
                      <a:pPr indent="114300"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加法</a:t>
                      </a:r>
                      <a:endParaRPr lang="zh-CN" sz="2400" kern="10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两个数相加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m+5</a:t>
                      </a:r>
                      <a:endParaRPr lang="zh-CN" sz="2400" kern="10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endParaRPr lang="zh-CN" sz="2400" kern="10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86444">
                <a:tc>
                  <a:txBody>
                    <a:bodyPr/>
                    <a:lstStyle/>
                    <a:p>
                      <a:pPr indent="114300"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减法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两个数相减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x-y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</a:t>
                      </a:r>
                      <a:endParaRPr lang="zh-CN" sz="2400" kern="10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86444">
                <a:tc>
                  <a:txBody>
                    <a:bodyPr/>
                    <a:lstStyle/>
                    <a:p>
                      <a:pPr indent="114300"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lang="zh-CN" sz="2400" kern="10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乘法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两个数相乘</a:t>
                      </a:r>
                      <a:endParaRPr lang="zh-CN" sz="2400" kern="10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2*n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86444">
                <a:tc>
                  <a:txBody>
                    <a:bodyPr/>
                    <a:lstStyle/>
                    <a:p>
                      <a:pPr indent="114300"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endParaRPr lang="zh-CN" sz="2400" kern="10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除法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两个数相除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m/n</a:t>
                      </a:r>
                      <a:endParaRPr lang="zh-CN" sz="2400" kern="10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86444">
                <a:tc>
                  <a:txBody>
                    <a:bodyPr/>
                    <a:lstStyle/>
                    <a:p>
                      <a:pPr indent="114300"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%</a:t>
                      </a:r>
                      <a:endParaRPr lang="zh-CN" sz="2400" kern="10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模运算</a:t>
                      </a:r>
                      <a:endParaRPr lang="zh-CN" sz="2400" kern="10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求余数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m%3</a:t>
                      </a:r>
                      <a:endParaRPr lang="zh-CN" sz="2400" kern="10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1149011">
                <a:tc>
                  <a:txBody>
                    <a:bodyPr/>
                    <a:lstStyle/>
                    <a:p>
                      <a:pPr indent="114300"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++</a:t>
                      </a:r>
                      <a:endParaRPr lang="zh-CN" sz="2400" kern="10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先增</a:t>
                      </a:r>
                      <a:r>
                        <a:rPr lang="en-US" sz="2400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zh-CN" sz="2400" kern="10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变量自身加</a:t>
                      </a:r>
                      <a:r>
                        <a:rPr lang="en-US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，表达式的值与变量的值相同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++n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的值为</a:t>
                      </a:r>
                      <a:r>
                        <a:rPr lang="en-US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r>
                        <a:rPr lang="zh-CN" altLang="en-US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zh-CN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表达式“</a:t>
                      </a:r>
                      <a:r>
                        <a:rPr lang="en-US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++n</a:t>
                      </a:r>
                      <a:r>
                        <a:rPr lang="zh-CN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”的值为</a:t>
                      </a:r>
                      <a:r>
                        <a:rPr lang="en-US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1159329">
                <a:tc>
                  <a:txBody>
                    <a:bodyPr/>
                    <a:lstStyle/>
                    <a:p>
                      <a:pPr indent="114300"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--</a:t>
                      </a:r>
                      <a:endParaRPr lang="zh-CN" sz="2400" kern="10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先减</a:t>
                      </a:r>
                      <a:r>
                        <a:rPr lang="en-US" sz="2400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zh-CN" sz="2400" kern="10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变量自身减</a:t>
                      </a:r>
                      <a:r>
                        <a:rPr lang="en-US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，表达式的值与变量的值相同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--m</a:t>
                      </a:r>
                      <a:endParaRPr lang="zh-CN" sz="2400" kern="10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lang="zh-CN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的值为</a:t>
                      </a:r>
                      <a:r>
                        <a:rPr lang="en-US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，表达式“</a:t>
                      </a:r>
                      <a:r>
                        <a:rPr lang="en-US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--m</a:t>
                      </a:r>
                      <a:r>
                        <a:rPr lang="zh-CN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”的值为</a:t>
                      </a:r>
                      <a:r>
                        <a:rPr lang="en-US" sz="2400" kern="100" dirty="0">
                          <a:solidFill>
                            <a:schemeClr val="accent4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zh-CN" sz="2400" kern="100" dirty="0">
                        <a:solidFill>
                          <a:schemeClr val="accent4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ea typeface="宋体" panose="02010600030101010101" pitchFamily="2" charset="-122"/>
            </a:endParaRPr>
          </a:p>
        </p:txBody>
      </p:sp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07504" y="1196752"/>
            <a:ext cx="8928992" cy="54005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indent="628650">
              <a:lnSpc>
                <a:spcPct val="125000"/>
              </a:lnSpc>
              <a:spcBef>
                <a:spcPts val="600"/>
              </a:spcBef>
              <a:buClr>
                <a:srgbClr val="7030A0"/>
              </a:buClr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</a:rPr>
              <a:t>提示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</a:rPr>
              <a:t>:  </a:t>
            </a:r>
            <a:endParaRPr lang="en-US" altLang="zh-CN" sz="3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0" indent="628650">
              <a:lnSpc>
                <a:spcPct val="125000"/>
              </a:lnSpc>
              <a:spcBef>
                <a:spcPts val="600"/>
              </a:spcBef>
              <a:buClr>
                <a:srgbClr val="7030A0"/>
              </a:buClr>
            </a:pPr>
            <a:r>
              <a:rPr lang="zh-CN" altLang="en-US" sz="2800" dirty="0">
                <a:solidFill>
                  <a:srgbClr val="002060"/>
                </a:solidFill>
                <a:latin typeface="宋体" panose="02010600030101010101" pitchFamily="2" charset="-122"/>
              </a:rPr>
              <a:t>两个整数相除，商为整数，小数部分全部舍去，不进行四舍五入。例如，</a:t>
            </a:r>
            <a:r>
              <a:rPr lang="en-US" altLang="zh-CN" sz="2800" dirty="0">
                <a:solidFill>
                  <a:srgbClr val="002060"/>
                </a:solidFill>
                <a:latin typeface="宋体" panose="02010600030101010101" pitchFamily="2" charset="-122"/>
              </a:rPr>
              <a:t>1/3</a:t>
            </a:r>
            <a:r>
              <a:rPr lang="zh-CN" altLang="en-US" sz="2800" dirty="0">
                <a:solidFill>
                  <a:srgbClr val="002060"/>
                </a:solidFill>
                <a:latin typeface="宋体" panose="02010600030101010101" pitchFamily="2" charset="-122"/>
              </a:rPr>
              <a:t>的结果为</a:t>
            </a:r>
            <a:r>
              <a:rPr lang="en-US" altLang="zh-CN" sz="2800" dirty="0">
                <a:solidFill>
                  <a:srgbClr val="002060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800" dirty="0">
                <a:solidFill>
                  <a:srgbClr val="00206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800" dirty="0">
                <a:solidFill>
                  <a:srgbClr val="002060"/>
                </a:solidFill>
                <a:latin typeface="宋体" panose="02010600030101010101" pitchFamily="2" charset="-122"/>
              </a:rPr>
              <a:t>5/3</a:t>
            </a:r>
            <a:r>
              <a:rPr lang="zh-CN" altLang="en-US" sz="2800" dirty="0">
                <a:solidFill>
                  <a:srgbClr val="002060"/>
                </a:solidFill>
                <a:latin typeface="宋体" panose="02010600030101010101" pitchFamily="2" charset="-122"/>
              </a:rPr>
              <a:t>结果为</a:t>
            </a:r>
            <a:r>
              <a:rPr lang="en-US" altLang="zh-CN" sz="2800" dirty="0">
                <a:solidFill>
                  <a:srgbClr val="00206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800" dirty="0">
                <a:solidFill>
                  <a:srgbClr val="002060"/>
                </a:solidFill>
                <a:latin typeface="宋体" panose="02010600030101010101" pitchFamily="2" charset="-122"/>
              </a:rPr>
              <a:t>。</a:t>
            </a:r>
            <a:endParaRPr lang="zh-CN" altLang="en-US" sz="2800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 lvl="0" indent="628650">
              <a:lnSpc>
                <a:spcPct val="125000"/>
              </a:lnSpc>
              <a:spcBef>
                <a:spcPts val="600"/>
              </a:spcBef>
              <a:buClr>
                <a:srgbClr val="7030A0"/>
              </a:buClr>
            </a:pPr>
            <a:r>
              <a:rPr lang="zh-CN" altLang="en-US" sz="2800" dirty="0">
                <a:solidFill>
                  <a:srgbClr val="002060"/>
                </a:solidFill>
                <a:latin typeface="宋体" panose="02010600030101010101" pitchFamily="2" charset="-122"/>
              </a:rPr>
              <a:t>求余运算要求两个操作数都必须是整型。例如，</a:t>
            </a:r>
            <a:r>
              <a:rPr lang="en-US" altLang="zh-CN" sz="2800" dirty="0">
                <a:solidFill>
                  <a:srgbClr val="002060"/>
                </a:solidFill>
                <a:latin typeface="宋体" panose="02010600030101010101" pitchFamily="2" charset="-122"/>
              </a:rPr>
              <a:t>10%3</a:t>
            </a:r>
            <a:r>
              <a:rPr lang="zh-CN" altLang="en-US" sz="2800" dirty="0">
                <a:solidFill>
                  <a:srgbClr val="002060"/>
                </a:solidFill>
                <a:latin typeface="宋体" panose="02010600030101010101" pitchFamily="2" charset="-122"/>
              </a:rPr>
              <a:t>的余数是</a:t>
            </a:r>
            <a:r>
              <a:rPr lang="en-US" altLang="zh-CN" sz="2800" dirty="0">
                <a:solidFill>
                  <a:srgbClr val="00206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800" dirty="0">
                <a:solidFill>
                  <a:srgbClr val="00206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800" dirty="0">
                <a:solidFill>
                  <a:srgbClr val="002060"/>
                </a:solidFill>
                <a:latin typeface="宋体" panose="02010600030101010101" pitchFamily="2" charset="-122"/>
              </a:rPr>
              <a:t>-10%3</a:t>
            </a:r>
            <a:r>
              <a:rPr lang="zh-CN" altLang="en-US" sz="2800" dirty="0">
                <a:solidFill>
                  <a:srgbClr val="002060"/>
                </a:solidFill>
                <a:latin typeface="宋体" panose="02010600030101010101" pitchFamily="2" charset="-122"/>
              </a:rPr>
              <a:t>的余数是</a:t>
            </a:r>
            <a:r>
              <a:rPr lang="en-US" altLang="zh-CN" sz="2800" dirty="0">
                <a:solidFill>
                  <a:srgbClr val="002060"/>
                </a:solidFill>
                <a:latin typeface="宋体" panose="02010600030101010101" pitchFamily="2" charset="-122"/>
              </a:rPr>
              <a:t>-1</a:t>
            </a:r>
            <a:r>
              <a:rPr lang="zh-CN" altLang="en-US" sz="2800" dirty="0">
                <a:solidFill>
                  <a:srgbClr val="002060"/>
                </a:solidFill>
                <a:latin typeface="宋体" panose="02010600030101010101" pitchFamily="2" charset="-122"/>
              </a:rPr>
              <a:t>。</a:t>
            </a:r>
            <a:endParaRPr lang="zh-CN" altLang="en-US" sz="2800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 lvl="0" indent="628650">
              <a:lnSpc>
                <a:spcPct val="125000"/>
              </a:lnSpc>
              <a:spcBef>
                <a:spcPts val="600"/>
              </a:spcBef>
              <a:buClr>
                <a:srgbClr val="7030A0"/>
              </a:buClr>
            </a:pPr>
            <a:r>
              <a:rPr lang="en-US" altLang="zh-CN" sz="2800" dirty="0">
                <a:solidFill>
                  <a:srgbClr val="002060"/>
                </a:solidFill>
                <a:latin typeface="宋体" panose="02010600030101010101" pitchFamily="2" charset="-122"/>
              </a:rPr>
              <a:t>++</a:t>
            </a:r>
            <a:r>
              <a:rPr lang="zh-CN" altLang="en-US" sz="2800" dirty="0">
                <a:solidFill>
                  <a:srgbClr val="00206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800" dirty="0">
                <a:solidFill>
                  <a:srgbClr val="002060"/>
                </a:solidFill>
                <a:latin typeface="宋体" panose="02010600030101010101" pitchFamily="2" charset="-122"/>
              </a:rPr>
              <a:t>--</a:t>
            </a:r>
            <a:r>
              <a:rPr lang="zh-CN" altLang="en-US" sz="2800" dirty="0">
                <a:solidFill>
                  <a:srgbClr val="002060"/>
                </a:solidFill>
                <a:latin typeface="宋体" panose="02010600030101010101" pitchFamily="2" charset="-122"/>
              </a:rPr>
              <a:t>运算符都有前缀和后缀两种形式，都是对变量自身加</a:t>
            </a:r>
            <a:r>
              <a:rPr lang="en-US" altLang="zh-CN" sz="2800" dirty="0">
                <a:solidFill>
                  <a:srgbClr val="00206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800" dirty="0">
                <a:solidFill>
                  <a:srgbClr val="002060"/>
                </a:solidFill>
                <a:latin typeface="宋体" panose="02010600030101010101" pitchFamily="2" charset="-122"/>
              </a:rPr>
              <a:t>或减</a:t>
            </a:r>
            <a:r>
              <a:rPr lang="en-US" altLang="zh-CN" sz="2800" dirty="0">
                <a:solidFill>
                  <a:srgbClr val="00206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800" dirty="0">
                <a:solidFill>
                  <a:srgbClr val="002060"/>
                </a:solidFill>
                <a:latin typeface="宋体" panose="02010600030101010101" pitchFamily="2" charset="-122"/>
              </a:rPr>
              <a:t>，但前缀和后缀运算符都是有副作用的运算符，当出现在表达式中，表达式的值会有所不同。</a:t>
            </a:r>
            <a:endParaRPr lang="zh-CN" altLang="en-US" sz="2800" dirty="0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ea typeface="宋体" panose="02010600030101010101" pitchFamily="2" charset="-122"/>
            </a:endParaRPr>
          </a:p>
        </p:txBody>
      </p:sp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07504" y="981075"/>
            <a:ext cx="8928992" cy="7917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indent="628650">
              <a:lnSpc>
                <a:spcPct val="150000"/>
              </a:lnSpc>
              <a:spcBef>
                <a:spcPts val="600"/>
              </a:spcBef>
              <a:buClr>
                <a:srgbClr val="7030A0"/>
              </a:buClr>
            </a:pPr>
            <a:r>
              <a:rPr lang="zh-CN" altLang="zh-CN" sz="2400" dirty="0">
                <a:solidFill>
                  <a:srgbClr val="002060"/>
                </a:solidFill>
                <a:latin typeface="宋体" panose="02010600030101010101" pitchFamily="2" charset="-122"/>
              </a:rPr>
              <a:t>假设已经定义了变量：</a:t>
            </a:r>
            <a:r>
              <a:rPr lang="en-US" altLang="zh-CN" sz="2400" dirty="0" err="1">
                <a:solidFill>
                  <a:srgbClr val="002060"/>
                </a:solidFill>
                <a:latin typeface="宋体" panose="02010600030101010101" pitchFamily="2" charset="-122"/>
              </a:rPr>
              <a:t>int</a:t>
            </a:r>
            <a:r>
              <a:rPr lang="en-US" altLang="zh-CN" sz="2400" dirty="0">
                <a:solidFill>
                  <a:srgbClr val="002060"/>
                </a:solidFill>
                <a:latin typeface="宋体" panose="02010600030101010101" pitchFamily="2" charset="-122"/>
              </a:rPr>
              <a:t> m=7, n=5;</a:t>
            </a:r>
            <a:endParaRPr lang="zh-CN" altLang="zh-CN" sz="2400" dirty="0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3614" y="1700808"/>
          <a:ext cx="9143999" cy="4793346"/>
        </p:xfrm>
        <a:graphic>
          <a:graphicData uri="http://schemas.openxmlformats.org/drawingml/2006/table">
            <a:tbl>
              <a:tblPr/>
              <a:tblGrid>
                <a:gridCol w="1311017"/>
                <a:gridCol w="1500081"/>
                <a:gridCol w="3600466"/>
                <a:gridCol w="1326197"/>
                <a:gridCol w="1406238"/>
              </a:tblGrid>
              <a:tr h="409338"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b="1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运算符</a:t>
                      </a:r>
                      <a:endParaRPr lang="zh-CN" sz="24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b="1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含</a:t>
                      </a:r>
                      <a:r>
                        <a:rPr lang="en-US" sz="2400" b="1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2400" b="1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义</a:t>
                      </a:r>
                      <a:endParaRPr lang="zh-CN" sz="24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b="1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功</a:t>
                      </a:r>
                      <a:r>
                        <a:rPr lang="en-US" sz="2400" b="1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2400" b="1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能</a:t>
                      </a:r>
                      <a:endParaRPr lang="zh-CN" sz="24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b="1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举例</a:t>
                      </a:r>
                      <a:endParaRPr lang="zh-CN" sz="24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b="1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运算结果</a:t>
                      </a:r>
                      <a:endParaRPr lang="zh-CN" sz="24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30668"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&lt;</a:t>
                      </a:r>
                      <a:endParaRPr lang="zh-CN" sz="24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小于</a:t>
                      </a:r>
                      <a:endParaRPr lang="zh-CN" sz="24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hangingPunct="0">
                        <a:lnSpc>
                          <a:spcPct val="10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3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若左操作数小于右操作数</a:t>
                      </a:r>
                      <a:endParaRPr lang="zh-CN" sz="23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l" hangingPunct="0">
                        <a:lnSpc>
                          <a:spcPct val="10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3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结果为真，否则结果为假</a:t>
                      </a:r>
                      <a:endParaRPr lang="zh-CN" sz="23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m&lt;n</a:t>
                      </a:r>
                      <a:endParaRPr lang="zh-CN" sz="24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false</a:t>
                      </a:r>
                      <a:endParaRPr lang="zh-CN" sz="24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30668"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&lt;=</a:t>
                      </a:r>
                      <a:endParaRPr lang="zh-CN" sz="24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小于等于</a:t>
                      </a:r>
                      <a:endParaRPr lang="zh-CN" sz="24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hangingPunct="0">
                        <a:lnSpc>
                          <a:spcPct val="10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3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若左操作数小于等于右操作数结果为真，否则结果为假</a:t>
                      </a:r>
                      <a:endParaRPr lang="zh-CN" sz="23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m&lt;=n</a:t>
                      </a:r>
                      <a:endParaRPr lang="zh-CN" sz="24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false</a:t>
                      </a:r>
                      <a:endParaRPr lang="zh-CN" sz="24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30668"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&gt;</a:t>
                      </a:r>
                      <a:endParaRPr lang="zh-CN" sz="24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大于</a:t>
                      </a:r>
                      <a:endParaRPr lang="zh-CN" sz="24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hangingPunct="0">
                        <a:lnSpc>
                          <a:spcPct val="10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3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若左操作数大于右操作数</a:t>
                      </a:r>
                      <a:endParaRPr lang="zh-CN" sz="23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l" hangingPunct="0">
                        <a:lnSpc>
                          <a:spcPct val="10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3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结果为真，否则结果为假</a:t>
                      </a:r>
                      <a:endParaRPr lang="zh-CN" sz="23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m&gt;n</a:t>
                      </a:r>
                      <a:endParaRPr lang="zh-CN" sz="24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true</a:t>
                      </a:r>
                      <a:endParaRPr lang="zh-CN" sz="24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30668"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&gt;=</a:t>
                      </a:r>
                      <a:endParaRPr lang="zh-CN" sz="24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大于等于</a:t>
                      </a:r>
                      <a:endParaRPr lang="zh-CN" sz="24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hangingPunct="0">
                        <a:lnSpc>
                          <a:spcPct val="10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3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若左操作数大于等于右操作数结果为真，否则结果为假</a:t>
                      </a:r>
                      <a:endParaRPr lang="zh-CN" sz="23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m&gt;=n</a:t>
                      </a:r>
                      <a:endParaRPr lang="zh-CN" sz="24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true</a:t>
                      </a:r>
                      <a:endParaRPr lang="zh-CN" sz="24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30668"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==</a:t>
                      </a:r>
                      <a:endParaRPr lang="zh-CN" sz="24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等于</a:t>
                      </a:r>
                      <a:endParaRPr lang="zh-CN" sz="24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hangingPunct="0">
                        <a:lnSpc>
                          <a:spcPct val="10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3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若左操作数等于右操作数</a:t>
                      </a:r>
                      <a:endParaRPr lang="zh-CN" sz="23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l" hangingPunct="0">
                        <a:lnSpc>
                          <a:spcPct val="10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3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结果为真，否则结果为假</a:t>
                      </a:r>
                      <a:endParaRPr lang="zh-CN" sz="23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m==n</a:t>
                      </a:r>
                      <a:endParaRPr lang="zh-CN" sz="24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false</a:t>
                      </a:r>
                      <a:endParaRPr lang="zh-CN" sz="24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30668"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!=</a:t>
                      </a:r>
                      <a:endParaRPr lang="zh-CN" sz="24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400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不等于</a:t>
                      </a:r>
                      <a:endParaRPr lang="zh-CN" sz="24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hangingPunct="0">
                        <a:lnSpc>
                          <a:spcPct val="10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3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若左操作数不等于右操作数结果为真，否则结果为假</a:t>
                      </a:r>
                      <a:endParaRPr lang="zh-CN" sz="23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m!=n</a:t>
                      </a:r>
                      <a:endParaRPr lang="zh-CN" sz="24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4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true</a:t>
                      </a:r>
                      <a:endParaRPr lang="zh-CN" sz="24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white">
          <a:xfrm>
            <a:off x="571500" y="44450"/>
            <a:ext cx="5729288" cy="725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pitchFamily="34" charset="0"/>
              </a:defRPr>
            </a:lvl9pPr>
          </a:lstStyle>
          <a:p>
            <a:pPr algn="l">
              <a:defRPr/>
            </a:pPr>
            <a:endParaRPr lang="zh-CN" altLang="en-US" kern="0" dirty="0">
              <a:ea typeface="宋体" panose="02010600030101010101" pitchFamily="2" charset="-122"/>
            </a:endParaRPr>
          </a:p>
        </p:txBody>
      </p:sp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203857" y="769938"/>
            <a:ext cx="8928992" cy="17281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indent="628650">
              <a:lnSpc>
                <a:spcPct val="110000"/>
              </a:lnSpc>
              <a:spcBef>
                <a:spcPts val="600"/>
              </a:spcBef>
              <a:buClr>
                <a:srgbClr val="7030A0"/>
              </a:buClr>
            </a:pPr>
            <a:r>
              <a:rPr lang="en-US" altLang="zh-CN" sz="2400" dirty="0">
                <a:solidFill>
                  <a:srgbClr val="002060"/>
                </a:solidFill>
                <a:latin typeface="宋体" panose="02010600030101010101" pitchFamily="2" charset="-122"/>
              </a:rPr>
              <a:t>C++</a:t>
            </a:r>
            <a:r>
              <a:rPr lang="zh-CN" altLang="en-US" sz="2400" dirty="0">
                <a:solidFill>
                  <a:srgbClr val="002060"/>
                </a:solidFill>
                <a:latin typeface="宋体" panose="02010600030101010101" pitchFamily="2" charset="-122"/>
              </a:rPr>
              <a:t>提供了</a:t>
            </a:r>
            <a:r>
              <a:rPr lang="en-US" altLang="zh-CN" sz="2400" dirty="0">
                <a:solidFill>
                  <a:srgbClr val="002060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rgbClr val="002060"/>
                </a:solidFill>
                <a:latin typeface="宋体" panose="02010600030101010101" pitchFamily="2" charset="-122"/>
              </a:rPr>
              <a:t>种逻辑运算符，逻辑运算的结果是逻辑型。逻辑运算符及其表达式如下表所示。假设已经定义了变量</a:t>
            </a:r>
            <a:r>
              <a:rPr lang="en-US" altLang="zh-CN" sz="2400" dirty="0">
                <a:solidFill>
                  <a:srgbClr val="002060"/>
                </a:solidFill>
                <a:latin typeface="宋体" panose="02010600030101010101" pitchFamily="2" charset="-122"/>
              </a:rPr>
              <a:t>: </a:t>
            </a:r>
            <a:endParaRPr lang="en-US" altLang="zh-CN" sz="2400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 indent="630555" hangingPunct="0"/>
            <a:r>
              <a:rPr lang="en-US" altLang="zh-CN" sz="2400" dirty="0">
                <a:solidFill>
                  <a:srgbClr val="002060"/>
                </a:solidFill>
                <a:latin typeface="宋体" panose="02010600030101010101" pitchFamily="2" charset="-122"/>
              </a:rPr>
              <a:t>int m=10, n=0;   bool x=true, y=false;</a:t>
            </a:r>
            <a:endParaRPr lang="zh-CN" altLang="zh-CN" sz="2400" dirty="0">
              <a:solidFill>
                <a:srgbClr val="002060"/>
              </a:solidFill>
              <a:latin typeface="宋体" panose="02010600030101010101" pitchFamily="2" charset="-122"/>
            </a:endParaRPr>
          </a:p>
          <a:p>
            <a:pPr lvl="0" indent="628650">
              <a:lnSpc>
                <a:spcPct val="110000"/>
              </a:lnSpc>
              <a:spcBef>
                <a:spcPts val="600"/>
              </a:spcBef>
              <a:buClr>
                <a:srgbClr val="7030A0"/>
              </a:buClr>
            </a:pPr>
            <a:endParaRPr lang="zh-CN" altLang="zh-CN" sz="24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-11152" y="2503706"/>
          <a:ext cx="9144001" cy="3859333"/>
        </p:xfrm>
        <a:graphic>
          <a:graphicData uri="http://schemas.openxmlformats.org/drawingml/2006/table">
            <a:tbl>
              <a:tblPr/>
              <a:tblGrid>
                <a:gridCol w="1193926"/>
                <a:gridCol w="1085001"/>
                <a:gridCol w="4477222"/>
                <a:gridCol w="1193926"/>
                <a:gridCol w="1193926"/>
              </a:tblGrid>
              <a:tr h="334763"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000" b="1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运算符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000" b="1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含</a:t>
                      </a:r>
                      <a:r>
                        <a:rPr lang="en-US" sz="2000" b="1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2000" b="1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义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000" b="1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功</a:t>
                      </a:r>
                      <a:r>
                        <a:rPr lang="en-US" sz="2000" b="1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2000" b="1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能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000" b="1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举例</a:t>
                      </a:r>
                      <a:endParaRPr lang="zh-CN" sz="20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000" b="1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运算结果</a:t>
                      </a:r>
                      <a:endParaRPr lang="zh-CN" sz="20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29334">
                <a:tc rowSpan="2"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!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逻辑非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just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若操作数为真（</a:t>
                      </a: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true</a:t>
                      </a:r>
                      <a:r>
                        <a:rPr lang="zh-CN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或非</a:t>
                      </a: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r>
                        <a:rPr lang="zh-CN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），则结果为假（</a:t>
                      </a: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false</a:t>
                      </a:r>
                      <a:r>
                        <a:rPr lang="zh-CN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）；若操作数为假（</a:t>
                      </a: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false</a:t>
                      </a:r>
                      <a:r>
                        <a:rPr lang="zh-CN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或</a:t>
                      </a: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r>
                        <a:rPr lang="zh-CN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），则结果为真（</a:t>
                      </a: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true</a:t>
                      </a:r>
                      <a:r>
                        <a:rPr lang="zh-CN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）；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!m</a:t>
                      </a:r>
                      <a:endParaRPr lang="zh-CN" sz="20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false</a:t>
                      </a:r>
                      <a:endParaRPr lang="zh-CN" sz="20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32048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!y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true</a:t>
                      </a:r>
                      <a:endParaRPr lang="zh-CN" sz="20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6034">
                <a:tc rowSpan="4"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&amp;&amp;</a:t>
                      </a:r>
                      <a:endParaRPr lang="zh-CN" sz="20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逻辑与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just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只有当两个操作数都为真（</a:t>
                      </a: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true</a:t>
                      </a:r>
                      <a:r>
                        <a:rPr lang="zh-CN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或非</a:t>
                      </a: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r>
                        <a:rPr lang="zh-CN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）时，结果才为真，其他情况结果都是假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8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m&amp;&amp;x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8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true</a:t>
                      </a:r>
                      <a:endParaRPr lang="zh-CN" sz="20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6034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8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n&amp;&amp;x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8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false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6034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8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x&amp;&amp;y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8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false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6034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8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m&amp;&amp;y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8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false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4763">
                <a:tc rowSpan="4"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||</a:t>
                      </a:r>
                      <a:endParaRPr lang="zh-CN" sz="20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000" kern="10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逻辑或</a:t>
                      </a:r>
                      <a:endParaRPr lang="zh-CN" sz="2000" kern="10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just" hangingPunct="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zh-CN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只有当两个操作数都为假（</a:t>
                      </a: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false</a:t>
                      </a:r>
                      <a:r>
                        <a:rPr lang="zh-CN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或</a:t>
                      </a: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r>
                        <a:rPr lang="zh-CN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）时，结果才为假，其他情况结果都是真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8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m||x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8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true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4763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8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n||y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8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false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4763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8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x||y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8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true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4763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8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m||y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85000"/>
                        </a:lnSpc>
                        <a:spcAft>
                          <a:spcPts val="0"/>
                        </a:spcAft>
                        <a:tabLst>
                          <a:tab pos="262890" algn="l"/>
                          <a:tab pos="525780" algn="l"/>
                          <a:tab pos="788670" algn="l"/>
                          <a:tab pos="1051560" algn="l"/>
                          <a:tab pos="1314450" algn="l"/>
                          <a:tab pos="1577340" algn="l"/>
                          <a:tab pos="1840230" algn="l"/>
                          <a:tab pos="2103120" algn="l"/>
                          <a:tab pos="2366010" algn="l"/>
                          <a:tab pos="2628900" algn="l"/>
                        </a:tabLst>
                      </a:pPr>
                      <a:r>
                        <a:rPr lang="en-US" sz="2000" kern="100" dirty="0">
                          <a:solidFill>
                            <a:srgbClr val="00206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true</a:t>
                      </a:r>
                      <a:endParaRPr lang="zh-CN" sz="2000" kern="100" dirty="0">
                        <a:solidFill>
                          <a:srgbClr val="00206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36195" marR="361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1990724"/>
          </a:xfrm>
        </p:spPr>
        <p:txBody>
          <a:bodyPr/>
          <a:lstStyle/>
          <a:p>
            <a:r>
              <a:rPr lang="zh-CN" altLang="en-US" dirty="0"/>
              <a:t>分割符（</a:t>
            </a:r>
            <a:r>
              <a:rPr lang="en-US" altLang="zh-CN" dirty="0"/>
              <a:t>separator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没有明确的含义，但在程序中必不可少</a:t>
            </a:r>
            <a:endParaRPr lang="en-US" altLang="zh-CN" dirty="0"/>
          </a:p>
          <a:p>
            <a:pPr lvl="1"/>
            <a:r>
              <a:rPr lang="zh-CN" altLang="en-US" dirty="0"/>
              <a:t>用来界定或分割程序中的语法成分，类似于“标点符号”</a:t>
            </a:r>
            <a:endParaRPr lang="en-US" altLang="zh-CN" dirty="0"/>
          </a:p>
          <a:p>
            <a:pPr lvl="1"/>
            <a:r>
              <a:rPr lang="zh-CN" altLang="en-US" dirty="0"/>
              <a:t>常用分割符有：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212975" y="4005064"/>
            <a:ext cx="4427538" cy="5080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 bwMode="auto">
          <a:xfrm>
            <a:off x="2000232" y="4006225"/>
            <a:ext cx="214314" cy="43088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rIns="0" rtlCol="0">
            <a:spAutoFit/>
          </a:bodyPr>
          <a:lstStyle/>
          <a:p>
            <a:r>
              <a:rPr lang="zh-CN" altLang="en-US" sz="2200" dirty="0">
                <a:solidFill>
                  <a:srgbClr val="0000FF"/>
                </a:solidFill>
              </a:rPr>
              <a:t>˽</a:t>
            </a:r>
            <a:endParaRPr lang="zh-CN" altLang="en-US" sz="22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</a:t>
            </a:r>
            <a:r>
              <a:rPr lang="en-US" altLang="zh-CN" dirty="0"/>
              <a:t>C++</a:t>
            </a:r>
            <a:r>
              <a:rPr lang="zh-CN" altLang="en-US" dirty="0"/>
              <a:t>语言初步</a:t>
            </a:r>
            <a:endParaRPr lang="en-US" altLang="zh-CN" dirty="0"/>
          </a:p>
        </p:txBody>
      </p:sp>
      <p:grpSp>
        <p:nvGrpSpPr>
          <p:cNvPr id="2" name="Group 3"/>
          <p:cNvGrpSpPr/>
          <p:nvPr/>
        </p:nvGrpSpPr>
        <p:grpSpPr bwMode="auto">
          <a:xfrm>
            <a:off x="1828800" y="1714488"/>
            <a:ext cx="762000" cy="665162"/>
            <a:chOff x="1110" y="2656"/>
            <a:chExt cx="1549" cy="1351"/>
          </a:xfrm>
        </p:grpSpPr>
        <p:sp>
          <p:nvSpPr>
            <p:cNvPr id="40964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5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6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7"/>
          <p:cNvGrpSpPr/>
          <p:nvPr/>
        </p:nvGrpSpPr>
        <p:grpSpPr bwMode="auto">
          <a:xfrm>
            <a:off x="1828800" y="2628888"/>
            <a:ext cx="762000" cy="665162"/>
            <a:chOff x="3174" y="2656"/>
            <a:chExt cx="1549" cy="1351"/>
          </a:xfrm>
        </p:grpSpPr>
        <p:sp>
          <p:nvSpPr>
            <p:cNvPr id="40968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9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0" name="AutoShape 10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71" name="Line 11"/>
          <p:cNvSpPr>
            <a:spLocks noChangeShapeType="1"/>
          </p:cNvSpPr>
          <p:nvPr/>
        </p:nvSpPr>
        <p:spPr bwMode="auto">
          <a:xfrm>
            <a:off x="2438400" y="232408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2" name="Text Box 12"/>
          <p:cNvSpPr txBox="1">
            <a:spLocks noChangeArrowheads="1"/>
          </p:cNvSpPr>
          <p:nvPr/>
        </p:nvSpPr>
        <p:spPr bwMode="auto">
          <a:xfrm>
            <a:off x="2667000" y="1790688"/>
            <a:ext cx="3013967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ea typeface="宋体" panose="02010600030101010101" pitchFamily="2" charset="-122"/>
              </a:rPr>
              <a:t>程序的组成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40973" name="Text Box 13"/>
          <p:cNvSpPr txBox="1">
            <a:spLocks noChangeArrowheads="1"/>
          </p:cNvSpPr>
          <p:nvPr/>
        </p:nvSpPr>
        <p:spPr bwMode="gray">
          <a:xfrm>
            <a:off x="2025650" y="181291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40974" name="Line 14"/>
          <p:cNvSpPr>
            <a:spLocks noChangeShapeType="1"/>
          </p:cNvSpPr>
          <p:nvPr/>
        </p:nvSpPr>
        <p:spPr bwMode="auto">
          <a:xfrm>
            <a:off x="2438400" y="323848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5" name="Text Box 15"/>
          <p:cNvSpPr txBox="1">
            <a:spLocks noChangeArrowheads="1"/>
          </p:cNvSpPr>
          <p:nvPr/>
        </p:nvSpPr>
        <p:spPr bwMode="auto">
          <a:xfrm>
            <a:off x="2667000" y="2705088"/>
            <a:ext cx="3834704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ea typeface="宋体" panose="02010600030101010101" pitchFamily="2" charset="-122"/>
              </a:rPr>
              <a:t>语言的基本符号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40976" name="Text Box 16"/>
          <p:cNvSpPr txBox="1">
            <a:spLocks noChangeArrowheads="1"/>
          </p:cNvSpPr>
          <p:nvPr/>
        </p:nvSpPr>
        <p:spPr bwMode="gray">
          <a:xfrm>
            <a:off x="2025650" y="272731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2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pSp>
        <p:nvGrpSpPr>
          <p:cNvPr id="4" name="Group 17"/>
          <p:cNvGrpSpPr/>
          <p:nvPr/>
        </p:nvGrpSpPr>
        <p:grpSpPr bwMode="auto">
          <a:xfrm>
            <a:off x="1828800" y="3521063"/>
            <a:ext cx="762000" cy="665162"/>
            <a:chOff x="1110" y="2656"/>
            <a:chExt cx="1549" cy="1351"/>
          </a:xfrm>
        </p:grpSpPr>
        <p:sp>
          <p:nvSpPr>
            <p:cNvPr id="40978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9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AutoShape 20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1"/>
          <p:cNvGrpSpPr/>
          <p:nvPr/>
        </p:nvGrpSpPr>
        <p:grpSpPr bwMode="auto">
          <a:xfrm>
            <a:off x="1828800" y="4435463"/>
            <a:ext cx="762000" cy="665162"/>
            <a:chOff x="3174" y="2656"/>
            <a:chExt cx="1549" cy="1351"/>
          </a:xfrm>
        </p:grpSpPr>
        <p:sp>
          <p:nvSpPr>
            <p:cNvPr id="40982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3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4" name="AutoShape 24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85" name="Line 25"/>
          <p:cNvSpPr>
            <a:spLocks noChangeShapeType="1"/>
          </p:cNvSpPr>
          <p:nvPr/>
        </p:nvSpPr>
        <p:spPr bwMode="auto">
          <a:xfrm>
            <a:off x="2438400" y="41306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6" name="Text Box 26"/>
          <p:cNvSpPr txBox="1">
            <a:spLocks noChangeArrowheads="1"/>
          </p:cNvSpPr>
          <p:nvPr/>
        </p:nvSpPr>
        <p:spPr bwMode="auto">
          <a:xfrm>
            <a:off x="2667000" y="3597263"/>
            <a:ext cx="3013967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ea typeface="宋体" panose="02010600030101010101" pitchFamily="2" charset="-122"/>
              </a:rPr>
              <a:t>语言的词汇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40987" name="Text Box 27"/>
          <p:cNvSpPr txBox="1">
            <a:spLocks noChangeArrowheads="1"/>
          </p:cNvSpPr>
          <p:nvPr/>
        </p:nvSpPr>
        <p:spPr bwMode="gray">
          <a:xfrm>
            <a:off x="2025650" y="36194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3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40988" name="Line 28"/>
          <p:cNvSpPr>
            <a:spLocks noChangeShapeType="1"/>
          </p:cNvSpPr>
          <p:nvPr/>
        </p:nvSpPr>
        <p:spPr bwMode="auto">
          <a:xfrm>
            <a:off x="2438400" y="50450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9" name="Text Box 29"/>
          <p:cNvSpPr txBox="1">
            <a:spLocks noChangeArrowheads="1"/>
          </p:cNvSpPr>
          <p:nvPr/>
        </p:nvSpPr>
        <p:spPr bwMode="auto">
          <a:xfrm>
            <a:off x="2667000" y="4511663"/>
            <a:ext cx="3834704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solidFill>
                  <a:srgbClr val="C00000"/>
                </a:solidFill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solidFill>
                  <a:srgbClr val="C00000"/>
                </a:solidFill>
                <a:ea typeface="宋体" panose="02010600030101010101" pitchFamily="2" charset="-122"/>
              </a:rPr>
              <a:t>程序的基本框架</a:t>
            </a:r>
            <a:endParaRPr lang="en-US" altLang="zh-CN" sz="3200" b="1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40990" name="Text Box 30"/>
          <p:cNvSpPr txBox="1">
            <a:spLocks noChangeArrowheads="1"/>
          </p:cNvSpPr>
          <p:nvPr/>
        </p:nvSpPr>
        <p:spPr bwMode="gray">
          <a:xfrm>
            <a:off x="2025650" y="45338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4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6" name="Group 3"/>
          <p:cNvGrpSpPr/>
          <p:nvPr/>
        </p:nvGrpSpPr>
        <p:grpSpPr bwMode="auto">
          <a:xfrm>
            <a:off x="1828800" y="5335606"/>
            <a:ext cx="762000" cy="665162"/>
            <a:chOff x="1110" y="2656"/>
            <a:chExt cx="1549" cy="1351"/>
          </a:xfrm>
        </p:grpSpPr>
        <p:sp>
          <p:nvSpPr>
            <p:cNvPr id="41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" name="Line 11"/>
          <p:cNvSpPr>
            <a:spLocks noChangeShapeType="1"/>
          </p:cNvSpPr>
          <p:nvPr/>
        </p:nvSpPr>
        <p:spPr bwMode="auto">
          <a:xfrm>
            <a:off x="2437200" y="5945206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Text Box 12"/>
          <p:cNvSpPr txBox="1">
            <a:spLocks noChangeArrowheads="1"/>
          </p:cNvSpPr>
          <p:nvPr/>
        </p:nvSpPr>
        <p:spPr bwMode="auto">
          <a:xfrm>
            <a:off x="2667600" y="5411806"/>
            <a:ext cx="3834704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ea typeface="宋体" panose="02010600030101010101" pitchFamily="2" charset="-122"/>
              </a:rPr>
              <a:t>程序的设计思路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46" name="Text Box 13"/>
          <p:cNvSpPr txBox="1">
            <a:spLocks noChangeArrowheads="1"/>
          </p:cNvSpPr>
          <p:nvPr/>
        </p:nvSpPr>
        <p:spPr bwMode="gray">
          <a:xfrm>
            <a:off x="2026800" y="5434031"/>
            <a:ext cx="356188" cy="46166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5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AutoShape 3"/>
          <p:cNvSpPr>
            <a:spLocks noChangeArrowheads="1"/>
          </p:cNvSpPr>
          <p:nvPr/>
        </p:nvSpPr>
        <p:spPr bwMode="gray">
          <a:xfrm>
            <a:off x="1668463" y="2555875"/>
            <a:ext cx="5759450" cy="2159000"/>
          </a:xfrm>
          <a:prstGeom prst="upArrow">
            <a:avLst>
              <a:gd name="adj1" fmla="val 57296"/>
              <a:gd name="adj2" fmla="val 62796"/>
            </a:avLst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tint val="33333"/>
                  <a:invGamma/>
                  <a:alpha val="0"/>
                </a:schemeClr>
              </a:gs>
            </a:gsLst>
            <a:lin ang="5400000" scaled="1"/>
          </a:gradFill>
          <a:ln w="9525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4691063" y="4279900"/>
            <a:ext cx="1512887" cy="1511300"/>
            <a:chOff x="2200" y="1570"/>
            <a:chExt cx="1496" cy="1496"/>
          </a:xfrm>
        </p:grpSpPr>
        <p:sp>
          <p:nvSpPr>
            <p:cNvPr id="58373" name="Oval 5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74" name="Oval 6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5725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75" name="Oval 7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54118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76" name="Oval 8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77" name="Oval 9"/>
            <p:cNvSpPr>
              <a:spLocks noChangeArrowheads="1"/>
            </p:cNvSpPr>
            <p:nvPr/>
          </p:nvSpPr>
          <p:spPr bwMode="gray">
            <a:xfrm>
              <a:off x="2363" y="1733"/>
              <a:ext cx="1170" cy="1170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16"/>
          <p:cNvGrpSpPr/>
          <p:nvPr/>
        </p:nvGrpSpPr>
        <p:grpSpPr bwMode="auto">
          <a:xfrm>
            <a:off x="6564313" y="4279900"/>
            <a:ext cx="1512887" cy="1511300"/>
            <a:chOff x="2200" y="1570"/>
            <a:chExt cx="1496" cy="1496"/>
          </a:xfrm>
        </p:grpSpPr>
        <p:sp>
          <p:nvSpPr>
            <p:cNvPr id="58385" name="Oval 17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folHlink">
                    <a:gamma/>
                    <a:tint val="0"/>
                    <a:invGamma/>
                  </a:schemeClr>
                </a:gs>
                <a:gs pos="5000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86" name="Oval 18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folHlink">
                    <a:gamma/>
                    <a:tint val="66667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87" name="Oval 19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folHlink">
                    <a:gamma/>
                    <a:shade val="54118"/>
                    <a:invGamma/>
                  </a:schemeClr>
                </a:gs>
                <a:gs pos="50000">
                  <a:schemeClr val="folHlink"/>
                </a:gs>
                <a:gs pos="100000">
                  <a:schemeClr val="fol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88" name="Oval 20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89" name="Oval 21"/>
            <p:cNvSpPr>
              <a:spLocks noChangeArrowheads="1"/>
            </p:cNvSpPr>
            <p:nvPr/>
          </p:nvSpPr>
          <p:spPr bwMode="gray">
            <a:xfrm>
              <a:off x="2363" y="1733"/>
              <a:ext cx="1170" cy="1170"/>
            </a:xfrm>
            <a:prstGeom prst="ellipse">
              <a:avLst/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" name="Group 22"/>
          <p:cNvGrpSpPr/>
          <p:nvPr/>
        </p:nvGrpSpPr>
        <p:grpSpPr bwMode="auto">
          <a:xfrm>
            <a:off x="2892425" y="4279900"/>
            <a:ext cx="1512888" cy="1511300"/>
            <a:chOff x="2200" y="1570"/>
            <a:chExt cx="1496" cy="1496"/>
          </a:xfrm>
        </p:grpSpPr>
        <p:sp>
          <p:nvSpPr>
            <p:cNvPr id="58391" name="Oval 23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92" name="Oval 24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69804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93" name="Oval 25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94" name="Oval 26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95" name="Oval 27"/>
            <p:cNvSpPr>
              <a:spLocks noChangeArrowheads="1"/>
            </p:cNvSpPr>
            <p:nvPr/>
          </p:nvSpPr>
          <p:spPr bwMode="gray">
            <a:xfrm>
              <a:off x="2363" y="1733"/>
              <a:ext cx="1170" cy="117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8396" name="AutoShape 28"/>
          <p:cNvSpPr>
            <a:spLocks noChangeArrowheads="1"/>
          </p:cNvSpPr>
          <p:nvPr/>
        </p:nvSpPr>
        <p:spPr bwMode="auto">
          <a:xfrm>
            <a:off x="2109788" y="1917700"/>
            <a:ext cx="487680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hlink"/>
              </a:gs>
              <a:gs pos="50000">
                <a:schemeClr val="hlink">
                  <a:gamma/>
                  <a:tint val="18039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 w="19050">
            <a:solidFill>
              <a:schemeClr val="tx2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 b="1" dirty="0">
                <a:ea typeface="宋体" panose="02010600030101010101" pitchFamily="2" charset="-122"/>
              </a:rPr>
              <a:t>C++</a:t>
            </a:r>
            <a:r>
              <a:rPr lang="zh-CN" altLang="en-US" sz="2400" b="1" dirty="0">
                <a:ea typeface="宋体" panose="02010600030101010101" pitchFamily="2" charset="-122"/>
              </a:rPr>
              <a:t>程序的基本框架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sp>
        <p:nvSpPr>
          <p:cNvPr id="58398" name="Rectangle 30"/>
          <p:cNvSpPr>
            <a:spLocks noChangeArrowheads="1"/>
          </p:cNvSpPr>
          <p:nvPr/>
        </p:nvSpPr>
        <p:spPr bwMode="white">
          <a:xfrm>
            <a:off x="4929190" y="4714884"/>
            <a:ext cx="1107996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结构程序</a:t>
            </a:r>
            <a:endParaRPr lang="en-US" altLang="zh-CN" dirty="0">
              <a:solidFill>
                <a:schemeClr val="bg1"/>
              </a:solidFill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框架</a:t>
            </a:r>
            <a:endParaRPr lang="en-US" altLang="zh-CN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58399" name="Rectangle 31"/>
          <p:cNvSpPr>
            <a:spLocks noChangeArrowheads="1"/>
          </p:cNvSpPr>
          <p:nvPr/>
        </p:nvSpPr>
        <p:spPr bwMode="white">
          <a:xfrm>
            <a:off x="3214678" y="4845618"/>
            <a:ext cx="877163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主函数</a:t>
            </a:r>
            <a:endParaRPr lang="en-US" altLang="zh-CN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58400" name="Rectangle 32"/>
          <p:cNvSpPr>
            <a:spLocks noChangeArrowheads="1"/>
          </p:cNvSpPr>
          <p:nvPr/>
        </p:nvSpPr>
        <p:spPr bwMode="white">
          <a:xfrm>
            <a:off x="6786578" y="4714884"/>
            <a:ext cx="1107996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面向对象</a:t>
            </a:r>
            <a:endParaRPr lang="en-US" altLang="zh-CN" dirty="0">
              <a:solidFill>
                <a:schemeClr val="bg1"/>
              </a:solidFill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程序框架</a:t>
            </a:r>
            <a:endParaRPr lang="en-US" altLang="zh-CN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pSp>
        <p:nvGrpSpPr>
          <p:cNvPr id="5" name="Group 33"/>
          <p:cNvGrpSpPr/>
          <p:nvPr/>
        </p:nvGrpSpPr>
        <p:grpSpPr bwMode="auto">
          <a:xfrm>
            <a:off x="1119188" y="4279900"/>
            <a:ext cx="1512887" cy="1511300"/>
            <a:chOff x="2200" y="1570"/>
            <a:chExt cx="1496" cy="1496"/>
          </a:xfrm>
        </p:grpSpPr>
        <p:sp>
          <p:nvSpPr>
            <p:cNvPr id="58402" name="Oval 34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0"/>
                    <a:invGamma/>
                  </a:schemeClr>
                </a:gs>
                <a:gs pos="50000">
                  <a:schemeClr val="tx2"/>
                </a:gs>
                <a:gs pos="100000">
                  <a:schemeClr val="tx2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403" name="Oval 35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69804"/>
                    <a:invGamma/>
                  </a:schemeClr>
                </a:gs>
                <a:gs pos="100000">
                  <a:schemeClr val="tx2"/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404" name="Oval 36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shade val="54118"/>
                    <a:invGamma/>
                  </a:schemeClr>
                </a:gs>
                <a:gs pos="50000">
                  <a:schemeClr val="tx2"/>
                </a:gs>
                <a:gs pos="100000">
                  <a:schemeClr val="tx2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405" name="Oval 37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tx2"/>
                </a:gs>
                <a:gs pos="100000">
                  <a:schemeClr val="tx2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406" name="Oval 38"/>
            <p:cNvSpPr>
              <a:spLocks noChangeArrowheads="1"/>
            </p:cNvSpPr>
            <p:nvPr/>
          </p:nvSpPr>
          <p:spPr bwMode="gray">
            <a:xfrm>
              <a:off x="2363" y="1733"/>
              <a:ext cx="1170" cy="1170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54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8407" name="Rectangle 39"/>
          <p:cNvSpPr>
            <a:spLocks noChangeArrowheads="1"/>
          </p:cNvSpPr>
          <p:nvPr/>
        </p:nvSpPr>
        <p:spPr bwMode="white">
          <a:xfrm>
            <a:off x="1214414" y="4845618"/>
            <a:ext cx="1338828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预处理命令</a:t>
            </a:r>
            <a:endParaRPr lang="en-US" altLang="zh-CN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6" name="标题 3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程序的基本框架</a:t>
            </a:r>
            <a:endParaRPr lang="zh-CN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085928"/>
          </a:xfrm>
        </p:spPr>
        <p:txBody>
          <a:bodyPr/>
          <a:lstStyle/>
          <a:p>
            <a:r>
              <a:rPr lang="zh-CN" altLang="en-US" dirty="0"/>
              <a:t>以标识符</a:t>
            </a:r>
            <a:r>
              <a:rPr lang="en-US" altLang="zh-CN" dirty="0"/>
              <a:t>main</a:t>
            </a:r>
            <a:r>
              <a:rPr lang="zh-CN" altLang="en-US" dirty="0"/>
              <a:t>命名的、具有特殊性质和功能的函数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/>
              <a:t>C++</a:t>
            </a:r>
            <a:r>
              <a:rPr lang="zh-CN" altLang="en-US" dirty="0"/>
              <a:t>程序的主控模块或入口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不能被其它函数调用，不能作其它属性声明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返回值类型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en-US" altLang="zh-CN" dirty="0"/>
              <a:t>void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en-US" altLang="zh-CN" dirty="0" err="1"/>
              <a:t>int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参数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zh-CN" altLang="en-US" dirty="0"/>
              <a:t>不带参数</a:t>
            </a:r>
            <a:endParaRPr lang="en-US" altLang="zh-CN" dirty="0"/>
          </a:p>
          <a:p>
            <a:pPr lvl="3">
              <a:spcBef>
                <a:spcPts val="0"/>
              </a:spcBef>
            </a:pPr>
            <a:r>
              <a:rPr lang="en-US" altLang="zh-CN" dirty="0"/>
              <a:t>Void main()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zh-CN" altLang="en-US" dirty="0"/>
              <a:t>带参数</a:t>
            </a:r>
            <a:endParaRPr lang="en-US" altLang="zh-CN" dirty="0"/>
          </a:p>
          <a:p>
            <a:pPr lvl="3">
              <a:spcBef>
                <a:spcPts val="0"/>
              </a:spcBef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argc</a:t>
            </a:r>
            <a:endParaRPr lang="en-US" altLang="zh-CN" dirty="0"/>
          </a:p>
          <a:p>
            <a:pPr lvl="3">
              <a:spcBef>
                <a:spcPts val="0"/>
              </a:spcBef>
            </a:pPr>
            <a:r>
              <a:rPr lang="en-US" altLang="zh-CN" dirty="0"/>
              <a:t>char * </a:t>
            </a:r>
            <a:r>
              <a:rPr lang="en-US" altLang="zh-CN" dirty="0" err="1"/>
              <a:t>argv</a:t>
            </a:r>
            <a:r>
              <a:rPr lang="en-US" altLang="zh-CN" dirty="0"/>
              <a:t>[ ]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490526"/>
          </a:xfrm>
        </p:spPr>
        <p:txBody>
          <a:bodyPr/>
          <a:lstStyle/>
          <a:p>
            <a:r>
              <a:rPr lang="zh-CN" altLang="en-US" dirty="0"/>
              <a:t>主函数的写法</a:t>
            </a:r>
            <a:endParaRPr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14348" y="2571744"/>
          <a:ext cx="771530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60"/>
                <a:gridCol w="2286016"/>
                <a:gridCol w="400052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返回值类型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不带参数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带参数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void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void main()</a:t>
                      </a:r>
                      <a:endParaRPr lang="zh-CN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void main(</a:t>
                      </a:r>
                      <a:r>
                        <a:rPr lang="en-US" altLang="zh-CN" dirty="0" err="1"/>
                        <a:t>int</a:t>
                      </a:r>
                      <a:r>
                        <a:rPr lang="en-US" altLang="zh-CN" dirty="0"/>
                        <a:t> </a:t>
                      </a:r>
                      <a:r>
                        <a:rPr lang="en-US" altLang="zh-CN" dirty="0" err="1"/>
                        <a:t>argc</a:t>
                      </a:r>
                      <a:r>
                        <a:rPr lang="en-US" altLang="zh-CN" dirty="0"/>
                        <a:t>, char* </a:t>
                      </a:r>
                      <a:r>
                        <a:rPr lang="en-US" altLang="zh-CN" dirty="0" err="1"/>
                        <a:t>argv</a:t>
                      </a:r>
                      <a:r>
                        <a:rPr lang="en-US" altLang="zh-CN" dirty="0"/>
                        <a:t>[</a:t>
                      </a:r>
                      <a:r>
                        <a:rPr lang="en-US" altLang="zh-CN" baseline="0" dirty="0"/>
                        <a:t>]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void main(void)</a:t>
                      </a:r>
                      <a:endParaRPr lang="zh-CN" altLang="en-US" dirty="0"/>
                    </a:p>
                  </a:txBody>
                  <a:tcPr/>
                </a:tc>
                <a:tc vMerge="1"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int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int</a:t>
                      </a:r>
                      <a:r>
                        <a:rPr lang="en-US" altLang="zh-CN" dirty="0"/>
                        <a:t> main()</a:t>
                      </a:r>
                      <a:endParaRPr lang="zh-CN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err="1"/>
                        <a:t>int</a:t>
                      </a:r>
                      <a:r>
                        <a:rPr lang="en-US" altLang="zh-CN" dirty="0"/>
                        <a:t> main(</a:t>
                      </a:r>
                      <a:r>
                        <a:rPr lang="en-US" altLang="zh-CN" dirty="0" err="1"/>
                        <a:t>int</a:t>
                      </a:r>
                      <a:r>
                        <a:rPr lang="en-US" altLang="zh-CN" dirty="0"/>
                        <a:t> </a:t>
                      </a:r>
                      <a:r>
                        <a:rPr lang="en-US" altLang="zh-CN" dirty="0" err="1"/>
                        <a:t>argc</a:t>
                      </a:r>
                      <a:r>
                        <a:rPr lang="en-US" altLang="zh-CN" dirty="0"/>
                        <a:t>, char* </a:t>
                      </a:r>
                      <a:r>
                        <a:rPr lang="en-US" altLang="zh-CN" dirty="0" err="1"/>
                        <a:t>argv</a:t>
                      </a:r>
                      <a:r>
                        <a:rPr lang="en-US" altLang="zh-CN" dirty="0"/>
                        <a:t>[</a:t>
                      </a:r>
                      <a:r>
                        <a:rPr lang="en-US" altLang="zh-CN" baseline="0" dirty="0"/>
                        <a:t>]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int</a:t>
                      </a:r>
                      <a:r>
                        <a:rPr lang="en-US" altLang="zh-CN" dirty="0"/>
                        <a:t> main(void)</a:t>
                      </a:r>
                      <a:endParaRPr lang="zh-CN" altLang="en-US" dirty="0"/>
                    </a:p>
                  </a:txBody>
                  <a:tcPr/>
                </a:tc>
                <a:tc vMerge="1"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缺省（返回值为</a:t>
                      </a:r>
                      <a:r>
                        <a:rPr lang="en-US" altLang="zh-CN" dirty="0" err="1"/>
                        <a:t>int</a:t>
                      </a:r>
                      <a:r>
                        <a:rPr lang="zh-CN" altLang="en-US" dirty="0"/>
                        <a:t>）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main()</a:t>
                      </a:r>
                      <a:endParaRPr lang="zh-CN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dirty="0"/>
                        <a:t>main(</a:t>
                      </a:r>
                      <a:r>
                        <a:rPr lang="en-US" altLang="zh-CN" dirty="0" err="1"/>
                        <a:t>int</a:t>
                      </a:r>
                      <a:r>
                        <a:rPr lang="en-US" altLang="zh-CN" dirty="0"/>
                        <a:t> </a:t>
                      </a:r>
                      <a:r>
                        <a:rPr lang="en-US" altLang="zh-CN" dirty="0" err="1"/>
                        <a:t>argc</a:t>
                      </a:r>
                      <a:r>
                        <a:rPr lang="en-US" altLang="zh-CN" dirty="0"/>
                        <a:t>, char* </a:t>
                      </a:r>
                      <a:r>
                        <a:rPr lang="en-US" altLang="zh-CN" dirty="0" err="1"/>
                        <a:t>argv</a:t>
                      </a:r>
                      <a:r>
                        <a:rPr lang="en-US" altLang="zh-CN" dirty="0"/>
                        <a:t>[</a:t>
                      </a:r>
                      <a:r>
                        <a:rPr lang="en-US" altLang="zh-CN" baseline="0" dirty="0"/>
                        <a:t>]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main(void)</a:t>
                      </a:r>
                      <a:endParaRPr lang="zh-CN" altLang="en-US" dirty="0"/>
                    </a:p>
                  </a:txBody>
                  <a:tcPr/>
                </a:tc>
                <a:tc v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预处理命令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zh-CN" altLang="en-US" dirty="0"/>
              <a:t>以符号“</a:t>
            </a:r>
            <a:r>
              <a:rPr lang="en-US" altLang="zh-CN" dirty="0"/>
              <a:t>#</a:t>
            </a:r>
            <a:r>
              <a:rPr lang="zh-CN" altLang="en-US" dirty="0"/>
              <a:t>”开头</a:t>
            </a:r>
            <a:endParaRPr lang="en-US" altLang="zh-CN" dirty="0"/>
          </a:p>
          <a:p>
            <a:pPr>
              <a:spcBef>
                <a:spcPts val="0"/>
              </a:spcBef>
            </a:pPr>
            <a:r>
              <a:rPr lang="zh-CN" altLang="en-US" dirty="0"/>
              <a:t>指出编译程序之前需完成的预处理工作</a:t>
            </a:r>
            <a:endParaRPr lang="en-US" altLang="zh-CN" dirty="0"/>
          </a:p>
          <a:p>
            <a:pPr>
              <a:spcBef>
                <a:spcPts val="0"/>
              </a:spcBef>
            </a:pPr>
            <a:r>
              <a:rPr lang="zh-CN" altLang="en-US" dirty="0"/>
              <a:t>主要预处理命令包括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文件嵌入命令</a:t>
            </a:r>
            <a:r>
              <a:rPr lang="en-US" altLang="zh-CN" dirty="0"/>
              <a:t>include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宏定义命令</a:t>
            </a:r>
            <a:r>
              <a:rPr lang="en-US" altLang="zh-CN" dirty="0"/>
              <a:t>define</a:t>
            </a:r>
            <a:r>
              <a:rPr lang="zh-CN" altLang="en-US" dirty="0"/>
              <a:t>和</a:t>
            </a:r>
            <a:r>
              <a:rPr lang="en-US" altLang="zh-CN" dirty="0" err="1"/>
              <a:t>undef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条件编译命令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en-US" altLang="zh-CN" dirty="0"/>
              <a:t>#if……#</a:t>
            </a:r>
            <a:r>
              <a:rPr lang="en-US" altLang="zh-CN" dirty="0" err="1"/>
              <a:t>endif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en-US" altLang="zh-CN" dirty="0"/>
              <a:t>#</a:t>
            </a:r>
            <a:r>
              <a:rPr lang="en-US" altLang="zh-CN" dirty="0" err="1"/>
              <a:t>ifdef</a:t>
            </a:r>
            <a:r>
              <a:rPr lang="zh-CN" altLang="en-US" dirty="0"/>
              <a:t>和</a:t>
            </a:r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en-US" altLang="zh-CN" dirty="0"/>
              <a:t>#</a:t>
            </a:r>
            <a:r>
              <a:rPr lang="en-US" altLang="zh-CN" dirty="0" err="1"/>
              <a:t>ifndef</a:t>
            </a:r>
            <a:r>
              <a:rPr lang="zh-CN" altLang="en-US" dirty="0"/>
              <a:t>和</a:t>
            </a:r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en-US" altLang="zh-CN" dirty="0"/>
              <a:t>#</a:t>
            </a:r>
            <a:r>
              <a:rPr lang="en-US" altLang="zh-CN" dirty="0" err="1"/>
              <a:t>elif</a:t>
            </a:r>
            <a:r>
              <a:rPr lang="zh-CN" altLang="en-US" dirty="0"/>
              <a:t>和</a:t>
            </a:r>
            <a:r>
              <a:rPr lang="en-US" altLang="zh-CN" dirty="0"/>
              <a:t>#else</a:t>
            </a:r>
            <a:r>
              <a:rPr lang="zh-CN" altLang="en-US" dirty="0"/>
              <a:t>、</a:t>
            </a:r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zh-CN" altLang="en-US" dirty="0"/>
              <a:t>错误报告命令</a:t>
            </a:r>
            <a:r>
              <a:rPr lang="en-US" altLang="zh-CN" dirty="0"/>
              <a:t>#error</a:t>
            </a:r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预处理命令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文件嵌入命令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要求系统在编译之前把它指明的文件嵌入到该命令所在位置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zh-CN" altLang="en-US" dirty="0"/>
              <a:t>＃</a:t>
            </a:r>
            <a:r>
              <a:rPr lang="en-US" altLang="zh-CN" dirty="0"/>
              <a:t>include &lt; &lt;</a:t>
            </a:r>
            <a:r>
              <a:rPr lang="zh-CN" altLang="en-US" dirty="0"/>
              <a:t>文件名</a:t>
            </a:r>
            <a:r>
              <a:rPr lang="en-US" altLang="zh-CN" dirty="0"/>
              <a:t>&gt; &gt;</a:t>
            </a:r>
            <a:r>
              <a:rPr lang="zh-CN" altLang="en-US" dirty="0"/>
              <a:t>嵌入的是系统提供的头文件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zh-CN" altLang="en-US" dirty="0"/>
              <a:t>＃</a:t>
            </a:r>
            <a:r>
              <a:rPr lang="en-US" altLang="zh-CN" dirty="0"/>
              <a:t>include “ &lt;</a:t>
            </a:r>
            <a:r>
              <a:rPr lang="zh-CN" altLang="en-US" dirty="0"/>
              <a:t>文件名</a:t>
            </a:r>
            <a:r>
              <a:rPr lang="en-US" altLang="zh-CN" dirty="0"/>
              <a:t>&gt; ”</a:t>
            </a:r>
            <a:r>
              <a:rPr lang="zh-CN" altLang="en-US" dirty="0"/>
              <a:t>嵌入的头文件是用户自己设计的头文件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每一</a:t>
            </a:r>
            <a:r>
              <a:rPr lang="en-US" altLang="zh-CN" dirty="0"/>
              <a:t>include </a:t>
            </a:r>
            <a:r>
              <a:rPr lang="zh-CN" altLang="en-US" dirty="0"/>
              <a:t>命令只指定一个包含文件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文件的包含可以嵌套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例如</a:t>
            </a:r>
            <a:endParaRPr lang="en-US" altLang="zh-CN" dirty="0"/>
          </a:p>
          <a:p>
            <a:pPr lvl="2">
              <a:spcBef>
                <a:spcPts val="0"/>
              </a:spcBef>
            </a:pPr>
            <a:r>
              <a:rPr lang="en-US" altLang="zh-CN" dirty="0"/>
              <a:t>#</a:t>
            </a:r>
            <a:r>
              <a:rPr lang="en-US" altLang="zh-CN" dirty="0" err="1"/>
              <a:t>inlcude</a:t>
            </a:r>
            <a:r>
              <a:rPr lang="en-US" altLang="zh-CN" dirty="0"/>
              <a:t>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  <a:r>
              <a:rPr lang="zh-CN" altLang="en-US" dirty="0"/>
              <a:t>将文件</a:t>
            </a:r>
            <a:r>
              <a:rPr lang="en-US" altLang="zh-CN" dirty="0" err="1"/>
              <a:t>iostream</a:t>
            </a:r>
            <a:r>
              <a:rPr lang="zh-CN" altLang="en-US" dirty="0"/>
              <a:t>包含在</a:t>
            </a:r>
            <a:r>
              <a:rPr lang="en-US" altLang="zh-CN" dirty="0"/>
              <a:t>C++</a:t>
            </a:r>
            <a:r>
              <a:rPr lang="zh-CN" altLang="en-US" dirty="0"/>
              <a:t>源程序中调用该命令的位置</a:t>
            </a:r>
            <a:endParaRPr lang="zh-CN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命名空间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644876"/>
          </a:xfrm>
        </p:spPr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标准程序库中的所有标识符都被定义于一个名为</a:t>
            </a:r>
            <a:r>
              <a:rPr lang="en-US" altLang="zh-CN" dirty="0" err="1"/>
              <a:t>std</a:t>
            </a:r>
            <a:r>
              <a:rPr lang="zh-CN" altLang="en-US" dirty="0"/>
              <a:t>的</a:t>
            </a:r>
            <a:r>
              <a:rPr lang="en-US" altLang="zh-CN" dirty="0"/>
              <a:t>namespace</a:t>
            </a:r>
            <a:r>
              <a:rPr lang="zh-CN" altLang="en-US" dirty="0"/>
              <a:t>中</a:t>
            </a:r>
            <a:endParaRPr lang="en-US" altLang="zh-CN" dirty="0"/>
          </a:p>
          <a:p>
            <a:pPr lvl="1"/>
            <a:r>
              <a:rPr lang="en-US" altLang="zh-CN" dirty="0" err="1"/>
              <a:t>cout</a:t>
            </a:r>
            <a:endParaRPr lang="en-US" altLang="zh-CN" dirty="0"/>
          </a:p>
          <a:p>
            <a:pPr lvl="1"/>
            <a:r>
              <a:rPr lang="en-US" altLang="zh-CN" dirty="0" err="1"/>
              <a:t>cin</a:t>
            </a:r>
            <a:endParaRPr lang="en-US" altLang="zh-CN" dirty="0"/>
          </a:p>
          <a:p>
            <a:pPr lvl="1"/>
            <a:r>
              <a:rPr lang="en-US" altLang="zh-CN" dirty="0" err="1"/>
              <a:t>endl</a:t>
            </a:r>
            <a:endParaRPr lang="en-US" altLang="zh-CN" dirty="0"/>
          </a:p>
          <a:p>
            <a:pPr lvl="1"/>
            <a:r>
              <a:rPr lang="en-US" altLang="zh-CN" dirty="0"/>
              <a:t>…</a:t>
            </a:r>
            <a:endParaRPr lang="en-US" altLang="zh-CN" dirty="0"/>
          </a:p>
          <a:p>
            <a:r>
              <a:rPr lang="zh-CN" altLang="en-US" dirty="0"/>
              <a:t>如果不使用</a:t>
            </a:r>
            <a:r>
              <a:rPr lang="en-US" altLang="zh-CN" dirty="0" err="1"/>
              <a:t>std</a:t>
            </a:r>
            <a:r>
              <a:rPr lang="zh-CN" altLang="en-US" dirty="0"/>
              <a:t>，输出语句应写为</a:t>
            </a:r>
            <a:endParaRPr lang="en-US" altLang="zh-CN" dirty="0"/>
          </a:p>
          <a:p>
            <a:pPr lvl="1"/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cout</a:t>
            </a:r>
            <a:r>
              <a:rPr lang="en-US" altLang="zh-CN" dirty="0"/>
              <a:t>&lt;&lt;…&lt;&lt;</a:t>
            </a:r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宏定义命令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宏定义（＃</a:t>
            </a:r>
            <a:r>
              <a:rPr lang="en-US" altLang="zh-CN" dirty="0"/>
              <a:t>define</a:t>
            </a:r>
            <a:r>
              <a:rPr lang="zh-CN" altLang="en-US" dirty="0"/>
              <a:t>）命令亦称宏替换命令，与其相关的还有取消宏定义</a:t>
            </a:r>
            <a:r>
              <a:rPr lang="en-US" altLang="zh-CN" dirty="0"/>
              <a:t>(#</a:t>
            </a:r>
            <a:r>
              <a:rPr lang="en-US" altLang="zh-CN" dirty="0" err="1"/>
              <a:t>undef</a:t>
            </a:r>
            <a:r>
              <a:rPr lang="en-US" altLang="zh-CN" dirty="0"/>
              <a:t>)</a:t>
            </a:r>
            <a:r>
              <a:rPr lang="zh-CN" altLang="en-US" dirty="0"/>
              <a:t>命令</a:t>
            </a:r>
            <a:endParaRPr lang="en-US" altLang="zh-CN" dirty="0"/>
          </a:p>
          <a:p>
            <a:r>
              <a:rPr lang="zh-CN" altLang="en-US" dirty="0"/>
              <a:t>宏定义命令格式</a:t>
            </a:r>
            <a:endParaRPr lang="en-US" altLang="zh-CN" dirty="0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dirty="0"/>
              <a:t>#define &lt;</a:t>
            </a:r>
            <a:r>
              <a:rPr lang="zh-CN" altLang="en-US" dirty="0"/>
              <a:t>宏名</a:t>
            </a:r>
            <a:r>
              <a:rPr lang="en-US" altLang="zh-CN" dirty="0"/>
              <a:t>&gt; &lt;</a:t>
            </a:r>
            <a:r>
              <a:rPr lang="zh-CN" altLang="en-US" dirty="0"/>
              <a:t>宏替换体</a:t>
            </a:r>
            <a:r>
              <a:rPr lang="en-US" altLang="zh-CN" dirty="0"/>
              <a:t>&gt; </a:t>
            </a:r>
            <a:endParaRPr lang="en-US" altLang="zh-CN" dirty="0"/>
          </a:p>
          <a:p>
            <a:pPr lvl="1">
              <a:lnSpc>
                <a:spcPct val="80000"/>
              </a:lnSpc>
            </a:pPr>
            <a:r>
              <a:rPr lang="en-US" altLang="zh-CN" dirty="0"/>
              <a:t>#</a:t>
            </a:r>
            <a:r>
              <a:rPr lang="en-US" altLang="zh-CN" dirty="0" err="1"/>
              <a:t>undef</a:t>
            </a:r>
            <a:r>
              <a:rPr lang="en-US" altLang="zh-CN" dirty="0"/>
              <a:t> &lt;</a:t>
            </a:r>
            <a:r>
              <a:rPr lang="zh-CN" altLang="en-US" dirty="0"/>
              <a:t>宏名</a:t>
            </a:r>
            <a:r>
              <a:rPr lang="en-US" altLang="zh-CN" dirty="0"/>
              <a:t>&gt;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zh-CN" altLang="en-US" dirty="0"/>
              <a:t>宏定义可以作为常量说明</a:t>
            </a:r>
            <a:r>
              <a:rPr lang="en-US" altLang="zh-CN" dirty="0"/>
              <a:t>,</a:t>
            </a:r>
            <a:r>
              <a:rPr lang="zh-CN" altLang="en-US" dirty="0"/>
              <a:t>也可以出现在另一个宏定义的宏替换体中 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zh-CN" altLang="en-US" dirty="0"/>
              <a:t>宏替换体也可以是符号、字符串、可执行的表达式语句，也可以为空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zh-CN" altLang="en-US" dirty="0"/>
              <a:t>一种复杂的宏替换是带参数的宏替换</a:t>
            </a:r>
            <a:endParaRPr lang="en-US" altLang="zh-CN" dirty="0"/>
          </a:p>
          <a:p>
            <a:pPr lvl="1">
              <a:lnSpc>
                <a:spcPct val="80000"/>
              </a:lnSpc>
            </a:pPr>
            <a:r>
              <a:rPr lang="en-US" altLang="zh-CN" dirty="0"/>
              <a:t>#define &lt;</a:t>
            </a:r>
            <a:r>
              <a:rPr lang="zh-CN" altLang="en-US" dirty="0"/>
              <a:t>宏名</a:t>
            </a:r>
            <a:r>
              <a:rPr lang="en-US" altLang="zh-CN" dirty="0"/>
              <a:t>&gt;&lt;</a:t>
            </a:r>
            <a:r>
              <a:rPr lang="zh-CN" altLang="en-US" dirty="0"/>
              <a:t>形参</a:t>
            </a:r>
            <a:r>
              <a:rPr lang="en-US" altLang="zh-CN" dirty="0"/>
              <a:t>&gt;&lt;</a:t>
            </a:r>
            <a:r>
              <a:rPr lang="zh-CN" altLang="en-US" dirty="0"/>
              <a:t>宏替换体</a:t>
            </a:r>
            <a:r>
              <a:rPr lang="en-US" altLang="zh-CN" dirty="0"/>
              <a:t>&gt;</a:t>
            </a:r>
            <a:endParaRPr lang="en-US" altLang="zh-CN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结构程序框架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结构程序设计（</a:t>
            </a:r>
            <a:r>
              <a:rPr lang="en-US" altLang="zh-CN" dirty="0"/>
              <a:t>SP</a:t>
            </a:r>
            <a:r>
              <a:rPr lang="zh-CN" altLang="en-US" dirty="0"/>
              <a:t>）的基本思想是自顶向下逐步求精，在编程时总是把一个大的复杂的任务逐步划分为若干子任务，形成用一个个相对简单的独立的程序功能模块</a:t>
            </a:r>
            <a:endParaRPr lang="zh-CN" altLang="en-US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268538" y="3716338"/>
            <a:ext cx="4556125" cy="160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结构程序框架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缺点</a:t>
            </a:r>
            <a:endParaRPr lang="en-US" altLang="zh-CN" dirty="0"/>
          </a:p>
          <a:p>
            <a:pPr lvl="1"/>
            <a:r>
              <a:rPr lang="en-US" altLang="zh-CN" sz="2400" dirty="0"/>
              <a:t>SP</a:t>
            </a:r>
            <a:r>
              <a:rPr lang="zh-CN" altLang="en-US" sz="2400" dirty="0"/>
              <a:t>方法没有充分利用</a:t>
            </a:r>
            <a:r>
              <a:rPr lang="en-US" altLang="zh-CN" sz="2400" dirty="0"/>
              <a:t>C++</a:t>
            </a:r>
            <a:r>
              <a:rPr lang="zh-CN" altLang="en-US" sz="2400" dirty="0"/>
              <a:t>语言提供的有力手段。</a:t>
            </a:r>
            <a:endParaRPr lang="en-US" altLang="zh-CN" sz="2400" dirty="0"/>
          </a:p>
          <a:p>
            <a:pPr lvl="1"/>
            <a:r>
              <a:rPr lang="zh-CN" altLang="en-US" sz="2400" dirty="0"/>
              <a:t>以函数为中心对程序进行模块划分，主要是依照程序模块的功能特征，划分具有相当大的随意性。</a:t>
            </a:r>
            <a:endParaRPr lang="en-US" altLang="zh-CN" sz="2400" dirty="0"/>
          </a:p>
          <a:p>
            <a:pPr lvl="1"/>
            <a:r>
              <a:rPr lang="en-US" altLang="zh-CN" sz="2400" dirty="0"/>
              <a:t>C++</a:t>
            </a:r>
            <a:r>
              <a:rPr lang="zh-CN" altLang="en-US" sz="2400" dirty="0"/>
              <a:t>语言中的函数没有层次关系，除了主函数之外，所有的函数都是“平等”的，可以说是一个无序的集合。函数间，模块间的联系较多，不利于程序的编制、调试、修改、扩充和重用。</a:t>
            </a:r>
            <a:endParaRPr lang="en-US" altLang="zh-CN" sz="2400" dirty="0"/>
          </a:p>
          <a:p>
            <a:r>
              <a:rPr lang="en-US" altLang="zh-CN" dirty="0"/>
              <a:t>C++</a:t>
            </a:r>
            <a:r>
              <a:rPr lang="zh-CN" altLang="en-US" dirty="0"/>
              <a:t>语言仍然支持</a:t>
            </a:r>
            <a:r>
              <a:rPr lang="en-US" altLang="zh-CN" dirty="0"/>
              <a:t>SP</a:t>
            </a:r>
            <a:r>
              <a:rPr lang="zh-CN" altLang="en-US" dirty="0"/>
              <a:t>框架的程序设计，当开发小规模程序时，这种方式仍然有用</a:t>
            </a:r>
            <a:endParaRPr lang="en-US" altLang="zh-CN" sz="2800" dirty="0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面向对象程序框架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按面向对象程序设计思想设计的程序，它的主体是若干类定义的集合</a:t>
            </a:r>
            <a:endParaRPr lang="en-US" altLang="zh-CN" dirty="0"/>
          </a:p>
          <a:p>
            <a:pPr lvl="1"/>
            <a:r>
              <a:rPr lang="zh-CN" altLang="en-US" dirty="0"/>
              <a:t>类声明</a:t>
            </a:r>
            <a:endParaRPr lang="en-US" altLang="zh-CN" dirty="0"/>
          </a:p>
          <a:p>
            <a:pPr lvl="1"/>
            <a:r>
              <a:rPr lang="zh-CN" altLang="en-US" dirty="0"/>
              <a:t>类成员函数的定义</a:t>
            </a:r>
            <a:endParaRPr lang="en-US" altLang="zh-CN" dirty="0"/>
          </a:p>
          <a:p>
            <a:r>
              <a:rPr lang="zh-CN" altLang="en-US" dirty="0"/>
              <a:t>主函数作为程序的入口</a:t>
            </a:r>
            <a:endParaRPr lang="en-US" altLang="zh-CN" dirty="0"/>
          </a:p>
          <a:p>
            <a:r>
              <a:rPr lang="zh-CN" altLang="en-US" dirty="0"/>
              <a:t>从程序设计方法学观点看，</a:t>
            </a:r>
            <a:r>
              <a:rPr lang="en-US" altLang="zh-CN" dirty="0"/>
              <a:t>OOP </a:t>
            </a:r>
            <a:r>
              <a:rPr lang="zh-CN" altLang="en-US" dirty="0"/>
              <a:t>更科学更严谨，是程序设计理论经过五十年的发展历程，从而达到了成熟时期的结果</a:t>
            </a:r>
            <a:endParaRPr lang="zh-CN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面向对象程序框架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面向对象程序设计的三个基本概念</a:t>
            </a:r>
            <a:endParaRPr lang="en-US" altLang="zh-CN" dirty="0"/>
          </a:p>
          <a:p>
            <a:pPr lvl="1"/>
            <a:r>
              <a:rPr lang="zh-CN" altLang="en-US" dirty="0"/>
              <a:t>类</a:t>
            </a:r>
            <a:endParaRPr lang="en-US" altLang="zh-CN" dirty="0"/>
          </a:p>
          <a:p>
            <a:pPr lvl="2"/>
            <a:r>
              <a:rPr lang="zh-CN" altLang="en-US" dirty="0"/>
              <a:t>对事物的抽象</a:t>
            </a:r>
            <a:endParaRPr lang="en-US" altLang="zh-CN" dirty="0"/>
          </a:p>
          <a:p>
            <a:pPr lvl="1"/>
            <a:r>
              <a:rPr lang="zh-CN" altLang="en-US" dirty="0"/>
              <a:t>对象</a:t>
            </a:r>
            <a:endParaRPr lang="en-US" altLang="zh-CN" dirty="0"/>
          </a:p>
          <a:p>
            <a:pPr lvl="2"/>
            <a:r>
              <a:rPr lang="zh-CN" altLang="en-US" dirty="0"/>
              <a:t>事物的属性和对事物的处理作为一个对象</a:t>
            </a:r>
            <a:endParaRPr lang="en-US" altLang="zh-CN" dirty="0"/>
          </a:p>
          <a:p>
            <a:pPr lvl="2"/>
            <a:r>
              <a:rPr lang="zh-CN" altLang="en-US" dirty="0"/>
              <a:t>类的实例</a:t>
            </a:r>
            <a:endParaRPr lang="en-US" altLang="zh-CN" dirty="0"/>
          </a:p>
          <a:p>
            <a:pPr lvl="1"/>
            <a:r>
              <a:rPr lang="zh-CN" altLang="en-US" dirty="0"/>
              <a:t>消息</a:t>
            </a:r>
            <a:endParaRPr lang="en-US" altLang="zh-CN" dirty="0"/>
          </a:p>
          <a:p>
            <a:pPr lvl="2"/>
            <a:r>
              <a:rPr lang="zh-CN" altLang="en-US" dirty="0"/>
              <a:t>对象之间传递的信息</a:t>
            </a:r>
            <a:endParaRPr lang="zh-CN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面向对象程序框架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面向对象程序设计的基本特征</a:t>
            </a:r>
            <a:endParaRPr lang="en-US" altLang="zh-CN" dirty="0"/>
          </a:p>
          <a:p>
            <a:pPr lvl="1">
              <a:lnSpc>
                <a:spcPct val="80000"/>
              </a:lnSpc>
            </a:pPr>
            <a:r>
              <a:rPr lang="zh-CN" altLang="en-US" dirty="0"/>
              <a:t>封装性</a:t>
            </a:r>
            <a:endParaRPr lang="en-US" altLang="zh-CN" dirty="0"/>
          </a:p>
          <a:p>
            <a:pPr lvl="2">
              <a:lnSpc>
                <a:spcPct val="80000"/>
              </a:lnSpc>
            </a:pPr>
            <a:r>
              <a:rPr lang="zh-CN" altLang="en-US" dirty="0"/>
              <a:t>好像系统的一个部件（例如计算机系统中的图形卡、声卡、打印机），它是作为一个整体参加系统工作的，其内部工作原理被封装起来，只把功能和基本操作对外公开，便于系统使用，其数据只能通过规定的基本操作进行处理，这就是封装和数据隐藏原理。</a:t>
            </a:r>
            <a:endParaRPr lang="zh-CN" altLang="en-US" dirty="0"/>
          </a:p>
          <a:p>
            <a:pPr lvl="1">
              <a:lnSpc>
                <a:spcPct val="80000"/>
              </a:lnSpc>
            </a:pPr>
            <a:r>
              <a:rPr lang="zh-CN" altLang="en-US" dirty="0"/>
              <a:t>继承性</a:t>
            </a:r>
            <a:endParaRPr lang="en-US" altLang="zh-CN" dirty="0"/>
          </a:p>
          <a:p>
            <a:pPr lvl="2">
              <a:lnSpc>
                <a:spcPct val="80000"/>
              </a:lnSpc>
            </a:pPr>
            <a:r>
              <a:rPr lang="en-US" altLang="zh-CN" dirty="0"/>
              <a:t> </a:t>
            </a:r>
            <a:r>
              <a:rPr lang="zh-CN" altLang="en-US" dirty="0"/>
              <a:t>在设计好的类的基础上可以生成派生类，派生类继承原类的设计，又增加新的功能，于是类之间可以有继承和派生关系，有利于简化程序设计。这与函数之间的关系不同。</a:t>
            </a:r>
            <a:endParaRPr lang="zh-CN" altLang="en-US" dirty="0"/>
          </a:p>
          <a:p>
            <a:pPr lvl="1">
              <a:lnSpc>
                <a:spcPct val="80000"/>
              </a:lnSpc>
            </a:pPr>
            <a:r>
              <a:rPr lang="zh-CN" altLang="en-US" dirty="0"/>
              <a:t>多态性</a:t>
            </a:r>
            <a:endParaRPr lang="en-US" altLang="zh-CN" dirty="0"/>
          </a:p>
          <a:p>
            <a:pPr lvl="2">
              <a:lnSpc>
                <a:spcPct val="80000"/>
              </a:lnSpc>
            </a:pPr>
            <a:r>
              <a:rPr lang="zh-CN" altLang="en-US" dirty="0"/>
              <a:t>一个类的不同对象可以对同一消息产生不同的响应</a:t>
            </a:r>
            <a:endParaRPr lang="zh-CN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</a:t>
            </a:r>
            <a:r>
              <a:rPr lang="en-US" altLang="zh-CN" dirty="0"/>
              <a:t>C++</a:t>
            </a:r>
            <a:r>
              <a:rPr lang="zh-CN" altLang="en-US" dirty="0"/>
              <a:t>语言初步</a:t>
            </a:r>
            <a:endParaRPr lang="en-US" altLang="zh-CN" dirty="0"/>
          </a:p>
        </p:txBody>
      </p:sp>
      <p:grpSp>
        <p:nvGrpSpPr>
          <p:cNvPr id="2" name="Group 3"/>
          <p:cNvGrpSpPr/>
          <p:nvPr/>
        </p:nvGrpSpPr>
        <p:grpSpPr bwMode="auto">
          <a:xfrm>
            <a:off x="1828800" y="1714488"/>
            <a:ext cx="762000" cy="665162"/>
            <a:chOff x="1110" y="2656"/>
            <a:chExt cx="1549" cy="1351"/>
          </a:xfrm>
        </p:grpSpPr>
        <p:sp>
          <p:nvSpPr>
            <p:cNvPr id="40964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5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6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7"/>
          <p:cNvGrpSpPr/>
          <p:nvPr/>
        </p:nvGrpSpPr>
        <p:grpSpPr bwMode="auto">
          <a:xfrm>
            <a:off x="1828800" y="2628888"/>
            <a:ext cx="762000" cy="665162"/>
            <a:chOff x="3174" y="2656"/>
            <a:chExt cx="1549" cy="1351"/>
          </a:xfrm>
        </p:grpSpPr>
        <p:sp>
          <p:nvSpPr>
            <p:cNvPr id="40968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9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0" name="AutoShape 10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71" name="Line 11"/>
          <p:cNvSpPr>
            <a:spLocks noChangeShapeType="1"/>
          </p:cNvSpPr>
          <p:nvPr/>
        </p:nvSpPr>
        <p:spPr bwMode="auto">
          <a:xfrm>
            <a:off x="2438400" y="232408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2" name="Text Box 12"/>
          <p:cNvSpPr txBox="1">
            <a:spLocks noChangeArrowheads="1"/>
          </p:cNvSpPr>
          <p:nvPr/>
        </p:nvSpPr>
        <p:spPr bwMode="auto">
          <a:xfrm>
            <a:off x="2667000" y="1790688"/>
            <a:ext cx="3013967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ea typeface="宋体" panose="02010600030101010101" pitchFamily="2" charset="-122"/>
              </a:rPr>
              <a:t>程序的组成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40973" name="Text Box 13"/>
          <p:cNvSpPr txBox="1">
            <a:spLocks noChangeArrowheads="1"/>
          </p:cNvSpPr>
          <p:nvPr/>
        </p:nvSpPr>
        <p:spPr bwMode="gray">
          <a:xfrm>
            <a:off x="2025650" y="181291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40974" name="Line 14"/>
          <p:cNvSpPr>
            <a:spLocks noChangeShapeType="1"/>
          </p:cNvSpPr>
          <p:nvPr/>
        </p:nvSpPr>
        <p:spPr bwMode="auto">
          <a:xfrm>
            <a:off x="2438400" y="323848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5" name="Text Box 15"/>
          <p:cNvSpPr txBox="1">
            <a:spLocks noChangeArrowheads="1"/>
          </p:cNvSpPr>
          <p:nvPr/>
        </p:nvSpPr>
        <p:spPr bwMode="auto">
          <a:xfrm>
            <a:off x="2667000" y="2705088"/>
            <a:ext cx="3834704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ea typeface="宋体" panose="02010600030101010101" pitchFamily="2" charset="-122"/>
              </a:rPr>
              <a:t>语言的基本符号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40976" name="Text Box 16"/>
          <p:cNvSpPr txBox="1">
            <a:spLocks noChangeArrowheads="1"/>
          </p:cNvSpPr>
          <p:nvPr/>
        </p:nvSpPr>
        <p:spPr bwMode="gray">
          <a:xfrm>
            <a:off x="2025650" y="272731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2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pSp>
        <p:nvGrpSpPr>
          <p:cNvPr id="4" name="Group 17"/>
          <p:cNvGrpSpPr/>
          <p:nvPr/>
        </p:nvGrpSpPr>
        <p:grpSpPr bwMode="auto">
          <a:xfrm>
            <a:off x="1828800" y="3521063"/>
            <a:ext cx="762000" cy="665162"/>
            <a:chOff x="1110" y="2656"/>
            <a:chExt cx="1549" cy="1351"/>
          </a:xfrm>
        </p:grpSpPr>
        <p:sp>
          <p:nvSpPr>
            <p:cNvPr id="40978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9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AutoShape 20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1"/>
          <p:cNvGrpSpPr/>
          <p:nvPr/>
        </p:nvGrpSpPr>
        <p:grpSpPr bwMode="auto">
          <a:xfrm>
            <a:off x="1828800" y="4435463"/>
            <a:ext cx="762000" cy="665162"/>
            <a:chOff x="3174" y="2656"/>
            <a:chExt cx="1549" cy="1351"/>
          </a:xfrm>
        </p:grpSpPr>
        <p:sp>
          <p:nvSpPr>
            <p:cNvPr id="40982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3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4" name="AutoShape 24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85" name="Line 25"/>
          <p:cNvSpPr>
            <a:spLocks noChangeShapeType="1"/>
          </p:cNvSpPr>
          <p:nvPr/>
        </p:nvSpPr>
        <p:spPr bwMode="auto">
          <a:xfrm>
            <a:off x="2438400" y="41306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6" name="Text Box 26"/>
          <p:cNvSpPr txBox="1">
            <a:spLocks noChangeArrowheads="1"/>
          </p:cNvSpPr>
          <p:nvPr/>
        </p:nvSpPr>
        <p:spPr bwMode="auto">
          <a:xfrm>
            <a:off x="2667000" y="3597263"/>
            <a:ext cx="3013967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ea typeface="宋体" panose="02010600030101010101" pitchFamily="2" charset="-122"/>
              </a:rPr>
              <a:t>语言的词汇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40987" name="Text Box 27"/>
          <p:cNvSpPr txBox="1">
            <a:spLocks noChangeArrowheads="1"/>
          </p:cNvSpPr>
          <p:nvPr/>
        </p:nvSpPr>
        <p:spPr bwMode="gray">
          <a:xfrm>
            <a:off x="2025650" y="36194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3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40988" name="Line 28"/>
          <p:cNvSpPr>
            <a:spLocks noChangeShapeType="1"/>
          </p:cNvSpPr>
          <p:nvPr/>
        </p:nvSpPr>
        <p:spPr bwMode="auto">
          <a:xfrm>
            <a:off x="2438400" y="50450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9" name="Text Box 29"/>
          <p:cNvSpPr txBox="1">
            <a:spLocks noChangeArrowheads="1"/>
          </p:cNvSpPr>
          <p:nvPr/>
        </p:nvSpPr>
        <p:spPr bwMode="auto">
          <a:xfrm>
            <a:off x="2667000" y="4511663"/>
            <a:ext cx="3834704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ea typeface="宋体" panose="02010600030101010101" pitchFamily="2" charset="-122"/>
              </a:rPr>
              <a:t>程序的基本框架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40990" name="Text Box 30"/>
          <p:cNvSpPr txBox="1">
            <a:spLocks noChangeArrowheads="1"/>
          </p:cNvSpPr>
          <p:nvPr/>
        </p:nvSpPr>
        <p:spPr bwMode="gray">
          <a:xfrm>
            <a:off x="2025650" y="45338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4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pSp>
        <p:nvGrpSpPr>
          <p:cNvPr id="6" name="Group 3"/>
          <p:cNvGrpSpPr/>
          <p:nvPr/>
        </p:nvGrpSpPr>
        <p:grpSpPr bwMode="auto">
          <a:xfrm>
            <a:off x="1828800" y="5335606"/>
            <a:ext cx="762000" cy="665162"/>
            <a:chOff x="1110" y="2656"/>
            <a:chExt cx="1549" cy="1351"/>
          </a:xfrm>
        </p:grpSpPr>
        <p:sp>
          <p:nvSpPr>
            <p:cNvPr id="41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" name="Line 11"/>
          <p:cNvSpPr>
            <a:spLocks noChangeShapeType="1"/>
          </p:cNvSpPr>
          <p:nvPr/>
        </p:nvSpPr>
        <p:spPr bwMode="auto">
          <a:xfrm>
            <a:off x="2437200" y="5945206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Text Box 12"/>
          <p:cNvSpPr txBox="1">
            <a:spLocks noChangeArrowheads="1"/>
          </p:cNvSpPr>
          <p:nvPr/>
        </p:nvSpPr>
        <p:spPr bwMode="auto">
          <a:xfrm>
            <a:off x="2667600" y="5411806"/>
            <a:ext cx="3834704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1" dirty="0">
                <a:solidFill>
                  <a:srgbClr val="C00000"/>
                </a:solidFill>
                <a:ea typeface="宋体" panose="02010600030101010101" pitchFamily="2" charset="-122"/>
              </a:rPr>
              <a:t>C++</a:t>
            </a:r>
            <a:r>
              <a:rPr lang="zh-CN" altLang="en-US" sz="3200" b="1" dirty="0">
                <a:solidFill>
                  <a:srgbClr val="C00000"/>
                </a:solidFill>
                <a:ea typeface="宋体" panose="02010600030101010101" pitchFamily="2" charset="-122"/>
              </a:rPr>
              <a:t>程序的设计思路</a:t>
            </a:r>
            <a:endParaRPr lang="en-US" altLang="zh-CN" sz="3200" b="1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46" name="Text Box 13"/>
          <p:cNvSpPr txBox="1">
            <a:spLocks noChangeArrowheads="1"/>
          </p:cNvSpPr>
          <p:nvPr/>
        </p:nvSpPr>
        <p:spPr bwMode="gray">
          <a:xfrm>
            <a:off x="2026800" y="5434031"/>
            <a:ext cx="356188" cy="46166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 dirty="0">
                <a:solidFill>
                  <a:schemeClr val="bg1"/>
                </a:solidFill>
                <a:ea typeface="宋体" panose="02010600030101010101" pitchFamily="2" charset="-122"/>
              </a:rPr>
              <a:t>5</a:t>
            </a:r>
            <a:endParaRPr lang="en-US" altLang="zh-CN" sz="24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AutoShape 3"/>
          <p:cNvSpPr>
            <a:spLocks noChangeArrowheads="1"/>
          </p:cNvSpPr>
          <p:nvPr/>
        </p:nvSpPr>
        <p:spPr bwMode="gray">
          <a:xfrm>
            <a:off x="2916238" y="3078163"/>
            <a:ext cx="504825" cy="576262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6" name="AutoShape 4"/>
          <p:cNvSpPr>
            <a:spLocks noChangeArrowheads="1"/>
          </p:cNvSpPr>
          <p:nvPr/>
        </p:nvSpPr>
        <p:spPr bwMode="gray">
          <a:xfrm>
            <a:off x="5651500" y="3078163"/>
            <a:ext cx="504825" cy="576262"/>
          </a:xfrm>
          <a:prstGeom prst="chevron">
            <a:avLst>
              <a:gd name="adj" fmla="val 52514"/>
            </a:avLst>
          </a:prstGeom>
          <a:solidFill>
            <a:schemeClr val="hlink"/>
          </a:soli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7" name="Oval 5"/>
          <p:cNvSpPr>
            <a:spLocks noChangeArrowheads="1"/>
          </p:cNvSpPr>
          <p:nvPr/>
        </p:nvSpPr>
        <p:spPr bwMode="gray">
          <a:xfrm>
            <a:off x="6227763" y="2286000"/>
            <a:ext cx="2160587" cy="2160588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tint val="0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tint val="0"/>
                  <a:invGamma/>
                </a:schemeClr>
              </a:gs>
            </a:gsLst>
            <a:lin ang="2700000" scaled="1"/>
          </a:gradFill>
          <a:ln w="38100" algn="ctr">
            <a:noFill/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9158" name="Oval 6"/>
          <p:cNvSpPr>
            <a:spLocks noChangeArrowheads="1"/>
          </p:cNvSpPr>
          <p:nvPr/>
        </p:nvSpPr>
        <p:spPr bwMode="gray">
          <a:xfrm>
            <a:off x="6227763" y="2286000"/>
            <a:ext cx="2160587" cy="2160588"/>
          </a:xfrm>
          <a:prstGeom prst="ellipse">
            <a:avLst/>
          </a:prstGeom>
          <a:gradFill rotWithShape="1">
            <a:gsLst>
              <a:gs pos="0">
                <a:schemeClr val="hlink">
                  <a:alpha val="32001"/>
                </a:schemeClr>
              </a:gs>
              <a:gs pos="100000">
                <a:schemeClr val="hlink">
                  <a:gamma/>
                  <a:shade val="0"/>
                  <a:invGamma/>
                  <a:alpha val="89999"/>
                </a:schemeClr>
              </a:gs>
            </a:gsLst>
            <a:lin ang="2700000" scaled="1"/>
          </a:gradFill>
          <a:ln w="38100" algn="ctr">
            <a:noFill/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9159" name="Oval 7"/>
          <p:cNvSpPr>
            <a:spLocks noChangeArrowheads="1"/>
          </p:cNvSpPr>
          <p:nvPr/>
        </p:nvSpPr>
        <p:spPr bwMode="gray">
          <a:xfrm>
            <a:off x="6369050" y="2427288"/>
            <a:ext cx="1878013" cy="1878012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shade val="54118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54118"/>
                  <a:invGamma/>
                </a:schemeClr>
              </a:gs>
            </a:gsLst>
            <a:lin ang="18900000" scaled="1"/>
          </a:gradFill>
          <a:ln w="38100" algn="ctr">
            <a:noFill/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160" name="Oval 8"/>
          <p:cNvSpPr>
            <a:spLocks noChangeArrowheads="1"/>
          </p:cNvSpPr>
          <p:nvPr/>
        </p:nvSpPr>
        <p:spPr bwMode="gray">
          <a:xfrm>
            <a:off x="6400800" y="2438400"/>
            <a:ext cx="1878013" cy="1878013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shade val="63529"/>
                  <a:invGamma/>
                </a:schemeClr>
              </a:gs>
              <a:gs pos="100000">
                <a:schemeClr val="hlink">
                  <a:alpha val="0"/>
                </a:schemeClr>
              </a:gs>
            </a:gsLst>
            <a:lin ang="2700000" scaled="1"/>
          </a:gradFill>
          <a:ln w="38100" algn="ctr">
            <a:noFill/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161" name="Oval 9"/>
          <p:cNvSpPr>
            <a:spLocks noChangeArrowheads="1"/>
          </p:cNvSpPr>
          <p:nvPr/>
        </p:nvSpPr>
        <p:spPr bwMode="gray">
          <a:xfrm>
            <a:off x="6470650" y="2520950"/>
            <a:ext cx="1690688" cy="1690688"/>
          </a:xfrm>
          <a:prstGeom prst="ellipse">
            <a:avLst/>
          </a:prstGeom>
          <a:solidFill>
            <a:srgbClr val="333333"/>
          </a:solidFill>
          <a:ln w="38100" algn="ctr">
            <a:noFill/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162" name="Oval 10"/>
          <p:cNvSpPr>
            <a:spLocks noChangeArrowheads="1"/>
          </p:cNvSpPr>
          <p:nvPr/>
        </p:nvSpPr>
        <p:spPr bwMode="gray">
          <a:xfrm>
            <a:off x="755650" y="2279650"/>
            <a:ext cx="2160588" cy="2160588"/>
          </a:xfrm>
          <a:prstGeom prst="ellipse">
            <a:avLst/>
          </a:prstGeom>
          <a:gradFill rotWithShape="1">
            <a:gsLst>
              <a:gs pos="0">
                <a:schemeClr val="folHlink">
                  <a:gamma/>
                  <a:tint val="0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tint val="0"/>
                  <a:invGamma/>
                </a:schemeClr>
              </a:gs>
            </a:gsLst>
            <a:lin ang="2700000" scaled="1"/>
          </a:gradFill>
          <a:ln w="38100" algn="ctr">
            <a:noFill/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9163" name="Oval 11"/>
          <p:cNvSpPr>
            <a:spLocks noChangeArrowheads="1"/>
          </p:cNvSpPr>
          <p:nvPr/>
        </p:nvSpPr>
        <p:spPr bwMode="gray">
          <a:xfrm>
            <a:off x="755650" y="2279650"/>
            <a:ext cx="2160588" cy="2160588"/>
          </a:xfrm>
          <a:prstGeom prst="ellipse">
            <a:avLst/>
          </a:prstGeom>
          <a:gradFill rotWithShape="1">
            <a:gsLst>
              <a:gs pos="0">
                <a:schemeClr val="folHlink">
                  <a:alpha val="32001"/>
                </a:schemeClr>
              </a:gs>
              <a:gs pos="100000">
                <a:schemeClr val="folHlink">
                  <a:gamma/>
                  <a:shade val="0"/>
                  <a:invGamma/>
                  <a:alpha val="89999"/>
                </a:schemeClr>
              </a:gs>
            </a:gsLst>
            <a:lin ang="2700000" scaled="1"/>
          </a:gradFill>
          <a:ln w="38100" algn="ctr">
            <a:noFill/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9164" name="Oval 12"/>
          <p:cNvSpPr>
            <a:spLocks noChangeArrowheads="1"/>
          </p:cNvSpPr>
          <p:nvPr/>
        </p:nvSpPr>
        <p:spPr bwMode="gray">
          <a:xfrm>
            <a:off x="896938" y="2420938"/>
            <a:ext cx="1878012" cy="1878012"/>
          </a:xfrm>
          <a:prstGeom prst="ellipse">
            <a:avLst/>
          </a:prstGeom>
          <a:gradFill rotWithShape="1">
            <a:gsLst>
              <a:gs pos="0">
                <a:schemeClr val="folHlink">
                  <a:gamma/>
                  <a:shade val="54118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54118"/>
                  <a:invGamma/>
                </a:schemeClr>
              </a:gs>
            </a:gsLst>
            <a:lin ang="18900000" scaled="1"/>
          </a:gradFill>
          <a:ln w="38100" algn="ctr">
            <a:noFill/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165" name="Oval 13"/>
          <p:cNvSpPr>
            <a:spLocks noChangeArrowheads="1"/>
          </p:cNvSpPr>
          <p:nvPr/>
        </p:nvSpPr>
        <p:spPr bwMode="gray">
          <a:xfrm>
            <a:off x="898525" y="2424113"/>
            <a:ext cx="1878013" cy="1878012"/>
          </a:xfrm>
          <a:prstGeom prst="ellipse">
            <a:avLst/>
          </a:prstGeom>
          <a:gradFill rotWithShape="1">
            <a:gsLst>
              <a:gs pos="0">
                <a:schemeClr val="folHlink">
                  <a:gamma/>
                  <a:shade val="63529"/>
                  <a:invGamma/>
                </a:schemeClr>
              </a:gs>
              <a:gs pos="100000">
                <a:schemeClr val="folHlink">
                  <a:alpha val="0"/>
                </a:schemeClr>
              </a:gs>
            </a:gsLst>
            <a:lin ang="2700000" scaled="1"/>
          </a:gradFill>
          <a:ln w="38100" algn="ctr">
            <a:noFill/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166" name="Oval 14"/>
          <p:cNvSpPr>
            <a:spLocks noChangeArrowheads="1"/>
          </p:cNvSpPr>
          <p:nvPr/>
        </p:nvSpPr>
        <p:spPr bwMode="gray">
          <a:xfrm>
            <a:off x="990600" y="2514600"/>
            <a:ext cx="1690688" cy="1690688"/>
          </a:xfrm>
          <a:prstGeom prst="ellipse">
            <a:avLst/>
          </a:prstGeom>
          <a:solidFill>
            <a:srgbClr val="333333"/>
          </a:solidFill>
          <a:ln w="38100" algn="ctr">
            <a:noFill/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15"/>
          <p:cNvGrpSpPr/>
          <p:nvPr/>
        </p:nvGrpSpPr>
        <p:grpSpPr bwMode="auto">
          <a:xfrm>
            <a:off x="1017588" y="2540000"/>
            <a:ext cx="1636712" cy="1636713"/>
            <a:chOff x="4166" y="1706"/>
            <a:chExt cx="1252" cy="1252"/>
          </a:xfrm>
        </p:grpSpPr>
        <p:sp>
          <p:nvSpPr>
            <p:cNvPr id="49168" name="Oval 16"/>
            <p:cNvSpPr>
              <a:spLocks noChangeArrowheads="1"/>
            </p:cNvSpPr>
            <p:nvPr/>
          </p:nvSpPr>
          <p:spPr bwMode="gray">
            <a:xfrm>
              <a:off x="4166" y="1706"/>
              <a:ext cx="1252" cy="1252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9169" name="Oval 17"/>
            <p:cNvSpPr>
              <a:spLocks noChangeArrowheads="1"/>
            </p:cNvSpPr>
            <p:nvPr/>
          </p:nvSpPr>
          <p:spPr bwMode="gray">
            <a:xfrm>
              <a:off x="4182" y="1713"/>
              <a:ext cx="1222" cy="122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9170" name="Oval 18"/>
            <p:cNvSpPr>
              <a:spLocks noChangeArrowheads="1"/>
            </p:cNvSpPr>
            <p:nvPr/>
          </p:nvSpPr>
          <p:spPr bwMode="gray">
            <a:xfrm>
              <a:off x="4195" y="1725"/>
              <a:ext cx="1162" cy="114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9171" name="Oval 19"/>
            <p:cNvSpPr>
              <a:spLocks noChangeArrowheads="1"/>
            </p:cNvSpPr>
            <p:nvPr/>
          </p:nvSpPr>
          <p:spPr bwMode="gray">
            <a:xfrm>
              <a:off x="4263" y="1757"/>
              <a:ext cx="1033" cy="92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sp>
        <p:nvSpPr>
          <p:cNvPr id="49172" name="Oval 20"/>
          <p:cNvSpPr>
            <a:spLocks noChangeArrowheads="1"/>
          </p:cNvSpPr>
          <p:nvPr/>
        </p:nvSpPr>
        <p:spPr bwMode="gray">
          <a:xfrm>
            <a:off x="3492500" y="2286000"/>
            <a:ext cx="2160588" cy="2160588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tint val="0"/>
                  <a:invGamma/>
                </a:schemeClr>
              </a:gs>
            </a:gsLst>
            <a:lin ang="2700000" scaled="1"/>
          </a:gradFill>
          <a:ln w="38100" algn="ctr">
            <a:noFill/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9173" name="Oval 21"/>
          <p:cNvSpPr>
            <a:spLocks noChangeArrowheads="1"/>
          </p:cNvSpPr>
          <p:nvPr/>
        </p:nvSpPr>
        <p:spPr bwMode="gray">
          <a:xfrm>
            <a:off x="3492500" y="2286000"/>
            <a:ext cx="2160588" cy="2160588"/>
          </a:xfrm>
          <a:prstGeom prst="ellipse">
            <a:avLst/>
          </a:prstGeom>
          <a:gradFill rotWithShape="1">
            <a:gsLst>
              <a:gs pos="0">
                <a:schemeClr val="accent1">
                  <a:alpha val="32001"/>
                </a:schemeClr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2700000" scaled="1"/>
          </a:gradFill>
          <a:ln w="38100" algn="ctr">
            <a:noFill/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9174" name="Oval 22"/>
          <p:cNvSpPr>
            <a:spLocks noChangeArrowheads="1"/>
          </p:cNvSpPr>
          <p:nvPr/>
        </p:nvSpPr>
        <p:spPr bwMode="gray">
          <a:xfrm>
            <a:off x="3633788" y="2427288"/>
            <a:ext cx="1878012" cy="1878012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54118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54118"/>
                  <a:invGamma/>
                </a:schemeClr>
              </a:gs>
            </a:gsLst>
            <a:lin ang="18900000" scaled="1"/>
          </a:gradFill>
          <a:ln w="38100" algn="ctr">
            <a:noFill/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175" name="Oval 23"/>
          <p:cNvSpPr>
            <a:spLocks noChangeArrowheads="1"/>
          </p:cNvSpPr>
          <p:nvPr/>
        </p:nvSpPr>
        <p:spPr bwMode="gray">
          <a:xfrm>
            <a:off x="3635375" y="2430463"/>
            <a:ext cx="1878013" cy="1878012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63529"/>
                  <a:invGamma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</a:gradFill>
          <a:ln w="38100" algn="ctr">
            <a:noFill/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176" name="Oval 24"/>
          <p:cNvSpPr>
            <a:spLocks noChangeArrowheads="1"/>
          </p:cNvSpPr>
          <p:nvPr/>
        </p:nvSpPr>
        <p:spPr bwMode="gray">
          <a:xfrm>
            <a:off x="3727450" y="2520950"/>
            <a:ext cx="1690688" cy="1690688"/>
          </a:xfrm>
          <a:prstGeom prst="ellipse">
            <a:avLst/>
          </a:prstGeom>
          <a:solidFill>
            <a:srgbClr val="333333"/>
          </a:solidFill>
          <a:ln w="38100" algn="ctr">
            <a:noFill/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Group 25"/>
          <p:cNvGrpSpPr/>
          <p:nvPr/>
        </p:nvGrpSpPr>
        <p:grpSpPr bwMode="auto">
          <a:xfrm>
            <a:off x="3754438" y="2540000"/>
            <a:ext cx="1636712" cy="1636713"/>
            <a:chOff x="4166" y="1706"/>
            <a:chExt cx="1252" cy="1252"/>
          </a:xfrm>
        </p:grpSpPr>
        <p:sp>
          <p:nvSpPr>
            <p:cNvPr id="49178" name="Oval 26"/>
            <p:cNvSpPr>
              <a:spLocks noChangeArrowheads="1"/>
            </p:cNvSpPr>
            <p:nvPr/>
          </p:nvSpPr>
          <p:spPr bwMode="gray">
            <a:xfrm>
              <a:off x="4166" y="1706"/>
              <a:ext cx="1252" cy="1252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9179" name="Oval 27"/>
            <p:cNvSpPr>
              <a:spLocks noChangeArrowheads="1"/>
            </p:cNvSpPr>
            <p:nvPr/>
          </p:nvSpPr>
          <p:spPr bwMode="gray">
            <a:xfrm>
              <a:off x="4182" y="1713"/>
              <a:ext cx="1222" cy="122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9180" name="Oval 28"/>
            <p:cNvSpPr>
              <a:spLocks noChangeArrowheads="1"/>
            </p:cNvSpPr>
            <p:nvPr/>
          </p:nvSpPr>
          <p:spPr bwMode="gray">
            <a:xfrm>
              <a:off x="4195" y="1725"/>
              <a:ext cx="1162" cy="114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9181" name="Oval 29"/>
            <p:cNvSpPr>
              <a:spLocks noChangeArrowheads="1"/>
            </p:cNvSpPr>
            <p:nvPr/>
          </p:nvSpPr>
          <p:spPr bwMode="gray">
            <a:xfrm>
              <a:off x="4263" y="1757"/>
              <a:ext cx="1033" cy="92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30"/>
          <p:cNvGrpSpPr/>
          <p:nvPr/>
        </p:nvGrpSpPr>
        <p:grpSpPr bwMode="auto">
          <a:xfrm>
            <a:off x="6500813" y="2540000"/>
            <a:ext cx="1636712" cy="1636713"/>
            <a:chOff x="4166" y="1706"/>
            <a:chExt cx="1252" cy="1252"/>
          </a:xfrm>
        </p:grpSpPr>
        <p:sp>
          <p:nvSpPr>
            <p:cNvPr id="49183" name="Oval 31"/>
            <p:cNvSpPr>
              <a:spLocks noChangeArrowheads="1"/>
            </p:cNvSpPr>
            <p:nvPr/>
          </p:nvSpPr>
          <p:spPr bwMode="gray">
            <a:xfrm>
              <a:off x="4166" y="1706"/>
              <a:ext cx="1252" cy="1252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9184" name="Oval 32"/>
            <p:cNvSpPr>
              <a:spLocks noChangeArrowheads="1"/>
            </p:cNvSpPr>
            <p:nvPr/>
          </p:nvSpPr>
          <p:spPr bwMode="gray">
            <a:xfrm>
              <a:off x="4182" y="1713"/>
              <a:ext cx="1222" cy="122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9185" name="Oval 33"/>
            <p:cNvSpPr>
              <a:spLocks noChangeArrowheads="1"/>
            </p:cNvSpPr>
            <p:nvPr/>
          </p:nvSpPr>
          <p:spPr bwMode="gray">
            <a:xfrm>
              <a:off x="4195" y="1725"/>
              <a:ext cx="1162" cy="114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9186" name="Oval 34"/>
            <p:cNvSpPr>
              <a:spLocks noChangeArrowheads="1"/>
            </p:cNvSpPr>
            <p:nvPr/>
          </p:nvSpPr>
          <p:spPr bwMode="gray">
            <a:xfrm>
              <a:off x="4263" y="1757"/>
              <a:ext cx="1033" cy="92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sp>
        <p:nvSpPr>
          <p:cNvPr id="49187" name="AutoShape 35"/>
          <p:cNvSpPr>
            <a:spLocks noChangeArrowheads="1"/>
          </p:cNvSpPr>
          <p:nvPr/>
        </p:nvSpPr>
        <p:spPr bwMode="gray">
          <a:xfrm>
            <a:off x="804863" y="4818063"/>
            <a:ext cx="2057400" cy="515937"/>
          </a:xfrm>
          <a:prstGeom prst="roundRect">
            <a:avLst>
              <a:gd name="adj" fmla="val 50000"/>
            </a:avLst>
          </a:prstGeom>
          <a:noFill/>
          <a:ln w="38100" algn="ctr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思路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88" name="AutoShape 36"/>
          <p:cNvSpPr>
            <a:spLocks noChangeArrowheads="1"/>
          </p:cNvSpPr>
          <p:nvPr/>
        </p:nvSpPr>
        <p:spPr bwMode="gray">
          <a:xfrm>
            <a:off x="3538538" y="4818063"/>
            <a:ext cx="2057400" cy="515937"/>
          </a:xfrm>
          <a:prstGeom prst="roundRect">
            <a:avLst>
              <a:gd name="adj" fmla="val 50000"/>
            </a:avLst>
          </a:prstGeom>
          <a:noFill/>
          <a:ln w="38100" algn="ctr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模型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89" name="AutoShape 37"/>
          <p:cNvSpPr>
            <a:spLocks noChangeArrowheads="1"/>
          </p:cNvSpPr>
          <p:nvPr/>
        </p:nvSpPr>
        <p:spPr bwMode="gray">
          <a:xfrm>
            <a:off x="6291263" y="4818063"/>
            <a:ext cx="2057400" cy="515937"/>
          </a:xfrm>
          <a:prstGeom prst="roundRect">
            <a:avLst>
              <a:gd name="adj" fmla="val 50000"/>
            </a:avLst>
          </a:prstGeom>
          <a:noFill/>
          <a:ln w="38100" algn="ctr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rPr>
              <a:t>实现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90" name="Text Box 38"/>
          <p:cNvSpPr txBox="1">
            <a:spLocks noChangeArrowheads="1"/>
          </p:cNvSpPr>
          <p:nvPr/>
        </p:nvSpPr>
        <p:spPr bwMode="gray">
          <a:xfrm>
            <a:off x="1142976" y="3144838"/>
            <a:ext cx="1415772" cy="46166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400" dirty="0">
                <a:solidFill>
                  <a:srgbClr val="000000"/>
                </a:solidFill>
                <a:ea typeface="宋体" panose="02010600030101010101" pitchFamily="2" charset="-122"/>
              </a:rPr>
              <a:t>自然语言</a:t>
            </a:r>
            <a:endParaRPr lang="en-US" altLang="zh-CN" sz="24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9191" name="Text Box 39"/>
          <p:cNvSpPr txBox="1">
            <a:spLocks noChangeArrowheads="1"/>
          </p:cNvSpPr>
          <p:nvPr/>
        </p:nvSpPr>
        <p:spPr bwMode="gray">
          <a:xfrm>
            <a:off x="3929058" y="3144838"/>
            <a:ext cx="1415772" cy="46166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400" dirty="0">
                <a:solidFill>
                  <a:srgbClr val="000000"/>
                </a:solidFill>
                <a:ea typeface="宋体" panose="02010600030101010101" pitchFamily="2" charset="-122"/>
              </a:rPr>
              <a:t>数学语言</a:t>
            </a:r>
            <a:endParaRPr lang="en-US" altLang="zh-CN" sz="24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9192" name="Text Box 40"/>
          <p:cNvSpPr txBox="1">
            <a:spLocks noChangeArrowheads="1"/>
          </p:cNvSpPr>
          <p:nvPr/>
        </p:nvSpPr>
        <p:spPr bwMode="gray">
          <a:xfrm>
            <a:off x="6643702" y="3144838"/>
            <a:ext cx="1415772" cy="46166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400" dirty="0">
                <a:solidFill>
                  <a:srgbClr val="000000"/>
                </a:solidFill>
                <a:ea typeface="宋体" panose="02010600030101010101" pitchFamily="2" charset="-122"/>
              </a:rPr>
              <a:t>程序语言</a:t>
            </a:r>
            <a:endParaRPr lang="en-US" altLang="zh-CN" sz="24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" name="标题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305800" cy="563563"/>
          </a:xfrm>
        </p:spPr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程序的设计思路</a:t>
            </a:r>
            <a:endParaRPr lang="zh-CN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2.5】</a:t>
            </a:r>
            <a:r>
              <a:rPr lang="zh-CN" altLang="en-US" dirty="0">
                <a:solidFill>
                  <a:srgbClr val="C00000"/>
                </a:solidFill>
              </a:rPr>
              <a:t>已知公鸡</a:t>
            </a:r>
            <a:r>
              <a:rPr lang="en-US" altLang="zh-CN" dirty="0">
                <a:solidFill>
                  <a:srgbClr val="C00000"/>
                </a:solidFill>
              </a:rPr>
              <a:t>5</a:t>
            </a:r>
            <a:r>
              <a:rPr lang="zh-CN" altLang="en-US" dirty="0">
                <a:solidFill>
                  <a:srgbClr val="C00000"/>
                </a:solidFill>
              </a:rPr>
              <a:t>元，母鸡</a:t>
            </a:r>
            <a:r>
              <a:rPr lang="en-US" altLang="zh-CN" dirty="0">
                <a:solidFill>
                  <a:srgbClr val="C00000"/>
                </a:solidFill>
              </a:rPr>
              <a:t>3</a:t>
            </a:r>
            <a:r>
              <a:rPr lang="zh-CN" altLang="en-US" dirty="0">
                <a:solidFill>
                  <a:srgbClr val="C00000"/>
                </a:solidFill>
              </a:rPr>
              <a:t>元，小鸡</a:t>
            </a:r>
            <a:r>
              <a:rPr lang="en-US" altLang="zh-CN" dirty="0">
                <a:solidFill>
                  <a:srgbClr val="C00000"/>
                </a:solidFill>
              </a:rPr>
              <a:t>3</a:t>
            </a:r>
            <a:r>
              <a:rPr lang="zh-CN" altLang="en-US" dirty="0">
                <a:solidFill>
                  <a:srgbClr val="C00000"/>
                </a:solidFill>
              </a:rPr>
              <a:t>只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元，如果花了</a:t>
            </a:r>
            <a:r>
              <a:rPr lang="en-US" altLang="zh-CN" dirty="0">
                <a:solidFill>
                  <a:srgbClr val="C00000"/>
                </a:solidFill>
              </a:rPr>
              <a:t>100</a:t>
            </a:r>
            <a:r>
              <a:rPr lang="zh-CN" altLang="en-US" dirty="0">
                <a:solidFill>
                  <a:srgbClr val="C00000"/>
                </a:solidFill>
              </a:rPr>
              <a:t>元买了</a:t>
            </a:r>
            <a:r>
              <a:rPr lang="en-US" altLang="zh-CN" dirty="0">
                <a:solidFill>
                  <a:srgbClr val="C00000"/>
                </a:solidFill>
              </a:rPr>
              <a:t>100</a:t>
            </a:r>
            <a:r>
              <a:rPr lang="zh-CN" altLang="en-US" dirty="0">
                <a:solidFill>
                  <a:srgbClr val="C00000"/>
                </a:solidFill>
              </a:rPr>
              <a:t>只鸡，请问其中公鸡，母鸡，小鸡各有几只？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自然语言描述解题过程</a:t>
            </a:r>
            <a:endParaRPr lang="en-US" altLang="zh-CN" dirty="0"/>
          </a:p>
          <a:p>
            <a:pPr lvl="1"/>
            <a:r>
              <a:rPr lang="zh-CN" altLang="en-US" sz="2200" dirty="0"/>
              <a:t>设公鸡有</a:t>
            </a:r>
            <a:r>
              <a:rPr lang="en-US" altLang="zh-CN" sz="2200" dirty="0"/>
              <a:t>X</a:t>
            </a:r>
            <a:r>
              <a:rPr lang="zh-CN" altLang="en-US" sz="2200" dirty="0"/>
              <a:t>只</a:t>
            </a:r>
            <a:endParaRPr lang="en-US" altLang="zh-CN" sz="2200" dirty="0"/>
          </a:p>
          <a:p>
            <a:pPr lvl="1"/>
            <a:r>
              <a:rPr lang="zh-CN" altLang="en-US" sz="2200" dirty="0"/>
              <a:t>设母鸡有</a:t>
            </a:r>
            <a:r>
              <a:rPr lang="en-US" altLang="zh-CN" sz="2200" dirty="0"/>
              <a:t>Y</a:t>
            </a:r>
            <a:r>
              <a:rPr lang="zh-CN" altLang="en-US" sz="2200" dirty="0"/>
              <a:t>只</a:t>
            </a:r>
            <a:endParaRPr lang="en-US" altLang="zh-CN" sz="2200" dirty="0"/>
          </a:p>
          <a:p>
            <a:pPr lvl="1"/>
            <a:r>
              <a:rPr lang="zh-CN" altLang="en-US" sz="2200" dirty="0"/>
              <a:t>设小鸡有</a:t>
            </a:r>
            <a:r>
              <a:rPr lang="en-US" altLang="zh-CN" sz="2200" dirty="0"/>
              <a:t>Z</a:t>
            </a:r>
            <a:r>
              <a:rPr lang="zh-CN" altLang="en-US" sz="2200" dirty="0"/>
              <a:t>只</a:t>
            </a:r>
            <a:endParaRPr lang="en-US" altLang="zh-CN" sz="2200" dirty="0"/>
          </a:p>
          <a:p>
            <a:pPr lvl="1"/>
            <a:r>
              <a:rPr lang="zh-CN" altLang="en-US" sz="2200" dirty="0"/>
              <a:t>鸡的总数为</a:t>
            </a:r>
            <a:r>
              <a:rPr lang="en-US" altLang="zh-CN" sz="2200" dirty="0"/>
              <a:t>100</a:t>
            </a:r>
            <a:r>
              <a:rPr lang="zh-CN" altLang="en-US" sz="2200" dirty="0"/>
              <a:t>只</a:t>
            </a:r>
            <a:endParaRPr lang="en-US" altLang="zh-CN" sz="2200" dirty="0"/>
          </a:p>
          <a:p>
            <a:pPr lvl="1"/>
            <a:r>
              <a:rPr lang="zh-CN" altLang="en-US" sz="2200" dirty="0"/>
              <a:t>公鸡每只</a:t>
            </a:r>
            <a:r>
              <a:rPr lang="en-US" altLang="zh-CN" sz="2200" dirty="0"/>
              <a:t>5</a:t>
            </a:r>
            <a:r>
              <a:rPr lang="zh-CN" altLang="en-US" sz="2200" dirty="0"/>
              <a:t>元，母鸡每只</a:t>
            </a:r>
            <a:r>
              <a:rPr lang="en-US" altLang="zh-CN" sz="2200" dirty="0"/>
              <a:t>3</a:t>
            </a:r>
            <a:r>
              <a:rPr lang="zh-CN" altLang="en-US" sz="2200" dirty="0"/>
              <a:t>元，小鸡每只</a:t>
            </a:r>
            <a:r>
              <a:rPr lang="en-US" altLang="zh-CN" sz="2200" dirty="0"/>
              <a:t>1/3</a:t>
            </a:r>
            <a:r>
              <a:rPr lang="zh-CN" altLang="en-US" sz="2200" dirty="0"/>
              <a:t>元</a:t>
            </a:r>
            <a:endParaRPr lang="en-US" altLang="zh-CN" sz="2200" dirty="0"/>
          </a:p>
          <a:p>
            <a:pPr lvl="1"/>
            <a:r>
              <a:rPr lang="zh-CN" altLang="en-US" sz="2200" dirty="0"/>
              <a:t>买鸡的总金额为</a:t>
            </a:r>
            <a:r>
              <a:rPr lang="en-US" altLang="zh-CN" sz="2200" dirty="0"/>
              <a:t>100</a:t>
            </a:r>
            <a:r>
              <a:rPr lang="zh-CN" altLang="en-US" sz="2200" dirty="0"/>
              <a:t>元</a:t>
            </a:r>
            <a:endParaRPr lang="en-US" altLang="zh-CN" sz="2200" dirty="0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程序的设计思路</a:t>
            </a:r>
            <a:endParaRPr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Freeform 3"/>
          <p:cNvSpPr>
            <a:spLocks noEditPoints="1"/>
          </p:cNvSpPr>
          <p:nvPr/>
        </p:nvSpPr>
        <p:spPr bwMode="gray">
          <a:xfrm>
            <a:off x="1049338" y="1985963"/>
            <a:ext cx="6237306" cy="3970337"/>
          </a:xfrm>
          <a:custGeom>
            <a:avLst/>
            <a:gdLst/>
            <a:ahLst/>
            <a:cxnLst>
              <a:cxn ang="0">
                <a:pos x="1092" y="50"/>
              </a:cxn>
              <a:cxn ang="0">
                <a:pos x="822" y="168"/>
              </a:cxn>
              <a:cxn ang="0">
                <a:pos x="594" y="300"/>
              </a:cxn>
              <a:cxn ang="0">
                <a:pos x="406" y="446"/>
              </a:cxn>
              <a:cxn ang="0">
                <a:pos x="254" y="604"/>
              </a:cxn>
              <a:cxn ang="0">
                <a:pos x="140" y="772"/>
              </a:cxn>
              <a:cxn ang="0">
                <a:pos x="60" y="944"/>
              </a:cxn>
              <a:cxn ang="0">
                <a:pos x="14" y="1122"/>
              </a:cxn>
              <a:cxn ang="0">
                <a:pos x="0" y="1300"/>
              </a:cxn>
              <a:cxn ang="0">
                <a:pos x="18" y="1476"/>
              </a:cxn>
              <a:cxn ang="0">
                <a:pos x="64" y="1650"/>
              </a:cxn>
              <a:cxn ang="0">
                <a:pos x="138" y="1818"/>
              </a:cxn>
              <a:cxn ang="0">
                <a:pos x="238" y="1978"/>
              </a:cxn>
              <a:cxn ang="0">
                <a:pos x="364" y="2126"/>
              </a:cxn>
              <a:cxn ang="0">
                <a:pos x="512" y="2262"/>
              </a:cxn>
              <a:cxn ang="0">
                <a:pos x="684" y="2382"/>
              </a:cxn>
              <a:cxn ang="0">
                <a:pos x="874" y="2484"/>
              </a:cxn>
              <a:cxn ang="0">
                <a:pos x="1086" y="2564"/>
              </a:cxn>
              <a:cxn ang="0">
                <a:pos x="1314" y="2622"/>
              </a:cxn>
              <a:cxn ang="0">
                <a:pos x="1558" y="2654"/>
              </a:cxn>
              <a:cxn ang="0">
                <a:pos x="1818" y="2658"/>
              </a:cxn>
              <a:cxn ang="0">
                <a:pos x="2090" y="2632"/>
              </a:cxn>
              <a:cxn ang="0">
                <a:pos x="2374" y="2574"/>
              </a:cxn>
              <a:cxn ang="0">
                <a:pos x="2544" y="2912"/>
              </a:cxn>
              <a:cxn ang="0">
                <a:pos x="1868" y="1552"/>
              </a:cxn>
              <a:cxn ang="0">
                <a:pos x="1956" y="1914"/>
              </a:cxn>
              <a:cxn ang="0">
                <a:pos x="1788" y="1936"/>
              </a:cxn>
              <a:cxn ang="0">
                <a:pos x="1616" y="1934"/>
              </a:cxn>
              <a:cxn ang="0">
                <a:pos x="1442" y="1912"/>
              </a:cxn>
              <a:cxn ang="0">
                <a:pos x="1272" y="1872"/>
              </a:cxn>
              <a:cxn ang="0">
                <a:pos x="1108" y="1812"/>
              </a:cxn>
              <a:cxn ang="0">
                <a:pos x="952" y="1736"/>
              </a:cxn>
              <a:cxn ang="0">
                <a:pos x="810" y="1646"/>
              </a:cxn>
              <a:cxn ang="0">
                <a:pos x="684" y="1542"/>
              </a:cxn>
              <a:cxn ang="0">
                <a:pos x="578" y="1428"/>
              </a:cxn>
              <a:cxn ang="0">
                <a:pos x="494" y="1304"/>
              </a:cxn>
              <a:cxn ang="0">
                <a:pos x="438" y="1170"/>
              </a:cxn>
              <a:cxn ang="0">
                <a:pos x="410" y="1032"/>
              </a:cxn>
              <a:cxn ang="0">
                <a:pos x="416" y="888"/>
              </a:cxn>
              <a:cxn ang="0">
                <a:pos x="460" y="742"/>
              </a:cxn>
              <a:cxn ang="0">
                <a:pos x="544" y="592"/>
              </a:cxn>
              <a:cxn ang="0">
                <a:pos x="670" y="444"/>
              </a:cxn>
              <a:cxn ang="0">
                <a:pos x="844" y="298"/>
              </a:cxn>
              <a:cxn ang="0">
                <a:pos x="1070" y="154"/>
              </a:cxn>
              <a:cxn ang="0">
                <a:pos x="1348" y="16"/>
              </a:cxn>
              <a:cxn ang="0">
                <a:pos x="1244" y="0"/>
              </a:cxn>
              <a:cxn ang="0">
                <a:pos x="2820" y="1934"/>
              </a:cxn>
              <a:cxn ang="0">
                <a:pos x="2820" y="1934"/>
              </a:cxn>
            </a:cxnLst>
            <a:rect l="0" t="0" r="r" b="b"/>
            <a:pathLst>
              <a:path w="2820" h="2912">
                <a:moveTo>
                  <a:pt x="1244" y="0"/>
                </a:moveTo>
                <a:lnTo>
                  <a:pt x="1092" y="50"/>
                </a:lnTo>
                <a:lnTo>
                  <a:pt x="952" y="106"/>
                </a:lnTo>
                <a:lnTo>
                  <a:pt x="822" y="168"/>
                </a:lnTo>
                <a:lnTo>
                  <a:pt x="704" y="232"/>
                </a:lnTo>
                <a:lnTo>
                  <a:pt x="594" y="300"/>
                </a:lnTo>
                <a:lnTo>
                  <a:pt x="494" y="372"/>
                </a:lnTo>
                <a:lnTo>
                  <a:pt x="406" y="446"/>
                </a:lnTo>
                <a:lnTo>
                  <a:pt x="324" y="524"/>
                </a:lnTo>
                <a:lnTo>
                  <a:pt x="254" y="604"/>
                </a:lnTo>
                <a:lnTo>
                  <a:pt x="192" y="686"/>
                </a:lnTo>
                <a:lnTo>
                  <a:pt x="140" y="772"/>
                </a:lnTo>
                <a:lnTo>
                  <a:pt x="96" y="856"/>
                </a:lnTo>
                <a:lnTo>
                  <a:pt x="60" y="944"/>
                </a:lnTo>
                <a:lnTo>
                  <a:pt x="32" y="1032"/>
                </a:lnTo>
                <a:lnTo>
                  <a:pt x="14" y="1122"/>
                </a:lnTo>
                <a:lnTo>
                  <a:pt x="2" y="1210"/>
                </a:lnTo>
                <a:lnTo>
                  <a:pt x="0" y="1300"/>
                </a:lnTo>
                <a:lnTo>
                  <a:pt x="4" y="1388"/>
                </a:lnTo>
                <a:lnTo>
                  <a:pt x="18" y="1476"/>
                </a:lnTo>
                <a:lnTo>
                  <a:pt x="36" y="1564"/>
                </a:lnTo>
                <a:lnTo>
                  <a:pt x="64" y="1650"/>
                </a:lnTo>
                <a:lnTo>
                  <a:pt x="96" y="1736"/>
                </a:lnTo>
                <a:lnTo>
                  <a:pt x="138" y="1818"/>
                </a:lnTo>
                <a:lnTo>
                  <a:pt x="184" y="1900"/>
                </a:lnTo>
                <a:lnTo>
                  <a:pt x="238" y="1978"/>
                </a:lnTo>
                <a:lnTo>
                  <a:pt x="298" y="2054"/>
                </a:lnTo>
                <a:lnTo>
                  <a:pt x="364" y="2126"/>
                </a:lnTo>
                <a:lnTo>
                  <a:pt x="434" y="2196"/>
                </a:lnTo>
                <a:lnTo>
                  <a:pt x="512" y="2262"/>
                </a:lnTo>
                <a:lnTo>
                  <a:pt x="596" y="2324"/>
                </a:lnTo>
                <a:lnTo>
                  <a:pt x="684" y="2382"/>
                </a:lnTo>
                <a:lnTo>
                  <a:pt x="776" y="2436"/>
                </a:lnTo>
                <a:lnTo>
                  <a:pt x="874" y="2484"/>
                </a:lnTo>
                <a:lnTo>
                  <a:pt x="978" y="2526"/>
                </a:lnTo>
                <a:lnTo>
                  <a:pt x="1086" y="2564"/>
                </a:lnTo>
                <a:lnTo>
                  <a:pt x="1198" y="2596"/>
                </a:lnTo>
                <a:lnTo>
                  <a:pt x="1314" y="2622"/>
                </a:lnTo>
                <a:lnTo>
                  <a:pt x="1434" y="2642"/>
                </a:lnTo>
                <a:lnTo>
                  <a:pt x="1558" y="2654"/>
                </a:lnTo>
                <a:lnTo>
                  <a:pt x="1686" y="2660"/>
                </a:lnTo>
                <a:lnTo>
                  <a:pt x="1818" y="2658"/>
                </a:lnTo>
                <a:lnTo>
                  <a:pt x="1952" y="2650"/>
                </a:lnTo>
                <a:lnTo>
                  <a:pt x="2090" y="2632"/>
                </a:lnTo>
                <a:lnTo>
                  <a:pt x="2230" y="2608"/>
                </a:lnTo>
                <a:lnTo>
                  <a:pt x="2374" y="2574"/>
                </a:lnTo>
                <a:lnTo>
                  <a:pt x="2542" y="2912"/>
                </a:lnTo>
                <a:lnTo>
                  <a:pt x="2544" y="2912"/>
                </a:lnTo>
                <a:lnTo>
                  <a:pt x="2820" y="1934"/>
                </a:lnTo>
                <a:lnTo>
                  <a:pt x="1868" y="1552"/>
                </a:lnTo>
                <a:lnTo>
                  <a:pt x="2036" y="1894"/>
                </a:lnTo>
                <a:lnTo>
                  <a:pt x="1956" y="1914"/>
                </a:lnTo>
                <a:lnTo>
                  <a:pt x="1872" y="1928"/>
                </a:lnTo>
                <a:lnTo>
                  <a:pt x="1788" y="1936"/>
                </a:lnTo>
                <a:lnTo>
                  <a:pt x="1702" y="1938"/>
                </a:lnTo>
                <a:lnTo>
                  <a:pt x="1616" y="1934"/>
                </a:lnTo>
                <a:lnTo>
                  <a:pt x="1528" y="1926"/>
                </a:lnTo>
                <a:lnTo>
                  <a:pt x="1442" y="1912"/>
                </a:lnTo>
                <a:lnTo>
                  <a:pt x="1356" y="1894"/>
                </a:lnTo>
                <a:lnTo>
                  <a:pt x="1272" y="1872"/>
                </a:lnTo>
                <a:lnTo>
                  <a:pt x="1188" y="1844"/>
                </a:lnTo>
                <a:lnTo>
                  <a:pt x="1108" y="1812"/>
                </a:lnTo>
                <a:lnTo>
                  <a:pt x="1028" y="1776"/>
                </a:lnTo>
                <a:lnTo>
                  <a:pt x="952" y="1736"/>
                </a:lnTo>
                <a:lnTo>
                  <a:pt x="880" y="1692"/>
                </a:lnTo>
                <a:lnTo>
                  <a:pt x="810" y="1646"/>
                </a:lnTo>
                <a:lnTo>
                  <a:pt x="744" y="1596"/>
                </a:lnTo>
                <a:lnTo>
                  <a:pt x="684" y="1542"/>
                </a:lnTo>
                <a:lnTo>
                  <a:pt x="628" y="1486"/>
                </a:lnTo>
                <a:lnTo>
                  <a:pt x="578" y="1428"/>
                </a:lnTo>
                <a:lnTo>
                  <a:pt x="532" y="1366"/>
                </a:lnTo>
                <a:lnTo>
                  <a:pt x="494" y="1304"/>
                </a:lnTo>
                <a:lnTo>
                  <a:pt x="462" y="1238"/>
                </a:lnTo>
                <a:lnTo>
                  <a:pt x="438" y="1170"/>
                </a:lnTo>
                <a:lnTo>
                  <a:pt x="420" y="1102"/>
                </a:lnTo>
                <a:lnTo>
                  <a:pt x="410" y="1032"/>
                </a:lnTo>
                <a:lnTo>
                  <a:pt x="410" y="960"/>
                </a:lnTo>
                <a:lnTo>
                  <a:pt x="416" y="888"/>
                </a:lnTo>
                <a:lnTo>
                  <a:pt x="434" y="816"/>
                </a:lnTo>
                <a:lnTo>
                  <a:pt x="460" y="742"/>
                </a:lnTo>
                <a:lnTo>
                  <a:pt x="496" y="668"/>
                </a:lnTo>
                <a:lnTo>
                  <a:pt x="544" y="592"/>
                </a:lnTo>
                <a:lnTo>
                  <a:pt x="602" y="518"/>
                </a:lnTo>
                <a:lnTo>
                  <a:pt x="670" y="444"/>
                </a:lnTo>
                <a:lnTo>
                  <a:pt x="752" y="370"/>
                </a:lnTo>
                <a:lnTo>
                  <a:pt x="844" y="298"/>
                </a:lnTo>
                <a:lnTo>
                  <a:pt x="950" y="226"/>
                </a:lnTo>
                <a:lnTo>
                  <a:pt x="1070" y="154"/>
                </a:lnTo>
                <a:lnTo>
                  <a:pt x="1202" y="84"/>
                </a:lnTo>
                <a:lnTo>
                  <a:pt x="1348" y="16"/>
                </a:lnTo>
                <a:lnTo>
                  <a:pt x="1244" y="0"/>
                </a:lnTo>
                <a:lnTo>
                  <a:pt x="1244" y="0"/>
                </a:lnTo>
                <a:lnTo>
                  <a:pt x="1244" y="0"/>
                </a:lnTo>
                <a:close/>
                <a:moveTo>
                  <a:pt x="2820" y="1934"/>
                </a:moveTo>
                <a:lnTo>
                  <a:pt x="2820" y="1934"/>
                </a:lnTo>
                <a:lnTo>
                  <a:pt x="2820" y="1934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hlink"/>
              </a:gs>
            </a:gsLst>
            <a:lin ang="5400000" scaled="1"/>
          </a:gradFill>
          <a:ln w="0">
            <a:noFill/>
            <a:prstDash val="solid"/>
            <a:round/>
          </a:ln>
          <a:effectLst>
            <a:outerShdw dist="206741" dir="824937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3698882" y="3889392"/>
            <a:ext cx="1873250" cy="2039938"/>
            <a:chOff x="1610" y="1344"/>
            <a:chExt cx="2041" cy="2223"/>
          </a:xfrm>
        </p:grpSpPr>
        <p:sp>
          <p:nvSpPr>
            <p:cNvPr id="50181" name="Oval 5"/>
            <p:cNvSpPr>
              <a:spLocks noChangeArrowheads="1"/>
            </p:cNvSpPr>
            <p:nvPr/>
          </p:nvSpPr>
          <p:spPr bwMode="gray">
            <a:xfrm>
              <a:off x="1610" y="2704"/>
              <a:ext cx="2041" cy="863"/>
            </a:xfrm>
            <a:prstGeom prst="ellipse">
              <a:avLst/>
            </a:prstGeom>
            <a:gradFill rotWithShape="1">
              <a:gsLst>
                <a:gs pos="0">
                  <a:srgbClr val="000000">
                    <a:alpha val="52000"/>
                  </a:srgbClr>
                </a:gs>
                <a:gs pos="100000">
                  <a:srgbClr val="000000">
                    <a:gamma/>
                    <a:shade val="0"/>
                    <a:invGamma/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82" name="Oval 6"/>
            <p:cNvSpPr>
              <a:spLocks noChangeArrowheads="1"/>
            </p:cNvSpPr>
            <p:nvPr/>
          </p:nvSpPr>
          <p:spPr bwMode="gray">
            <a:xfrm>
              <a:off x="1701" y="1344"/>
              <a:ext cx="1859" cy="1859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83" name="Oval 7"/>
            <p:cNvSpPr>
              <a:spLocks noChangeArrowheads="1"/>
            </p:cNvSpPr>
            <p:nvPr/>
          </p:nvSpPr>
          <p:spPr bwMode="gray">
            <a:xfrm>
              <a:off x="1725" y="1354"/>
              <a:ext cx="1814" cy="181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84" name="Oval 8"/>
            <p:cNvSpPr>
              <a:spLocks noChangeArrowheads="1"/>
            </p:cNvSpPr>
            <p:nvPr/>
          </p:nvSpPr>
          <p:spPr bwMode="gray">
            <a:xfrm>
              <a:off x="1744" y="1372"/>
              <a:ext cx="1726" cy="169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85" name="Oval 9"/>
            <p:cNvSpPr>
              <a:spLocks noChangeArrowheads="1"/>
            </p:cNvSpPr>
            <p:nvPr/>
          </p:nvSpPr>
          <p:spPr bwMode="gray">
            <a:xfrm>
              <a:off x="1844" y="1420"/>
              <a:ext cx="1535" cy="137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0"/>
          <p:cNvGrpSpPr/>
          <p:nvPr/>
        </p:nvGrpSpPr>
        <p:grpSpPr bwMode="auto">
          <a:xfrm>
            <a:off x="1214414" y="3251201"/>
            <a:ext cx="1785950" cy="1892311"/>
            <a:chOff x="1610" y="1344"/>
            <a:chExt cx="2041" cy="2223"/>
          </a:xfrm>
        </p:grpSpPr>
        <p:sp>
          <p:nvSpPr>
            <p:cNvPr id="50187" name="Oval 11"/>
            <p:cNvSpPr>
              <a:spLocks noChangeArrowheads="1"/>
            </p:cNvSpPr>
            <p:nvPr/>
          </p:nvSpPr>
          <p:spPr bwMode="gray">
            <a:xfrm>
              <a:off x="1610" y="2704"/>
              <a:ext cx="2041" cy="863"/>
            </a:xfrm>
            <a:prstGeom prst="ellipse">
              <a:avLst/>
            </a:prstGeom>
            <a:gradFill rotWithShape="1">
              <a:gsLst>
                <a:gs pos="0">
                  <a:srgbClr val="000000">
                    <a:alpha val="52000"/>
                  </a:srgbClr>
                </a:gs>
                <a:gs pos="100000">
                  <a:srgbClr val="000000">
                    <a:gamma/>
                    <a:shade val="0"/>
                    <a:invGamma/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88" name="Oval 12"/>
            <p:cNvSpPr>
              <a:spLocks noChangeArrowheads="1"/>
            </p:cNvSpPr>
            <p:nvPr/>
          </p:nvSpPr>
          <p:spPr bwMode="gray">
            <a:xfrm>
              <a:off x="1701" y="1344"/>
              <a:ext cx="1859" cy="1859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89" name="Oval 13"/>
            <p:cNvSpPr>
              <a:spLocks noChangeArrowheads="1"/>
            </p:cNvSpPr>
            <p:nvPr/>
          </p:nvSpPr>
          <p:spPr bwMode="gray">
            <a:xfrm>
              <a:off x="1725" y="1354"/>
              <a:ext cx="1814" cy="181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90" name="Oval 14"/>
            <p:cNvSpPr>
              <a:spLocks noChangeArrowheads="1"/>
            </p:cNvSpPr>
            <p:nvPr/>
          </p:nvSpPr>
          <p:spPr bwMode="gray">
            <a:xfrm>
              <a:off x="1744" y="1372"/>
              <a:ext cx="1726" cy="169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91" name="Oval 15"/>
            <p:cNvSpPr>
              <a:spLocks noChangeArrowheads="1"/>
            </p:cNvSpPr>
            <p:nvPr/>
          </p:nvSpPr>
          <p:spPr bwMode="gray">
            <a:xfrm>
              <a:off x="1844" y="1420"/>
              <a:ext cx="1535" cy="137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6"/>
          <p:cNvGrpSpPr/>
          <p:nvPr/>
        </p:nvGrpSpPr>
        <p:grpSpPr bwMode="auto">
          <a:xfrm>
            <a:off x="2193930" y="1643050"/>
            <a:ext cx="1520813" cy="1714512"/>
            <a:chOff x="1610" y="1344"/>
            <a:chExt cx="2041" cy="2223"/>
          </a:xfrm>
        </p:grpSpPr>
        <p:sp>
          <p:nvSpPr>
            <p:cNvPr id="50193" name="Oval 17"/>
            <p:cNvSpPr>
              <a:spLocks noChangeArrowheads="1"/>
            </p:cNvSpPr>
            <p:nvPr/>
          </p:nvSpPr>
          <p:spPr bwMode="gray">
            <a:xfrm>
              <a:off x="1610" y="2704"/>
              <a:ext cx="2041" cy="863"/>
            </a:xfrm>
            <a:prstGeom prst="ellipse">
              <a:avLst/>
            </a:prstGeom>
            <a:gradFill rotWithShape="1">
              <a:gsLst>
                <a:gs pos="0">
                  <a:srgbClr val="000000">
                    <a:alpha val="52000"/>
                  </a:srgbClr>
                </a:gs>
                <a:gs pos="100000">
                  <a:srgbClr val="000000">
                    <a:gamma/>
                    <a:shade val="0"/>
                    <a:invGamma/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94" name="Oval 18"/>
            <p:cNvSpPr>
              <a:spLocks noChangeArrowheads="1"/>
            </p:cNvSpPr>
            <p:nvPr/>
          </p:nvSpPr>
          <p:spPr bwMode="gray">
            <a:xfrm>
              <a:off x="1701" y="1344"/>
              <a:ext cx="1859" cy="1859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95" name="Oval 19"/>
            <p:cNvSpPr>
              <a:spLocks noChangeArrowheads="1"/>
            </p:cNvSpPr>
            <p:nvPr/>
          </p:nvSpPr>
          <p:spPr bwMode="gray">
            <a:xfrm>
              <a:off x="1725" y="1354"/>
              <a:ext cx="1814" cy="181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96" name="Oval 20"/>
            <p:cNvSpPr>
              <a:spLocks noChangeArrowheads="1"/>
            </p:cNvSpPr>
            <p:nvPr/>
          </p:nvSpPr>
          <p:spPr bwMode="gray">
            <a:xfrm>
              <a:off x="1744" y="1372"/>
              <a:ext cx="1726" cy="169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97" name="Oval 21"/>
            <p:cNvSpPr>
              <a:spLocks noChangeArrowheads="1"/>
            </p:cNvSpPr>
            <p:nvPr/>
          </p:nvSpPr>
          <p:spPr bwMode="gray">
            <a:xfrm>
              <a:off x="1844" y="1420"/>
              <a:ext cx="1535" cy="137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sp>
        <p:nvSpPr>
          <p:cNvPr id="50204" name="Text Box 28"/>
          <p:cNvSpPr txBox="1">
            <a:spLocks noChangeArrowheads="1"/>
          </p:cNvSpPr>
          <p:nvPr/>
        </p:nvSpPr>
        <p:spPr bwMode="auto">
          <a:xfrm>
            <a:off x="2285984" y="2119962"/>
            <a:ext cx="1500198" cy="5232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lvl="1" eaLnBrk="0" hangingPunct="0"/>
            <a:r>
              <a:rPr lang="en-US" altLang="zh-CN" sz="1400" dirty="0"/>
              <a:t>5X+3Y+Z/3=100</a:t>
            </a:r>
            <a:endParaRPr lang="en-US" altLang="zh-CN" sz="1400" dirty="0"/>
          </a:p>
          <a:p>
            <a:pPr marL="0" lvl="1" eaLnBrk="0" hangingPunct="0"/>
            <a:r>
              <a:rPr lang="en-US" altLang="zh-CN" sz="1400" dirty="0"/>
              <a:t>X+Y+Z=100</a:t>
            </a:r>
            <a:endParaRPr lang="en-US" altLang="zh-CN" sz="1400" dirty="0"/>
          </a:p>
        </p:txBody>
      </p:sp>
      <p:sp>
        <p:nvSpPr>
          <p:cNvPr id="50206" name="Text Box 30"/>
          <p:cNvSpPr txBox="1">
            <a:spLocks noChangeArrowheads="1"/>
          </p:cNvSpPr>
          <p:nvPr/>
        </p:nvSpPr>
        <p:spPr bwMode="auto">
          <a:xfrm>
            <a:off x="1531531" y="3659692"/>
            <a:ext cx="1183081" cy="76944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lvl="1" algn="ctr" eaLnBrk="0" hangingPunct="0"/>
            <a:r>
              <a:rPr lang="en-US" altLang="zh-CN" sz="2200" dirty="0"/>
              <a:t>Z = 100</a:t>
            </a:r>
            <a:endParaRPr lang="en-US" altLang="zh-CN" sz="2200" dirty="0"/>
          </a:p>
          <a:p>
            <a:pPr marL="0" lvl="1" algn="ctr" eaLnBrk="0" hangingPunct="0"/>
            <a:r>
              <a:rPr lang="en-US" altLang="zh-CN" sz="2200" dirty="0"/>
              <a:t> – X – Y</a:t>
            </a:r>
            <a:endParaRPr lang="en-US" altLang="zh-CN" sz="2200" dirty="0"/>
          </a:p>
        </p:txBody>
      </p:sp>
      <p:sp>
        <p:nvSpPr>
          <p:cNvPr id="50207" name="Text Box 31"/>
          <p:cNvSpPr txBox="1">
            <a:spLocks noChangeArrowheads="1"/>
          </p:cNvSpPr>
          <p:nvPr/>
        </p:nvSpPr>
        <p:spPr bwMode="auto">
          <a:xfrm>
            <a:off x="3809373" y="4569749"/>
            <a:ext cx="1675459" cy="43088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lvl="1" algn="ctr" eaLnBrk="0" hangingPunct="0"/>
            <a:r>
              <a:rPr lang="en-US" altLang="zh-CN" sz="2200" dirty="0"/>
              <a:t>7X+4Y=100</a:t>
            </a:r>
            <a:endParaRPr lang="en-US" altLang="zh-CN" sz="2200" dirty="0"/>
          </a:p>
        </p:txBody>
      </p:sp>
      <p:sp>
        <p:nvSpPr>
          <p:cNvPr id="50208" name="Text Box 32"/>
          <p:cNvSpPr txBox="1">
            <a:spLocks noChangeArrowheads="1"/>
          </p:cNvSpPr>
          <p:nvPr/>
        </p:nvSpPr>
        <p:spPr bwMode="auto">
          <a:xfrm>
            <a:off x="5715000" y="3517900"/>
            <a:ext cx="25908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en-US" sz="2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模型设计过程</a:t>
            </a:r>
            <a:endParaRPr lang="en-US" altLang="zh-CN" sz="2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3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程序的设计思路</a:t>
            </a:r>
            <a:endParaRPr lang="zh-CN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程序的设计思路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205434"/>
          </a:xfrm>
        </p:spPr>
        <p:txBody>
          <a:bodyPr/>
          <a:lstStyle/>
          <a:p>
            <a:pPr>
              <a:spcBef>
                <a:spcPct val="0"/>
              </a:spcBef>
              <a:buNone/>
            </a:pPr>
            <a:r>
              <a:rPr lang="en-US" altLang="zh-CN" sz="20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000" kern="12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2000" kern="12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</a:t>
            </a: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kern="12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000" kern="12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altLang="zh-CN" sz="20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sz="2000" kern="12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000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kern="12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chicken,hen,cock</a:t>
            </a: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000" kern="12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&lt;&lt;"chicken hen cock"&lt;&lt;</a:t>
            </a:r>
            <a:r>
              <a:rPr lang="en-US" altLang="zh-CN" sz="2000" kern="12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0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(chicken=0; chicken&lt;100; chicken+=3)</a:t>
            </a:r>
            <a:b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(hen=0; hen&lt;=33; hen++)</a:t>
            </a:r>
            <a:b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zh-CN" sz="20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((cock=100-chicken-hen)&gt;-1)  	  	 </a:t>
            </a:r>
            <a:r>
              <a:rPr lang="en-US" altLang="zh-CN" sz="20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000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(chicken/3)+hen*3+cock*5==100)</a:t>
            </a:r>
            <a:endParaRPr lang="en-US" altLang="zh-CN" sz="2000" kern="12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{</a:t>
            </a:r>
            <a:endParaRPr lang="en-US" altLang="zh-CN" sz="2000" kern="12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altLang="zh-CN" sz="2000" kern="12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 "&lt;&lt;chicken&lt;&lt;" "&lt;&lt;hen;</a:t>
            </a:r>
            <a:endParaRPr lang="en-US" altLang="zh-CN" sz="2000" kern="12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    </a:t>
            </a:r>
            <a:r>
              <a:rPr lang="en-US" altLang="zh-CN" sz="2000" kern="12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&lt;&lt;" "&lt;&lt;cock&lt;&lt;</a:t>
            </a:r>
            <a:r>
              <a:rPr lang="en-US" altLang="zh-CN" sz="2000" kern="12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2000" kern="12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  <a:endParaRPr lang="en-US" altLang="zh-CN" sz="2000" kern="12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 kern="12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zh-CN" altLang="en-US" sz="20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程序的设计思路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/>
              <a:t>输出结果：</a:t>
            </a:r>
            <a:endParaRPr lang="zh-CN" altLang="en-US" dirty="0"/>
          </a:p>
          <a:p>
            <a:pPr>
              <a:buNone/>
            </a:pPr>
            <a:r>
              <a:rPr lang="en-US" altLang="zh-CN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chicken	hen	   cock</a:t>
            </a:r>
            <a:endParaRPr lang="en-US" altLang="zh-CN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zh-CN" altLang="en-US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75		25		0</a:t>
            </a:r>
            <a:endParaRPr lang="en-US" altLang="zh-CN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78		18		4</a:t>
            </a:r>
            <a:endParaRPr lang="en-US" altLang="zh-CN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81		11		8</a:t>
            </a:r>
            <a:endParaRPr lang="en-US" altLang="zh-CN" dirty="0">
              <a:solidFill>
                <a:srgbClr val="0033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84		4		12	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程序的设计思路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348880"/>
            <a:ext cx="8153400" cy="3660438"/>
          </a:xfrm>
        </p:spPr>
        <p:txBody>
          <a:bodyPr/>
          <a:lstStyle/>
          <a:p>
            <a:pPr lvl="1"/>
            <a:r>
              <a:rPr lang="zh-CN" altLang="en-US" dirty="0"/>
              <a:t>输入</a:t>
            </a:r>
            <a:r>
              <a:rPr lang="zh-CN" altLang="en-US" dirty="0">
                <a:solidFill>
                  <a:srgbClr val="29698D"/>
                </a:solidFill>
              </a:rPr>
              <a:t>方程的</a:t>
            </a:r>
            <a:r>
              <a:rPr lang="zh-CN" altLang="en-US" dirty="0"/>
              <a:t>参数：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和</a:t>
            </a:r>
            <a:r>
              <a:rPr lang="en-US" altLang="zh-CN" dirty="0"/>
              <a:t>c</a:t>
            </a:r>
            <a:endParaRPr lang="en-US" altLang="zh-CN" dirty="0"/>
          </a:p>
          <a:p>
            <a:pPr lvl="1"/>
            <a:r>
              <a:rPr lang="zh-CN" altLang="en-US" dirty="0"/>
              <a:t>通过公式：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>
              <a:buNone/>
            </a:pPr>
            <a:r>
              <a:rPr lang="en-US" altLang="zh-CN" dirty="0"/>
              <a:t>	</a:t>
            </a:r>
            <a:r>
              <a:rPr lang="zh-CN" altLang="en-US" dirty="0"/>
              <a:t>计算方程的根</a:t>
            </a:r>
            <a:endParaRPr lang="en-US" altLang="zh-CN" dirty="0"/>
          </a:p>
          <a:p>
            <a:pPr lvl="1"/>
            <a:r>
              <a:rPr lang="zh-CN" altLang="en-US" dirty="0"/>
              <a:t>如果有实根，给输出实根，无实根则输出相应的提示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457200" y="1296000"/>
            <a:ext cx="8153400" cy="63340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defTabSz="914400" latinLnBrk="0">
              <a:lnSpc>
                <a:spcPct val="10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lang="en-US" altLang="zh-CN" sz="32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 sz="32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32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2.6】</a:t>
            </a:r>
            <a:r>
              <a:rPr lang="zh-CN" altLang="en-US" sz="32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设计一个程序，求一元二次方程的根</a:t>
            </a:r>
            <a:endParaRPr lang="en-US" altLang="zh-CN" sz="3200" b="1" dirty="0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1647825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00364" y="3269673"/>
            <a:ext cx="2500330" cy="735391"/>
          </a:xfrm>
          <a:prstGeom prst="rect">
            <a:avLst/>
          </a:prstGeom>
          <a:noFill/>
        </p:spPr>
      </p:pic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0" y="1647825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VC++</a:t>
            </a:r>
            <a:r>
              <a:rPr lang="en-US" altLang="zh-CN" dirty="0" err="1"/>
              <a:t>.Net</a:t>
            </a:r>
            <a:r>
              <a:rPr lang="zh-CN" altLang="en-US" dirty="0"/>
              <a:t>中编辑并执行</a:t>
            </a:r>
            <a:r>
              <a:rPr lang="en-US" altLang="zh-CN" dirty="0"/>
              <a:t>C++</a:t>
            </a:r>
            <a:r>
              <a:rPr lang="zh-CN" altLang="en-US" dirty="0"/>
              <a:t>程序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</p:nvPr>
        </p:nvGraphicFramePr>
        <p:xfrm>
          <a:off x="457200" y="1295400"/>
          <a:ext cx="81534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ordArt 5"/>
          <p:cNvSpPr>
            <a:spLocks noChangeArrowheads="1" noChangeShapeType="1" noTextEdit="1"/>
          </p:cNvSpPr>
          <p:nvPr/>
        </p:nvSpPr>
        <p:spPr bwMode="gray">
          <a:xfrm>
            <a:off x="1447800" y="1676400"/>
            <a:ext cx="3887787" cy="1728192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Q&amp;A!</a:t>
            </a:r>
            <a:endParaRPr lang="zh-CN" altLang="en-US" sz="3600" b="1" kern="10" dirty="0">
              <a:ln w="19050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tx2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ags/tag1.xml><?xml version="1.0" encoding="utf-8"?>
<p:tagLst xmlns:p="http://schemas.openxmlformats.org/presentationml/2006/main">
  <p:tag name="COMMONDATA" val="eyJoZGlkIjoiNzUyNTk3ZGVhNjdkNDkxMTcyNzY1OTFmNGY3NDlhMDMifQ=="/>
</p:tagLst>
</file>

<file path=ppt/theme/theme1.xml><?xml version="1.0" encoding="utf-8"?>
<a:theme xmlns:a="http://schemas.openxmlformats.org/drawingml/2006/main" name="Office 主题">
  <a:themeElements>
    <a:clrScheme name="Office 主题 3">
      <a:dk1>
        <a:srgbClr val="000000"/>
      </a:dk1>
      <a:lt1>
        <a:srgbClr val="FFFFFF"/>
      </a:lt1>
      <a:dk2>
        <a:srgbClr val="37399B"/>
      </a:dk2>
      <a:lt2>
        <a:srgbClr val="C0C0C0"/>
      </a:lt2>
      <a:accent1>
        <a:srgbClr val="699DE9"/>
      </a:accent1>
      <a:accent2>
        <a:srgbClr val="EFB049"/>
      </a:accent2>
      <a:accent3>
        <a:srgbClr val="FFFFFF"/>
      </a:accent3>
      <a:accent4>
        <a:srgbClr val="000000"/>
      </a:accent4>
      <a:accent5>
        <a:srgbClr val="B9CCF2"/>
      </a:accent5>
      <a:accent6>
        <a:srgbClr val="D99F41"/>
      </a:accent6>
      <a:hlink>
        <a:srgbClr val="7476DC"/>
      </a:hlink>
      <a:folHlink>
        <a:srgbClr val="9AC664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Office 主题 1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6F4EE6"/>
        </a:accent1>
        <a:accent2>
          <a:srgbClr val="69BFF9"/>
        </a:accent2>
        <a:accent3>
          <a:srgbClr val="FFFFFF"/>
        </a:accent3>
        <a:accent4>
          <a:srgbClr val="000000"/>
        </a:accent4>
        <a:accent5>
          <a:srgbClr val="BBB2F0"/>
        </a:accent5>
        <a:accent6>
          <a:srgbClr val="5EADE2"/>
        </a:accent6>
        <a:hlink>
          <a:srgbClr val="D17FB6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165E86"/>
        </a:dk2>
        <a:lt2>
          <a:srgbClr val="969696"/>
        </a:lt2>
        <a:accent1>
          <a:srgbClr val="33C5A9"/>
        </a:accent1>
        <a:accent2>
          <a:srgbClr val="90DE88"/>
        </a:accent2>
        <a:accent3>
          <a:srgbClr val="FFFFFF"/>
        </a:accent3>
        <a:accent4>
          <a:srgbClr val="000000"/>
        </a:accent4>
        <a:accent5>
          <a:srgbClr val="ADDFD1"/>
        </a:accent5>
        <a:accent6>
          <a:srgbClr val="82C97B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37399B"/>
        </a:dk2>
        <a:lt2>
          <a:srgbClr val="C0C0C0"/>
        </a:lt2>
        <a:accent1>
          <a:srgbClr val="699DE9"/>
        </a:accent1>
        <a:accent2>
          <a:srgbClr val="EFB049"/>
        </a:accent2>
        <a:accent3>
          <a:srgbClr val="FFFFFF"/>
        </a:accent3>
        <a:accent4>
          <a:srgbClr val="000000"/>
        </a:accent4>
        <a:accent5>
          <a:srgbClr val="B9CCF2"/>
        </a:accent5>
        <a:accent6>
          <a:srgbClr val="D99F41"/>
        </a:accent6>
        <a:hlink>
          <a:srgbClr val="7476DC"/>
        </a:hlink>
        <a:folHlink>
          <a:srgbClr val="9AC66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9824</Words>
  <Application>WPS 演示</Application>
  <PresentationFormat>全屏显示(4:3)</PresentationFormat>
  <Paragraphs>1141</Paragraphs>
  <Slides>66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85" baseType="lpstr">
      <vt:lpstr>Arial</vt:lpstr>
      <vt:lpstr>宋体</vt:lpstr>
      <vt:lpstr>Wingdings</vt:lpstr>
      <vt:lpstr>Baskerville Old Face</vt:lpstr>
      <vt:lpstr>华文楷体</vt:lpstr>
      <vt:lpstr>华文新魏</vt:lpstr>
      <vt:lpstr>Courier New</vt:lpstr>
      <vt:lpstr>微软雅黑</vt:lpstr>
      <vt:lpstr>Arial Unicode MS</vt:lpstr>
      <vt:lpstr>Calibri</vt:lpstr>
      <vt:lpstr>Verdana</vt:lpstr>
      <vt:lpstr>楷体_GB2312</vt:lpstr>
      <vt:lpstr>新宋体</vt:lpstr>
      <vt:lpstr>黑体</vt:lpstr>
      <vt:lpstr>Tahoma</vt:lpstr>
      <vt:lpstr>Times New Roman</vt:lpstr>
      <vt:lpstr>Times New Roman</vt:lpstr>
      <vt:lpstr>Office 主题</vt:lpstr>
      <vt:lpstr>Photoshop.Image.6</vt:lpstr>
      <vt:lpstr>高级语言程序设计</vt:lpstr>
      <vt:lpstr>PowerPoint 演示文稿</vt:lpstr>
      <vt:lpstr>第2章 C++语言初步</vt:lpstr>
      <vt:lpstr>C++程序组成</vt:lpstr>
      <vt:lpstr>C++程序组成</vt:lpstr>
      <vt:lpstr>C++程序组成</vt:lpstr>
      <vt:lpstr>C++程序组成</vt:lpstr>
      <vt:lpstr>C++程序组成</vt:lpstr>
      <vt:lpstr>初识C++程序</vt:lpstr>
      <vt:lpstr>初识C++程序</vt:lpstr>
      <vt:lpstr>初识C++程序</vt:lpstr>
      <vt:lpstr>输入/输出语句</vt:lpstr>
      <vt:lpstr>输入/输出语句</vt:lpstr>
      <vt:lpstr>C++程序示例</vt:lpstr>
      <vt:lpstr>C++程序示例</vt:lpstr>
      <vt:lpstr>C++程序示例</vt:lpstr>
      <vt:lpstr>第2章 C++语言初步</vt:lpstr>
      <vt:lpstr>基本符号分类与ASCII码</vt:lpstr>
      <vt:lpstr>基本符号的ASCII码表</vt:lpstr>
      <vt:lpstr>基本符号的ASCII码表</vt:lpstr>
      <vt:lpstr>第2章 C++语言初步</vt:lpstr>
      <vt:lpstr>C++语言的词汇</vt:lpstr>
      <vt:lpstr>C++语言的词汇</vt:lpstr>
      <vt:lpstr>C++语言的词汇</vt:lpstr>
      <vt:lpstr>C++语言的词汇</vt:lpstr>
      <vt:lpstr>常用的命名法</vt:lpstr>
      <vt:lpstr>C++语言的词汇</vt:lpstr>
      <vt:lpstr>C++语言的词汇</vt:lpstr>
      <vt:lpstr>C++语言的词汇</vt:lpstr>
      <vt:lpstr>C++语言的词汇</vt:lpstr>
      <vt:lpstr>C++语言的词汇</vt:lpstr>
      <vt:lpstr>C++语言的词汇</vt:lpstr>
      <vt:lpstr>C++语言的词汇</vt:lpstr>
      <vt:lpstr>C++语言的词汇</vt:lpstr>
      <vt:lpstr>C++语言的词汇</vt:lpstr>
      <vt:lpstr>C++语言的词汇</vt:lpstr>
      <vt:lpstr>C++语言的词汇</vt:lpstr>
      <vt:lpstr>C++语言的词汇</vt:lpstr>
      <vt:lpstr>C++语言的词汇</vt:lpstr>
      <vt:lpstr>PowerPoint 演示文稿</vt:lpstr>
      <vt:lpstr>PowerPoint 演示文稿</vt:lpstr>
      <vt:lpstr>PowerPoint 演示文稿</vt:lpstr>
      <vt:lpstr>PowerPoint 演示文稿</vt:lpstr>
      <vt:lpstr>C++语言的词汇</vt:lpstr>
      <vt:lpstr>第2章 C++语言初步</vt:lpstr>
      <vt:lpstr>C++程序的基本框架</vt:lpstr>
      <vt:lpstr>主函数</vt:lpstr>
      <vt:lpstr>主函数</vt:lpstr>
      <vt:lpstr>预处理命令</vt:lpstr>
      <vt:lpstr>预处理命令</vt:lpstr>
      <vt:lpstr>命名空间</vt:lpstr>
      <vt:lpstr>宏定义命令</vt:lpstr>
      <vt:lpstr>结构程序框架</vt:lpstr>
      <vt:lpstr>结构程序框架</vt:lpstr>
      <vt:lpstr>面向对象程序框架</vt:lpstr>
      <vt:lpstr>面向对象程序框架</vt:lpstr>
      <vt:lpstr>面向对象程序框架</vt:lpstr>
      <vt:lpstr>第2章 C++语言初步</vt:lpstr>
      <vt:lpstr>C++程序的设计思路</vt:lpstr>
      <vt:lpstr>C++程序的设计思路</vt:lpstr>
      <vt:lpstr>C++程序的设计思路</vt:lpstr>
      <vt:lpstr>C++程序的设计思路</vt:lpstr>
      <vt:lpstr>C++程序的设计思路</vt:lpstr>
      <vt:lpstr>C++程序的设计思路</vt:lpstr>
      <vt:lpstr>VC++.Net中编辑并执行C++程序</vt:lpstr>
      <vt:lpstr>PowerPoint 演示文稿</vt:lpstr>
    </vt:vector>
  </TitlesOfParts>
  <Company>Guilddesign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智能所介绍</dc:title>
  <dc:creator>xujing</dc:creator>
  <cp:lastModifiedBy>许静</cp:lastModifiedBy>
  <cp:revision>271</cp:revision>
  <dcterms:created xsi:type="dcterms:W3CDTF">2004-07-21T02:43:00Z</dcterms:created>
  <dcterms:modified xsi:type="dcterms:W3CDTF">2023-09-25T02:33:59Z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ICV">
    <vt:lpwstr>AEC5EC43D3B649A38D648E8DDA860039</vt:lpwstr>
  </property>
</Properties>
</file>