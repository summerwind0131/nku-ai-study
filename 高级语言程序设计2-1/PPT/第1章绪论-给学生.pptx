
<file path=[Content_Types].xml><?xml version="1.0" encoding="utf-8"?>
<Types xmlns="http://schemas.openxmlformats.org/package/2006/content-types">
  <Default Extension="jpeg" ContentType="image/jpeg"/>
  <Default Extension="JPG" ContentType="image/.jpg"/>
  <Default Extension="vml" ContentType="application/vnd.openxmlformats-officedocument.vmlDrawing"/>
  <Default Extension="bin" ContentType="application/vnd.openxmlformats-officedocument.oleObject"/>
  <Default Extension="png" ContentType="image/png"/>
  <Default Extension="wmf" ContentType="image/x-w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2.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2"/>
  </p:notesMasterIdLst>
  <p:sldIdLst>
    <p:sldId id="367" r:id="rId3"/>
    <p:sldId id="360" r:id="rId4"/>
    <p:sldId id="359" r:id="rId5"/>
    <p:sldId id="361" r:id="rId6"/>
    <p:sldId id="362" r:id="rId7"/>
    <p:sldId id="364" r:id="rId8"/>
    <p:sldId id="365" r:id="rId9"/>
    <p:sldId id="366" r:id="rId10"/>
    <p:sldId id="370" r:id="rId11"/>
    <p:sldId id="371" r:id="rId13"/>
    <p:sldId id="372" r:id="rId14"/>
    <p:sldId id="373" r:id="rId15"/>
    <p:sldId id="374" r:id="rId16"/>
    <p:sldId id="375" r:id="rId17"/>
    <p:sldId id="376" r:id="rId18"/>
    <p:sldId id="377" r:id="rId19"/>
    <p:sldId id="378" r:id="rId20"/>
    <p:sldId id="379" r:id="rId21"/>
    <p:sldId id="380" r:id="rId22"/>
    <p:sldId id="381" r:id="rId23"/>
    <p:sldId id="382" r:id="rId24"/>
    <p:sldId id="383" r:id="rId25"/>
    <p:sldId id="384" r:id="rId26"/>
    <p:sldId id="385" r:id="rId27"/>
    <p:sldId id="386" r:id="rId28"/>
    <p:sldId id="387" r:id="rId29"/>
    <p:sldId id="388" r:id="rId30"/>
    <p:sldId id="389" r:id="rId31"/>
    <p:sldId id="390" r:id="rId32"/>
    <p:sldId id="391" r:id="rId33"/>
    <p:sldId id="392" r:id="rId34"/>
    <p:sldId id="393" r:id="rId35"/>
    <p:sldId id="394" r:id="rId36"/>
    <p:sldId id="395" r:id="rId37"/>
    <p:sldId id="396" r:id="rId38"/>
    <p:sldId id="397" r:id="rId39"/>
    <p:sldId id="398" r:id="rId40"/>
    <p:sldId id="399" r:id="rId41"/>
    <p:sldId id="400" r:id="rId42"/>
    <p:sldId id="401" r:id="rId43"/>
    <p:sldId id="402" r:id="rId44"/>
    <p:sldId id="403" r:id="rId45"/>
    <p:sldId id="404" r:id="rId46"/>
    <p:sldId id="405" r:id="rId47"/>
    <p:sldId id="407" r:id="rId48"/>
    <p:sldId id="411" r:id="rId49"/>
    <p:sldId id="414" r:id="rId50"/>
    <p:sldId id="415" r:id="rId51"/>
    <p:sldId id="416" r:id="rId52"/>
    <p:sldId id="417" r:id="rId53"/>
    <p:sldId id="418" r:id="rId54"/>
    <p:sldId id="419" r:id="rId55"/>
    <p:sldId id="420" r:id="rId56"/>
    <p:sldId id="421" r:id="rId57"/>
    <p:sldId id="422" r:id="rId58"/>
    <p:sldId id="423" r:id="rId59"/>
    <p:sldId id="424" r:id="rId60"/>
    <p:sldId id="425" r:id="rId61"/>
    <p:sldId id="426" r:id="rId62"/>
    <p:sldId id="427" r:id="rId63"/>
    <p:sldId id="428" r:id="rId64"/>
    <p:sldId id="429" r:id="rId65"/>
    <p:sldId id="430" r:id="rId66"/>
    <p:sldId id="431" r:id="rId67"/>
    <p:sldId id="432" r:id="rId68"/>
    <p:sldId id="433" r:id="rId69"/>
    <p:sldId id="434" r:id="rId70"/>
    <p:sldId id="435" r:id="rId71"/>
    <p:sldId id="436" r:id="rId72"/>
    <p:sldId id="437" r:id="rId73"/>
    <p:sldId id="438" r:id="rId74"/>
    <p:sldId id="439" r:id="rId75"/>
    <p:sldId id="440" r:id="rId76"/>
    <p:sldId id="441" r:id="rId77"/>
    <p:sldId id="442" r:id="rId78"/>
    <p:sldId id="443" r:id="rId79"/>
    <p:sldId id="444" r:id="rId80"/>
    <p:sldId id="445" r:id="rId81"/>
    <p:sldId id="446" r:id="rId82"/>
    <p:sldId id="447" r:id="rId83"/>
    <p:sldId id="448" r:id="rId84"/>
    <p:sldId id="275" r:id="rId85"/>
  </p:sldIdLst>
  <p:sldSz cx="9144000" cy="6858000" type="screen4x3"/>
  <p:notesSz cx="6858000" cy="9144000"/>
  <p:custDataLst>
    <p:tags r:id="rId89"/>
  </p:custDataLst>
  <p:defaultTextStyle>
    <a:defPPr>
      <a:defRPr lang="en-US"/>
    </a:defPPr>
    <a:lvl1pPr marL="0" lvl="0"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5pPr>
    <a:lvl6pPr marL="2286000" lvl="5"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6pPr>
    <a:lvl7pPr marL="2743200" lvl="6"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7pPr>
    <a:lvl8pPr marL="3200400" lvl="7"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8pPr>
    <a:lvl9pPr marL="3657600" lvl="8"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CC"/>
    <a:srgbClr val="CCCCFF"/>
    <a:srgbClr val="E8EDFE"/>
    <a:srgbClr val="E2E9FE"/>
    <a:srgbClr val="ECF0FE"/>
    <a:srgbClr val="C4D1FC"/>
    <a:srgbClr val="BDDEFF"/>
    <a:srgbClr val="99CC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无样式，网格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21E4AEA4-8DFA-4A89-87EB-49C32662AFE0}" styleName="中度样式 2 - 强调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10A1B5D5-9B99-4C35-A422-299274C87663}" styleName="中度样式 1 - 强调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a:noFill/>
            </a:ln>
          </a:insideV>
        </a:tcBdr>
        <a:fill>
          <a:solidFill>
            <a:schemeClr val="lt1"/>
          </a:solidFill>
        </a:fill>
      </a:tcStyle>
    </a:wholeTbl>
    <a:band1H>
      <a:tcStyle>
        <a:tcBdr/>
        <a:fill>
          <a:solidFill>
            <a:schemeClr val="accent6">
              <a:tint val="20000"/>
            </a:schemeClr>
          </a:solidFill>
        </a:fill>
      </a:tcStyle>
    </a:band1H>
    <a:band1V>
      <a:tcStyle>
        <a:tcBdr/>
        <a:fill>
          <a:solidFill>
            <a:schemeClr val="accent6">
              <a:tint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solidFill>
            <a:schemeClr val="lt1"/>
          </a:solidFill>
        </a:fill>
      </a:tcStyle>
    </a:lastRow>
    <a:firstRow>
      <a:tcTxStyle b="on">
        <a:fontRef idx="minor">
          <a:scrgbClr r="0" g="0" b="0"/>
        </a:fontRef>
        <a:schemeClr val="lt1"/>
      </a:tcTxStyle>
      <a:tcStyle>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8481" autoAdjust="0"/>
    <p:restoredTop sz="80024"/>
  </p:normalViewPr>
  <p:slideViewPr>
    <p:cSldViewPr showGuides="1">
      <p:cViewPr varScale="1">
        <p:scale>
          <a:sx n="69" d="100"/>
          <a:sy n="69" d="100"/>
        </p:scale>
        <p:origin x="1728" y="5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9" Type="http://schemas.openxmlformats.org/officeDocument/2006/relationships/tags" Target="tags/tag2.xml"/><Relationship Id="rId88" Type="http://schemas.openxmlformats.org/officeDocument/2006/relationships/tableStyles" Target="tableStyles.xml"/><Relationship Id="rId87" Type="http://schemas.openxmlformats.org/officeDocument/2006/relationships/viewProps" Target="viewProps.xml"/><Relationship Id="rId86" Type="http://schemas.openxmlformats.org/officeDocument/2006/relationships/presProps" Target="presProps.xml"/><Relationship Id="rId85" Type="http://schemas.openxmlformats.org/officeDocument/2006/relationships/slide" Target="slides/slide82.xml"/><Relationship Id="rId84" Type="http://schemas.openxmlformats.org/officeDocument/2006/relationships/slide" Target="slides/slide81.xml"/><Relationship Id="rId83" Type="http://schemas.openxmlformats.org/officeDocument/2006/relationships/slide" Target="slides/slide80.xml"/><Relationship Id="rId82" Type="http://schemas.openxmlformats.org/officeDocument/2006/relationships/slide" Target="slides/slide79.xml"/><Relationship Id="rId81" Type="http://schemas.openxmlformats.org/officeDocument/2006/relationships/slide" Target="slides/slide78.xml"/><Relationship Id="rId80" Type="http://schemas.openxmlformats.org/officeDocument/2006/relationships/slide" Target="slides/slide77.xml"/><Relationship Id="rId8" Type="http://schemas.openxmlformats.org/officeDocument/2006/relationships/slide" Target="slides/slide6.xml"/><Relationship Id="rId79" Type="http://schemas.openxmlformats.org/officeDocument/2006/relationships/slide" Target="slides/slide76.xml"/><Relationship Id="rId78" Type="http://schemas.openxmlformats.org/officeDocument/2006/relationships/slide" Target="slides/slide75.xml"/><Relationship Id="rId77" Type="http://schemas.openxmlformats.org/officeDocument/2006/relationships/slide" Target="slides/slide74.xml"/><Relationship Id="rId76" Type="http://schemas.openxmlformats.org/officeDocument/2006/relationships/slide" Target="slides/slide73.xml"/><Relationship Id="rId75" Type="http://schemas.openxmlformats.org/officeDocument/2006/relationships/slide" Target="slides/slide72.xml"/><Relationship Id="rId74" Type="http://schemas.openxmlformats.org/officeDocument/2006/relationships/slide" Target="slides/slide71.xml"/><Relationship Id="rId73" Type="http://schemas.openxmlformats.org/officeDocument/2006/relationships/slide" Target="slides/slide70.xml"/><Relationship Id="rId72" Type="http://schemas.openxmlformats.org/officeDocument/2006/relationships/slide" Target="slides/slide69.xml"/><Relationship Id="rId71" Type="http://schemas.openxmlformats.org/officeDocument/2006/relationships/slide" Target="slides/slide68.xml"/><Relationship Id="rId70" Type="http://schemas.openxmlformats.org/officeDocument/2006/relationships/slide" Target="slides/slide67.xml"/><Relationship Id="rId7" Type="http://schemas.openxmlformats.org/officeDocument/2006/relationships/slide" Target="slides/slide5.xml"/><Relationship Id="rId69" Type="http://schemas.openxmlformats.org/officeDocument/2006/relationships/slide" Target="slides/slide66.xml"/><Relationship Id="rId68" Type="http://schemas.openxmlformats.org/officeDocument/2006/relationships/slide" Target="slides/slide65.xml"/><Relationship Id="rId67" Type="http://schemas.openxmlformats.org/officeDocument/2006/relationships/slide" Target="slides/slide64.xml"/><Relationship Id="rId66" Type="http://schemas.openxmlformats.org/officeDocument/2006/relationships/slide" Target="slides/slide63.xml"/><Relationship Id="rId65" Type="http://schemas.openxmlformats.org/officeDocument/2006/relationships/slide" Target="slides/slide62.xml"/><Relationship Id="rId64" Type="http://schemas.openxmlformats.org/officeDocument/2006/relationships/slide" Target="slides/slide61.xml"/><Relationship Id="rId63" Type="http://schemas.openxmlformats.org/officeDocument/2006/relationships/slide" Target="slides/slide60.xml"/><Relationship Id="rId62" Type="http://schemas.openxmlformats.org/officeDocument/2006/relationships/slide" Target="slides/slide59.xml"/><Relationship Id="rId61" Type="http://schemas.openxmlformats.org/officeDocument/2006/relationships/slide" Target="slides/slide58.xml"/><Relationship Id="rId60" Type="http://schemas.openxmlformats.org/officeDocument/2006/relationships/slide" Target="slides/slide57.xml"/><Relationship Id="rId6" Type="http://schemas.openxmlformats.org/officeDocument/2006/relationships/slide" Target="slides/slide4.xml"/><Relationship Id="rId59" Type="http://schemas.openxmlformats.org/officeDocument/2006/relationships/slide" Target="slides/slide56.xml"/><Relationship Id="rId58" Type="http://schemas.openxmlformats.org/officeDocument/2006/relationships/slide" Target="slides/slide55.xml"/><Relationship Id="rId57" Type="http://schemas.openxmlformats.org/officeDocument/2006/relationships/slide" Target="slides/slide54.xml"/><Relationship Id="rId56" Type="http://schemas.openxmlformats.org/officeDocument/2006/relationships/slide" Target="slides/slide53.xml"/><Relationship Id="rId55" Type="http://schemas.openxmlformats.org/officeDocument/2006/relationships/slide" Target="slides/slide52.xml"/><Relationship Id="rId54" Type="http://schemas.openxmlformats.org/officeDocument/2006/relationships/slide" Target="slides/slide51.xml"/><Relationship Id="rId53" Type="http://schemas.openxmlformats.org/officeDocument/2006/relationships/slide" Target="slides/slide50.xml"/><Relationship Id="rId52" Type="http://schemas.openxmlformats.org/officeDocument/2006/relationships/slide" Target="slides/slide49.xml"/><Relationship Id="rId51" Type="http://schemas.openxmlformats.org/officeDocument/2006/relationships/slide" Target="slides/slide48.xml"/><Relationship Id="rId50" Type="http://schemas.openxmlformats.org/officeDocument/2006/relationships/slide" Target="slides/slide47.xml"/><Relationship Id="rId5" Type="http://schemas.openxmlformats.org/officeDocument/2006/relationships/slide" Target="slides/slide3.xml"/><Relationship Id="rId49" Type="http://schemas.openxmlformats.org/officeDocument/2006/relationships/slide" Target="slides/slide46.xml"/><Relationship Id="rId48" Type="http://schemas.openxmlformats.org/officeDocument/2006/relationships/slide" Target="slides/slide45.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slide" Target="slides/slide2.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notesMaster" Target="notesMasters/notesMaster1.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7.png"/></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eaLnBrk="1" hangingPunct="1">
              <a:defRPr sz="1200">
                <a:latin typeface="Arial" panose="020B0604020202020204" pitchFamily="34" charset="0"/>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mn-ea"/>
              <a:cs typeface="+mn-cs"/>
            </a:endParaRPr>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eaLnBrk="1" hangingPunct="1">
              <a:defRPr sz="1200">
                <a:latin typeface="Arial" panose="020B0604020202020204" pitchFamily="34" charset="0"/>
              </a:defRPr>
            </a:lvl1pPr>
          </a:lstStyle>
          <a:p>
            <a:pPr marL="0" marR="0" lvl="0" indent="0" algn="r" defTabSz="914400" rtl="0" eaLnBrk="1" fontAlgn="base" latinLnBrk="0" hangingPunct="1">
              <a:lnSpc>
                <a:spcPct val="100000"/>
              </a:lnSpc>
              <a:spcBef>
                <a:spcPct val="0"/>
              </a:spcBef>
              <a:spcAft>
                <a:spcPct val="0"/>
              </a:spcAft>
              <a:buClrTx/>
              <a:buSzTx/>
              <a:buFontTx/>
              <a:buNone/>
              <a:defRPr/>
            </a:pPr>
            <a:fld id="{4AA0B39C-FEB4-4FFE-BED5-C2BA12422EFD}" type="datetimeFigureOut">
              <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mn-ea"/>
                <a:cs typeface="+mn-cs"/>
              </a:rPr>
            </a:fld>
            <a:endPar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mn-ea"/>
              <a:cs typeface="+mn-cs"/>
            </a:endParaRPr>
          </a:p>
        </p:txBody>
      </p:sp>
      <p:sp>
        <p:nvSpPr>
          <p:cNvPr id="4" name="幻灯片图像占位符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pPr marL="0" marR="0" lvl="0" indent="0" algn="l" defTabSz="914400" rtl="0" eaLnBrk="0" fontAlgn="base" latinLnBrk="0" hangingPunct="0">
              <a:lnSpc>
                <a:spcPct val="100000"/>
              </a:lnSpc>
              <a:spcBef>
                <a:spcPct val="30000"/>
              </a:spcBef>
              <a:spcAft>
                <a:spcPct val="0"/>
              </a:spcAft>
              <a:buClrTx/>
              <a:buSzTx/>
              <a:buFontTx/>
              <a:buNone/>
              <a:defRPr/>
            </a:pPr>
            <a:endParaRPr kumimoji="0" lang="zh-CN" altLang="en-US" sz="1200" b="0" i="0" u="none" strike="noStrike" kern="1200" cap="none" spc="0" normalizeH="0" baseline="0" noProof="0">
              <a:ln>
                <a:noFill/>
              </a:ln>
              <a:solidFill>
                <a:schemeClr val="tx1"/>
              </a:solidFill>
              <a:effectLst/>
              <a:uLnTx/>
              <a:uFillTx/>
              <a:latin typeface="+mn-lt"/>
              <a:ea typeface="+mn-ea"/>
              <a:cs typeface="+mn-cs"/>
            </a:endParaRPr>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eaLnBrk="1" hangingPunct="1">
              <a:defRPr sz="1200">
                <a:latin typeface="Arial" panose="020B0604020202020204" pitchFamily="34" charset="0"/>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mn-ea"/>
              <a:cs typeface="+mn-cs"/>
            </a:endParaRPr>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wrap="square" lIns="91440" tIns="45720" rIns="91440" bIns="45720" numCol="1" anchor="b" anchorCtr="0" compatLnSpc="1"/>
          <a:lstStyle/>
          <a:p>
            <a:pPr lvl="0" algn="r" eaLnBrk="1" hangingPunct="1"/>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Tree>
  </p:cSld>
  <p:clrMap bg1="lt1" tx1="dk1" bg2="lt2" tx2="dk2" accent1="accent1" accent2="accent2" accent3="accent3" accent4="accent4" accent5="accent5" accent6="accent6" hlink="hlink" folHlink="folHlink"/>
  <p:hf sldNum="0" hdr="0" ftr="0" dt="0"/>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3.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5.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2.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0.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A0AE0CC-46AB-412C-9D95-D1239D353BF1}" type="slidenum">
              <a:rPr lang="zh-CN" altLang="en-US" smtClean="0"/>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A0AE0CC-46AB-412C-9D95-D1239D353BF1}" type="slidenum">
              <a:rPr lang="zh-CN" altLang="en-US" smtClean="0"/>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r>
              <a:rPr lang="zh-CN" altLang="en-US" dirty="0"/>
              <a:t>计算整数加法，如果需要计算字符加法、复数加法就需要重新编写程序，无法重用整数加法程序</a:t>
            </a:r>
            <a:endParaRPr lang="zh-CN" altLang="en-US" dirty="0"/>
          </a:p>
        </p:txBody>
      </p:sp>
      <p:sp>
        <p:nvSpPr>
          <p:cNvPr id="4" name="灯片编号占位符 3"/>
          <p:cNvSpPr>
            <a:spLocks noGrp="1"/>
          </p:cNvSpPr>
          <p:nvPr>
            <p:ph type="sldNum" sz="quarter" idx="10"/>
          </p:nvPr>
        </p:nvSpPr>
        <p:spPr/>
        <p:txBody>
          <a:bodyPr/>
          <a:lstStyle/>
          <a:p>
            <a:fld id="{4DA5206D-904B-4230-84F4-E1C0F70D07E4}" type="slidenum">
              <a:rPr lang="zh-CN" altLang="en-US" smtClean="0"/>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A0AE0CC-46AB-412C-9D95-D1239D353BF1}" type="slidenum">
              <a:rPr lang="zh-CN" altLang="en-US" smtClean="0"/>
            </a:fld>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r>
              <a:rPr lang="zh-CN" altLang="en-US" dirty="0"/>
              <a:t>类的概念来自于</a:t>
            </a:r>
            <a:r>
              <a:rPr lang="en-US" altLang="zh-CN" dirty="0" err="1"/>
              <a:t>Simula</a:t>
            </a:r>
            <a:r>
              <a:rPr lang="zh-CN" altLang="en-US" dirty="0"/>
              <a:t>语言。</a:t>
            </a:r>
            <a:r>
              <a:rPr lang="en-US" altLang="zh-CN" dirty="0"/>
              <a:t>2.0</a:t>
            </a:r>
            <a:r>
              <a:rPr lang="zh-CN" altLang="en-US" dirty="0"/>
              <a:t>版增加了类的保护乘员、多重继承、对象初始化、抽象类、静态成员、</a:t>
            </a:r>
            <a:r>
              <a:rPr lang="en-US" altLang="zh-CN" dirty="0"/>
              <a:t>const</a:t>
            </a:r>
            <a:r>
              <a:rPr lang="zh-CN" altLang="en-US" dirty="0"/>
              <a:t>成员函数</a:t>
            </a:r>
            <a:endParaRPr lang="en-US" altLang="zh-CN" dirty="0"/>
          </a:p>
          <a:p>
            <a:r>
              <a:rPr lang="en-US" altLang="zh-CN" dirty="0"/>
              <a:t>3.0</a:t>
            </a:r>
            <a:r>
              <a:rPr lang="zh-CN" altLang="en-US" dirty="0"/>
              <a:t>版增加了模板</a:t>
            </a:r>
            <a:endParaRPr lang="en-US" altLang="zh-CN" dirty="0"/>
          </a:p>
          <a:p>
            <a:r>
              <a:rPr lang="zh-CN" altLang="en-US" dirty="0"/>
              <a:t>标准中增加名字空间的概念、增加了标准容器类、字符串类型等等</a:t>
            </a:r>
            <a:endParaRPr lang="zh-CN" altLang="en-US" dirty="0"/>
          </a:p>
        </p:txBody>
      </p:sp>
      <p:sp>
        <p:nvSpPr>
          <p:cNvPr id="4" name="灯片编号占位符 3"/>
          <p:cNvSpPr>
            <a:spLocks noGrp="1"/>
          </p:cNvSpPr>
          <p:nvPr>
            <p:ph type="sldNum" sz="quarter" idx="10"/>
          </p:nvPr>
        </p:nvSpPr>
        <p:spPr/>
        <p:txBody>
          <a:bodyPr/>
          <a:lstStyle/>
          <a:p>
            <a:fld id="{4DA5206D-904B-4230-84F4-E1C0F70D07E4}" type="slidenum">
              <a:rPr lang="zh-CN" altLang="en-US" smtClean="0"/>
            </a:fld>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A0AE0CC-46AB-412C-9D95-D1239D353BF1}" type="slidenum">
              <a:rPr lang="zh-CN" altLang="en-US" smtClean="0"/>
            </a:fld>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A0AE0CC-46AB-412C-9D95-D1239D353BF1}" type="slidenum">
              <a:rPr lang="zh-CN" altLang="en-US" smtClean="0"/>
            </a:fld>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r>
              <a:rPr lang="zh-CN" altLang="en-US" dirty="0"/>
              <a:t>乘到小数部分为</a:t>
            </a:r>
            <a:r>
              <a:rPr lang="en-US" altLang="zh-CN" dirty="0"/>
              <a:t>0</a:t>
            </a:r>
            <a:r>
              <a:rPr lang="zh-CN" altLang="en-US" dirty="0"/>
              <a:t>为止，但是大多数情况，小数部分不会为</a:t>
            </a:r>
            <a:r>
              <a:rPr lang="en-US" altLang="zh-CN" dirty="0"/>
              <a:t>0</a:t>
            </a:r>
            <a:r>
              <a:rPr lang="zh-CN" altLang="en-US" dirty="0"/>
              <a:t>，因此得到的通常是近似数</a:t>
            </a:r>
            <a:endParaRPr lang="zh-CN" altLang="en-US" dirty="0"/>
          </a:p>
        </p:txBody>
      </p:sp>
      <p:sp>
        <p:nvSpPr>
          <p:cNvPr id="4" name="灯片编号占位符 3"/>
          <p:cNvSpPr>
            <a:spLocks noGrp="1"/>
          </p:cNvSpPr>
          <p:nvPr>
            <p:ph type="sldNum" sz="quarter" idx="10"/>
          </p:nvPr>
        </p:nvSpPr>
        <p:spPr/>
        <p:txBody>
          <a:bodyPr/>
          <a:lstStyle/>
          <a:p>
            <a:fld id="{4DA5206D-904B-4230-84F4-E1C0F70D07E4}" type="slidenum">
              <a:rPr lang="zh-CN" altLang="en-US" smtClean="0"/>
            </a:fld>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r>
              <a:rPr lang="zh-CN" altLang="en-US" dirty="0"/>
              <a:t>用</a:t>
            </a:r>
            <a:r>
              <a:rPr lang="en-US" altLang="zh-CN" dirty="0"/>
              <a:t>C++</a:t>
            </a:r>
            <a:r>
              <a:rPr lang="zh-CN" altLang="en-US" dirty="0"/>
              <a:t>中的数据类型举例，</a:t>
            </a:r>
            <a:r>
              <a:rPr lang="en-US" altLang="zh-CN" dirty="0" err="1"/>
              <a:t>int</a:t>
            </a:r>
            <a:r>
              <a:rPr lang="zh-CN" altLang="en-US" dirty="0"/>
              <a:t>型</a:t>
            </a:r>
            <a:r>
              <a:rPr lang="en-US" altLang="zh-CN" dirty="0"/>
              <a:t>4</a:t>
            </a:r>
            <a:r>
              <a:rPr lang="zh-CN" altLang="en-US" dirty="0"/>
              <a:t>个字节，</a:t>
            </a:r>
            <a:r>
              <a:rPr lang="en-US" altLang="zh-CN" dirty="0"/>
              <a:t>float</a:t>
            </a:r>
            <a:r>
              <a:rPr lang="zh-CN" altLang="en-US" dirty="0"/>
              <a:t>型</a:t>
            </a:r>
            <a:r>
              <a:rPr lang="en-US" altLang="zh-CN" dirty="0"/>
              <a:t>4</a:t>
            </a:r>
            <a:r>
              <a:rPr lang="zh-CN" altLang="en-US" dirty="0"/>
              <a:t>个字节，</a:t>
            </a:r>
            <a:r>
              <a:rPr lang="en-US" altLang="zh-CN" dirty="0"/>
              <a:t>double</a:t>
            </a:r>
            <a:r>
              <a:rPr lang="zh-CN" altLang="en-US" dirty="0"/>
              <a:t>型</a:t>
            </a:r>
            <a:r>
              <a:rPr lang="en-US" altLang="zh-CN" dirty="0"/>
              <a:t>8</a:t>
            </a:r>
            <a:r>
              <a:rPr lang="zh-CN" altLang="en-US" dirty="0"/>
              <a:t>个字节，</a:t>
            </a:r>
            <a:r>
              <a:rPr lang="en-US" altLang="zh-CN" dirty="0"/>
              <a:t>char</a:t>
            </a:r>
            <a:r>
              <a:rPr lang="zh-CN" altLang="en-US" dirty="0"/>
              <a:t>型</a:t>
            </a:r>
            <a:r>
              <a:rPr lang="en-US" altLang="zh-CN" dirty="0"/>
              <a:t>1</a:t>
            </a:r>
            <a:r>
              <a:rPr lang="zh-CN" altLang="en-US"/>
              <a:t>个字节</a:t>
            </a:r>
            <a:endParaRPr lang="zh-CN" altLang="en-US" dirty="0"/>
          </a:p>
        </p:txBody>
      </p:sp>
      <p:sp>
        <p:nvSpPr>
          <p:cNvPr id="4" name="灯片编号占位符 3"/>
          <p:cNvSpPr>
            <a:spLocks noGrp="1"/>
          </p:cNvSpPr>
          <p:nvPr>
            <p:ph type="sldNum" sz="quarter" idx="10"/>
          </p:nvPr>
        </p:nvSpPr>
        <p:spPr/>
        <p:txBody>
          <a:bodyPr/>
          <a:lstStyle/>
          <a:p>
            <a:fld id="{4DA5206D-904B-4230-84F4-E1C0F70D07E4}" type="slidenum">
              <a:rPr lang="zh-CN" altLang="en-US" smtClean="0"/>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6" Type="http://schemas.openxmlformats.org/officeDocument/2006/relationships/image" Target="../media/image5.jpeg"/><Relationship Id="rId5" Type="http://schemas.openxmlformats.org/officeDocument/2006/relationships/image" Target="../media/image4.jpeg"/><Relationship Id="rId4" Type="http://schemas.openxmlformats.org/officeDocument/2006/relationships/image" Target="../media/image3.jpeg"/><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showMasterSp="0">
  <p:cSld name="标题幻灯片">
    <p:bg>
      <p:bgPr>
        <a:solidFill>
          <a:schemeClr val="bg1"/>
        </a:solidFill>
        <a:effectLst/>
      </p:bgPr>
    </p:bg>
    <p:spTree>
      <p:nvGrpSpPr>
        <p:cNvPr id="1" name=""/>
        <p:cNvGrpSpPr/>
        <p:nvPr/>
      </p:nvGrpSpPr>
      <p:grpSpPr>
        <a:xfrm>
          <a:off x="0" y="0"/>
          <a:ext cx="0" cy="0"/>
          <a:chOff x="0" y="0"/>
          <a:chExt cx="0" cy="0"/>
        </a:xfrm>
      </p:grpSpPr>
      <p:sp>
        <p:nvSpPr>
          <p:cNvPr id="14" name="Freeform 31"/>
          <p:cNvSpPr/>
          <p:nvPr/>
        </p:nvSpPr>
        <p:spPr bwMode="gray">
          <a:xfrm>
            <a:off x="0" y="3481388"/>
            <a:ext cx="9155113" cy="3376613"/>
          </a:xfrm>
          <a:custGeom>
            <a:avLst/>
            <a:gdLst>
              <a:gd name="T0" fmla="*/ 0 w 5767"/>
              <a:gd name="T1" fmla="*/ 2147483647 h 2127"/>
              <a:gd name="T2" fmla="*/ 2147483647 w 5767"/>
              <a:gd name="T3" fmla="*/ 0 h 2127"/>
              <a:gd name="T4" fmla="*/ 2147483647 w 5767"/>
              <a:gd name="T5" fmla="*/ 2147483647 h 2127"/>
              <a:gd name="T6" fmla="*/ 0 w 5767"/>
              <a:gd name="T7" fmla="*/ 2147483647 h 2127"/>
              <a:gd name="T8" fmla="*/ 0 w 5767"/>
              <a:gd name="T9" fmla="*/ 2147483647 h 212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767" h="2127">
                <a:moveTo>
                  <a:pt x="0" y="1760"/>
                </a:moveTo>
                <a:lnTo>
                  <a:pt x="5767" y="0"/>
                </a:lnTo>
                <a:lnTo>
                  <a:pt x="5760" y="2127"/>
                </a:lnTo>
                <a:lnTo>
                  <a:pt x="0" y="2127"/>
                </a:lnTo>
                <a:lnTo>
                  <a:pt x="0" y="1760"/>
                </a:lnTo>
                <a:close/>
              </a:path>
            </a:pathLst>
          </a:custGeom>
          <a:solidFill>
            <a:schemeClr val="accent1"/>
          </a:solidFill>
          <a:ln w="9525">
            <a:noFill/>
            <a:round/>
          </a:ln>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5" name="AutoShape 32" descr="06"/>
          <p:cNvSpPr>
            <a:spLocks noChangeArrowheads="1"/>
          </p:cNvSpPr>
          <p:nvPr/>
        </p:nvSpPr>
        <p:spPr bwMode="gray">
          <a:xfrm rot="20584390">
            <a:off x="-141287" y="5310188"/>
            <a:ext cx="2541588" cy="573088"/>
          </a:xfrm>
          <a:prstGeom prst="parallelogram">
            <a:avLst>
              <a:gd name="adj" fmla="val 30059"/>
            </a:avLst>
          </a:prstGeom>
          <a:blipFill dpi="0" rotWithShape="1">
            <a:blip r:embed="rId2"/>
            <a:srcRect/>
            <a:stretch>
              <a:fillRect/>
            </a:stretch>
          </a:blipFill>
          <a:ln>
            <a:noFill/>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6" name="AutoShape 33" descr="05"/>
          <p:cNvSpPr>
            <a:spLocks noChangeArrowheads="1"/>
          </p:cNvSpPr>
          <p:nvPr/>
        </p:nvSpPr>
        <p:spPr bwMode="gray">
          <a:xfrm rot="20584390">
            <a:off x="2154238" y="4610100"/>
            <a:ext cx="2546350" cy="573088"/>
          </a:xfrm>
          <a:prstGeom prst="parallelogram">
            <a:avLst>
              <a:gd name="adj" fmla="val 30115"/>
            </a:avLst>
          </a:prstGeom>
          <a:blipFill dpi="0" rotWithShape="1">
            <a:blip r:embed="rId3"/>
            <a:srcRect/>
            <a:stretch>
              <a:fillRect/>
            </a:stretch>
          </a:blipFill>
          <a:ln>
            <a:noFill/>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7" name="AutoShape 34" descr="03"/>
          <p:cNvSpPr>
            <a:spLocks noChangeArrowheads="1"/>
          </p:cNvSpPr>
          <p:nvPr/>
        </p:nvSpPr>
        <p:spPr bwMode="gray">
          <a:xfrm rot="20584390">
            <a:off x="4448175" y="3908425"/>
            <a:ext cx="2552700" cy="573088"/>
          </a:xfrm>
          <a:prstGeom prst="parallelogram">
            <a:avLst>
              <a:gd name="adj" fmla="val 30190"/>
            </a:avLst>
          </a:prstGeom>
          <a:blipFill dpi="0" rotWithShape="1">
            <a:blip r:embed="rId4"/>
            <a:srcRect/>
            <a:stretch>
              <a:fillRect/>
            </a:stretch>
          </a:blipFill>
          <a:ln>
            <a:noFill/>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8" name="AutoShape 35" descr="02"/>
          <p:cNvSpPr>
            <a:spLocks noChangeArrowheads="1"/>
          </p:cNvSpPr>
          <p:nvPr/>
        </p:nvSpPr>
        <p:spPr bwMode="gray">
          <a:xfrm rot="20584390">
            <a:off x="6751638" y="3206750"/>
            <a:ext cx="2533650" cy="573088"/>
          </a:xfrm>
          <a:prstGeom prst="parallelogram">
            <a:avLst>
              <a:gd name="adj" fmla="val 29965"/>
            </a:avLst>
          </a:prstGeom>
          <a:blipFill dpi="0" rotWithShape="1">
            <a:blip r:embed="rId5" cstate="screen"/>
            <a:srcRect/>
            <a:stretch>
              <a:fillRect/>
            </a:stretch>
          </a:blipFill>
          <a:ln>
            <a:noFill/>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pic>
        <p:nvPicPr>
          <p:cNvPr id="2055" name="Picture 6" descr="imiweblogo4副本2"/>
          <p:cNvPicPr>
            <a:picLocks noChangeAspect="1"/>
          </p:cNvPicPr>
          <p:nvPr userDrawn="1"/>
        </p:nvPicPr>
        <p:blipFill>
          <a:blip r:embed="rId6"/>
          <a:stretch>
            <a:fillRect/>
          </a:stretch>
        </p:blipFill>
        <p:spPr>
          <a:xfrm>
            <a:off x="228600" y="228600"/>
            <a:ext cx="1057275" cy="635000"/>
          </a:xfrm>
          <a:prstGeom prst="rect">
            <a:avLst/>
          </a:prstGeom>
          <a:noFill/>
          <a:ln w="9525">
            <a:noFill/>
          </a:ln>
        </p:spPr>
      </p:pic>
      <p:sp>
        <p:nvSpPr>
          <p:cNvPr id="3075" name="Rectangle 3"/>
          <p:cNvSpPr>
            <a:spLocks noGrp="1" noChangeArrowheads="1"/>
          </p:cNvSpPr>
          <p:nvPr>
            <p:ph type="subTitle" idx="1"/>
          </p:nvPr>
        </p:nvSpPr>
        <p:spPr bwMode="gray">
          <a:xfrm>
            <a:off x="457200" y="2133600"/>
            <a:ext cx="5475288" cy="381000"/>
          </a:xfrm>
        </p:spPr>
        <p:txBody>
          <a:bodyPr/>
          <a:lstStyle>
            <a:lvl1pPr marL="0" indent="0">
              <a:buFont typeface="Wingdings" panose="05000000000000000000" pitchFamily="2" charset="2"/>
              <a:buNone/>
              <a:defRPr sz="2400"/>
            </a:lvl1pPr>
          </a:lstStyle>
          <a:p>
            <a:r>
              <a:rPr lang="en-US" altLang="zh-CN"/>
              <a:t>Click to edit Master subtitle style</a:t>
            </a:r>
            <a:endParaRPr lang="en-US" altLang="zh-CN"/>
          </a:p>
        </p:txBody>
      </p:sp>
      <p:sp>
        <p:nvSpPr>
          <p:cNvPr id="3074" name="Rectangle 2"/>
          <p:cNvSpPr>
            <a:spLocks noGrp="1" noChangeArrowheads="1"/>
          </p:cNvSpPr>
          <p:nvPr>
            <p:ph type="ctrTitle"/>
          </p:nvPr>
        </p:nvSpPr>
        <p:spPr>
          <a:xfrm>
            <a:off x="457200" y="1371600"/>
            <a:ext cx="8077200" cy="682625"/>
          </a:xfrm>
        </p:spPr>
        <p:txBody>
          <a:bodyPr/>
          <a:lstStyle>
            <a:lvl1pPr algn="l">
              <a:defRPr sz="4400">
                <a:solidFill>
                  <a:schemeClr val="accent1"/>
                </a:solidFill>
              </a:defRPr>
            </a:lvl1pPr>
          </a:lstStyle>
          <a:p>
            <a:r>
              <a:rPr lang="en-US" altLang="zh-CN"/>
              <a:t>Click to edit Master title style</a:t>
            </a:r>
            <a:endParaRPr lang="en-US" altLang="zh-CN"/>
          </a:p>
        </p:txBody>
      </p:sp>
      <p:sp>
        <p:nvSpPr>
          <p:cNvPr id="20" name="Rectangle 4"/>
          <p:cNvSpPr>
            <a:spLocks noGrp="1" noChangeArrowheads="1"/>
          </p:cNvSpPr>
          <p:nvPr>
            <p:ph type="dt" sz="half" idx="2"/>
          </p:nvPr>
        </p:nvSpPr>
        <p:spPr bwMode="white">
          <a:xfrm>
            <a:off x="457200" y="6477000"/>
            <a:ext cx="2133600" cy="244475"/>
          </a:xfrm>
          <a:prstGeom prst="rect">
            <a:avLst/>
          </a:prstGeom>
        </p:spPr>
        <p:txBody>
          <a:bodyPr vert="horz" wrap="square" lIns="91440" tIns="45720" rIns="91440" bIns="45720" numCol="1" anchor="t" anchorCtr="0" compatLnSpc="1"/>
          <a:lstStyle>
            <a:lvl1pPr eaLnBrk="1" hangingPunct="1">
              <a:defRPr sz="1200">
                <a:latin typeface="Arial" panose="020B0604020202020204" pitchFamily="34" charset="0"/>
                <a:ea typeface="宋体" panose="02010600030101010101" pitchFamily="2" charset="-122"/>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21" name="Rectangle 5"/>
          <p:cNvSpPr>
            <a:spLocks noGrp="1" noChangeArrowheads="1"/>
          </p:cNvSpPr>
          <p:nvPr>
            <p:ph type="ftr" sz="quarter" idx="3"/>
          </p:nvPr>
        </p:nvSpPr>
        <p:spPr bwMode="white">
          <a:xfrm>
            <a:off x="3124200" y="6477000"/>
            <a:ext cx="2895600" cy="244475"/>
          </a:xfrm>
          <a:prstGeom prst="rect">
            <a:avLst/>
          </a:prstGeom>
        </p:spPr>
        <p:txBody>
          <a:bodyPr vert="horz" wrap="square" lIns="91440" tIns="45720" rIns="91440" bIns="45720" numCol="1" anchor="t" anchorCtr="0" compatLnSpc="1"/>
          <a:lstStyle>
            <a:lvl1pPr eaLnBrk="1" hangingPunct="1">
              <a:defRPr sz="1200">
                <a:latin typeface="Arial" panose="020B0604020202020204" pitchFamily="34" charset="0"/>
                <a:ea typeface="宋体" panose="02010600030101010101" pitchFamily="2" charset="-122"/>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22" name="Rectangle 6"/>
          <p:cNvSpPr>
            <a:spLocks noGrp="1" noChangeArrowheads="1"/>
          </p:cNvSpPr>
          <p:nvPr>
            <p:ph type="sldNum" sz="quarter" idx="4"/>
          </p:nvPr>
        </p:nvSpPr>
        <p:spPr bwMode="white">
          <a:xfrm>
            <a:off x="6553200" y="6477000"/>
            <a:ext cx="2133600" cy="244475"/>
          </a:xfrm>
          <a:prstGeom prst="rect">
            <a:avLst/>
          </a:prstGeom>
        </p:spPr>
        <p:txBody>
          <a:bodyPr vert="horz" wrap="square" lIns="91440" tIns="45720" rIns="91440" bIns="45720" numCol="1" anchor="t" anchorCtr="0" compatLnSpc="1"/>
          <a:lstStyle/>
          <a:p>
            <a:pPr lvl="0" eaLnBrk="1" hangingPunct="1"/>
            <a:fld id="{9A0DB2DC-4C9A-4742-B13C-FB6460FD3503}" type="slidenum">
              <a:rPr lang="en-US" altLang="zh-CN" sz="1200" dirty="0">
                <a:ea typeface="宋体" panose="02010600030101010101" pitchFamily="2" charset="-122"/>
              </a:rPr>
            </a:fld>
            <a:endParaRPr lang="en-US" altLang="zh-CN" sz="1200" dirty="0">
              <a:ea typeface="宋体" panose="02010600030101010101" pitchFamily="2" charset="-122"/>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lvl1pPr>
              <a:defRPr b="1">
                <a:solidFill>
                  <a:srgbClr val="0000CC"/>
                </a:solidFill>
                <a:latin typeface="华文楷体" panose="02010600040101010101" pitchFamily="2" charset="-122"/>
                <a:ea typeface="华文楷体" panose="02010600040101010101" pitchFamily="2" charset="-122"/>
              </a:defRPr>
            </a:lvl1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endParaRPr lang="zh-CN" altLang="en-US"/>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381000" y="1295400"/>
            <a:ext cx="4076700" cy="49530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p:nvPr>
        </p:nvSpPr>
        <p:spPr>
          <a:xfrm>
            <a:off x="4610100" y="1295400"/>
            <a:ext cx="4076700" cy="49530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a:t>单击此处编辑母版标题样式</a:t>
            </a:r>
            <a:endParaRPr lang="zh-CN" altLang="en-US"/>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a:t>单击此处编辑母版标题样式</a:t>
            </a:r>
            <a:endParaRPr lang="zh-CN" altLang="en-US"/>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a:t>单击此处编辑母版标题样式</a:t>
            </a:r>
            <a:endParaRPr lang="zh-CN" altLang="en-US"/>
          </a:p>
        </p:txBody>
      </p:sp>
      <p:sp>
        <p:nvSpPr>
          <p:cNvPr id="3" name="图片占位符 2"/>
          <p:cNvSpPr>
            <a:spLocks noGrp="1"/>
          </p:cNvSpPr>
          <p:nvPr>
            <p:ph type="pic" idx="1"/>
          </p:nvPr>
        </p:nvSpPr>
        <p:spPr>
          <a:xfrm>
            <a:off x="1792288" y="612775"/>
            <a:ext cx="5486400" cy="4114800"/>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20000"/>
              </a:spcBef>
              <a:spcAft>
                <a:spcPct val="0"/>
              </a:spcAft>
              <a:buClr>
                <a:schemeClr val="tx2"/>
              </a:buClr>
              <a:buSzTx/>
              <a:buFont typeface="Wingdings" panose="05000000000000000000" pitchFamily="2" charset="2"/>
              <a:buNone/>
              <a:defRPr/>
            </a:pPr>
            <a:endParaRPr kumimoji="0" lang="zh-CN" altLang="en-US" sz="3200" b="0" i="0" u="none" strike="noStrike" kern="0" cap="none" spc="0" normalizeH="0" baseline="0" noProof="0">
              <a:ln>
                <a:noFill/>
              </a:ln>
              <a:solidFill>
                <a:schemeClr val="tx1"/>
              </a:solidFill>
              <a:effectLst/>
              <a:uLnTx/>
              <a:uFillTx/>
              <a:latin typeface="+mn-lt"/>
              <a:ea typeface="+mn-ea"/>
              <a:cs typeface="+mn-cs"/>
            </a:endParaRPr>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10350" y="228600"/>
            <a:ext cx="2076450" cy="6019800"/>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381000" y="228600"/>
            <a:ext cx="6076950" cy="6019800"/>
          </a:xfrm>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bl" preserve="1">
  <p:cSld name="标题和表格">
    <p:spTree>
      <p:nvGrpSpPr>
        <p:cNvPr id="1" name=""/>
        <p:cNvGrpSpPr/>
        <p:nvPr/>
      </p:nvGrpSpPr>
      <p:grpSpPr>
        <a:xfrm>
          <a:off x="0" y="0"/>
          <a:ext cx="0" cy="0"/>
          <a:chOff x="0" y="0"/>
          <a:chExt cx="0" cy="0"/>
        </a:xfrm>
      </p:grpSpPr>
      <p:sp>
        <p:nvSpPr>
          <p:cNvPr id="2" name="标题 1"/>
          <p:cNvSpPr>
            <a:spLocks noGrp="1"/>
          </p:cNvSpPr>
          <p:nvPr>
            <p:ph type="title"/>
          </p:nvPr>
        </p:nvSpPr>
        <p:spPr>
          <a:xfrm>
            <a:off x="457200" y="228600"/>
            <a:ext cx="8229600" cy="563563"/>
          </a:xfrm>
        </p:spPr>
        <p:txBody>
          <a:bodyPr/>
          <a:lstStyle/>
          <a:p>
            <a:r>
              <a:rPr lang="zh-CN" altLang="en-US"/>
              <a:t>单击此处编辑母版标题样式</a:t>
            </a:r>
            <a:endParaRPr lang="zh-CN" altLang="en-US"/>
          </a:p>
        </p:txBody>
      </p:sp>
      <p:sp>
        <p:nvSpPr>
          <p:cNvPr id="3" name="表格占位符 2"/>
          <p:cNvSpPr>
            <a:spLocks noGrp="1"/>
          </p:cNvSpPr>
          <p:nvPr>
            <p:ph type="tbl" idx="1"/>
          </p:nvPr>
        </p:nvSpPr>
        <p:spPr>
          <a:xfrm>
            <a:off x="381000" y="1295400"/>
            <a:ext cx="8305800" cy="4953000"/>
          </a:xfrm>
        </p:spPr>
        <p:txBody>
          <a:bodyPr vert="horz" wrap="square" lIns="91440" tIns="45720" rIns="91440" bIns="45720" numCol="1" anchor="t" anchorCtr="0" compatLnSpc="1"/>
          <a:lstStyle/>
          <a:p>
            <a:pPr marL="342900" marR="0" lvl="0" indent="-342900" algn="l" defTabSz="914400" rtl="0" eaLnBrk="0" fontAlgn="base" latinLnBrk="0" hangingPunct="0">
              <a:lnSpc>
                <a:spcPct val="100000"/>
              </a:lnSpc>
              <a:spcBef>
                <a:spcPct val="20000"/>
              </a:spcBef>
              <a:spcAft>
                <a:spcPct val="0"/>
              </a:spcAft>
              <a:buClr>
                <a:schemeClr val="tx2"/>
              </a:buClr>
              <a:buSzTx/>
              <a:buFont typeface="Wingdings" panose="05000000000000000000" pitchFamily="2" charset="2"/>
              <a:buChar char="§"/>
              <a:defRPr/>
            </a:pPr>
            <a:endParaRPr kumimoji="0" lang="zh-CN" altLang="en-US" sz="3200" b="0" i="0" u="none" strike="noStrike" kern="0" cap="none" spc="0" normalizeH="0" baseline="0" noProof="0">
              <a:ln>
                <a:noFill/>
              </a:ln>
              <a:solidFill>
                <a:schemeClr val="tx1"/>
              </a:solidFill>
              <a:effectLst/>
              <a:uLnTx/>
              <a:uFillTx/>
              <a:latin typeface="+mn-lt"/>
              <a:ea typeface="+mn-ea"/>
              <a:cs typeface="+mn-cs"/>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cSld name="自定义版式">
    <p:bg>
      <p:bgPr>
        <a:solidFill>
          <a:schemeClr val="bg1"/>
        </a:solidFill>
        <a:effectLst/>
      </p:bgPr>
    </p:bg>
    <p:spTree>
      <p:nvGrpSpPr>
        <p:cNvPr id="1" name=""/>
        <p:cNvGrpSpPr/>
        <p:nvPr/>
      </p:nvGrpSpPr>
      <p:grpSpPr>
        <a:xfrm>
          <a:off x="0" y="0"/>
          <a:ext cx="0" cy="0"/>
          <a:chOff x="0" y="0"/>
          <a:chExt cx="0" cy="0"/>
        </a:xfrm>
      </p:grpSpPr>
      <p:sp>
        <p:nvSpPr>
          <p:cNvPr id="3" name="Text Box 2"/>
          <p:cNvSpPr txBox="1">
            <a:spLocks noChangeArrowheads="1"/>
          </p:cNvSpPr>
          <p:nvPr/>
        </p:nvSpPr>
        <p:spPr bwMode="auto">
          <a:xfrm>
            <a:off x="900365" y="6466547"/>
            <a:ext cx="5400694" cy="323935"/>
          </a:xfrm>
          <a:prstGeom prst="rect">
            <a:avLst/>
          </a:prstGeom>
          <a:noFill/>
          <a:ln w="9525">
            <a:noFill/>
            <a:miter lim="800000"/>
          </a:ln>
          <a:effectLst/>
        </p:spPr>
        <p:txBody>
          <a:bodyPr>
            <a:spAutoFit/>
          </a:bodyPr>
          <a:lstStyle/>
          <a:p>
            <a:pPr marL="0" marR="0" lvl="0" indent="0" algn="l" defTabSz="859790" rtl="0" eaLnBrk="1" fontAlgn="base" latinLnBrk="0" hangingPunct="1">
              <a:lnSpc>
                <a:spcPct val="100000"/>
              </a:lnSpc>
              <a:spcBef>
                <a:spcPct val="50000"/>
              </a:spcBef>
              <a:spcAft>
                <a:spcPct val="0"/>
              </a:spcAft>
              <a:buClrTx/>
              <a:buSzTx/>
              <a:buFontTx/>
              <a:buNone/>
              <a:defRPr/>
            </a:pPr>
            <a:r>
              <a:rPr kumimoji="0" lang="en-US" altLang="zh-CN" sz="1505" b="0" i="0" u="none" strike="noStrike" kern="1200" cap="none" spc="0" normalizeH="0" baseline="0" noProof="0">
                <a:ln>
                  <a:noFill/>
                </a:ln>
                <a:solidFill>
                  <a:srgbClr val="993366"/>
                </a:solidFill>
                <a:effectLst/>
                <a:uLnTx/>
                <a:uFillTx/>
                <a:latin typeface="Comic Sans MS" panose="030F0702030302020204" pitchFamily="66" charset="0"/>
                <a:ea typeface="黑体" panose="02010609060101010101" pitchFamily="49" charset="-122"/>
                <a:cs typeface="+mn-cs"/>
              </a:rPr>
              <a:t>Tianjin International Joint Academy of Biomedicine</a:t>
            </a:r>
            <a:endParaRPr kumimoji="0" lang="en-US" altLang="zh-CN" sz="1505" b="0" i="0" u="none" strike="noStrike" kern="1200" cap="none" spc="0" normalizeH="0" baseline="0" noProof="0">
              <a:ln>
                <a:noFill/>
              </a:ln>
              <a:solidFill>
                <a:srgbClr val="993366"/>
              </a:solidFill>
              <a:effectLst/>
              <a:uLnTx/>
              <a:uFillTx/>
              <a:latin typeface="Comic Sans MS" panose="030F0702030302020204" pitchFamily="66" charset="0"/>
              <a:ea typeface="黑体" panose="02010609060101010101" pitchFamily="49" charset="-122"/>
              <a:cs typeface="+mn-cs"/>
            </a:endParaRPr>
          </a:p>
        </p:txBody>
      </p:sp>
      <p:sp>
        <p:nvSpPr>
          <p:cNvPr id="4" name="Line 3"/>
          <p:cNvSpPr>
            <a:spLocks noChangeShapeType="1"/>
          </p:cNvSpPr>
          <p:nvPr/>
        </p:nvSpPr>
        <p:spPr bwMode="auto">
          <a:xfrm>
            <a:off x="8316799" y="115925"/>
            <a:ext cx="0" cy="791308"/>
          </a:xfrm>
          <a:prstGeom prst="line">
            <a:avLst/>
          </a:prstGeom>
          <a:noFill/>
          <a:ln w="9525">
            <a:solidFill>
              <a:srgbClr val="5F5F5F"/>
            </a:solidFill>
            <a:round/>
          </a:ln>
          <a:effectLst/>
        </p:spPr>
        <p:txBody>
          <a:bodyPr/>
          <a:lstStyle/>
          <a:p>
            <a:pPr marL="0" marR="0" lvl="0" indent="0" algn="l" defTabSz="859790" rtl="0" eaLnBrk="1" fontAlgn="base" latinLnBrk="0" hangingPunct="1">
              <a:lnSpc>
                <a:spcPct val="100000"/>
              </a:lnSpc>
              <a:spcBef>
                <a:spcPct val="0"/>
              </a:spcBef>
              <a:spcAft>
                <a:spcPct val="0"/>
              </a:spcAft>
              <a:buClrTx/>
              <a:buSzTx/>
              <a:buFontTx/>
              <a:buNone/>
              <a:defRPr/>
            </a:pPr>
            <a:endParaRPr kumimoji="1" lang="zh-CN" altLang="en-US" sz="2635" b="0" i="0" u="none" strike="noStrike" kern="1200" cap="none" spc="0" normalizeH="0" baseline="0" noProof="0">
              <a:ln>
                <a:noFill/>
              </a:ln>
              <a:solidFill>
                <a:schemeClr val="tx1"/>
              </a:solidFill>
              <a:effectLst/>
              <a:uLnTx/>
              <a:uFillTx/>
              <a:latin typeface="Arial" panose="020B0604020202020204" pitchFamily="34" charset="0"/>
              <a:ea typeface="楷体" panose="02010609060101010101" pitchFamily="49" charset="-122"/>
              <a:cs typeface="+mn-cs"/>
            </a:endParaRPr>
          </a:p>
        </p:txBody>
      </p:sp>
      <p:grpSp>
        <p:nvGrpSpPr>
          <p:cNvPr id="3076" name="Group 4"/>
          <p:cNvGrpSpPr/>
          <p:nvPr userDrawn="1"/>
        </p:nvGrpSpPr>
        <p:grpSpPr>
          <a:xfrm>
            <a:off x="8460142" y="115925"/>
            <a:ext cx="504682" cy="791307"/>
            <a:chOff x="5136" y="960"/>
            <a:chExt cx="528" cy="864"/>
          </a:xfrm>
        </p:grpSpPr>
        <p:sp>
          <p:nvSpPr>
            <p:cNvPr id="6" name="Oval 5"/>
            <p:cNvSpPr>
              <a:spLocks noChangeArrowheads="1"/>
            </p:cNvSpPr>
            <p:nvPr/>
          </p:nvSpPr>
          <p:spPr bwMode="auto">
            <a:xfrm>
              <a:off x="5136" y="960"/>
              <a:ext cx="80" cy="81"/>
            </a:xfrm>
            <a:prstGeom prst="ellipse">
              <a:avLst/>
            </a:prstGeom>
            <a:solidFill>
              <a:schemeClr val="tx2"/>
            </a:solidFill>
            <a:ln w="9525">
              <a:noFill/>
              <a:round/>
            </a:ln>
            <a:effectLst/>
          </p:spPr>
          <p:txBody>
            <a:bodyPr wrap="none" anchor="ctr"/>
            <a:lstStyle/>
            <a:p>
              <a:pPr marL="0" marR="0" lvl="0" indent="0" algn="l" defTabSz="859790" rtl="0" eaLnBrk="1" fontAlgn="base" latinLnBrk="0" hangingPunct="1">
                <a:lnSpc>
                  <a:spcPct val="100000"/>
                </a:lnSpc>
                <a:spcBef>
                  <a:spcPct val="0"/>
                </a:spcBef>
                <a:spcAft>
                  <a:spcPct val="0"/>
                </a:spcAft>
                <a:buClrTx/>
                <a:buSzTx/>
                <a:buFontTx/>
                <a:buNone/>
                <a:defRPr/>
              </a:pPr>
              <a:endParaRPr kumimoji="1" lang="zh-CN" altLang="en-US" sz="2635" b="0" i="0" u="none" strike="noStrike" kern="1200" cap="none" spc="0" normalizeH="0" baseline="0" noProof="0">
                <a:ln>
                  <a:noFill/>
                </a:ln>
                <a:solidFill>
                  <a:schemeClr val="tx1"/>
                </a:solidFill>
                <a:effectLst/>
                <a:uLnTx/>
                <a:uFillTx/>
                <a:latin typeface="Arial" panose="020B0604020202020204" pitchFamily="34" charset="0"/>
                <a:ea typeface="楷体" panose="02010609060101010101" pitchFamily="49" charset="-122"/>
                <a:cs typeface="+mn-cs"/>
              </a:endParaRPr>
            </a:p>
          </p:txBody>
        </p:sp>
        <p:sp>
          <p:nvSpPr>
            <p:cNvPr id="7" name="Oval 6"/>
            <p:cNvSpPr>
              <a:spLocks noChangeArrowheads="1"/>
            </p:cNvSpPr>
            <p:nvPr/>
          </p:nvSpPr>
          <p:spPr bwMode="auto">
            <a:xfrm>
              <a:off x="5247" y="960"/>
              <a:ext cx="80" cy="81"/>
            </a:xfrm>
            <a:prstGeom prst="ellipse">
              <a:avLst/>
            </a:prstGeom>
            <a:solidFill>
              <a:schemeClr val="tx2"/>
            </a:solidFill>
            <a:ln w="9525">
              <a:noFill/>
              <a:round/>
            </a:ln>
            <a:effectLst/>
          </p:spPr>
          <p:txBody>
            <a:bodyPr wrap="none" anchor="ctr"/>
            <a:lstStyle/>
            <a:p>
              <a:pPr marL="0" marR="0" lvl="0" indent="0" algn="l" defTabSz="859790" rtl="0" eaLnBrk="1" fontAlgn="base" latinLnBrk="0" hangingPunct="1">
                <a:lnSpc>
                  <a:spcPct val="100000"/>
                </a:lnSpc>
                <a:spcBef>
                  <a:spcPct val="0"/>
                </a:spcBef>
                <a:spcAft>
                  <a:spcPct val="0"/>
                </a:spcAft>
                <a:buClrTx/>
                <a:buSzTx/>
                <a:buFontTx/>
                <a:buNone/>
                <a:defRPr/>
              </a:pPr>
              <a:endParaRPr kumimoji="1" lang="zh-CN" altLang="en-US" sz="2635" b="0" i="0" u="none" strike="noStrike" kern="1200" cap="none" spc="0" normalizeH="0" baseline="0" noProof="0">
                <a:ln>
                  <a:noFill/>
                </a:ln>
                <a:solidFill>
                  <a:schemeClr val="tx1"/>
                </a:solidFill>
                <a:effectLst/>
                <a:uLnTx/>
                <a:uFillTx/>
                <a:latin typeface="Arial" panose="020B0604020202020204" pitchFamily="34" charset="0"/>
                <a:ea typeface="楷体" panose="02010609060101010101" pitchFamily="49" charset="-122"/>
                <a:cs typeface="+mn-cs"/>
              </a:endParaRPr>
            </a:p>
          </p:txBody>
        </p:sp>
        <p:sp>
          <p:nvSpPr>
            <p:cNvPr id="8" name="Oval 7"/>
            <p:cNvSpPr>
              <a:spLocks noChangeArrowheads="1"/>
            </p:cNvSpPr>
            <p:nvPr/>
          </p:nvSpPr>
          <p:spPr bwMode="auto">
            <a:xfrm>
              <a:off x="5359" y="960"/>
              <a:ext cx="77" cy="81"/>
            </a:xfrm>
            <a:prstGeom prst="ellipse">
              <a:avLst/>
            </a:prstGeom>
            <a:solidFill>
              <a:schemeClr val="tx2"/>
            </a:solidFill>
            <a:ln w="9525">
              <a:noFill/>
              <a:round/>
            </a:ln>
            <a:effectLst/>
          </p:spPr>
          <p:txBody>
            <a:bodyPr wrap="none" anchor="ctr"/>
            <a:lstStyle/>
            <a:p>
              <a:pPr marL="0" marR="0" lvl="0" indent="0" algn="l" defTabSz="859790" rtl="0" eaLnBrk="1" fontAlgn="base" latinLnBrk="0" hangingPunct="1">
                <a:lnSpc>
                  <a:spcPct val="100000"/>
                </a:lnSpc>
                <a:spcBef>
                  <a:spcPct val="0"/>
                </a:spcBef>
                <a:spcAft>
                  <a:spcPct val="0"/>
                </a:spcAft>
                <a:buClrTx/>
                <a:buSzTx/>
                <a:buFontTx/>
                <a:buNone/>
                <a:defRPr/>
              </a:pPr>
              <a:endParaRPr kumimoji="1" lang="zh-CN" altLang="en-US" sz="2635" b="0" i="0" u="none" strike="noStrike" kern="1200" cap="none" spc="0" normalizeH="0" baseline="0" noProof="0">
                <a:ln>
                  <a:noFill/>
                </a:ln>
                <a:solidFill>
                  <a:schemeClr val="tx1"/>
                </a:solidFill>
                <a:effectLst/>
                <a:uLnTx/>
                <a:uFillTx/>
                <a:latin typeface="Arial" panose="020B0604020202020204" pitchFamily="34" charset="0"/>
                <a:ea typeface="楷体" panose="02010609060101010101" pitchFamily="49" charset="-122"/>
                <a:cs typeface="+mn-cs"/>
              </a:endParaRPr>
            </a:p>
          </p:txBody>
        </p:sp>
        <p:sp>
          <p:nvSpPr>
            <p:cNvPr id="9" name="Oval 8"/>
            <p:cNvSpPr>
              <a:spLocks noChangeArrowheads="1"/>
            </p:cNvSpPr>
            <p:nvPr/>
          </p:nvSpPr>
          <p:spPr bwMode="auto">
            <a:xfrm>
              <a:off x="5136" y="1074"/>
              <a:ext cx="80" cy="75"/>
            </a:xfrm>
            <a:prstGeom prst="ellipse">
              <a:avLst/>
            </a:prstGeom>
            <a:solidFill>
              <a:schemeClr val="tx2"/>
            </a:solidFill>
            <a:ln w="9525">
              <a:noFill/>
              <a:round/>
            </a:ln>
            <a:effectLst/>
          </p:spPr>
          <p:txBody>
            <a:bodyPr wrap="none" anchor="ctr"/>
            <a:lstStyle/>
            <a:p>
              <a:pPr marL="0" marR="0" lvl="0" indent="0" algn="l" defTabSz="859790" rtl="0" eaLnBrk="1" fontAlgn="base" latinLnBrk="0" hangingPunct="1">
                <a:lnSpc>
                  <a:spcPct val="100000"/>
                </a:lnSpc>
                <a:spcBef>
                  <a:spcPct val="0"/>
                </a:spcBef>
                <a:spcAft>
                  <a:spcPct val="0"/>
                </a:spcAft>
                <a:buClrTx/>
                <a:buSzTx/>
                <a:buFontTx/>
                <a:buNone/>
                <a:defRPr/>
              </a:pPr>
              <a:endParaRPr kumimoji="1" lang="zh-CN" altLang="en-US" sz="2635" b="0" i="0" u="none" strike="noStrike" kern="1200" cap="none" spc="0" normalizeH="0" baseline="0" noProof="0">
                <a:ln>
                  <a:noFill/>
                </a:ln>
                <a:solidFill>
                  <a:schemeClr val="tx1"/>
                </a:solidFill>
                <a:effectLst/>
                <a:uLnTx/>
                <a:uFillTx/>
                <a:latin typeface="Arial" panose="020B0604020202020204" pitchFamily="34" charset="0"/>
                <a:ea typeface="楷体" panose="02010609060101010101" pitchFamily="49" charset="-122"/>
                <a:cs typeface="+mn-cs"/>
              </a:endParaRPr>
            </a:p>
          </p:txBody>
        </p:sp>
        <p:sp>
          <p:nvSpPr>
            <p:cNvPr id="10" name="Oval 9"/>
            <p:cNvSpPr>
              <a:spLocks noChangeArrowheads="1"/>
            </p:cNvSpPr>
            <p:nvPr/>
          </p:nvSpPr>
          <p:spPr bwMode="auto">
            <a:xfrm>
              <a:off x="5247" y="1074"/>
              <a:ext cx="80" cy="75"/>
            </a:xfrm>
            <a:prstGeom prst="ellipse">
              <a:avLst/>
            </a:prstGeom>
            <a:solidFill>
              <a:schemeClr val="tx2"/>
            </a:solidFill>
            <a:ln w="9525">
              <a:noFill/>
              <a:round/>
            </a:ln>
            <a:effectLst/>
          </p:spPr>
          <p:txBody>
            <a:bodyPr wrap="none" anchor="ctr"/>
            <a:lstStyle/>
            <a:p>
              <a:pPr marL="0" marR="0" lvl="0" indent="0" algn="l" defTabSz="859790" rtl="0" eaLnBrk="1" fontAlgn="base" latinLnBrk="0" hangingPunct="1">
                <a:lnSpc>
                  <a:spcPct val="100000"/>
                </a:lnSpc>
                <a:spcBef>
                  <a:spcPct val="0"/>
                </a:spcBef>
                <a:spcAft>
                  <a:spcPct val="0"/>
                </a:spcAft>
                <a:buClrTx/>
                <a:buSzTx/>
                <a:buFontTx/>
                <a:buNone/>
                <a:defRPr/>
              </a:pPr>
              <a:endParaRPr kumimoji="1" lang="zh-CN" altLang="en-US" sz="2635" b="0" i="0" u="none" strike="noStrike" kern="1200" cap="none" spc="0" normalizeH="0" baseline="0" noProof="0">
                <a:ln>
                  <a:noFill/>
                </a:ln>
                <a:solidFill>
                  <a:schemeClr val="tx1"/>
                </a:solidFill>
                <a:effectLst/>
                <a:uLnTx/>
                <a:uFillTx/>
                <a:latin typeface="Arial" panose="020B0604020202020204" pitchFamily="34" charset="0"/>
                <a:ea typeface="楷体" panose="02010609060101010101" pitchFamily="49" charset="-122"/>
                <a:cs typeface="+mn-cs"/>
              </a:endParaRPr>
            </a:p>
          </p:txBody>
        </p:sp>
        <p:sp>
          <p:nvSpPr>
            <p:cNvPr id="11" name="Oval 10"/>
            <p:cNvSpPr>
              <a:spLocks noChangeArrowheads="1"/>
            </p:cNvSpPr>
            <p:nvPr/>
          </p:nvSpPr>
          <p:spPr bwMode="auto">
            <a:xfrm>
              <a:off x="5359" y="1074"/>
              <a:ext cx="77" cy="75"/>
            </a:xfrm>
            <a:prstGeom prst="ellipse">
              <a:avLst/>
            </a:prstGeom>
            <a:solidFill>
              <a:schemeClr val="tx2"/>
            </a:solidFill>
            <a:ln w="9525">
              <a:noFill/>
              <a:round/>
            </a:ln>
            <a:effectLst/>
          </p:spPr>
          <p:txBody>
            <a:bodyPr wrap="none" anchor="ctr"/>
            <a:lstStyle/>
            <a:p>
              <a:pPr marL="0" marR="0" lvl="0" indent="0" algn="l" defTabSz="859790" rtl="0" eaLnBrk="1" fontAlgn="base" latinLnBrk="0" hangingPunct="1">
                <a:lnSpc>
                  <a:spcPct val="100000"/>
                </a:lnSpc>
                <a:spcBef>
                  <a:spcPct val="0"/>
                </a:spcBef>
                <a:spcAft>
                  <a:spcPct val="0"/>
                </a:spcAft>
                <a:buClrTx/>
                <a:buSzTx/>
                <a:buFontTx/>
                <a:buNone/>
                <a:defRPr/>
              </a:pPr>
              <a:endParaRPr kumimoji="1" lang="zh-CN" altLang="en-US" sz="2635" b="0" i="0" u="none" strike="noStrike" kern="1200" cap="none" spc="0" normalizeH="0" baseline="0" noProof="0">
                <a:ln>
                  <a:noFill/>
                </a:ln>
                <a:solidFill>
                  <a:schemeClr val="tx1"/>
                </a:solidFill>
                <a:effectLst/>
                <a:uLnTx/>
                <a:uFillTx/>
                <a:latin typeface="Arial" panose="020B0604020202020204" pitchFamily="34" charset="0"/>
                <a:ea typeface="楷体" panose="02010609060101010101" pitchFamily="49" charset="-122"/>
                <a:cs typeface="+mn-cs"/>
              </a:endParaRPr>
            </a:p>
          </p:txBody>
        </p:sp>
        <p:sp>
          <p:nvSpPr>
            <p:cNvPr id="12" name="Oval 11"/>
            <p:cNvSpPr>
              <a:spLocks noChangeArrowheads="1"/>
            </p:cNvSpPr>
            <p:nvPr/>
          </p:nvSpPr>
          <p:spPr bwMode="auto">
            <a:xfrm>
              <a:off x="5470" y="1074"/>
              <a:ext cx="73" cy="75"/>
            </a:xfrm>
            <a:prstGeom prst="ellipse">
              <a:avLst/>
            </a:prstGeom>
            <a:solidFill>
              <a:schemeClr val="accent2"/>
            </a:solidFill>
            <a:ln w="9525">
              <a:noFill/>
              <a:round/>
            </a:ln>
            <a:effectLst/>
          </p:spPr>
          <p:txBody>
            <a:bodyPr wrap="none" anchor="ctr"/>
            <a:lstStyle/>
            <a:p>
              <a:pPr marL="0" marR="0" lvl="0" indent="0" algn="l" defTabSz="859790" rtl="0" eaLnBrk="1" fontAlgn="base" latinLnBrk="0" hangingPunct="1">
                <a:lnSpc>
                  <a:spcPct val="100000"/>
                </a:lnSpc>
                <a:spcBef>
                  <a:spcPct val="0"/>
                </a:spcBef>
                <a:spcAft>
                  <a:spcPct val="0"/>
                </a:spcAft>
                <a:buClrTx/>
                <a:buSzTx/>
                <a:buFontTx/>
                <a:buNone/>
                <a:defRPr/>
              </a:pPr>
              <a:endParaRPr kumimoji="1" lang="zh-CN" altLang="en-US" sz="2635" b="0" i="0" u="none" strike="noStrike" kern="1200" cap="none" spc="0" normalizeH="0" baseline="0" noProof="0">
                <a:ln>
                  <a:noFill/>
                </a:ln>
                <a:solidFill>
                  <a:schemeClr val="tx1"/>
                </a:solidFill>
                <a:effectLst/>
                <a:uLnTx/>
                <a:uFillTx/>
                <a:latin typeface="Arial" panose="020B0604020202020204" pitchFamily="34" charset="0"/>
                <a:ea typeface="楷体" panose="02010609060101010101" pitchFamily="49" charset="-122"/>
                <a:cs typeface="+mn-cs"/>
              </a:endParaRPr>
            </a:p>
          </p:txBody>
        </p:sp>
        <p:sp>
          <p:nvSpPr>
            <p:cNvPr id="13" name="Oval 12"/>
            <p:cNvSpPr>
              <a:spLocks noChangeArrowheads="1"/>
            </p:cNvSpPr>
            <p:nvPr/>
          </p:nvSpPr>
          <p:spPr bwMode="auto">
            <a:xfrm>
              <a:off x="5136" y="1184"/>
              <a:ext cx="80" cy="73"/>
            </a:xfrm>
            <a:prstGeom prst="ellipse">
              <a:avLst/>
            </a:prstGeom>
            <a:solidFill>
              <a:schemeClr val="tx2"/>
            </a:solidFill>
            <a:ln w="9525">
              <a:noFill/>
              <a:round/>
            </a:ln>
            <a:effectLst/>
          </p:spPr>
          <p:txBody>
            <a:bodyPr wrap="none" anchor="ctr"/>
            <a:lstStyle/>
            <a:p>
              <a:pPr marL="0" marR="0" lvl="0" indent="0" algn="l" defTabSz="859790" rtl="0" eaLnBrk="1" fontAlgn="base" latinLnBrk="0" hangingPunct="1">
                <a:lnSpc>
                  <a:spcPct val="100000"/>
                </a:lnSpc>
                <a:spcBef>
                  <a:spcPct val="0"/>
                </a:spcBef>
                <a:spcAft>
                  <a:spcPct val="0"/>
                </a:spcAft>
                <a:buClrTx/>
                <a:buSzTx/>
                <a:buFontTx/>
                <a:buNone/>
                <a:defRPr/>
              </a:pPr>
              <a:endParaRPr kumimoji="1" lang="zh-CN" altLang="en-US" sz="2635" b="0" i="0" u="none" strike="noStrike" kern="1200" cap="none" spc="0" normalizeH="0" baseline="0" noProof="0">
                <a:ln>
                  <a:noFill/>
                </a:ln>
                <a:solidFill>
                  <a:schemeClr val="tx1"/>
                </a:solidFill>
                <a:effectLst/>
                <a:uLnTx/>
                <a:uFillTx/>
                <a:latin typeface="Arial" panose="020B0604020202020204" pitchFamily="34" charset="0"/>
                <a:ea typeface="楷体" panose="02010609060101010101" pitchFamily="49" charset="-122"/>
                <a:cs typeface="+mn-cs"/>
              </a:endParaRPr>
            </a:p>
          </p:txBody>
        </p:sp>
        <p:sp>
          <p:nvSpPr>
            <p:cNvPr id="14" name="Oval 13"/>
            <p:cNvSpPr>
              <a:spLocks noChangeArrowheads="1"/>
            </p:cNvSpPr>
            <p:nvPr/>
          </p:nvSpPr>
          <p:spPr bwMode="auto">
            <a:xfrm>
              <a:off x="5247" y="1184"/>
              <a:ext cx="80" cy="73"/>
            </a:xfrm>
            <a:prstGeom prst="ellipse">
              <a:avLst/>
            </a:prstGeom>
            <a:solidFill>
              <a:schemeClr val="tx2"/>
            </a:solidFill>
            <a:ln w="9525">
              <a:noFill/>
              <a:round/>
            </a:ln>
            <a:effectLst/>
          </p:spPr>
          <p:txBody>
            <a:bodyPr wrap="none" anchor="ctr"/>
            <a:lstStyle/>
            <a:p>
              <a:pPr marL="0" marR="0" lvl="0" indent="0" algn="l" defTabSz="859790" rtl="0" eaLnBrk="1" fontAlgn="base" latinLnBrk="0" hangingPunct="1">
                <a:lnSpc>
                  <a:spcPct val="100000"/>
                </a:lnSpc>
                <a:spcBef>
                  <a:spcPct val="0"/>
                </a:spcBef>
                <a:spcAft>
                  <a:spcPct val="0"/>
                </a:spcAft>
                <a:buClrTx/>
                <a:buSzTx/>
                <a:buFontTx/>
                <a:buNone/>
                <a:defRPr/>
              </a:pPr>
              <a:endParaRPr kumimoji="1" lang="zh-CN" altLang="en-US" sz="2635" b="0" i="0" u="none" strike="noStrike" kern="1200" cap="none" spc="0" normalizeH="0" baseline="0" noProof="0">
                <a:ln>
                  <a:noFill/>
                </a:ln>
                <a:solidFill>
                  <a:schemeClr val="tx1"/>
                </a:solidFill>
                <a:effectLst/>
                <a:uLnTx/>
                <a:uFillTx/>
                <a:latin typeface="Arial" panose="020B0604020202020204" pitchFamily="34" charset="0"/>
                <a:ea typeface="楷体" panose="02010609060101010101" pitchFamily="49" charset="-122"/>
                <a:cs typeface="+mn-cs"/>
              </a:endParaRPr>
            </a:p>
          </p:txBody>
        </p:sp>
        <p:sp>
          <p:nvSpPr>
            <p:cNvPr id="15" name="Oval 14"/>
            <p:cNvSpPr>
              <a:spLocks noChangeArrowheads="1"/>
            </p:cNvSpPr>
            <p:nvPr/>
          </p:nvSpPr>
          <p:spPr bwMode="auto">
            <a:xfrm>
              <a:off x="5359" y="1184"/>
              <a:ext cx="77" cy="73"/>
            </a:xfrm>
            <a:prstGeom prst="ellipse">
              <a:avLst/>
            </a:prstGeom>
            <a:solidFill>
              <a:schemeClr val="accent2"/>
            </a:solidFill>
            <a:ln w="9525">
              <a:noFill/>
              <a:round/>
            </a:ln>
            <a:effectLst/>
          </p:spPr>
          <p:txBody>
            <a:bodyPr wrap="none" anchor="ctr"/>
            <a:lstStyle/>
            <a:p>
              <a:pPr marL="0" marR="0" lvl="0" indent="0" algn="l" defTabSz="859790" rtl="0" eaLnBrk="1" fontAlgn="base" latinLnBrk="0" hangingPunct="1">
                <a:lnSpc>
                  <a:spcPct val="100000"/>
                </a:lnSpc>
                <a:spcBef>
                  <a:spcPct val="0"/>
                </a:spcBef>
                <a:spcAft>
                  <a:spcPct val="0"/>
                </a:spcAft>
                <a:buClrTx/>
                <a:buSzTx/>
                <a:buFontTx/>
                <a:buNone/>
                <a:defRPr/>
              </a:pPr>
              <a:endParaRPr kumimoji="1" lang="zh-CN" altLang="en-US" sz="2635" b="0" i="0" u="none" strike="noStrike" kern="1200" cap="none" spc="0" normalizeH="0" baseline="0" noProof="0">
                <a:ln>
                  <a:noFill/>
                </a:ln>
                <a:solidFill>
                  <a:schemeClr val="tx1"/>
                </a:solidFill>
                <a:effectLst/>
                <a:uLnTx/>
                <a:uFillTx/>
                <a:latin typeface="Arial" panose="020B0604020202020204" pitchFamily="34" charset="0"/>
                <a:ea typeface="楷体" panose="02010609060101010101" pitchFamily="49" charset="-122"/>
                <a:cs typeface="+mn-cs"/>
              </a:endParaRPr>
            </a:p>
          </p:txBody>
        </p:sp>
        <p:sp>
          <p:nvSpPr>
            <p:cNvPr id="16" name="Oval 15"/>
            <p:cNvSpPr>
              <a:spLocks noChangeArrowheads="1"/>
            </p:cNvSpPr>
            <p:nvPr/>
          </p:nvSpPr>
          <p:spPr bwMode="auto">
            <a:xfrm>
              <a:off x="5470" y="1184"/>
              <a:ext cx="73" cy="73"/>
            </a:xfrm>
            <a:prstGeom prst="ellipse">
              <a:avLst/>
            </a:prstGeom>
            <a:solidFill>
              <a:schemeClr val="accent2"/>
            </a:solidFill>
            <a:ln w="9525">
              <a:noFill/>
              <a:round/>
            </a:ln>
            <a:effectLst/>
          </p:spPr>
          <p:txBody>
            <a:bodyPr wrap="none" anchor="ctr"/>
            <a:lstStyle/>
            <a:p>
              <a:pPr marL="0" marR="0" lvl="0" indent="0" algn="l" defTabSz="859790" rtl="0" eaLnBrk="1" fontAlgn="base" latinLnBrk="0" hangingPunct="1">
                <a:lnSpc>
                  <a:spcPct val="100000"/>
                </a:lnSpc>
                <a:spcBef>
                  <a:spcPct val="0"/>
                </a:spcBef>
                <a:spcAft>
                  <a:spcPct val="0"/>
                </a:spcAft>
                <a:buClrTx/>
                <a:buSzTx/>
                <a:buFontTx/>
                <a:buNone/>
                <a:defRPr/>
              </a:pPr>
              <a:endParaRPr kumimoji="1" lang="zh-CN" altLang="en-US" sz="2635" b="0" i="0" u="none" strike="noStrike" kern="1200" cap="none" spc="0" normalizeH="0" baseline="0" noProof="0">
                <a:ln>
                  <a:noFill/>
                </a:ln>
                <a:solidFill>
                  <a:schemeClr val="tx1"/>
                </a:solidFill>
                <a:effectLst/>
                <a:uLnTx/>
                <a:uFillTx/>
                <a:latin typeface="Arial" panose="020B0604020202020204" pitchFamily="34" charset="0"/>
                <a:ea typeface="楷体" panose="02010609060101010101" pitchFamily="49" charset="-122"/>
                <a:cs typeface="+mn-cs"/>
              </a:endParaRPr>
            </a:p>
          </p:txBody>
        </p:sp>
        <p:sp>
          <p:nvSpPr>
            <p:cNvPr id="17" name="Oval 16"/>
            <p:cNvSpPr>
              <a:spLocks noChangeArrowheads="1"/>
            </p:cNvSpPr>
            <p:nvPr/>
          </p:nvSpPr>
          <p:spPr bwMode="auto">
            <a:xfrm>
              <a:off x="5584" y="1184"/>
              <a:ext cx="80" cy="73"/>
            </a:xfrm>
            <a:prstGeom prst="ellipse">
              <a:avLst/>
            </a:prstGeom>
            <a:solidFill>
              <a:schemeClr val="accent1"/>
            </a:solidFill>
            <a:ln w="9525">
              <a:noFill/>
              <a:round/>
            </a:ln>
            <a:effectLst/>
          </p:spPr>
          <p:txBody>
            <a:bodyPr wrap="none" anchor="ctr"/>
            <a:lstStyle/>
            <a:p>
              <a:pPr marL="0" marR="0" lvl="0" indent="0" algn="l" defTabSz="859790" rtl="0" eaLnBrk="1" fontAlgn="base" latinLnBrk="0" hangingPunct="1">
                <a:lnSpc>
                  <a:spcPct val="100000"/>
                </a:lnSpc>
                <a:spcBef>
                  <a:spcPct val="0"/>
                </a:spcBef>
                <a:spcAft>
                  <a:spcPct val="0"/>
                </a:spcAft>
                <a:buClrTx/>
                <a:buSzTx/>
                <a:buFontTx/>
                <a:buNone/>
                <a:defRPr/>
              </a:pPr>
              <a:endParaRPr kumimoji="1" lang="zh-CN" altLang="en-US" sz="2635" b="0" i="0" u="none" strike="noStrike" kern="1200" cap="none" spc="0" normalizeH="0" baseline="0" noProof="0">
                <a:ln>
                  <a:noFill/>
                </a:ln>
                <a:solidFill>
                  <a:schemeClr val="tx1"/>
                </a:solidFill>
                <a:effectLst/>
                <a:uLnTx/>
                <a:uFillTx/>
                <a:latin typeface="Arial" panose="020B0604020202020204" pitchFamily="34" charset="0"/>
                <a:ea typeface="楷体" panose="02010609060101010101" pitchFamily="49" charset="-122"/>
                <a:cs typeface="+mn-cs"/>
              </a:endParaRPr>
            </a:p>
          </p:txBody>
        </p:sp>
        <p:sp>
          <p:nvSpPr>
            <p:cNvPr id="18" name="Oval 17"/>
            <p:cNvSpPr>
              <a:spLocks noChangeArrowheads="1"/>
            </p:cNvSpPr>
            <p:nvPr/>
          </p:nvSpPr>
          <p:spPr bwMode="auto">
            <a:xfrm>
              <a:off x="5136" y="1296"/>
              <a:ext cx="80" cy="81"/>
            </a:xfrm>
            <a:prstGeom prst="ellipse">
              <a:avLst/>
            </a:prstGeom>
            <a:solidFill>
              <a:schemeClr val="tx2"/>
            </a:solidFill>
            <a:ln w="9525">
              <a:noFill/>
              <a:round/>
            </a:ln>
            <a:effectLst/>
          </p:spPr>
          <p:txBody>
            <a:bodyPr wrap="none" anchor="ctr"/>
            <a:lstStyle/>
            <a:p>
              <a:pPr marL="0" marR="0" lvl="0" indent="0" algn="l" defTabSz="859790" rtl="0" eaLnBrk="1" fontAlgn="base" latinLnBrk="0" hangingPunct="1">
                <a:lnSpc>
                  <a:spcPct val="100000"/>
                </a:lnSpc>
                <a:spcBef>
                  <a:spcPct val="0"/>
                </a:spcBef>
                <a:spcAft>
                  <a:spcPct val="0"/>
                </a:spcAft>
                <a:buClrTx/>
                <a:buSzTx/>
                <a:buFontTx/>
                <a:buNone/>
                <a:defRPr/>
              </a:pPr>
              <a:endParaRPr kumimoji="1" lang="zh-CN" altLang="en-US" sz="2635" b="0" i="0" u="none" strike="noStrike" kern="1200" cap="none" spc="0" normalizeH="0" baseline="0" noProof="0">
                <a:ln>
                  <a:noFill/>
                </a:ln>
                <a:solidFill>
                  <a:schemeClr val="tx1"/>
                </a:solidFill>
                <a:effectLst/>
                <a:uLnTx/>
                <a:uFillTx/>
                <a:latin typeface="Arial" panose="020B0604020202020204" pitchFamily="34" charset="0"/>
                <a:ea typeface="楷体" panose="02010609060101010101" pitchFamily="49" charset="-122"/>
                <a:cs typeface="+mn-cs"/>
              </a:endParaRPr>
            </a:p>
          </p:txBody>
        </p:sp>
        <p:sp>
          <p:nvSpPr>
            <p:cNvPr id="19" name="Oval 18"/>
            <p:cNvSpPr>
              <a:spLocks noChangeArrowheads="1"/>
            </p:cNvSpPr>
            <p:nvPr/>
          </p:nvSpPr>
          <p:spPr bwMode="auto">
            <a:xfrm>
              <a:off x="5247" y="1296"/>
              <a:ext cx="80" cy="81"/>
            </a:xfrm>
            <a:prstGeom prst="ellipse">
              <a:avLst/>
            </a:prstGeom>
            <a:solidFill>
              <a:schemeClr val="accent2"/>
            </a:solidFill>
            <a:ln w="9525">
              <a:noFill/>
              <a:round/>
            </a:ln>
            <a:effectLst/>
          </p:spPr>
          <p:txBody>
            <a:bodyPr wrap="none" anchor="ctr"/>
            <a:lstStyle/>
            <a:p>
              <a:pPr marL="0" marR="0" lvl="0" indent="0" algn="l" defTabSz="859790" rtl="0" eaLnBrk="1" fontAlgn="base" latinLnBrk="0" hangingPunct="1">
                <a:lnSpc>
                  <a:spcPct val="100000"/>
                </a:lnSpc>
                <a:spcBef>
                  <a:spcPct val="0"/>
                </a:spcBef>
                <a:spcAft>
                  <a:spcPct val="0"/>
                </a:spcAft>
                <a:buClrTx/>
                <a:buSzTx/>
                <a:buFontTx/>
                <a:buNone/>
                <a:defRPr/>
              </a:pPr>
              <a:endParaRPr kumimoji="1" lang="zh-CN" altLang="en-US" sz="2635" b="0" i="0" u="none" strike="noStrike" kern="1200" cap="none" spc="0" normalizeH="0" baseline="0" noProof="0">
                <a:ln>
                  <a:noFill/>
                </a:ln>
                <a:solidFill>
                  <a:schemeClr val="tx1"/>
                </a:solidFill>
                <a:effectLst/>
                <a:uLnTx/>
                <a:uFillTx/>
                <a:latin typeface="Arial" panose="020B0604020202020204" pitchFamily="34" charset="0"/>
                <a:ea typeface="楷体" panose="02010609060101010101" pitchFamily="49" charset="-122"/>
                <a:cs typeface="+mn-cs"/>
              </a:endParaRPr>
            </a:p>
          </p:txBody>
        </p:sp>
        <p:sp>
          <p:nvSpPr>
            <p:cNvPr id="20" name="Oval 19"/>
            <p:cNvSpPr>
              <a:spLocks noChangeArrowheads="1"/>
            </p:cNvSpPr>
            <p:nvPr/>
          </p:nvSpPr>
          <p:spPr bwMode="auto">
            <a:xfrm>
              <a:off x="5359" y="1296"/>
              <a:ext cx="77" cy="81"/>
            </a:xfrm>
            <a:prstGeom prst="ellipse">
              <a:avLst/>
            </a:prstGeom>
            <a:solidFill>
              <a:schemeClr val="accent2"/>
            </a:solidFill>
            <a:ln w="9525">
              <a:noFill/>
              <a:round/>
            </a:ln>
            <a:effectLst/>
          </p:spPr>
          <p:txBody>
            <a:bodyPr wrap="none" anchor="ctr"/>
            <a:lstStyle/>
            <a:p>
              <a:pPr marL="0" marR="0" lvl="0" indent="0" algn="l" defTabSz="859790" rtl="0" eaLnBrk="1" fontAlgn="base" latinLnBrk="0" hangingPunct="1">
                <a:lnSpc>
                  <a:spcPct val="100000"/>
                </a:lnSpc>
                <a:spcBef>
                  <a:spcPct val="0"/>
                </a:spcBef>
                <a:spcAft>
                  <a:spcPct val="0"/>
                </a:spcAft>
                <a:buClrTx/>
                <a:buSzTx/>
                <a:buFontTx/>
                <a:buNone/>
                <a:defRPr/>
              </a:pPr>
              <a:endParaRPr kumimoji="1" lang="zh-CN" altLang="en-US" sz="2635" b="0" i="0" u="none" strike="noStrike" kern="1200" cap="none" spc="0" normalizeH="0" baseline="0" noProof="0">
                <a:ln>
                  <a:noFill/>
                </a:ln>
                <a:solidFill>
                  <a:schemeClr val="tx1"/>
                </a:solidFill>
                <a:effectLst/>
                <a:uLnTx/>
                <a:uFillTx/>
                <a:latin typeface="Arial" panose="020B0604020202020204" pitchFamily="34" charset="0"/>
                <a:ea typeface="楷体" panose="02010609060101010101" pitchFamily="49" charset="-122"/>
                <a:cs typeface="+mn-cs"/>
              </a:endParaRPr>
            </a:p>
          </p:txBody>
        </p:sp>
        <p:sp>
          <p:nvSpPr>
            <p:cNvPr id="21" name="Oval 20"/>
            <p:cNvSpPr>
              <a:spLocks noChangeArrowheads="1"/>
            </p:cNvSpPr>
            <p:nvPr/>
          </p:nvSpPr>
          <p:spPr bwMode="auto">
            <a:xfrm>
              <a:off x="5470" y="1296"/>
              <a:ext cx="73" cy="81"/>
            </a:xfrm>
            <a:prstGeom prst="ellipse">
              <a:avLst/>
            </a:prstGeom>
            <a:solidFill>
              <a:schemeClr val="accent1"/>
            </a:solidFill>
            <a:ln w="9525">
              <a:noFill/>
              <a:round/>
            </a:ln>
            <a:effectLst/>
          </p:spPr>
          <p:txBody>
            <a:bodyPr wrap="none" anchor="ctr"/>
            <a:lstStyle/>
            <a:p>
              <a:pPr marL="0" marR="0" lvl="0" indent="0" algn="l" defTabSz="859790" rtl="0" eaLnBrk="1" fontAlgn="base" latinLnBrk="0" hangingPunct="1">
                <a:lnSpc>
                  <a:spcPct val="100000"/>
                </a:lnSpc>
                <a:spcBef>
                  <a:spcPct val="0"/>
                </a:spcBef>
                <a:spcAft>
                  <a:spcPct val="0"/>
                </a:spcAft>
                <a:buClrTx/>
                <a:buSzTx/>
                <a:buFontTx/>
                <a:buNone/>
                <a:defRPr/>
              </a:pPr>
              <a:endParaRPr kumimoji="1" lang="zh-CN" altLang="en-US" sz="2635" b="0" i="0" u="none" strike="noStrike" kern="1200" cap="none" spc="0" normalizeH="0" baseline="0" noProof="0">
                <a:ln>
                  <a:noFill/>
                </a:ln>
                <a:solidFill>
                  <a:schemeClr val="tx1"/>
                </a:solidFill>
                <a:effectLst/>
                <a:uLnTx/>
                <a:uFillTx/>
                <a:latin typeface="Arial" panose="020B0604020202020204" pitchFamily="34" charset="0"/>
                <a:ea typeface="楷体" panose="02010609060101010101" pitchFamily="49" charset="-122"/>
                <a:cs typeface="+mn-cs"/>
              </a:endParaRPr>
            </a:p>
          </p:txBody>
        </p:sp>
        <p:sp>
          <p:nvSpPr>
            <p:cNvPr id="22" name="Oval 21"/>
            <p:cNvSpPr>
              <a:spLocks noChangeArrowheads="1"/>
            </p:cNvSpPr>
            <p:nvPr/>
          </p:nvSpPr>
          <p:spPr bwMode="auto">
            <a:xfrm>
              <a:off x="5136" y="1408"/>
              <a:ext cx="80" cy="81"/>
            </a:xfrm>
            <a:prstGeom prst="ellipse">
              <a:avLst/>
            </a:prstGeom>
            <a:solidFill>
              <a:schemeClr val="accent2"/>
            </a:solidFill>
            <a:ln w="9525">
              <a:noFill/>
              <a:round/>
            </a:ln>
            <a:effectLst/>
          </p:spPr>
          <p:txBody>
            <a:bodyPr wrap="none" anchor="ctr"/>
            <a:lstStyle/>
            <a:p>
              <a:pPr marL="0" marR="0" lvl="0" indent="0" algn="l" defTabSz="859790" rtl="0" eaLnBrk="1" fontAlgn="base" latinLnBrk="0" hangingPunct="1">
                <a:lnSpc>
                  <a:spcPct val="100000"/>
                </a:lnSpc>
                <a:spcBef>
                  <a:spcPct val="0"/>
                </a:spcBef>
                <a:spcAft>
                  <a:spcPct val="0"/>
                </a:spcAft>
                <a:buClrTx/>
                <a:buSzTx/>
                <a:buFontTx/>
                <a:buNone/>
                <a:defRPr/>
              </a:pPr>
              <a:endParaRPr kumimoji="1" lang="zh-CN" altLang="en-US" sz="2635" b="0" i="0" u="none" strike="noStrike" kern="1200" cap="none" spc="0" normalizeH="0" baseline="0" noProof="0">
                <a:ln>
                  <a:noFill/>
                </a:ln>
                <a:solidFill>
                  <a:schemeClr val="tx1"/>
                </a:solidFill>
                <a:effectLst/>
                <a:uLnTx/>
                <a:uFillTx/>
                <a:latin typeface="Arial" panose="020B0604020202020204" pitchFamily="34" charset="0"/>
                <a:ea typeface="楷体" panose="02010609060101010101" pitchFamily="49" charset="-122"/>
                <a:cs typeface="+mn-cs"/>
              </a:endParaRPr>
            </a:p>
          </p:txBody>
        </p:sp>
        <p:sp>
          <p:nvSpPr>
            <p:cNvPr id="23" name="Oval 22"/>
            <p:cNvSpPr>
              <a:spLocks noChangeArrowheads="1"/>
            </p:cNvSpPr>
            <p:nvPr/>
          </p:nvSpPr>
          <p:spPr bwMode="auto">
            <a:xfrm>
              <a:off x="5247" y="1408"/>
              <a:ext cx="80" cy="81"/>
            </a:xfrm>
            <a:prstGeom prst="ellipse">
              <a:avLst/>
            </a:prstGeom>
            <a:solidFill>
              <a:schemeClr val="accent2"/>
            </a:solidFill>
            <a:ln w="9525">
              <a:noFill/>
              <a:round/>
            </a:ln>
            <a:effectLst/>
          </p:spPr>
          <p:txBody>
            <a:bodyPr wrap="none" anchor="ctr"/>
            <a:lstStyle/>
            <a:p>
              <a:pPr marL="0" marR="0" lvl="0" indent="0" algn="l" defTabSz="859790" rtl="0" eaLnBrk="1" fontAlgn="base" latinLnBrk="0" hangingPunct="1">
                <a:lnSpc>
                  <a:spcPct val="100000"/>
                </a:lnSpc>
                <a:spcBef>
                  <a:spcPct val="0"/>
                </a:spcBef>
                <a:spcAft>
                  <a:spcPct val="0"/>
                </a:spcAft>
                <a:buClrTx/>
                <a:buSzTx/>
                <a:buFontTx/>
                <a:buNone/>
                <a:defRPr/>
              </a:pPr>
              <a:endParaRPr kumimoji="1" lang="zh-CN" altLang="en-US" sz="2635" b="0" i="0" u="none" strike="noStrike" kern="1200" cap="none" spc="0" normalizeH="0" baseline="0" noProof="0">
                <a:ln>
                  <a:noFill/>
                </a:ln>
                <a:solidFill>
                  <a:schemeClr val="tx1"/>
                </a:solidFill>
                <a:effectLst/>
                <a:uLnTx/>
                <a:uFillTx/>
                <a:latin typeface="Arial" panose="020B0604020202020204" pitchFamily="34" charset="0"/>
                <a:ea typeface="楷体" panose="02010609060101010101" pitchFamily="49" charset="-122"/>
                <a:cs typeface="+mn-cs"/>
              </a:endParaRPr>
            </a:p>
          </p:txBody>
        </p:sp>
        <p:sp>
          <p:nvSpPr>
            <p:cNvPr id="24" name="Oval 23"/>
            <p:cNvSpPr>
              <a:spLocks noChangeArrowheads="1"/>
            </p:cNvSpPr>
            <p:nvPr/>
          </p:nvSpPr>
          <p:spPr bwMode="auto">
            <a:xfrm>
              <a:off x="5359" y="1408"/>
              <a:ext cx="77" cy="81"/>
            </a:xfrm>
            <a:prstGeom prst="ellipse">
              <a:avLst/>
            </a:prstGeom>
            <a:solidFill>
              <a:schemeClr val="accent1"/>
            </a:solidFill>
            <a:ln w="9525">
              <a:noFill/>
              <a:round/>
            </a:ln>
            <a:effectLst/>
          </p:spPr>
          <p:txBody>
            <a:bodyPr wrap="none" anchor="ctr"/>
            <a:lstStyle/>
            <a:p>
              <a:pPr marL="0" marR="0" lvl="0" indent="0" algn="l" defTabSz="859790" rtl="0" eaLnBrk="1" fontAlgn="base" latinLnBrk="0" hangingPunct="1">
                <a:lnSpc>
                  <a:spcPct val="100000"/>
                </a:lnSpc>
                <a:spcBef>
                  <a:spcPct val="0"/>
                </a:spcBef>
                <a:spcAft>
                  <a:spcPct val="0"/>
                </a:spcAft>
                <a:buClrTx/>
                <a:buSzTx/>
                <a:buFontTx/>
                <a:buNone/>
                <a:defRPr/>
              </a:pPr>
              <a:endParaRPr kumimoji="1" lang="zh-CN" altLang="en-US" sz="2635" b="0" i="0" u="none" strike="noStrike" kern="1200" cap="none" spc="0" normalizeH="0" baseline="0" noProof="0">
                <a:ln>
                  <a:noFill/>
                </a:ln>
                <a:solidFill>
                  <a:schemeClr val="tx1"/>
                </a:solidFill>
                <a:effectLst/>
                <a:uLnTx/>
                <a:uFillTx/>
                <a:latin typeface="Arial" panose="020B0604020202020204" pitchFamily="34" charset="0"/>
                <a:ea typeface="楷体" panose="02010609060101010101" pitchFamily="49" charset="-122"/>
                <a:cs typeface="+mn-cs"/>
              </a:endParaRPr>
            </a:p>
          </p:txBody>
        </p:sp>
        <p:sp>
          <p:nvSpPr>
            <p:cNvPr id="25" name="Oval 24"/>
            <p:cNvSpPr>
              <a:spLocks noChangeArrowheads="1"/>
            </p:cNvSpPr>
            <p:nvPr/>
          </p:nvSpPr>
          <p:spPr bwMode="auto">
            <a:xfrm>
              <a:off x="5470" y="1408"/>
              <a:ext cx="73" cy="81"/>
            </a:xfrm>
            <a:prstGeom prst="ellipse">
              <a:avLst/>
            </a:prstGeom>
            <a:solidFill>
              <a:schemeClr val="accent1"/>
            </a:solidFill>
            <a:ln w="9525">
              <a:noFill/>
              <a:round/>
            </a:ln>
            <a:effectLst/>
          </p:spPr>
          <p:txBody>
            <a:bodyPr wrap="none" anchor="ctr"/>
            <a:lstStyle/>
            <a:p>
              <a:pPr marL="0" marR="0" lvl="0" indent="0" algn="l" defTabSz="859790" rtl="0" eaLnBrk="1" fontAlgn="base" latinLnBrk="0" hangingPunct="1">
                <a:lnSpc>
                  <a:spcPct val="100000"/>
                </a:lnSpc>
                <a:spcBef>
                  <a:spcPct val="0"/>
                </a:spcBef>
                <a:spcAft>
                  <a:spcPct val="0"/>
                </a:spcAft>
                <a:buClrTx/>
                <a:buSzTx/>
                <a:buFontTx/>
                <a:buNone/>
                <a:defRPr/>
              </a:pPr>
              <a:endParaRPr kumimoji="1" lang="zh-CN" altLang="en-US" sz="2635" b="0" i="0" u="none" strike="noStrike" kern="1200" cap="none" spc="0" normalizeH="0" baseline="0" noProof="0">
                <a:ln>
                  <a:noFill/>
                </a:ln>
                <a:solidFill>
                  <a:schemeClr val="tx1"/>
                </a:solidFill>
                <a:effectLst/>
                <a:uLnTx/>
                <a:uFillTx/>
                <a:latin typeface="Arial" panose="020B0604020202020204" pitchFamily="34" charset="0"/>
                <a:ea typeface="楷体" panose="02010609060101010101" pitchFamily="49" charset="-122"/>
                <a:cs typeface="+mn-cs"/>
              </a:endParaRPr>
            </a:p>
          </p:txBody>
        </p:sp>
        <p:sp>
          <p:nvSpPr>
            <p:cNvPr id="26" name="Oval 25"/>
            <p:cNvSpPr>
              <a:spLocks noChangeArrowheads="1"/>
            </p:cNvSpPr>
            <p:nvPr/>
          </p:nvSpPr>
          <p:spPr bwMode="auto">
            <a:xfrm>
              <a:off x="5584" y="1408"/>
              <a:ext cx="80" cy="81"/>
            </a:xfrm>
            <a:prstGeom prst="ellipse">
              <a:avLst/>
            </a:prstGeom>
            <a:solidFill>
              <a:schemeClr val="folHlink"/>
            </a:solidFill>
            <a:ln w="9525">
              <a:noFill/>
              <a:round/>
            </a:ln>
            <a:effectLst/>
          </p:spPr>
          <p:txBody>
            <a:bodyPr wrap="none" anchor="ctr"/>
            <a:lstStyle/>
            <a:p>
              <a:pPr marL="0" marR="0" lvl="0" indent="0" algn="l" defTabSz="859790" rtl="0" eaLnBrk="1" fontAlgn="base" latinLnBrk="0" hangingPunct="1">
                <a:lnSpc>
                  <a:spcPct val="100000"/>
                </a:lnSpc>
                <a:spcBef>
                  <a:spcPct val="0"/>
                </a:spcBef>
                <a:spcAft>
                  <a:spcPct val="0"/>
                </a:spcAft>
                <a:buClrTx/>
                <a:buSzTx/>
                <a:buFontTx/>
                <a:buNone/>
                <a:defRPr/>
              </a:pPr>
              <a:endParaRPr kumimoji="1" lang="zh-CN" altLang="en-US" sz="2635" b="0" i="0" u="none" strike="noStrike" kern="1200" cap="none" spc="0" normalizeH="0" baseline="0" noProof="0">
                <a:ln>
                  <a:noFill/>
                </a:ln>
                <a:solidFill>
                  <a:schemeClr val="tx1"/>
                </a:solidFill>
                <a:effectLst/>
                <a:uLnTx/>
                <a:uFillTx/>
                <a:latin typeface="Arial" panose="020B0604020202020204" pitchFamily="34" charset="0"/>
                <a:ea typeface="楷体" panose="02010609060101010101" pitchFamily="49" charset="-122"/>
                <a:cs typeface="+mn-cs"/>
              </a:endParaRPr>
            </a:p>
          </p:txBody>
        </p:sp>
        <p:sp>
          <p:nvSpPr>
            <p:cNvPr id="27" name="Oval 26"/>
            <p:cNvSpPr>
              <a:spLocks noChangeArrowheads="1"/>
            </p:cNvSpPr>
            <p:nvPr/>
          </p:nvSpPr>
          <p:spPr bwMode="auto">
            <a:xfrm>
              <a:off x="5136" y="1519"/>
              <a:ext cx="80" cy="79"/>
            </a:xfrm>
            <a:prstGeom prst="ellipse">
              <a:avLst/>
            </a:prstGeom>
            <a:solidFill>
              <a:schemeClr val="accent2"/>
            </a:solidFill>
            <a:ln w="9525">
              <a:noFill/>
              <a:round/>
            </a:ln>
            <a:effectLst/>
          </p:spPr>
          <p:txBody>
            <a:bodyPr wrap="none" anchor="ctr"/>
            <a:lstStyle/>
            <a:p>
              <a:pPr marL="0" marR="0" lvl="0" indent="0" algn="l" defTabSz="859790" rtl="0" eaLnBrk="1" fontAlgn="base" latinLnBrk="0" hangingPunct="1">
                <a:lnSpc>
                  <a:spcPct val="100000"/>
                </a:lnSpc>
                <a:spcBef>
                  <a:spcPct val="0"/>
                </a:spcBef>
                <a:spcAft>
                  <a:spcPct val="0"/>
                </a:spcAft>
                <a:buClrTx/>
                <a:buSzTx/>
                <a:buFontTx/>
                <a:buNone/>
                <a:defRPr/>
              </a:pPr>
              <a:endParaRPr kumimoji="1" lang="zh-CN" altLang="en-US" sz="2635" b="0" i="0" u="none" strike="noStrike" kern="1200" cap="none" spc="0" normalizeH="0" baseline="0" noProof="0">
                <a:ln>
                  <a:noFill/>
                </a:ln>
                <a:solidFill>
                  <a:schemeClr val="tx1"/>
                </a:solidFill>
                <a:effectLst/>
                <a:uLnTx/>
                <a:uFillTx/>
                <a:latin typeface="Arial" panose="020B0604020202020204" pitchFamily="34" charset="0"/>
                <a:ea typeface="楷体" panose="02010609060101010101" pitchFamily="49" charset="-122"/>
                <a:cs typeface="+mn-cs"/>
              </a:endParaRPr>
            </a:p>
          </p:txBody>
        </p:sp>
        <p:sp>
          <p:nvSpPr>
            <p:cNvPr id="28" name="Oval 27"/>
            <p:cNvSpPr>
              <a:spLocks noChangeArrowheads="1"/>
            </p:cNvSpPr>
            <p:nvPr/>
          </p:nvSpPr>
          <p:spPr bwMode="auto">
            <a:xfrm>
              <a:off x="5247" y="1519"/>
              <a:ext cx="80" cy="79"/>
            </a:xfrm>
            <a:prstGeom prst="ellipse">
              <a:avLst/>
            </a:prstGeom>
            <a:solidFill>
              <a:schemeClr val="accent1"/>
            </a:solidFill>
            <a:ln w="9525">
              <a:noFill/>
              <a:round/>
            </a:ln>
            <a:effectLst/>
          </p:spPr>
          <p:txBody>
            <a:bodyPr wrap="none" anchor="ctr"/>
            <a:lstStyle/>
            <a:p>
              <a:pPr marL="0" marR="0" lvl="0" indent="0" algn="l" defTabSz="859790" rtl="0" eaLnBrk="1" fontAlgn="base" latinLnBrk="0" hangingPunct="1">
                <a:lnSpc>
                  <a:spcPct val="100000"/>
                </a:lnSpc>
                <a:spcBef>
                  <a:spcPct val="0"/>
                </a:spcBef>
                <a:spcAft>
                  <a:spcPct val="0"/>
                </a:spcAft>
                <a:buClrTx/>
                <a:buSzTx/>
                <a:buFontTx/>
                <a:buNone/>
                <a:defRPr/>
              </a:pPr>
              <a:endParaRPr kumimoji="1" lang="zh-CN" altLang="en-US" sz="2635" b="0" i="0" u="none" strike="noStrike" kern="1200" cap="none" spc="0" normalizeH="0" baseline="0" noProof="0">
                <a:ln>
                  <a:noFill/>
                </a:ln>
                <a:solidFill>
                  <a:schemeClr val="tx1"/>
                </a:solidFill>
                <a:effectLst/>
                <a:uLnTx/>
                <a:uFillTx/>
                <a:latin typeface="Arial" panose="020B0604020202020204" pitchFamily="34" charset="0"/>
                <a:ea typeface="楷体" panose="02010609060101010101" pitchFamily="49" charset="-122"/>
                <a:cs typeface="+mn-cs"/>
              </a:endParaRPr>
            </a:p>
          </p:txBody>
        </p:sp>
        <p:sp>
          <p:nvSpPr>
            <p:cNvPr id="29" name="Oval 28"/>
            <p:cNvSpPr>
              <a:spLocks noChangeArrowheads="1"/>
            </p:cNvSpPr>
            <p:nvPr/>
          </p:nvSpPr>
          <p:spPr bwMode="auto">
            <a:xfrm>
              <a:off x="5359" y="1519"/>
              <a:ext cx="77" cy="79"/>
            </a:xfrm>
            <a:prstGeom prst="ellipse">
              <a:avLst/>
            </a:prstGeom>
            <a:solidFill>
              <a:schemeClr val="accent1"/>
            </a:solidFill>
            <a:ln w="9525">
              <a:noFill/>
              <a:round/>
            </a:ln>
            <a:effectLst/>
          </p:spPr>
          <p:txBody>
            <a:bodyPr wrap="none" anchor="ctr"/>
            <a:lstStyle/>
            <a:p>
              <a:pPr marL="0" marR="0" lvl="0" indent="0" algn="l" defTabSz="859790" rtl="0" eaLnBrk="1" fontAlgn="base" latinLnBrk="0" hangingPunct="1">
                <a:lnSpc>
                  <a:spcPct val="100000"/>
                </a:lnSpc>
                <a:spcBef>
                  <a:spcPct val="0"/>
                </a:spcBef>
                <a:spcAft>
                  <a:spcPct val="0"/>
                </a:spcAft>
                <a:buClrTx/>
                <a:buSzTx/>
                <a:buFontTx/>
                <a:buNone/>
                <a:defRPr/>
              </a:pPr>
              <a:endParaRPr kumimoji="1" lang="zh-CN" altLang="en-US" sz="2635" b="0" i="0" u="none" strike="noStrike" kern="1200" cap="none" spc="0" normalizeH="0" baseline="0" noProof="0">
                <a:ln>
                  <a:noFill/>
                </a:ln>
                <a:solidFill>
                  <a:schemeClr val="tx1"/>
                </a:solidFill>
                <a:effectLst/>
                <a:uLnTx/>
                <a:uFillTx/>
                <a:latin typeface="Arial" panose="020B0604020202020204" pitchFamily="34" charset="0"/>
                <a:ea typeface="楷体" panose="02010609060101010101" pitchFamily="49" charset="-122"/>
                <a:cs typeface="+mn-cs"/>
              </a:endParaRPr>
            </a:p>
          </p:txBody>
        </p:sp>
        <p:sp>
          <p:nvSpPr>
            <p:cNvPr id="30" name="Oval 29"/>
            <p:cNvSpPr>
              <a:spLocks noChangeArrowheads="1"/>
            </p:cNvSpPr>
            <p:nvPr/>
          </p:nvSpPr>
          <p:spPr bwMode="auto">
            <a:xfrm>
              <a:off x="5470" y="1519"/>
              <a:ext cx="73" cy="79"/>
            </a:xfrm>
            <a:prstGeom prst="ellipse">
              <a:avLst/>
            </a:prstGeom>
            <a:solidFill>
              <a:schemeClr val="folHlink"/>
            </a:solidFill>
            <a:ln w="9525">
              <a:noFill/>
              <a:round/>
            </a:ln>
            <a:effectLst/>
          </p:spPr>
          <p:txBody>
            <a:bodyPr wrap="none" anchor="ctr"/>
            <a:lstStyle/>
            <a:p>
              <a:pPr marL="0" marR="0" lvl="0" indent="0" algn="l" defTabSz="859790" rtl="0" eaLnBrk="1" fontAlgn="base" latinLnBrk="0" hangingPunct="1">
                <a:lnSpc>
                  <a:spcPct val="100000"/>
                </a:lnSpc>
                <a:spcBef>
                  <a:spcPct val="0"/>
                </a:spcBef>
                <a:spcAft>
                  <a:spcPct val="0"/>
                </a:spcAft>
                <a:buClrTx/>
                <a:buSzTx/>
                <a:buFontTx/>
                <a:buNone/>
                <a:defRPr/>
              </a:pPr>
              <a:endParaRPr kumimoji="1" lang="zh-CN" altLang="en-US" sz="2635" b="0" i="0" u="none" strike="noStrike" kern="1200" cap="none" spc="0" normalizeH="0" baseline="0" noProof="0">
                <a:ln>
                  <a:noFill/>
                </a:ln>
                <a:solidFill>
                  <a:schemeClr val="tx1"/>
                </a:solidFill>
                <a:effectLst/>
                <a:uLnTx/>
                <a:uFillTx/>
                <a:latin typeface="Arial" panose="020B0604020202020204" pitchFamily="34" charset="0"/>
                <a:ea typeface="楷体" panose="02010609060101010101" pitchFamily="49" charset="-122"/>
                <a:cs typeface="+mn-cs"/>
              </a:endParaRPr>
            </a:p>
          </p:txBody>
        </p:sp>
        <p:sp>
          <p:nvSpPr>
            <p:cNvPr id="31" name="Oval 30"/>
            <p:cNvSpPr>
              <a:spLocks noChangeArrowheads="1"/>
            </p:cNvSpPr>
            <p:nvPr/>
          </p:nvSpPr>
          <p:spPr bwMode="auto">
            <a:xfrm>
              <a:off x="5136" y="1631"/>
              <a:ext cx="80" cy="75"/>
            </a:xfrm>
            <a:prstGeom prst="ellipse">
              <a:avLst/>
            </a:prstGeom>
            <a:solidFill>
              <a:schemeClr val="accent1"/>
            </a:solidFill>
            <a:ln w="9525">
              <a:noFill/>
              <a:round/>
            </a:ln>
            <a:effectLst/>
          </p:spPr>
          <p:txBody>
            <a:bodyPr wrap="none" anchor="ctr"/>
            <a:lstStyle/>
            <a:p>
              <a:pPr marL="0" marR="0" lvl="0" indent="0" algn="l" defTabSz="859790" rtl="0" eaLnBrk="1" fontAlgn="base" latinLnBrk="0" hangingPunct="1">
                <a:lnSpc>
                  <a:spcPct val="100000"/>
                </a:lnSpc>
                <a:spcBef>
                  <a:spcPct val="0"/>
                </a:spcBef>
                <a:spcAft>
                  <a:spcPct val="0"/>
                </a:spcAft>
                <a:buClrTx/>
                <a:buSzTx/>
                <a:buFontTx/>
                <a:buNone/>
                <a:defRPr/>
              </a:pPr>
              <a:endParaRPr kumimoji="1" lang="zh-CN" altLang="en-US" sz="2635" b="0" i="0" u="none" strike="noStrike" kern="1200" cap="none" spc="0" normalizeH="0" baseline="0" noProof="0">
                <a:ln>
                  <a:noFill/>
                </a:ln>
                <a:solidFill>
                  <a:schemeClr val="tx1"/>
                </a:solidFill>
                <a:effectLst/>
                <a:uLnTx/>
                <a:uFillTx/>
                <a:latin typeface="Arial" panose="020B0604020202020204" pitchFamily="34" charset="0"/>
                <a:ea typeface="楷体" panose="02010609060101010101" pitchFamily="49" charset="-122"/>
                <a:cs typeface="+mn-cs"/>
              </a:endParaRPr>
            </a:p>
          </p:txBody>
        </p:sp>
        <p:sp>
          <p:nvSpPr>
            <p:cNvPr id="32" name="Oval 31"/>
            <p:cNvSpPr>
              <a:spLocks noChangeArrowheads="1"/>
            </p:cNvSpPr>
            <p:nvPr/>
          </p:nvSpPr>
          <p:spPr bwMode="auto">
            <a:xfrm>
              <a:off x="5247" y="1631"/>
              <a:ext cx="80" cy="75"/>
            </a:xfrm>
            <a:prstGeom prst="ellipse">
              <a:avLst/>
            </a:prstGeom>
            <a:solidFill>
              <a:schemeClr val="accent1"/>
            </a:solidFill>
            <a:ln w="9525">
              <a:noFill/>
              <a:round/>
            </a:ln>
            <a:effectLst/>
          </p:spPr>
          <p:txBody>
            <a:bodyPr wrap="none" anchor="ctr"/>
            <a:lstStyle/>
            <a:p>
              <a:pPr marL="0" marR="0" lvl="0" indent="0" algn="l" defTabSz="859790" rtl="0" eaLnBrk="1" fontAlgn="base" latinLnBrk="0" hangingPunct="1">
                <a:lnSpc>
                  <a:spcPct val="100000"/>
                </a:lnSpc>
                <a:spcBef>
                  <a:spcPct val="0"/>
                </a:spcBef>
                <a:spcAft>
                  <a:spcPct val="0"/>
                </a:spcAft>
                <a:buClrTx/>
                <a:buSzTx/>
                <a:buFontTx/>
                <a:buNone/>
                <a:defRPr/>
              </a:pPr>
              <a:endParaRPr kumimoji="1" lang="zh-CN" altLang="en-US" sz="2635" b="0" i="0" u="none" strike="noStrike" kern="1200" cap="none" spc="0" normalizeH="0" baseline="0" noProof="0">
                <a:ln>
                  <a:noFill/>
                </a:ln>
                <a:solidFill>
                  <a:schemeClr val="tx1"/>
                </a:solidFill>
                <a:effectLst/>
                <a:uLnTx/>
                <a:uFillTx/>
                <a:latin typeface="Arial" panose="020B0604020202020204" pitchFamily="34" charset="0"/>
                <a:ea typeface="楷体" panose="02010609060101010101" pitchFamily="49" charset="-122"/>
                <a:cs typeface="+mn-cs"/>
              </a:endParaRPr>
            </a:p>
          </p:txBody>
        </p:sp>
        <p:sp>
          <p:nvSpPr>
            <p:cNvPr id="33" name="Oval 32"/>
            <p:cNvSpPr>
              <a:spLocks noChangeArrowheads="1"/>
            </p:cNvSpPr>
            <p:nvPr/>
          </p:nvSpPr>
          <p:spPr bwMode="auto">
            <a:xfrm>
              <a:off x="5359" y="1631"/>
              <a:ext cx="77" cy="75"/>
            </a:xfrm>
            <a:prstGeom prst="ellipse">
              <a:avLst/>
            </a:prstGeom>
            <a:solidFill>
              <a:schemeClr val="folHlink"/>
            </a:solidFill>
            <a:ln w="9525">
              <a:noFill/>
              <a:round/>
            </a:ln>
            <a:effectLst/>
          </p:spPr>
          <p:txBody>
            <a:bodyPr wrap="none" anchor="ctr"/>
            <a:lstStyle/>
            <a:p>
              <a:pPr marL="0" marR="0" lvl="0" indent="0" algn="l" defTabSz="859790" rtl="0" eaLnBrk="1" fontAlgn="base" latinLnBrk="0" hangingPunct="1">
                <a:lnSpc>
                  <a:spcPct val="100000"/>
                </a:lnSpc>
                <a:spcBef>
                  <a:spcPct val="0"/>
                </a:spcBef>
                <a:spcAft>
                  <a:spcPct val="0"/>
                </a:spcAft>
                <a:buClrTx/>
                <a:buSzTx/>
                <a:buFontTx/>
                <a:buNone/>
                <a:defRPr/>
              </a:pPr>
              <a:endParaRPr kumimoji="1" lang="zh-CN" altLang="en-US" sz="2635" b="0" i="0" u="none" strike="noStrike" kern="1200" cap="none" spc="0" normalizeH="0" baseline="0" noProof="0">
                <a:ln>
                  <a:noFill/>
                </a:ln>
                <a:solidFill>
                  <a:schemeClr val="tx1"/>
                </a:solidFill>
                <a:effectLst/>
                <a:uLnTx/>
                <a:uFillTx/>
                <a:latin typeface="Arial" panose="020B0604020202020204" pitchFamily="34" charset="0"/>
                <a:ea typeface="楷体" panose="02010609060101010101" pitchFamily="49" charset="-122"/>
                <a:cs typeface="+mn-cs"/>
              </a:endParaRPr>
            </a:p>
          </p:txBody>
        </p:sp>
        <p:sp>
          <p:nvSpPr>
            <p:cNvPr id="34" name="Oval 33"/>
            <p:cNvSpPr>
              <a:spLocks noChangeArrowheads="1"/>
            </p:cNvSpPr>
            <p:nvPr/>
          </p:nvSpPr>
          <p:spPr bwMode="auto">
            <a:xfrm>
              <a:off x="5470" y="1631"/>
              <a:ext cx="73" cy="75"/>
            </a:xfrm>
            <a:prstGeom prst="ellipse">
              <a:avLst/>
            </a:prstGeom>
            <a:solidFill>
              <a:schemeClr val="folHlink"/>
            </a:solidFill>
            <a:ln w="9525">
              <a:noFill/>
              <a:round/>
            </a:ln>
            <a:effectLst/>
          </p:spPr>
          <p:txBody>
            <a:bodyPr wrap="none" anchor="ctr"/>
            <a:lstStyle/>
            <a:p>
              <a:pPr marL="0" marR="0" lvl="0" indent="0" algn="l" defTabSz="859790" rtl="0" eaLnBrk="1" fontAlgn="base" latinLnBrk="0" hangingPunct="1">
                <a:lnSpc>
                  <a:spcPct val="100000"/>
                </a:lnSpc>
                <a:spcBef>
                  <a:spcPct val="0"/>
                </a:spcBef>
                <a:spcAft>
                  <a:spcPct val="0"/>
                </a:spcAft>
                <a:buClrTx/>
                <a:buSzTx/>
                <a:buFontTx/>
                <a:buNone/>
                <a:defRPr/>
              </a:pPr>
              <a:endParaRPr kumimoji="1" lang="zh-CN" altLang="en-US" sz="2635" b="0" i="0" u="none" strike="noStrike" kern="1200" cap="none" spc="0" normalizeH="0" baseline="0" noProof="0">
                <a:ln>
                  <a:noFill/>
                </a:ln>
                <a:solidFill>
                  <a:schemeClr val="tx1"/>
                </a:solidFill>
                <a:effectLst/>
                <a:uLnTx/>
                <a:uFillTx/>
                <a:latin typeface="Arial" panose="020B0604020202020204" pitchFamily="34" charset="0"/>
                <a:ea typeface="楷体" panose="02010609060101010101" pitchFamily="49" charset="-122"/>
                <a:cs typeface="+mn-cs"/>
              </a:endParaRPr>
            </a:p>
          </p:txBody>
        </p:sp>
        <p:sp>
          <p:nvSpPr>
            <p:cNvPr id="35" name="Oval 34"/>
            <p:cNvSpPr>
              <a:spLocks noChangeArrowheads="1"/>
            </p:cNvSpPr>
            <p:nvPr/>
          </p:nvSpPr>
          <p:spPr bwMode="auto">
            <a:xfrm>
              <a:off x="5247" y="1743"/>
              <a:ext cx="80" cy="81"/>
            </a:xfrm>
            <a:prstGeom prst="ellipse">
              <a:avLst/>
            </a:prstGeom>
            <a:solidFill>
              <a:schemeClr val="folHlink"/>
            </a:solidFill>
            <a:ln w="9525">
              <a:noFill/>
              <a:round/>
            </a:ln>
            <a:effectLst/>
          </p:spPr>
          <p:txBody>
            <a:bodyPr wrap="none" anchor="ctr"/>
            <a:lstStyle/>
            <a:p>
              <a:pPr marL="0" marR="0" lvl="0" indent="0" algn="l" defTabSz="859790" rtl="0" eaLnBrk="1" fontAlgn="base" latinLnBrk="0" hangingPunct="1">
                <a:lnSpc>
                  <a:spcPct val="100000"/>
                </a:lnSpc>
                <a:spcBef>
                  <a:spcPct val="0"/>
                </a:spcBef>
                <a:spcAft>
                  <a:spcPct val="0"/>
                </a:spcAft>
                <a:buClrTx/>
                <a:buSzTx/>
                <a:buFontTx/>
                <a:buNone/>
                <a:defRPr/>
              </a:pPr>
              <a:endParaRPr kumimoji="1" lang="zh-CN" altLang="en-US" sz="2635" b="0" i="0" u="none" strike="noStrike" kern="1200" cap="none" spc="0" normalizeH="0" baseline="0" noProof="0">
                <a:ln>
                  <a:noFill/>
                </a:ln>
                <a:solidFill>
                  <a:schemeClr val="tx1"/>
                </a:solidFill>
                <a:effectLst/>
                <a:uLnTx/>
                <a:uFillTx/>
                <a:latin typeface="Arial" panose="020B0604020202020204" pitchFamily="34" charset="0"/>
                <a:ea typeface="楷体" panose="02010609060101010101" pitchFamily="49" charset="-122"/>
                <a:cs typeface="+mn-cs"/>
              </a:endParaRPr>
            </a:p>
          </p:txBody>
        </p:sp>
        <p:sp>
          <p:nvSpPr>
            <p:cNvPr id="36" name="Oval 35"/>
            <p:cNvSpPr>
              <a:spLocks noChangeArrowheads="1"/>
            </p:cNvSpPr>
            <p:nvPr/>
          </p:nvSpPr>
          <p:spPr bwMode="auto">
            <a:xfrm>
              <a:off x="5470" y="1743"/>
              <a:ext cx="73" cy="81"/>
            </a:xfrm>
            <a:prstGeom prst="ellipse">
              <a:avLst/>
            </a:prstGeom>
            <a:solidFill>
              <a:schemeClr val="folHlink"/>
            </a:solidFill>
            <a:ln w="9525">
              <a:noFill/>
              <a:round/>
            </a:ln>
            <a:effectLst/>
          </p:spPr>
          <p:txBody>
            <a:bodyPr wrap="none" anchor="ctr"/>
            <a:lstStyle/>
            <a:p>
              <a:pPr marL="0" marR="0" lvl="0" indent="0" algn="l" defTabSz="859790" rtl="0" eaLnBrk="1" fontAlgn="base" latinLnBrk="0" hangingPunct="1">
                <a:lnSpc>
                  <a:spcPct val="100000"/>
                </a:lnSpc>
                <a:spcBef>
                  <a:spcPct val="0"/>
                </a:spcBef>
                <a:spcAft>
                  <a:spcPct val="0"/>
                </a:spcAft>
                <a:buClrTx/>
                <a:buSzTx/>
                <a:buFontTx/>
                <a:buNone/>
                <a:defRPr/>
              </a:pPr>
              <a:endParaRPr kumimoji="1" lang="zh-CN" altLang="en-US" sz="2635" b="0" i="0" u="none" strike="noStrike" kern="1200" cap="none" spc="0" normalizeH="0" baseline="0" noProof="0">
                <a:ln>
                  <a:noFill/>
                </a:ln>
                <a:solidFill>
                  <a:schemeClr val="tx1"/>
                </a:solidFill>
                <a:effectLst/>
                <a:uLnTx/>
                <a:uFillTx/>
                <a:latin typeface="Arial" panose="020B0604020202020204" pitchFamily="34" charset="0"/>
                <a:ea typeface="楷体" panose="02010609060101010101" pitchFamily="49" charset="-122"/>
                <a:cs typeface="+mn-cs"/>
              </a:endParaRPr>
            </a:p>
          </p:txBody>
        </p:sp>
      </p:grpSp>
      <p:grpSp>
        <p:nvGrpSpPr>
          <p:cNvPr id="3077" name="Group 36"/>
          <p:cNvGrpSpPr/>
          <p:nvPr userDrawn="1"/>
        </p:nvGrpSpPr>
        <p:grpSpPr>
          <a:xfrm flipH="1">
            <a:off x="0" y="6266619"/>
            <a:ext cx="9144000" cy="215048"/>
            <a:chOff x="0" y="4000"/>
            <a:chExt cx="5762" cy="102"/>
          </a:xfrm>
        </p:grpSpPr>
        <p:sp>
          <p:nvSpPr>
            <p:cNvPr id="38" name="Line 37"/>
            <p:cNvSpPr>
              <a:spLocks noChangeShapeType="1"/>
            </p:cNvSpPr>
            <p:nvPr/>
          </p:nvSpPr>
          <p:spPr bwMode="auto">
            <a:xfrm>
              <a:off x="0" y="4100"/>
              <a:ext cx="4452" cy="0"/>
            </a:xfrm>
            <a:prstGeom prst="line">
              <a:avLst/>
            </a:prstGeom>
            <a:noFill/>
            <a:ln w="38100">
              <a:solidFill>
                <a:srgbClr val="006600"/>
              </a:solidFill>
              <a:round/>
            </a:ln>
            <a:effectLst/>
          </p:spPr>
          <p:txBody>
            <a:bodyPr/>
            <a:lstStyle/>
            <a:p>
              <a:pPr marL="0" marR="0" lvl="0" indent="0" algn="l" defTabSz="859790" rtl="0" eaLnBrk="1" fontAlgn="base" latinLnBrk="0" hangingPunct="1">
                <a:lnSpc>
                  <a:spcPct val="100000"/>
                </a:lnSpc>
                <a:spcBef>
                  <a:spcPct val="0"/>
                </a:spcBef>
                <a:spcAft>
                  <a:spcPct val="0"/>
                </a:spcAft>
                <a:buClrTx/>
                <a:buSzTx/>
                <a:buFontTx/>
                <a:buNone/>
                <a:defRPr/>
              </a:pPr>
              <a:endParaRPr kumimoji="1" lang="zh-CN" altLang="en-US" sz="2635" b="0" i="0" u="none" strike="noStrike" kern="1200" cap="none" spc="0" normalizeH="0" baseline="0" noProof="0">
                <a:ln>
                  <a:noFill/>
                </a:ln>
                <a:solidFill>
                  <a:schemeClr val="tx1"/>
                </a:solidFill>
                <a:effectLst/>
                <a:uLnTx/>
                <a:uFillTx/>
                <a:latin typeface="Arial" panose="020B0604020202020204" pitchFamily="34" charset="0"/>
                <a:ea typeface="楷体" panose="02010609060101010101" pitchFamily="49" charset="-122"/>
                <a:cs typeface="+mn-cs"/>
              </a:endParaRPr>
            </a:p>
          </p:txBody>
        </p:sp>
        <p:sp>
          <p:nvSpPr>
            <p:cNvPr id="39" name="Line 38"/>
            <p:cNvSpPr>
              <a:spLocks noChangeShapeType="1"/>
            </p:cNvSpPr>
            <p:nvPr/>
          </p:nvSpPr>
          <p:spPr bwMode="auto">
            <a:xfrm>
              <a:off x="4456" y="4004"/>
              <a:ext cx="1306" cy="0"/>
            </a:xfrm>
            <a:prstGeom prst="line">
              <a:avLst/>
            </a:prstGeom>
            <a:noFill/>
            <a:ln w="38100">
              <a:solidFill>
                <a:srgbClr val="006600"/>
              </a:solidFill>
              <a:round/>
            </a:ln>
            <a:effectLst/>
          </p:spPr>
          <p:txBody>
            <a:bodyPr/>
            <a:lstStyle/>
            <a:p>
              <a:pPr marL="0" marR="0" lvl="0" indent="0" algn="l" defTabSz="859790" rtl="0" eaLnBrk="1" fontAlgn="base" latinLnBrk="0" hangingPunct="1">
                <a:lnSpc>
                  <a:spcPct val="100000"/>
                </a:lnSpc>
                <a:spcBef>
                  <a:spcPct val="0"/>
                </a:spcBef>
                <a:spcAft>
                  <a:spcPct val="0"/>
                </a:spcAft>
                <a:buClrTx/>
                <a:buSzTx/>
                <a:buFontTx/>
                <a:buNone/>
                <a:defRPr/>
              </a:pPr>
              <a:endParaRPr kumimoji="1" lang="zh-CN" altLang="en-US" sz="2635" b="0" i="0" u="none" strike="noStrike" kern="1200" cap="none" spc="0" normalizeH="0" baseline="0" noProof="0">
                <a:ln>
                  <a:noFill/>
                </a:ln>
                <a:solidFill>
                  <a:schemeClr val="tx1"/>
                </a:solidFill>
                <a:effectLst/>
                <a:uLnTx/>
                <a:uFillTx/>
                <a:latin typeface="Arial" panose="020B0604020202020204" pitchFamily="34" charset="0"/>
                <a:ea typeface="楷体" panose="02010609060101010101" pitchFamily="49" charset="-122"/>
                <a:cs typeface="+mn-cs"/>
              </a:endParaRPr>
            </a:p>
          </p:txBody>
        </p:sp>
        <p:sp>
          <p:nvSpPr>
            <p:cNvPr id="40" name="Line 39"/>
            <p:cNvSpPr>
              <a:spLocks noChangeShapeType="1"/>
            </p:cNvSpPr>
            <p:nvPr/>
          </p:nvSpPr>
          <p:spPr bwMode="auto">
            <a:xfrm flipH="1">
              <a:off x="4368" y="4000"/>
              <a:ext cx="96" cy="96"/>
            </a:xfrm>
            <a:prstGeom prst="line">
              <a:avLst/>
            </a:prstGeom>
            <a:noFill/>
            <a:ln w="38100">
              <a:solidFill>
                <a:srgbClr val="006600"/>
              </a:solidFill>
              <a:round/>
            </a:ln>
            <a:effectLst/>
          </p:spPr>
          <p:txBody>
            <a:bodyPr/>
            <a:lstStyle/>
            <a:p>
              <a:pPr marL="0" marR="0" lvl="0" indent="0" algn="l" defTabSz="859790" rtl="0" eaLnBrk="1" fontAlgn="base" latinLnBrk="0" hangingPunct="1">
                <a:lnSpc>
                  <a:spcPct val="100000"/>
                </a:lnSpc>
                <a:spcBef>
                  <a:spcPct val="0"/>
                </a:spcBef>
                <a:spcAft>
                  <a:spcPct val="0"/>
                </a:spcAft>
                <a:buClrTx/>
                <a:buSzTx/>
                <a:buFontTx/>
                <a:buNone/>
                <a:defRPr/>
              </a:pPr>
              <a:endParaRPr kumimoji="1" lang="zh-CN" altLang="en-US" sz="2635" b="0" i="0" u="none" strike="noStrike" kern="1200" cap="none" spc="0" normalizeH="0" baseline="0" noProof="0">
                <a:ln>
                  <a:noFill/>
                </a:ln>
                <a:solidFill>
                  <a:schemeClr val="tx1"/>
                </a:solidFill>
                <a:effectLst/>
                <a:uLnTx/>
                <a:uFillTx/>
                <a:latin typeface="Arial" panose="020B0604020202020204" pitchFamily="34" charset="0"/>
                <a:ea typeface="楷体" panose="02010609060101010101" pitchFamily="49" charset="-122"/>
                <a:cs typeface="+mn-cs"/>
              </a:endParaRPr>
            </a:p>
          </p:txBody>
        </p:sp>
        <p:sp>
          <p:nvSpPr>
            <p:cNvPr id="41" name="Line 40"/>
            <p:cNvSpPr>
              <a:spLocks noChangeShapeType="1"/>
            </p:cNvSpPr>
            <p:nvPr/>
          </p:nvSpPr>
          <p:spPr bwMode="auto">
            <a:xfrm flipH="1">
              <a:off x="4444" y="4006"/>
              <a:ext cx="96" cy="96"/>
            </a:xfrm>
            <a:prstGeom prst="line">
              <a:avLst/>
            </a:prstGeom>
            <a:noFill/>
            <a:ln w="38100">
              <a:solidFill>
                <a:srgbClr val="006600"/>
              </a:solidFill>
              <a:round/>
            </a:ln>
            <a:effectLst/>
          </p:spPr>
          <p:txBody>
            <a:bodyPr/>
            <a:lstStyle/>
            <a:p>
              <a:pPr marL="0" marR="0" lvl="0" indent="0" algn="l" defTabSz="859790" rtl="0" eaLnBrk="1" fontAlgn="base" latinLnBrk="0" hangingPunct="1">
                <a:lnSpc>
                  <a:spcPct val="100000"/>
                </a:lnSpc>
                <a:spcBef>
                  <a:spcPct val="0"/>
                </a:spcBef>
                <a:spcAft>
                  <a:spcPct val="0"/>
                </a:spcAft>
                <a:buClrTx/>
                <a:buSzTx/>
                <a:buFontTx/>
                <a:buNone/>
                <a:defRPr/>
              </a:pPr>
              <a:endParaRPr kumimoji="1" lang="zh-CN" altLang="en-US" sz="2635" b="0" i="0" u="none" strike="noStrike" kern="1200" cap="none" spc="0" normalizeH="0" baseline="0" noProof="0">
                <a:ln>
                  <a:noFill/>
                </a:ln>
                <a:solidFill>
                  <a:schemeClr val="tx1"/>
                </a:solidFill>
                <a:effectLst/>
                <a:uLnTx/>
                <a:uFillTx/>
                <a:latin typeface="Arial" panose="020B0604020202020204" pitchFamily="34" charset="0"/>
                <a:ea typeface="楷体" panose="02010609060101010101" pitchFamily="49" charset="-122"/>
                <a:cs typeface="+mn-cs"/>
              </a:endParaRPr>
            </a:p>
          </p:txBody>
        </p:sp>
      </p:grpSp>
      <p:pic>
        <p:nvPicPr>
          <p:cNvPr id="3078" name="Picture 16"/>
          <p:cNvPicPr>
            <a:picLocks noChangeAspect="1"/>
          </p:cNvPicPr>
          <p:nvPr userDrawn="1"/>
        </p:nvPicPr>
        <p:blipFill>
          <a:blip r:embed="rId2"/>
          <a:stretch>
            <a:fillRect/>
          </a:stretch>
        </p:blipFill>
        <p:spPr>
          <a:xfrm>
            <a:off x="250848" y="6348943"/>
            <a:ext cx="504682" cy="465376"/>
          </a:xfrm>
          <a:prstGeom prst="rect">
            <a:avLst/>
          </a:prstGeom>
          <a:noFill/>
          <a:ln w="9525">
            <a:noFill/>
          </a:ln>
        </p:spPr>
      </p:pic>
      <p:sp>
        <p:nvSpPr>
          <p:cNvPr id="2" name="标题 1"/>
          <p:cNvSpPr>
            <a:spLocks noGrp="1"/>
          </p:cNvSpPr>
          <p:nvPr>
            <p:ph type="title"/>
          </p:nvPr>
        </p:nvSpPr>
        <p:spPr>
          <a:xfrm>
            <a:off x="457201" y="274639"/>
            <a:ext cx="8229600" cy="1143000"/>
          </a:xfrm>
          <a:prstGeom prst="rect">
            <a:avLst/>
          </a:prstGeom>
        </p:spPr>
        <p:txBody>
          <a:bodyPr/>
          <a:lstStyle/>
          <a:p>
            <a:r>
              <a:rPr lang="zh-CN" altLang="en-US"/>
              <a:t>单击此处编辑母版标题样式</a:t>
            </a:r>
            <a:endParaRPr lang="zh-CN" altLang="en-US"/>
          </a:p>
        </p:txBody>
      </p:sp>
      <p:sp>
        <p:nvSpPr>
          <p:cNvPr id="43" name="灯片编号占位符 4"/>
          <p:cNvSpPr>
            <a:spLocks noGrp="1"/>
          </p:cNvSpPr>
          <p:nvPr>
            <p:ph type="sldNum" sz="quarter" idx="4"/>
          </p:nvPr>
        </p:nvSpPr>
        <p:spPr>
          <a:xfrm>
            <a:off x="7010301" y="6493428"/>
            <a:ext cx="2133700" cy="364573"/>
          </a:xfrm>
          <a:prstGeom prst="rect">
            <a:avLst/>
          </a:prstGeom>
        </p:spPr>
        <p:txBody>
          <a:bodyPr/>
          <a:lstStyle/>
          <a:p>
            <a:pPr>
              <a:buNone/>
            </a:pPr>
            <a:fld id="{9A0DB2DC-4C9A-4742-B13C-FB6460FD3503}" type="slidenum">
              <a:rPr lang="zh-CN" altLang="en-US" dirty="0">
                <a:latin typeface="Arial" panose="020B0604020202020204" pitchFamily="34" charset="0"/>
                <a:ea typeface="楷体" panose="02010609060101010101" pitchFamily="49" charset="-122"/>
              </a:rPr>
            </a:fld>
            <a:endParaRPr lang="zh-CN" altLang="en-US" dirty="0">
              <a:latin typeface="Arial" panose="020B0604020202020204" pitchFamily="34" charset="0"/>
              <a:ea typeface="楷体" panose="02010609060101010101" pitchFamily="49" charset="-122"/>
            </a:endParaRPr>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2" Type="http://schemas.openxmlformats.org/officeDocument/2006/relationships/theme" Target="../theme/theme1.xml"/><Relationship Id="rId21" Type="http://schemas.openxmlformats.org/officeDocument/2006/relationships/vmlDrawing" Target="../drawings/vmlDrawing1.vml"/><Relationship Id="rId20" Type="http://schemas.openxmlformats.org/officeDocument/2006/relationships/image" Target="../media/image5.jpeg"/><Relationship Id="rId2" Type="http://schemas.openxmlformats.org/officeDocument/2006/relationships/slideLayout" Target="../slideLayouts/slideLayout2.xml"/><Relationship Id="rId19" Type="http://schemas.openxmlformats.org/officeDocument/2006/relationships/image" Target="../media/image8.jpeg"/><Relationship Id="rId18" Type="http://schemas.openxmlformats.org/officeDocument/2006/relationships/image" Target="../media/image3.jpeg"/><Relationship Id="rId17" Type="http://schemas.openxmlformats.org/officeDocument/2006/relationships/image" Target="../media/image2.jpeg"/><Relationship Id="rId16" Type="http://schemas.openxmlformats.org/officeDocument/2006/relationships/image" Target="../media/image1.jpeg"/><Relationship Id="rId15" Type="http://schemas.openxmlformats.org/officeDocument/2006/relationships/image" Target="../media/image7.png"/><Relationship Id="rId14" Type="http://schemas.openxmlformats.org/officeDocument/2006/relationships/oleObject" Target="../embeddings/oleObject1.bin"/><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aphicFrame>
        <p:nvGraphicFramePr>
          <p:cNvPr id="1026" name="Object 35"/>
          <p:cNvGraphicFramePr>
            <a:graphicFrameLocks noChangeAspect="1"/>
          </p:cNvGraphicFramePr>
          <p:nvPr/>
        </p:nvGraphicFramePr>
        <p:xfrm>
          <a:off x="0" y="0"/>
          <a:ext cx="9144000" cy="1066800"/>
        </p:xfrm>
        <a:graphic>
          <a:graphicData uri="http://schemas.openxmlformats.org/presentationml/2006/ole">
            <mc:AlternateContent xmlns:mc="http://schemas.openxmlformats.org/markup-compatibility/2006">
              <mc:Choice xmlns:v="urn:schemas-microsoft-com:vml" Requires="v">
                <p:oleObj spid="_x0000_s2" name="" r:id="rId14" imgW="13004800" imgH="1612900" progId="Photoshop.Image.6">
                  <p:embed/>
                </p:oleObj>
              </mc:Choice>
              <mc:Fallback>
                <p:oleObj name="" r:id="rId14" imgW="13004800" imgH="1612900" progId="Photoshop.Image.6">
                  <p:embed/>
                  <p:pic>
                    <p:nvPicPr>
                      <p:cNvPr id="0" name="图片 3075"/>
                      <p:cNvPicPr/>
                      <p:nvPr/>
                    </p:nvPicPr>
                    <p:blipFill>
                      <a:blip r:embed="rId15"/>
                      <a:stretch>
                        <a:fillRect/>
                      </a:stretch>
                    </p:blipFill>
                    <p:spPr>
                      <a:xfrm>
                        <a:off x="0" y="0"/>
                        <a:ext cx="9144000" cy="1066800"/>
                      </a:xfrm>
                      <a:prstGeom prst="rect">
                        <a:avLst/>
                      </a:prstGeom>
                      <a:noFill/>
                      <a:ln w="38100">
                        <a:noFill/>
                        <a:miter/>
                      </a:ln>
                    </p:spPr>
                  </p:pic>
                </p:oleObj>
              </mc:Fallback>
            </mc:AlternateContent>
          </a:graphicData>
        </a:graphic>
      </p:graphicFrame>
      <p:sp>
        <p:nvSpPr>
          <p:cNvPr id="1060" name="Freeform 36"/>
          <p:cNvSpPr/>
          <p:nvPr/>
        </p:nvSpPr>
        <p:spPr bwMode="ltGray">
          <a:xfrm>
            <a:off x="0" y="0"/>
            <a:ext cx="9144000" cy="6858000"/>
          </a:xfrm>
          <a:custGeom>
            <a:avLst/>
            <a:gdLst/>
            <a:ahLst/>
            <a:cxnLst>
              <a:cxn ang="0">
                <a:pos x="1488" y="0"/>
              </a:cxn>
              <a:cxn ang="0">
                <a:pos x="564" y="617"/>
              </a:cxn>
              <a:cxn ang="0">
                <a:pos x="0" y="1734"/>
              </a:cxn>
              <a:cxn ang="0">
                <a:pos x="0" y="4320"/>
              </a:cxn>
              <a:cxn ang="0">
                <a:pos x="5760" y="4320"/>
              </a:cxn>
              <a:cxn ang="0">
                <a:pos x="5760" y="0"/>
              </a:cxn>
              <a:cxn ang="0">
                <a:pos x="1488" y="0"/>
              </a:cxn>
            </a:cxnLst>
            <a:rect l="0" t="0" r="r" b="b"/>
            <a:pathLst>
              <a:path w="5760" h="4320">
                <a:moveTo>
                  <a:pt x="1488" y="0"/>
                </a:moveTo>
                <a:cubicBezTo>
                  <a:pt x="1093" y="94"/>
                  <a:pt x="670" y="476"/>
                  <a:pt x="564" y="617"/>
                </a:cubicBezTo>
                <a:cubicBezTo>
                  <a:pt x="458" y="758"/>
                  <a:pt x="94" y="1117"/>
                  <a:pt x="0" y="1734"/>
                </a:cubicBezTo>
                <a:lnTo>
                  <a:pt x="0" y="4320"/>
                </a:lnTo>
                <a:lnTo>
                  <a:pt x="5760" y="4320"/>
                </a:lnTo>
                <a:lnTo>
                  <a:pt x="5760" y="0"/>
                </a:lnTo>
                <a:lnTo>
                  <a:pt x="1488" y="0"/>
                </a:lnTo>
                <a:close/>
              </a:path>
            </a:pathLst>
          </a:custGeom>
          <a:gradFill rotWithShape="1">
            <a:gsLst>
              <a:gs pos="0">
                <a:schemeClr val="accent1">
                  <a:alpha val="39000"/>
                </a:schemeClr>
              </a:gs>
              <a:gs pos="100000">
                <a:schemeClr val="accent1">
                  <a:gamma/>
                  <a:tint val="0"/>
                  <a:invGamma/>
                </a:schemeClr>
              </a:gs>
            </a:gsLst>
            <a:lin ang="2700000" scaled="1"/>
          </a:gradFill>
          <a:ln w="9525">
            <a:noFill/>
            <a:round/>
          </a:ln>
          <a:effec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grpSp>
        <p:nvGrpSpPr>
          <p:cNvPr id="1028" name="Group 37"/>
          <p:cNvGrpSpPr/>
          <p:nvPr/>
        </p:nvGrpSpPr>
        <p:grpSpPr>
          <a:xfrm>
            <a:off x="0" y="914400"/>
            <a:ext cx="9144000" cy="350838"/>
            <a:chOff x="0" y="672"/>
            <a:chExt cx="5760" cy="221"/>
          </a:xfrm>
        </p:grpSpPr>
        <p:sp>
          <p:nvSpPr>
            <p:cNvPr id="3" name="AutoShape 38" descr="06"/>
            <p:cNvSpPr>
              <a:spLocks noChangeArrowheads="1"/>
            </p:cNvSpPr>
            <p:nvPr/>
          </p:nvSpPr>
          <p:spPr bwMode="gray">
            <a:xfrm>
              <a:off x="0" y="674"/>
              <a:ext cx="1443" cy="219"/>
            </a:xfrm>
            <a:prstGeom prst="parallelogram">
              <a:avLst>
                <a:gd name="adj" fmla="val 0"/>
              </a:avLst>
            </a:prstGeom>
            <a:blipFill dpi="0" rotWithShape="1">
              <a:blip r:embed="rId16"/>
              <a:srcRect/>
              <a:stretch>
                <a:fillRect/>
              </a:stretch>
            </a:blipFill>
            <a:ln>
              <a:noFill/>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035" name="AutoShape 39" descr="05"/>
            <p:cNvSpPr>
              <a:spLocks noChangeArrowheads="1"/>
            </p:cNvSpPr>
            <p:nvPr/>
          </p:nvSpPr>
          <p:spPr bwMode="gray">
            <a:xfrm>
              <a:off x="1434" y="674"/>
              <a:ext cx="1446" cy="219"/>
            </a:xfrm>
            <a:prstGeom prst="parallelogram">
              <a:avLst>
                <a:gd name="adj" fmla="val 0"/>
              </a:avLst>
            </a:prstGeom>
            <a:blipFill dpi="0" rotWithShape="1">
              <a:blip r:embed="rId17"/>
              <a:srcRect/>
              <a:stretch>
                <a:fillRect/>
              </a:stretch>
            </a:blipFill>
            <a:ln>
              <a:noFill/>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036" name="AutoShape 40" descr="03"/>
            <p:cNvSpPr>
              <a:spLocks noChangeArrowheads="1"/>
            </p:cNvSpPr>
            <p:nvPr/>
          </p:nvSpPr>
          <p:spPr bwMode="gray">
            <a:xfrm>
              <a:off x="2876" y="674"/>
              <a:ext cx="1449" cy="219"/>
            </a:xfrm>
            <a:prstGeom prst="parallelogram">
              <a:avLst>
                <a:gd name="adj" fmla="val 0"/>
              </a:avLst>
            </a:prstGeom>
            <a:blipFill dpi="0" rotWithShape="1">
              <a:blip r:embed="rId18"/>
              <a:srcRect/>
              <a:stretch>
                <a:fillRect/>
              </a:stretch>
            </a:blipFill>
            <a:ln>
              <a:noFill/>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037" name="AutoShape 41" descr="02"/>
            <p:cNvSpPr>
              <a:spLocks noChangeArrowheads="1"/>
            </p:cNvSpPr>
            <p:nvPr/>
          </p:nvSpPr>
          <p:spPr bwMode="gray">
            <a:xfrm>
              <a:off x="4322" y="672"/>
              <a:ext cx="1438" cy="219"/>
            </a:xfrm>
            <a:prstGeom prst="parallelogram">
              <a:avLst>
                <a:gd name="adj" fmla="val 0"/>
              </a:avLst>
            </a:prstGeom>
            <a:blipFill dpi="0" rotWithShape="1">
              <a:blip r:embed="rId19" cstate="screen"/>
              <a:srcRect/>
              <a:stretch>
                <a:fillRect/>
              </a:stretch>
            </a:blipFill>
            <a:ln>
              <a:noFill/>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grpSp>
      <p:sp>
        <p:nvSpPr>
          <p:cNvPr id="1029" name="Rectangle 3"/>
          <p:cNvSpPr>
            <a:spLocks noGrp="1"/>
          </p:cNvSpPr>
          <p:nvPr>
            <p:ph type="body" idx="1"/>
          </p:nvPr>
        </p:nvSpPr>
        <p:spPr>
          <a:xfrm>
            <a:off x="381000" y="1295400"/>
            <a:ext cx="8305800" cy="4953000"/>
          </a:xfrm>
          <a:prstGeom prst="rect">
            <a:avLst/>
          </a:prstGeom>
          <a:noFill/>
          <a:ln w="9525">
            <a:noFill/>
          </a:ln>
        </p:spPr>
        <p:txBody>
          <a:bodyPr/>
          <a:lstStyle/>
          <a:p>
            <a:pPr lvl="0"/>
            <a:r>
              <a:rPr lang="en-US" altLang="zh-CN" dirty="0"/>
              <a:t>Click to edit Master text styles</a:t>
            </a:r>
            <a:endParaRPr lang="en-US" altLang="zh-CN" dirty="0"/>
          </a:p>
          <a:p>
            <a:pPr lvl="1"/>
            <a:r>
              <a:rPr lang="en-US" altLang="zh-CN" dirty="0"/>
              <a:t>Second level</a:t>
            </a:r>
            <a:endParaRPr lang="en-US" altLang="zh-CN" dirty="0"/>
          </a:p>
          <a:p>
            <a:pPr lvl="2"/>
            <a:r>
              <a:rPr lang="en-US" altLang="zh-CN" dirty="0"/>
              <a:t>Third level</a:t>
            </a:r>
            <a:endParaRPr lang="en-US" altLang="zh-CN" dirty="0"/>
          </a:p>
          <a:p>
            <a:pPr lvl="3"/>
            <a:r>
              <a:rPr lang="en-US" altLang="zh-CN" dirty="0"/>
              <a:t>Fourth level</a:t>
            </a:r>
            <a:endParaRPr lang="en-US" altLang="zh-CN" dirty="0"/>
          </a:p>
          <a:p>
            <a:pPr lvl="4"/>
            <a:r>
              <a:rPr lang="en-US" altLang="zh-CN" dirty="0"/>
              <a:t>Fifth level</a:t>
            </a:r>
            <a:endParaRPr lang="en-US" altLang="zh-CN" dirty="0"/>
          </a:p>
        </p:txBody>
      </p:sp>
      <p:sp>
        <p:nvSpPr>
          <p:cNvPr id="1030" name="Rectangle 2"/>
          <p:cNvSpPr>
            <a:spLocks noGrp="1"/>
          </p:cNvSpPr>
          <p:nvPr>
            <p:ph type="title"/>
          </p:nvPr>
        </p:nvSpPr>
        <p:spPr>
          <a:xfrm>
            <a:off x="457200" y="228600"/>
            <a:ext cx="8229600" cy="563563"/>
          </a:xfrm>
          <a:prstGeom prst="rect">
            <a:avLst/>
          </a:prstGeom>
          <a:noFill/>
          <a:ln w="9525">
            <a:noFill/>
          </a:ln>
        </p:spPr>
        <p:txBody>
          <a:bodyPr anchor="ctr"/>
          <a:lstStyle/>
          <a:p>
            <a:pPr lvl="0"/>
            <a:r>
              <a:rPr lang="en-US" altLang="zh-CN" dirty="0"/>
              <a:t>Click to edit Master title style</a:t>
            </a:r>
            <a:endParaRPr lang="en-US" altLang="zh-CN" dirty="0"/>
          </a:p>
        </p:txBody>
      </p:sp>
      <p:sp>
        <p:nvSpPr>
          <p:cNvPr id="4" name="TextBox 13"/>
          <p:cNvSpPr txBox="1">
            <a:spLocks noChangeArrowheads="1"/>
          </p:cNvSpPr>
          <p:nvPr/>
        </p:nvSpPr>
        <p:spPr bwMode="auto">
          <a:xfrm>
            <a:off x="4419600" y="6400800"/>
            <a:ext cx="4267200" cy="307975"/>
          </a:xfrm>
          <a:prstGeom prst="rect">
            <a:avLst/>
          </a:prstGeom>
          <a:noFill/>
          <a:ln>
            <a:noFill/>
          </a:ln>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defRPr/>
            </a:pPr>
            <a:r>
              <a:rPr kumimoji="0" lang="en-US" altLang="zh-CN" sz="1400" b="0" i="1" u="none" strike="noStrike" kern="1200" cap="none" spc="0" normalizeH="0" baseline="0" noProof="0">
                <a:ln>
                  <a:noFill/>
                </a:ln>
                <a:solidFill>
                  <a:schemeClr val="tx1"/>
                </a:solidFill>
                <a:effectLst/>
                <a:uLnTx/>
                <a:uFillTx/>
                <a:latin typeface="Baskerville Old Face" panose="02020602080505020303" pitchFamily="18" charset="0"/>
                <a:ea typeface="华文楷体" panose="02010600040101010101" pitchFamily="2" charset="-122"/>
                <a:cs typeface="+mn-cs"/>
              </a:rPr>
              <a:t>Institute of Machine Intelligence, Nankai University</a:t>
            </a:r>
            <a:endParaRPr kumimoji="0" lang="zh-CN" altLang="en-US" sz="1400" b="0" i="1" u="none" strike="noStrike" kern="1200" cap="none" spc="0" normalizeH="0" baseline="0" noProof="0">
              <a:ln>
                <a:noFill/>
              </a:ln>
              <a:solidFill>
                <a:schemeClr val="tx1"/>
              </a:solidFill>
              <a:effectLst/>
              <a:uLnTx/>
              <a:uFillTx/>
              <a:latin typeface="Baskerville Old Face" panose="02020602080505020303" pitchFamily="18" charset="0"/>
              <a:ea typeface="华文楷体" panose="02010600040101010101" pitchFamily="2" charset="-122"/>
              <a:cs typeface="+mn-cs"/>
            </a:endParaRPr>
          </a:p>
        </p:txBody>
      </p:sp>
      <p:pic>
        <p:nvPicPr>
          <p:cNvPr id="1033" name="Picture 6" descr="imiweblogo4副本2"/>
          <p:cNvPicPr>
            <a:picLocks noChangeAspect="1"/>
          </p:cNvPicPr>
          <p:nvPr userDrawn="1"/>
        </p:nvPicPr>
        <p:blipFill>
          <a:blip r:embed="rId20"/>
          <a:stretch>
            <a:fillRect/>
          </a:stretch>
        </p:blipFill>
        <p:spPr>
          <a:xfrm>
            <a:off x="0" y="152400"/>
            <a:ext cx="1057275" cy="635000"/>
          </a:xfrm>
          <a:prstGeom prst="rect">
            <a:avLst/>
          </a:prstGeom>
          <a:noFill/>
          <a:ln w="9525">
            <a:noFill/>
          </a:ln>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hf sldNum="0" hdr="0" ftr="0" dt="0"/>
  <p:txStyles>
    <p:titleStyle>
      <a:lvl1pPr algn="ctr" rtl="0" eaLnBrk="0" fontAlgn="base" hangingPunct="0">
        <a:spcBef>
          <a:spcPct val="0"/>
        </a:spcBef>
        <a:spcAft>
          <a:spcPct val="0"/>
        </a:spcAft>
        <a:defRPr sz="3200" b="1">
          <a:solidFill>
            <a:schemeClr val="tx2"/>
          </a:solidFill>
          <a:latin typeface="+mj-lt"/>
          <a:ea typeface="+mj-ea"/>
          <a:cs typeface="+mj-cs"/>
        </a:defRPr>
      </a:lvl1pPr>
      <a:lvl2pPr algn="ctr" rtl="0" eaLnBrk="0" fontAlgn="base" hangingPunct="0">
        <a:spcBef>
          <a:spcPct val="0"/>
        </a:spcBef>
        <a:spcAft>
          <a:spcPct val="0"/>
        </a:spcAft>
        <a:defRPr sz="3200" b="1">
          <a:solidFill>
            <a:schemeClr val="tx2"/>
          </a:solidFill>
          <a:latin typeface="Arial" panose="020B0604020202020204" pitchFamily="34" charset="0"/>
        </a:defRPr>
      </a:lvl2pPr>
      <a:lvl3pPr algn="ctr" rtl="0" eaLnBrk="0" fontAlgn="base" hangingPunct="0">
        <a:spcBef>
          <a:spcPct val="0"/>
        </a:spcBef>
        <a:spcAft>
          <a:spcPct val="0"/>
        </a:spcAft>
        <a:defRPr sz="3200" b="1">
          <a:solidFill>
            <a:schemeClr val="tx2"/>
          </a:solidFill>
          <a:latin typeface="Arial" panose="020B0604020202020204" pitchFamily="34" charset="0"/>
        </a:defRPr>
      </a:lvl3pPr>
      <a:lvl4pPr algn="ctr" rtl="0" eaLnBrk="0" fontAlgn="base" hangingPunct="0">
        <a:spcBef>
          <a:spcPct val="0"/>
        </a:spcBef>
        <a:spcAft>
          <a:spcPct val="0"/>
        </a:spcAft>
        <a:defRPr sz="3200" b="1">
          <a:solidFill>
            <a:schemeClr val="tx2"/>
          </a:solidFill>
          <a:latin typeface="Arial" panose="020B0604020202020204" pitchFamily="34" charset="0"/>
        </a:defRPr>
      </a:lvl4pPr>
      <a:lvl5pPr algn="ctr" rtl="0" eaLnBrk="0" fontAlgn="base" hangingPunct="0">
        <a:spcBef>
          <a:spcPct val="0"/>
        </a:spcBef>
        <a:spcAft>
          <a:spcPct val="0"/>
        </a:spcAft>
        <a:defRPr sz="3200" b="1">
          <a:solidFill>
            <a:schemeClr val="tx2"/>
          </a:solidFill>
          <a:latin typeface="Arial" panose="020B0604020202020204" pitchFamily="34" charset="0"/>
        </a:defRPr>
      </a:lvl5pPr>
      <a:lvl6pPr marL="457200" algn="ctr" rtl="0" fontAlgn="base">
        <a:spcBef>
          <a:spcPct val="0"/>
        </a:spcBef>
        <a:spcAft>
          <a:spcPct val="0"/>
        </a:spcAft>
        <a:defRPr sz="3200" b="1">
          <a:solidFill>
            <a:schemeClr val="tx2"/>
          </a:solidFill>
          <a:latin typeface="Arial" panose="020B0604020202020204" pitchFamily="34" charset="0"/>
        </a:defRPr>
      </a:lvl6pPr>
      <a:lvl7pPr marL="914400" algn="ctr" rtl="0" fontAlgn="base">
        <a:spcBef>
          <a:spcPct val="0"/>
        </a:spcBef>
        <a:spcAft>
          <a:spcPct val="0"/>
        </a:spcAft>
        <a:defRPr sz="3200" b="1">
          <a:solidFill>
            <a:schemeClr val="tx2"/>
          </a:solidFill>
          <a:latin typeface="Arial" panose="020B0604020202020204" pitchFamily="34" charset="0"/>
        </a:defRPr>
      </a:lvl7pPr>
      <a:lvl8pPr marL="1371600" algn="ctr" rtl="0" fontAlgn="base">
        <a:spcBef>
          <a:spcPct val="0"/>
        </a:spcBef>
        <a:spcAft>
          <a:spcPct val="0"/>
        </a:spcAft>
        <a:defRPr sz="3200" b="1">
          <a:solidFill>
            <a:schemeClr val="tx2"/>
          </a:solidFill>
          <a:latin typeface="Arial" panose="020B0604020202020204" pitchFamily="34" charset="0"/>
        </a:defRPr>
      </a:lvl8pPr>
      <a:lvl9pPr marL="1828800" algn="ctr" rtl="0" fontAlgn="base">
        <a:spcBef>
          <a:spcPct val="0"/>
        </a:spcBef>
        <a:spcAft>
          <a:spcPct val="0"/>
        </a:spcAft>
        <a:defRPr sz="3200" b="1">
          <a:solidFill>
            <a:schemeClr val="tx2"/>
          </a:solidFill>
          <a:latin typeface="Arial" panose="020B0604020202020204" pitchFamily="34" charset="0"/>
        </a:defRPr>
      </a:lvl9pPr>
    </p:titleStyle>
    <p:bodyStyle>
      <a:lvl1pPr marL="342900" indent="-342900" algn="l" rtl="0" eaLnBrk="0" fontAlgn="base" hangingPunct="0">
        <a:spcBef>
          <a:spcPct val="20000"/>
        </a:spcBef>
        <a:spcAft>
          <a:spcPct val="0"/>
        </a:spcAft>
        <a:buClr>
          <a:schemeClr val="tx2"/>
        </a:buClr>
        <a:buFont typeface="Wingdings" panose="05000000000000000000" pitchFamily="2" charset="2"/>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1"/>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lr>
          <a:schemeClr val="tx1"/>
        </a:buClr>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file:///E:\New%20Idea\&#21333;&#29255;&#26426;&#20844;&#20849;&#23454;&#39564;&#23460;\&#23884;&#20837;&#24335;Internet&#25216;&#26415;&#21450;&#20854;&#24320;&#21457;.files\emware1.jpg" TargetMode="External"/><Relationship Id="rId1" Type="http://schemas.openxmlformats.org/officeDocument/2006/relationships/image" Target="../media/image9.jpe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1.jpeg"/><Relationship Id="rId1" Type="http://schemas.openxmlformats.org/officeDocument/2006/relationships/image" Target="../media/image10.jpe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openxmlformats.org/officeDocument/2006/relationships/image" Target="../media/image16.jpeg"/><Relationship Id="rId4" Type="http://schemas.openxmlformats.org/officeDocument/2006/relationships/image" Target="../media/image15.jpeg"/><Relationship Id="rId3" Type="http://schemas.openxmlformats.org/officeDocument/2006/relationships/image" Target="../media/image14.jpeg"/><Relationship Id="rId2" Type="http://schemas.openxmlformats.org/officeDocument/2006/relationships/image" Target="../media/image13.jpeg"/><Relationship Id="rId1" Type="http://schemas.openxmlformats.org/officeDocument/2006/relationships/image" Target="../media/image12.jpeg"/></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7.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7" Type="http://schemas.openxmlformats.org/officeDocument/2006/relationships/slideLayout" Target="../slideLayouts/slideLayout2.xml"/><Relationship Id="rId6" Type="http://schemas.openxmlformats.org/officeDocument/2006/relationships/image" Target="../media/image23.jpeg"/><Relationship Id="rId5" Type="http://schemas.openxmlformats.org/officeDocument/2006/relationships/image" Target="../media/image22.png"/><Relationship Id="rId4" Type="http://schemas.openxmlformats.org/officeDocument/2006/relationships/image" Target="../media/image21.jpeg"/><Relationship Id="rId3" Type="http://schemas.openxmlformats.org/officeDocument/2006/relationships/image" Target="../media/image20.jpeg"/><Relationship Id="rId2" Type="http://schemas.openxmlformats.org/officeDocument/2006/relationships/image" Target="../media/image19.jpeg"/><Relationship Id="rId1" Type="http://schemas.openxmlformats.org/officeDocument/2006/relationships/image" Target="../media/image18.jpe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slide" Target="slide50.xml"/><Relationship Id="rId2" Type="http://schemas.openxmlformats.org/officeDocument/2006/relationships/slide" Target="slide51.xml"/><Relationship Id="rId1" Type="http://schemas.openxmlformats.org/officeDocument/2006/relationships/slide" Target="slide5.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4.pn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9" Type="http://schemas.openxmlformats.org/officeDocument/2006/relationships/image" Target="../media/image33.png"/><Relationship Id="rId8" Type="http://schemas.openxmlformats.org/officeDocument/2006/relationships/image" Target="../media/image32.wmf"/><Relationship Id="rId7" Type="http://schemas.openxmlformats.org/officeDocument/2006/relationships/image" Target="../media/image31.wmf"/><Relationship Id="rId6" Type="http://schemas.openxmlformats.org/officeDocument/2006/relationships/image" Target="../media/image30.wmf"/><Relationship Id="rId5" Type="http://schemas.openxmlformats.org/officeDocument/2006/relationships/image" Target="../media/image29.wmf"/><Relationship Id="rId4" Type="http://schemas.openxmlformats.org/officeDocument/2006/relationships/image" Target="../media/image28.wmf"/><Relationship Id="rId3" Type="http://schemas.openxmlformats.org/officeDocument/2006/relationships/image" Target="../media/image27.png"/><Relationship Id="rId22" Type="http://schemas.openxmlformats.org/officeDocument/2006/relationships/slideLayout" Target="../slideLayouts/slideLayout2.xml"/><Relationship Id="rId21" Type="http://schemas.openxmlformats.org/officeDocument/2006/relationships/image" Target="../media/image45.wmf"/><Relationship Id="rId20" Type="http://schemas.openxmlformats.org/officeDocument/2006/relationships/image" Target="../media/image44.wmf"/><Relationship Id="rId2" Type="http://schemas.openxmlformats.org/officeDocument/2006/relationships/image" Target="../media/image26.png"/><Relationship Id="rId19" Type="http://schemas.openxmlformats.org/officeDocument/2006/relationships/image" Target="../media/image43.wmf"/><Relationship Id="rId18" Type="http://schemas.openxmlformats.org/officeDocument/2006/relationships/image" Target="../media/image42.wmf"/><Relationship Id="rId17" Type="http://schemas.openxmlformats.org/officeDocument/2006/relationships/image" Target="../media/image41.wmf"/><Relationship Id="rId16" Type="http://schemas.openxmlformats.org/officeDocument/2006/relationships/image" Target="../media/image40.wmf"/><Relationship Id="rId15" Type="http://schemas.openxmlformats.org/officeDocument/2006/relationships/image" Target="../media/image39.wmf"/><Relationship Id="rId14" Type="http://schemas.openxmlformats.org/officeDocument/2006/relationships/image" Target="../media/image38.wmf"/><Relationship Id="rId13" Type="http://schemas.openxmlformats.org/officeDocument/2006/relationships/image" Target="../media/image37.wmf"/><Relationship Id="rId12" Type="http://schemas.openxmlformats.org/officeDocument/2006/relationships/image" Target="../media/image36.wmf"/><Relationship Id="rId11" Type="http://schemas.openxmlformats.org/officeDocument/2006/relationships/image" Target="../media/image35.wmf"/><Relationship Id="rId10" Type="http://schemas.openxmlformats.org/officeDocument/2006/relationships/image" Target="../media/image34.png"/><Relationship Id="rId1" Type="http://schemas.openxmlformats.org/officeDocument/2006/relationships/image" Target="../media/image25.wmf"/></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9" Type="http://schemas.openxmlformats.org/officeDocument/2006/relationships/image" Target="../media/image33.png"/><Relationship Id="rId8" Type="http://schemas.openxmlformats.org/officeDocument/2006/relationships/image" Target="../media/image32.wmf"/><Relationship Id="rId7" Type="http://schemas.openxmlformats.org/officeDocument/2006/relationships/image" Target="../media/image31.wmf"/><Relationship Id="rId6" Type="http://schemas.openxmlformats.org/officeDocument/2006/relationships/image" Target="../media/image30.wmf"/><Relationship Id="rId5" Type="http://schemas.openxmlformats.org/officeDocument/2006/relationships/image" Target="../media/image29.wmf"/><Relationship Id="rId4" Type="http://schemas.openxmlformats.org/officeDocument/2006/relationships/image" Target="../media/image28.wmf"/><Relationship Id="rId3" Type="http://schemas.openxmlformats.org/officeDocument/2006/relationships/image" Target="../media/image27.png"/><Relationship Id="rId23" Type="http://schemas.openxmlformats.org/officeDocument/2006/relationships/slideLayout" Target="../slideLayouts/slideLayout2.xml"/><Relationship Id="rId22" Type="http://schemas.openxmlformats.org/officeDocument/2006/relationships/image" Target="../media/image46.png"/><Relationship Id="rId21" Type="http://schemas.openxmlformats.org/officeDocument/2006/relationships/image" Target="../media/image45.wmf"/><Relationship Id="rId20" Type="http://schemas.openxmlformats.org/officeDocument/2006/relationships/image" Target="../media/image44.wmf"/><Relationship Id="rId2" Type="http://schemas.openxmlformats.org/officeDocument/2006/relationships/image" Target="../media/image26.png"/><Relationship Id="rId19" Type="http://schemas.openxmlformats.org/officeDocument/2006/relationships/image" Target="../media/image43.wmf"/><Relationship Id="rId18" Type="http://schemas.openxmlformats.org/officeDocument/2006/relationships/image" Target="../media/image42.wmf"/><Relationship Id="rId17" Type="http://schemas.openxmlformats.org/officeDocument/2006/relationships/image" Target="../media/image41.wmf"/><Relationship Id="rId16" Type="http://schemas.openxmlformats.org/officeDocument/2006/relationships/image" Target="../media/image40.wmf"/><Relationship Id="rId15" Type="http://schemas.openxmlformats.org/officeDocument/2006/relationships/image" Target="../media/image39.wmf"/><Relationship Id="rId14" Type="http://schemas.openxmlformats.org/officeDocument/2006/relationships/image" Target="../media/image38.wmf"/><Relationship Id="rId13" Type="http://schemas.openxmlformats.org/officeDocument/2006/relationships/image" Target="../media/image37.wmf"/><Relationship Id="rId12" Type="http://schemas.openxmlformats.org/officeDocument/2006/relationships/image" Target="../media/image36.wmf"/><Relationship Id="rId11" Type="http://schemas.openxmlformats.org/officeDocument/2006/relationships/image" Target="../media/image35.wmf"/><Relationship Id="rId10" Type="http://schemas.openxmlformats.org/officeDocument/2006/relationships/image" Target="../media/image34.png"/><Relationship Id="rId1" Type="http://schemas.openxmlformats.org/officeDocument/2006/relationships/image" Target="../media/image25.wmf"/></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7.png"/></Relationships>
</file>

<file path=ppt/slides/_rels/slide81.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2.xml"/><Relationship Id="rId1" Type="http://schemas.openxmlformats.org/officeDocument/2006/relationships/image" Target="../media/image48.png"/></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Rectangle 2"/>
          <p:cNvSpPr>
            <a:spLocks noGrp="1" noChangeArrowheads="1"/>
          </p:cNvSpPr>
          <p:nvPr>
            <p:ph type="ctrTitle"/>
          </p:nvPr>
        </p:nvSpPr>
        <p:spPr>
          <a:xfrm>
            <a:off x="685800" y="1371600"/>
            <a:ext cx="6858000" cy="682625"/>
          </a:xfrm>
        </p:spPr>
        <p:txBody>
          <a:bodyPr/>
          <a:lstStyle/>
          <a:p>
            <a:r>
              <a:rPr lang="zh-CN" altLang="en-US" sz="4800" dirty="0">
                <a:latin typeface="华文新魏" panose="02010800040101010101" pitchFamily="2" charset="-122"/>
                <a:ea typeface="华文新魏" panose="02010800040101010101" pitchFamily="2" charset="-122"/>
              </a:rPr>
              <a:t>高级语言程序设计</a:t>
            </a:r>
            <a:endParaRPr lang="en-US" altLang="zh-CN" sz="4800" dirty="0">
              <a:latin typeface="华文新魏" panose="02010800040101010101" pitchFamily="2" charset="-122"/>
              <a:ea typeface="华文新魏" panose="02010800040101010101" pitchFamily="2" charset="-122"/>
            </a:endParaRPr>
          </a:p>
        </p:txBody>
      </p:sp>
      <p:sp>
        <p:nvSpPr>
          <p:cNvPr id="2054" name="Text Box 6"/>
          <p:cNvSpPr txBox="1">
            <a:spLocks noChangeArrowheads="1"/>
          </p:cNvSpPr>
          <p:nvPr/>
        </p:nvSpPr>
        <p:spPr bwMode="auto">
          <a:xfrm>
            <a:off x="1219200" y="2362200"/>
            <a:ext cx="4716016" cy="19389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ctr"/>
            <a:r>
              <a:rPr lang="zh-CN" altLang="en-US" sz="4000" b="1" dirty="0">
                <a:latin typeface="华文新魏" panose="02010800040101010101" pitchFamily="2" charset="-122"/>
                <a:ea typeface="华文新魏" panose="02010800040101010101" pitchFamily="2" charset="-122"/>
              </a:rPr>
              <a:t>许静</a:t>
            </a:r>
            <a:endParaRPr lang="en-US" altLang="zh-CN" sz="4000" b="1" dirty="0">
              <a:latin typeface="华文新魏" panose="02010800040101010101" pitchFamily="2" charset="-122"/>
              <a:ea typeface="华文新魏" panose="02010800040101010101" pitchFamily="2" charset="-122"/>
            </a:endParaRPr>
          </a:p>
          <a:p>
            <a:pPr algn="ctr"/>
            <a:r>
              <a:rPr lang="zh-CN" altLang="en-US" sz="4000" b="1" dirty="0">
                <a:latin typeface="华文新魏" panose="02010800040101010101" pitchFamily="2" charset="-122"/>
                <a:ea typeface="华文新魏" panose="02010800040101010101" pitchFamily="2" charset="-122"/>
              </a:rPr>
              <a:t>人工智能学院</a:t>
            </a:r>
            <a:endParaRPr lang="en-US" altLang="zh-CN" sz="4000" b="1" dirty="0">
              <a:latin typeface="华文新魏" panose="02010800040101010101" pitchFamily="2" charset="-122"/>
              <a:ea typeface="华文新魏" panose="02010800040101010101" pitchFamily="2" charset="-122"/>
            </a:endParaRPr>
          </a:p>
          <a:p>
            <a:pPr algn="ctr"/>
            <a:r>
              <a:rPr lang="zh-CN" altLang="en-US" sz="4000" b="1" dirty="0">
                <a:latin typeface="华文新魏" panose="02010800040101010101" pitchFamily="2" charset="-122"/>
                <a:ea typeface="华文新魏" panose="02010800040101010101" pitchFamily="2" charset="-122"/>
              </a:rPr>
              <a:t>机器智能所</a:t>
            </a:r>
            <a:endParaRPr lang="en-US" altLang="zh-CN" sz="4000" b="1" dirty="0">
              <a:latin typeface="华文新魏" panose="02010800040101010101" pitchFamily="2" charset="-122"/>
              <a:ea typeface="华文新魏" panose="02010800040101010101" pitchFamily="2" charset="-122"/>
            </a:endParaRPr>
          </a:p>
        </p:txBody>
      </p:sp>
      <p:sp>
        <p:nvSpPr>
          <p:cNvPr id="2" name="TextBox 1"/>
          <p:cNvSpPr txBox="1"/>
          <p:nvPr/>
        </p:nvSpPr>
        <p:spPr>
          <a:xfrm>
            <a:off x="4419600" y="5181600"/>
            <a:ext cx="4267200" cy="954107"/>
          </a:xfrm>
          <a:prstGeom prst="rect">
            <a:avLst/>
          </a:prstGeom>
          <a:noFill/>
        </p:spPr>
        <p:txBody>
          <a:bodyPr wrap="square" rtlCol="0">
            <a:spAutoFit/>
          </a:bodyPr>
          <a:lstStyle/>
          <a:p>
            <a:r>
              <a:rPr lang="en-US" altLang="zh-CN" sz="2800" dirty="0"/>
              <a:t>13920892351</a:t>
            </a:r>
            <a:endParaRPr lang="en-US" altLang="zh-CN" sz="2800" dirty="0"/>
          </a:p>
          <a:p>
            <a:r>
              <a:rPr lang="zh-CN" altLang="en-US" sz="2800" dirty="0"/>
              <a:t>人工智能学院南楼</a:t>
            </a:r>
            <a:r>
              <a:rPr lang="en-US" altLang="zh-CN" sz="2800" dirty="0"/>
              <a:t>401</a:t>
            </a:r>
            <a:endParaRPr lang="zh-CN" altLang="en-US" sz="2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dirty="0"/>
          </a:p>
        </p:txBody>
      </p:sp>
      <p:sp>
        <p:nvSpPr>
          <p:cNvPr id="3" name="内容占位符 2"/>
          <p:cNvSpPr>
            <a:spLocks noGrp="1"/>
          </p:cNvSpPr>
          <p:nvPr>
            <p:ph idx="1"/>
          </p:nvPr>
        </p:nvSpPr>
        <p:spPr/>
        <p:txBody>
          <a:bodyPr/>
          <a:lstStyle/>
          <a:p>
            <a:r>
              <a:rPr lang="zh-CN" altLang="en-US" dirty="0">
                <a:latin typeface="华文楷体" panose="02010600040101010101" pitchFamily="2" charset="-122"/>
                <a:ea typeface="华文楷体" panose="02010600040101010101" pitchFamily="2" charset="-122"/>
              </a:rPr>
              <a:t>问题</a:t>
            </a:r>
            <a:r>
              <a:rPr lang="en-US" altLang="zh-CN" dirty="0">
                <a:latin typeface="华文楷体" panose="02010600040101010101" pitchFamily="2" charset="-122"/>
                <a:ea typeface="华文楷体" panose="02010600040101010101" pitchFamily="2" charset="-122"/>
              </a:rPr>
              <a:t>1</a:t>
            </a:r>
            <a:r>
              <a:rPr lang="zh-CN" altLang="en-US" dirty="0">
                <a:latin typeface="华文楷体" panose="02010600040101010101" pitchFamily="2" charset="-122"/>
                <a:ea typeface="华文楷体" panose="02010600040101010101" pitchFamily="2" charset="-122"/>
              </a:rPr>
              <a:t>：为什么要学习编程</a:t>
            </a:r>
            <a:endParaRPr lang="en-US" altLang="zh-CN" dirty="0">
              <a:latin typeface="华文楷体" panose="02010600040101010101" pitchFamily="2" charset="-122"/>
              <a:ea typeface="华文楷体" panose="02010600040101010101" pitchFamily="2" charset="-122"/>
            </a:endParaRPr>
          </a:p>
          <a:p>
            <a:pPr lvl="1"/>
            <a:r>
              <a:rPr lang="zh-CN" altLang="en-US" dirty="0">
                <a:latin typeface="华文楷体" panose="02010600040101010101" pitchFamily="2" charset="-122"/>
                <a:ea typeface="华文楷体" panose="02010600040101010101" pitchFamily="2" charset="-122"/>
              </a:rPr>
              <a:t>人工智能：也称作机器智能，是指由人工制造出来的系统所表现出来的智能。通常人工智能是指通过计算机实现的智能</a:t>
            </a:r>
            <a:endParaRPr lang="en-US" altLang="zh-CN" dirty="0">
              <a:latin typeface="华文楷体" panose="02010600040101010101" pitchFamily="2" charset="-122"/>
              <a:ea typeface="华文楷体" panose="02010600040101010101" pitchFamily="2" charset="-122"/>
            </a:endParaRPr>
          </a:p>
          <a:p>
            <a:endParaRPr lang="en-US" altLang="zh-CN" dirty="0">
              <a:latin typeface="华文楷体" panose="02010600040101010101" pitchFamily="2" charset="-122"/>
              <a:ea typeface="华文楷体" panose="02010600040101010101" pitchFamily="2" charset="-122"/>
            </a:endParaRPr>
          </a:p>
          <a:p>
            <a:endParaRPr lang="en-US" altLang="zh-CN" dirty="0">
              <a:latin typeface="华文楷体" panose="02010600040101010101" pitchFamily="2" charset="-122"/>
              <a:ea typeface="华文楷体" panose="02010600040101010101" pitchFamily="2" charset="-122"/>
            </a:endParaRPr>
          </a:p>
          <a:p>
            <a:r>
              <a:rPr lang="zh-CN" altLang="en-US" dirty="0">
                <a:latin typeface="华文楷体" panose="02010600040101010101" pitchFamily="2" charset="-122"/>
                <a:ea typeface="华文楷体" panose="02010600040101010101" pitchFamily="2" charset="-122"/>
              </a:rPr>
              <a:t>问题</a:t>
            </a:r>
            <a:r>
              <a:rPr lang="en-US" altLang="zh-CN" dirty="0">
                <a:latin typeface="华文楷体" panose="02010600040101010101" pitchFamily="2" charset="-122"/>
                <a:ea typeface="华文楷体" panose="02010600040101010101" pitchFamily="2" charset="-122"/>
              </a:rPr>
              <a:t>2</a:t>
            </a:r>
            <a:r>
              <a:rPr lang="zh-CN" altLang="en-US" dirty="0">
                <a:latin typeface="华文楷体" panose="02010600040101010101" pitchFamily="2" charset="-122"/>
                <a:ea typeface="华文楷体" panose="02010600040101010101" pitchFamily="2" charset="-122"/>
              </a:rPr>
              <a:t>：为什么学习</a:t>
            </a:r>
            <a:r>
              <a:rPr lang="en-US" altLang="zh-CN" dirty="0">
                <a:latin typeface="华文楷体" panose="02010600040101010101" pitchFamily="2" charset="-122"/>
                <a:ea typeface="华文楷体" panose="02010600040101010101" pitchFamily="2" charset="-122"/>
              </a:rPr>
              <a:t>C++</a:t>
            </a:r>
            <a:endParaRPr lang="en-US" altLang="zh-CN" dirty="0">
              <a:latin typeface="华文楷体" panose="02010600040101010101" pitchFamily="2" charset="-122"/>
              <a:ea typeface="华文楷体" panose="02010600040101010101" pitchFamily="2" charset="-122"/>
            </a:endParaRPr>
          </a:p>
          <a:p>
            <a:pPr lvl="1"/>
            <a:endParaRPr lang="zh-CN" alt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a:xfrm>
            <a:off x="457200" y="0"/>
            <a:ext cx="8229600" cy="914400"/>
          </a:xfrm>
        </p:spPr>
        <p:txBody>
          <a:bodyPr/>
          <a:lstStyle/>
          <a:p>
            <a:pPr eaLnBrk="1" hangingPunct="1"/>
            <a:r>
              <a:rPr lang="zh-CN" altLang="en-US">
                <a:ea typeface="宋体" panose="02010600030101010101" pitchFamily="2" charset="-122"/>
              </a:rPr>
              <a:t>无处不在的软件</a:t>
            </a:r>
            <a:endParaRPr lang="en-US" altLang="zh-CN">
              <a:ea typeface="宋体" panose="02010600030101010101" pitchFamily="2" charset="-122"/>
            </a:endParaRPr>
          </a:p>
        </p:txBody>
      </p:sp>
      <p:sp>
        <p:nvSpPr>
          <p:cNvPr id="4099" name="Rectangle 3"/>
          <p:cNvSpPr>
            <a:spLocks noGrp="1" noChangeArrowheads="1"/>
          </p:cNvSpPr>
          <p:nvPr>
            <p:ph type="body" idx="1"/>
          </p:nvPr>
        </p:nvSpPr>
        <p:spPr/>
        <p:txBody>
          <a:bodyPr/>
          <a:lstStyle/>
          <a:p>
            <a:pPr eaLnBrk="1" hangingPunct="1"/>
            <a:endParaRPr lang="zh-CN" altLang="en-US">
              <a:ea typeface="宋体" panose="02010600030101010101" pitchFamily="2" charset="-122"/>
            </a:endParaRPr>
          </a:p>
        </p:txBody>
      </p:sp>
      <p:pic>
        <p:nvPicPr>
          <p:cNvPr id="4100" name="Picture 4"/>
          <p:cNvPicPr>
            <a:picLocks noChangeAspect="1" noChangeArrowheads="1"/>
          </p:cNvPicPr>
          <p:nvPr/>
        </p:nvPicPr>
        <p:blipFill>
          <a:blip r:embed="rId1" r:link="rId2">
            <a:extLst>
              <a:ext uri="{28A0092B-C50C-407E-A947-70E740481C1C}">
                <a14:useLocalDpi xmlns:a14="http://schemas.microsoft.com/office/drawing/2010/main" val="0"/>
              </a:ext>
            </a:extLst>
          </a:blip>
          <a:srcRect/>
          <a:stretch>
            <a:fillRect/>
          </a:stretch>
        </p:blipFill>
        <p:spPr bwMode="auto">
          <a:xfrm>
            <a:off x="873512" y="1295400"/>
            <a:ext cx="7162800" cy="4959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dirty="0"/>
              <a:t>课程简介</a:t>
            </a:r>
            <a:endParaRPr kumimoji="1" lang="zh-CN" altLang="en-US" dirty="0"/>
          </a:p>
        </p:txBody>
      </p:sp>
      <p:sp>
        <p:nvSpPr>
          <p:cNvPr id="3" name="内容占位符 2"/>
          <p:cNvSpPr>
            <a:spLocks noGrp="1"/>
          </p:cNvSpPr>
          <p:nvPr>
            <p:ph idx="1"/>
          </p:nvPr>
        </p:nvSpPr>
        <p:spPr>
          <a:xfrm>
            <a:off x="251520" y="1241425"/>
            <a:ext cx="8892480" cy="5248275"/>
          </a:xfrm>
        </p:spPr>
        <p:txBody>
          <a:bodyPr/>
          <a:lstStyle/>
          <a:p>
            <a:r>
              <a:rPr kumimoji="1" lang="zh-CN" altLang="en-US" dirty="0"/>
              <a:t>课程名称</a:t>
            </a:r>
            <a:endParaRPr kumimoji="1" lang="en-US" altLang="zh-CN" dirty="0"/>
          </a:p>
          <a:p>
            <a:pPr lvl="1"/>
            <a:r>
              <a:rPr kumimoji="1" lang="zh-CN" altLang="en-US" sz="2400" dirty="0"/>
              <a:t>高级语言程序设计</a:t>
            </a:r>
            <a:endParaRPr kumimoji="1" lang="en-US" altLang="zh-CN" sz="2400" dirty="0"/>
          </a:p>
          <a:p>
            <a:r>
              <a:rPr kumimoji="1" lang="zh-CN" altLang="en-US" dirty="0"/>
              <a:t>教学对象</a:t>
            </a:r>
            <a:endParaRPr kumimoji="1" lang="en-US" altLang="zh-CN" dirty="0"/>
          </a:p>
          <a:p>
            <a:pPr lvl="1"/>
            <a:r>
              <a:rPr kumimoji="1" lang="zh-CN" altLang="en-US" sz="2400" dirty="0"/>
              <a:t>人工智能相关专业一年级本科生</a:t>
            </a:r>
            <a:endParaRPr kumimoji="1" lang="en-US" altLang="zh-CN" sz="2400" dirty="0"/>
          </a:p>
          <a:p>
            <a:pPr lvl="1"/>
            <a:r>
              <a:rPr kumimoji="1" lang="zh-CN" altLang="en-US" sz="2400" dirty="0"/>
              <a:t>程序设计初学者</a:t>
            </a:r>
            <a:endParaRPr kumimoji="1" lang="en-US" altLang="zh-CN" sz="2400" dirty="0"/>
          </a:p>
          <a:p>
            <a:r>
              <a:rPr kumimoji="1" lang="zh-CN" altLang="en-US" dirty="0"/>
              <a:t>课程在学生培养中的地位和作用</a:t>
            </a:r>
            <a:endParaRPr kumimoji="1" lang="en-US" altLang="zh-CN" dirty="0"/>
          </a:p>
          <a:p>
            <a:pPr lvl="1"/>
            <a:r>
              <a:rPr kumimoji="1" lang="zh-CN" altLang="en-US" sz="2400" dirty="0"/>
              <a:t>程序设计能力是人工智能相关专业学生应掌握的重要能力</a:t>
            </a:r>
            <a:endParaRPr kumimoji="1" lang="en-US" altLang="zh-CN" sz="2400" dirty="0"/>
          </a:p>
          <a:p>
            <a:pPr lvl="1"/>
            <a:r>
              <a:rPr kumimoji="1" lang="en-US" altLang="en-US" sz="2400" dirty="0" err="1"/>
              <a:t>重要的基础课程</a:t>
            </a:r>
            <a:r>
              <a:rPr kumimoji="1" lang="en-US" altLang="en-US" sz="2400" dirty="0"/>
              <a:t>，</a:t>
            </a:r>
            <a:r>
              <a:rPr kumimoji="1" lang="zh-CN" altLang="en-US" sz="2400" dirty="0"/>
              <a:t>相关专业课的先导课程</a:t>
            </a:r>
            <a:endParaRPr kumimoji="1" lang="en-US" altLang="zh-CN" sz="2400" dirty="0"/>
          </a:p>
          <a:p>
            <a:pPr lvl="1"/>
            <a:r>
              <a:rPr kumimoji="1" lang="zh-CN" altLang="en-US" sz="2400" dirty="0"/>
              <a:t>培养学生逻辑思维能力、抽象能力、解决问题能力</a:t>
            </a:r>
            <a:endParaRPr kumimoji="1" lang="en-US" altLang="zh-CN" sz="2400" dirty="0"/>
          </a:p>
          <a:p>
            <a:pPr lvl="1"/>
            <a:r>
              <a:rPr kumimoji="1" lang="zh-CN" altLang="en-US" sz="2400" dirty="0"/>
              <a:t>使学生了解专业背景，快速融入专业课程学习</a:t>
            </a:r>
            <a:r>
              <a:rPr kumimoji="1" lang="en-US" altLang="zh-CN" dirty="0"/>
              <a:t>	</a:t>
            </a:r>
            <a:endParaRPr kumimoji="1" lang="en-US" altLang="zh-CN" dirty="0"/>
          </a:p>
          <a:p>
            <a:pPr lvl="2"/>
            <a:endParaRPr kumimoji="1" lang="en-US" altLang="zh-CN" dirty="0"/>
          </a:p>
          <a:p>
            <a:pPr marL="457200" lvl="1" indent="0">
              <a:buNone/>
            </a:pPr>
            <a:r>
              <a:rPr kumimoji="1" lang="en-US" altLang="zh-CN" dirty="0"/>
              <a:t>   </a:t>
            </a:r>
            <a:endParaRPr kumimoji="1" lang="en-US" altLang="zh-CN" dirty="0"/>
          </a:p>
          <a:p>
            <a:pPr lvl="1"/>
            <a:endParaRPr kumimoji="1" lang="zh-CN" altLang="en-US"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dirty="0"/>
              <a:t>课程</a:t>
            </a:r>
            <a:r>
              <a:rPr kumimoji="1" lang="zh-CN" altLang="en-US" dirty="0"/>
              <a:t>目标</a:t>
            </a:r>
            <a:endParaRPr kumimoji="1" lang="zh-CN" altLang="en-US" dirty="0"/>
          </a:p>
        </p:txBody>
      </p:sp>
      <p:sp>
        <p:nvSpPr>
          <p:cNvPr id="5" name="内容占位符 4"/>
          <p:cNvSpPr>
            <a:spLocks noGrp="1"/>
          </p:cNvSpPr>
          <p:nvPr>
            <p:ph idx="1"/>
          </p:nvPr>
        </p:nvSpPr>
        <p:spPr>
          <a:xfrm>
            <a:off x="381000" y="1295400"/>
            <a:ext cx="8763000" cy="4953000"/>
          </a:xfrm>
        </p:spPr>
        <p:txBody>
          <a:bodyPr/>
          <a:lstStyle/>
          <a:p>
            <a:r>
              <a:rPr kumimoji="1" lang="en-US" altLang="zh-CN" sz="2400" b="1" dirty="0">
                <a:latin typeface="仿宋" panose="02010609060101010101" pitchFamily="49" charset="-122"/>
                <a:ea typeface="仿宋" panose="02010609060101010101" pitchFamily="49" charset="-122"/>
              </a:rPr>
              <a:t>目标1： 通过本课程的学习，使学生了解《高级语言程序设计2-1》这门课的主要概念、基本原理和方法，学习C++语言的基本思想、基本语法与编程的基本规范。熟悉高级语言程序设计的基础理论知识，理解程序开发的基本原理，掌握高级语言程序开发的基理论方法，能够对目前主流程序设计语言的核心思想和核心语法具有较好的阅读能力和适应能力。</a:t>
            </a:r>
            <a:endParaRPr kumimoji="1" lang="en-US" altLang="zh-CN" sz="2400" b="1" dirty="0">
              <a:latin typeface="仿宋" panose="02010609060101010101" pitchFamily="49" charset="-122"/>
              <a:ea typeface="仿宋" panose="02010609060101010101" pitchFamily="49" charset="-122"/>
            </a:endParaRPr>
          </a:p>
          <a:p>
            <a:r>
              <a:rPr kumimoji="1" lang="en-US" altLang="zh-CN" sz="2400" b="1" dirty="0">
                <a:latin typeface="仿宋" panose="02010609060101010101" pitchFamily="49" charset="-122"/>
                <a:ea typeface="仿宋" panose="02010609060101010101" pitchFamily="49" charset="-122"/>
              </a:rPr>
              <a:t>目标2：通过本课程的学习，使学生具备编写中等规模完整程序的独立开发能力，增强学生在实际应用中的思维和动手能力。运用高级语言程序设计的理论和方法来解决程序开发过程中的特殊问题。能够掌握并使用面向C++的集成开发工具，例如Visual C++.net，开发基本的窗体应用程序，使学生具备计算机软件应用和程序开发等现代工程工具应用的基本技能</a:t>
            </a:r>
            <a:r>
              <a:rPr kumimoji="1" lang="zh-CN" altLang="en-US" sz="2400" b="1" dirty="0">
                <a:latin typeface="仿宋" panose="02010609060101010101" pitchFamily="49" charset="-122"/>
                <a:ea typeface="仿宋" panose="02010609060101010101" pitchFamily="49" charset="-122"/>
              </a:rPr>
              <a:t>。</a:t>
            </a:r>
            <a:endParaRPr kumimoji="1" lang="zh-CN" altLang="en-US" sz="2400" b="1" dirty="0">
              <a:latin typeface="仿宋" panose="02010609060101010101" pitchFamily="49" charset="-122"/>
              <a:ea typeface="仿宋" panose="02010609060101010101" pitchFamily="49" charset="-122"/>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 name="文本框 99"/>
          <p:cNvSpPr txBox="1"/>
          <p:nvPr/>
        </p:nvSpPr>
        <p:spPr>
          <a:xfrm>
            <a:off x="1600200" y="228600"/>
            <a:ext cx="6207760" cy="798830"/>
          </a:xfrm>
          <a:prstGeom prst="rect">
            <a:avLst/>
          </a:prstGeom>
          <a:noFill/>
          <a:ln w="9525">
            <a:noFill/>
          </a:ln>
        </p:spPr>
        <p:txBody>
          <a:bodyPr wrap="square">
            <a:spAutoFit/>
          </a:bodyPr>
          <a:p>
            <a:pPr algn="ctr"/>
            <a:r>
              <a:rPr lang="zh-CN" sz="2800" b="1">
                <a:solidFill>
                  <a:srgbClr val="0000CC"/>
                </a:solidFill>
                <a:ea typeface="宋体" panose="02010600030101010101" pitchFamily="2" charset="-122"/>
              </a:rPr>
              <a:t>课程目标与毕业要求对应关系</a:t>
            </a:r>
            <a:endParaRPr lang="zh-CN" sz="1200" b="1">
              <a:solidFill>
                <a:srgbClr val="0000CC"/>
              </a:solidFill>
              <a:latin typeface="Times New Roman" panose="02020603050405020304" pitchFamily="18" charset="0"/>
              <a:ea typeface="宋体" panose="02010600030101010101" pitchFamily="2" charset="-122"/>
            </a:endParaRPr>
          </a:p>
          <a:p>
            <a:endParaRPr lang="zh-CN" altLang="en-US" sz="1200" b="1">
              <a:solidFill>
                <a:srgbClr val="0000CC"/>
              </a:solidFill>
              <a:latin typeface="Times New Roman" panose="02020603050405020304" pitchFamily="18" charset="0"/>
              <a:ea typeface="宋体" panose="02010600030101010101" pitchFamily="2" charset="-122"/>
            </a:endParaRPr>
          </a:p>
        </p:txBody>
      </p:sp>
      <p:graphicFrame>
        <p:nvGraphicFramePr>
          <p:cNvPr id="3" name="表格 2"/>
          <p:cNvGraphicFramePr/>
          <p:nvPr>
            <p:custDataLst>
              <p:tags r:id="rId1"/>
            </p:custDataLst>
          </p:nvPr>
        </p:nvGraphicFramePr>
        <p:xfrm>
          <a:off x="609600" y="1600200"/>
          <a:ext cx="7872730" cy="4424045"/>
        </p:xfrm>
        <a:graphic>
          <a:graphicData uri="http://schemas.openxmlformats.org/drawingml/2006/table">
            <a:tbl>
              <a:tblPr firstRow="1" bandRow="1">
                <a:tableStyleId>{5940675A-B579-460E-94D1-54222C63F5DA}</a:tableStyleId>
              </a:tblPr>
              <a:tblGrid>
                <a:gridCol w="1782445"/>
                <a:gridCol w="6090285"/>
              </a:tblGrid>
              <a:tr h="737235">
                <a:tc>
                  <a:txBody>
                    <a:bodyPr/>
                    <a:p>
                      <a:pPr indent="0" algn="ctr">
                        <a:buNone/>
                      </a:pPr>
                      <a:r>
                        <a:rPr lang="en-US" sz="2400" b="1">
                          <a:latin typeface="Times New Roman" panose="02020603050405020304" pitchFamily="18" charset="0"/>
                          <a:cs typeface="Times New Roman" panose="02020603050405020304" pitchFamily="18" charset="0"/>
                        </a:rPr>
                        <a:t>课程目标</a:t>
                      </a:r>
                      <a:endParaRPr lang="en-US" altLang="en-US" sz="2400" b="1">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vert="horz" anchor="t"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2400" b="1">
                          <a:latin typeface="Times New Roman" panose="02020603050405020304" pitchFamily="18" charset="0"/>
                          <a:cs typeface="Times New Roman" panose="02020603050405020304" pitchFamily="18" charset="0"/>
                        </a:rPr>
                        <a:t>毕业要求指标点</a:t>
                      </a:r>
                      <a:endParaRPr lang="en-US" altLang="en-US" sz="2400" b="1">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vert="horz" anchor="t"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1843405">
                <a:tc>
                  <a:txBody>
                    <a:bodyPr/>
                    <a:p>
                      <a:pPr indent="0" algn="ctr">
                        <a:buNone/>
                      </a:pPr>
                      <a:r>
                        <a:rPr lang="en-US" sz="2400" b="1">
                          <a:latin typeface="宋体" panose="02010600030101010101" pitchFamily="2" charset="-122"/>
                          <a:ea typeface="宋体" panose="02010600030101010101" pitchFamily="2" charset="-122"/>
                          <a:cs typeface="宋体" panose="02010600030101010101" pitchFamily="2" charset="-122"/>
                        </a:rPr>
                        <a:t>目标</a:t>
                      </a:r>
                      <a:r>
                        <a:rPr lang="en-US" sz="2400" b="1">
                          <a:latin typeface="Times New Roman" panose="02020603050405020304" pitchFamily="18" charset="0"/>
                          <a:cs typeface="Times New Roman" panose="02020603050405020304" pitchFamily="18" charset="0"/>
                        </a:rPr>
                        <a:t>1</a:t>
                      </a:r>
                      <a:endParaRPr lang="en-US" altLang="en-US" sz="2400" b="1">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2400" b="1">
                          <a:latin typeface="宋体" panose="02010600030101010101" pitchFamily="2" charset="-122"/>
                          <a:ea typeface="宋体" panose="02010600030101010101" pitchFamily="2" charset="-122"/>
                          <a:cs typeface="宋体" panose="02010600030101010101" pitchFamily="2" charset="-122"/>
                        </a:rPr>
                        <a:t>毕业要求指标点5、使用现代工具</a:t>
                      </a:r>
                      <a:r>
                        <a:rPr lang="en-US" sz="2400" b="0">
                          <a:latin typeface="宋体" panose="02010600030101010101" pitchFamily="2" charset="-122"/>
                          <a:ea typeface="宋体" panose="02010600030101010101" pitchFamily="2" charset="-122"/>
                          <a:cs typeface="宋体" panose="02010600030101010101" pitchFamily="2" charset="-122"/>
                        </a:rPr>
                        <a:t>5.1 </a:t>
                      </a:r>
                      <a:r>
                        <a:rPr lang="en-US" sz="2400" b="0">
                          <a:latin typeface="Times New Roman" panose="02020603050405020304" pitchFamily="18" charset="0"/>
                          <a:cs typeface="Times New Roman" panose="02020603050405020304" pitchFamily="18" charset="0"/>
                        </a:rPr>
                        <a:t>计算机软件应用、程序开发、系统仿真等信息技术工具和现代工程工具应用的基本技能</a:t>
                      </a:r>
                      <a:r>
                        <a:rPr lang="en-US" sz="2400" b="0">
                          <a:latin typeface="宋体" panose="02010600030101010101" pitchFamily="2" charset="-122"/>
                          <a:ea typeface="宋体" panose="02010600030101010101" pitchFamily="2" charset="-122"/>
                          <a:cs typeface="宋体" panose="02010600030101010101" pitchFamily="2" charset="-122"/>
                        </a:rPr>
                        <a:t>。</a:t>
                      </a:r>
                      <a:endParaRPr lang="en-US" altLang="en-US" sz="2400" b="1">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1843405">
                <a:tc>
                  <a:txBody>
                    <a:bodyPr/>
                    <a:p>
                      <a:pPr indent="0" algn="ctr">
                        <a:buNone/>
                      </a:pPr>
                      <a:r>
                        <a:rPr lang="en-US" sz="2400" b="1">
                          <a:latin typeface="宋体" panose="02010600030101010101" pitchFamily="2" charset="-122"/>
                          <a:ea typeface="宋体" panose="02010600030101010101" pitchFamily="2" charset="-122"/>
                          <a:cs typeface="宋体" panose="02010600030101010101" pitchFamily="2" charset="-122"/>
                        </a:rPr>
                        <a:t>目标</a:t>
                      </a:r>
                      <a:r>
                        <a:rPr lang="en-US" sz="2400" b="1">
                          <a:latin typeface="Times New Roman" panose="02020603050405020304" pitchFamily="18" charset="0"/>
                          <a:cs typeface="Times New Roman" panose="02020603050405020304" pitchFamily="18" charset="0"/>
                        </a:rPr>
                        <a:t>2</a:t>
                      </a:r>
                      <a:endParaRPr lang="en-US" altLang="en-US" sz="2400" b="1">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2400" b="1">
                          <a:latin typeface="宋体" panose="02010600030101010101" pitchFamily="2" charset="-122"/>
                          <a:ea typeface="宋体" panose="02010600030101010101" pitchFamily="2" charset="-122"/>
                          <a:cs typeface="宋体" panose="02010600030101010101" pitchFamily="2" charset="-122"/>
                        </a:rPr>
                        <a:t>毕业要求指标点5、使用现代工具</a:t>
                      </a:r>
                      <a:r>
                        <a:rPr lang="en-US" sz="2400" b="0">
                          <a:latin typeface="宋体" panose="02010600030101010101" pitchFamily="2" charset="-122"/>
                          <a:ea typeface="宋体" panose="02010600030101010101" pitchFamily="2" charset="-122"/>
                          <a:cs typeface="宋体" panose="02010600030101010101" pitchFamily="2" charset="-122"/>
                        </a:rPr>
                        <a:t>5.1 </a:t>
                      </a:r>
                      <a:r>
                        <a:rPr lang="en-US" sz="2400" b="0">
                          <a:latin typeface="Times New Roman" panose="02020603050405020304" pitchFamily="18" charset="0"/>
                          <a:cs typeface="Times New Roman" panose="02020603050405020304" pitchFamily="18" charset="0"/>
                        </a:rPr>
                        <a:t>计算机软件应用、程序开发、系统仿真等信息技术工具和现代工程工具应用的基本技能</a:t>
                      </a:r>
                      <a:r>
                        <a:rPr lang="en-US" sz="2400" b="0">
                          <a:latin typeface="宋体" panose="02010600030101010101" pitchFamily="2" charset="-122"/>
                          <a:ea typeface="宋体" panose="02010600030101010101" pitchFamily="2" charset="-122"/>
                          <a:cs typeface="宋体" panose="02010600030101010101" pitchFamily="2" charset="-122"/>
                        </a:rPr>
                        <a:t>。</a:t>
                      </a:r>
                      <a:endParaRPr lang="en-US" altLang="en-US" sz="2400" b="1">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课程安排</a:t>
            </a:r>
            <a:endParaRPr lang="zh-CN" altLang="en-US" dirty="0"/>
          </a:p>
        </p:txBody>
      </p:sp>
      <p:sp>
        <p:nvSpPr>
          <p:cNvPr id="3" name="内容占位符 2"/>
          <p:cNvSpPr>
            <a:spLocks noGrp="1"/>
          </p:cNvSpPr>
          <p:nvPr>
            <p:ph idx="1"/>
          </p:nvPr>
        </p:nvSpPr>
        <p:spPr/>
        <p:txBody>
          <a:bodyPr/>
          <a:lstStyle/>
          <a:p>
            <a:r>
              <a:rPr lang="zh-CN" altLang="en-US" dirty="0"/>
              <a:t>周课时安排</a:t>
            </a:r>
            <a:endParaRPr lang="en-US" altLang="zh-CN" dirty="0"/>
          </a:p>
          <a:p>
            <a:pPr lvl="1"/>
            <a:r>
              <a:rPr lang="zh-CN" altLang="en-US" dirty="0"/>
              <a:t>第一学期讲授</a:t>
            </a:r>
            <a:r>
              <a:rPr lang="en-US" altLang="zh-CN" dirty="0"/>
              <a:t>3</a:t>
            </a:r>
            <a:r>
              <a:rPr lang="zh-CN" altLang="en-US" dirty="0"/>
              <a:t>课时，第二学期讲授</a:t>
            </a:r>
            <a:r>
              <a:rPr lang="en-US" altLang="zh-CN" dirty="0"/>
              <a:t>2</a:t>
            </a:r>
            <a:r>
              <a:rPr lang="zh-CN" altLang="en-US" dirty="0"/>
              <a:t>课时</a:t>
            </a:r>
            <a:endParaRPr lang="en-US" altLang="zh-CN" dirty="0"/>
          </a:p>
          <a:p>
            <a:pPr lvl="1"/>
            <a:r>
              <a:rPr lang="zh-CN" altLang="en-US" dirty="0"/>
              <a:t>实验</a:t>
            </a:r>
            <a:r>
              <a:rPr lang="en-US" altLang="zh-CN" dirty="0"/>
              <a:t>3</a:t>
            </a:r>
            <a:r>
              <a:rPr lang="zh-CN" altLang="en-US" dirty="0"/>
              <a:t>课时</a:t>
            </a:r>
            <a:r>
              <a:rPr lang="en-US" altLang="zh-CN" dirty="0"/>
              <a:t>/</a:t>
            </a:r>
            <a:r>
              <a:rPr lang="zh-CN" altLang="en-US" dirty="0"/>
              <a:t>周，</a:t>
            </a:r>
            <a:r>
              <a:rPr lang="en-US" altLang="zh-CN" dirty="0"/>
              <a:t>4</a:t>
            </a:r>
            <a:r>
              <a:rPr lang="zh-CN" altLang="en-US" dirty="0"/>
              <a:t>课时</a:t>
            </a:r>
            <a:r>
              <a:rPr lang="en-US" altLang="zh-CN" dirty="0"/>
              <a:t>/</a:t>
            </a:r>
            <a:r>
              <a:rPr lang="zh-CN" altLang="en-US" dirty="0"/>
              <a:t>周</a:t>
            </a:r>
            <a:endParaRPr lang="en-US" altLang="zh-CN" dirty="0"/>
          </a:p>
          <a:p>
            <a:r>
              <a:rPr lang="zh-CN" altLang="en-US" dirty="0"/>
              <a:t>成绩</a:t>
            </a:r>
            <a:endParaRPr lang="en-US" altLang="zh-CN" dirty="0"/>
          </a:p>
          <a:p>
            <a:pPr lvl="1"/>
            <a:r>
              <a:rPr lang="zh-CN" altLang="en-US" dirty="0"/>
              <a:t>期末笔试成绩（</a:t>
            </a:r>
            <a:r>
              <a:rPr lang="en-US" altLang="zh-CN" dirty="0"/>
              <a:t>30%</a:t>
            </a:r>
            <a:r>
              <a:rPr lang="zh-CN" altLang="en-US" dirty="0"/>
              <a:t>）</a:t>
            </a:r>
            <a:endParaRPr lang="en-US" altLang="zh-CN" dirty="0"/>
          </a:p>
          <a:p>
            <a:pPr lvl="1"/>
            <a:r>
              <a:rPr lang="zh-CN" altLang="en-US" dirty="0"/>
              <a:t>上机考试成绩（</a:t>
            </a:r>
            <a:r>
              <a:rPr lang="en-US" altLang="zh-CN" dirty="0"/>
              <a:t>40%</a:t>
            </a:r>
            <a:r>
              <a:rPr lang="zh-CN" altLang="en-US" dirty="0"/>
              <a:t>）</a:t>
            </a:r>
            <a:endParaRPr lang="en-US" altLang="zh-CN" dirty="0"/>
          </a:p>
          <a:p>
            <a:pPr lvl="1"/>
            <a:r>
              <a:rPr lang="zh-CN" altLang="en-US" dirty="0"/>
              <a:t>平时成绩（包括出勤、作业等，共</a:t>
            </a:r>
            <a:r>
              <a:rPr lang="en-US" altLang="zh-CN" dirty="0"/>
              <a:t>30%</a:t>
            </a:r>
            <a:r>
              <a:rPr lang="zh-CN" altLang="en-US" dirty="0"/>
              <a:t>）</a:t>
            </a:r>
            <a:endParaRPr lang="en-US" altLang="zh-CN" dirty="0"/>
          </a:p>
          <a:p>
            <a:endParaRPr lang="zh-CN" altLang="en-US" dirty="0"/>
          </a:p>
        </p:txBody>
      </p:sp>
      <p:sp>
        <p:nvSpPr>
          <p:cNvPr id="5" name="文本框 4"/>
          <p:cNvSpPr txBox="1"/>
          <p:nvPr/>
        </p:nvSpPr>
        <p:spPr>
          <a:xfrm>
            <a:off x="1835696" y="5445224"/>
            <a:ext cx="5184576" cy="523220"/>
          </a:xfrm>
          <a:prstGeom prst="rect">
            <a:avLst/>
          </a:prstGeom>
          <a:noFill/>
        </p:spPr>
        <p:txBody>
          <a:bodyPr wrap="square" rtlCol="0">
            <a:spAutoFit/>
          </a:bodyPr>
          <a:lstStyle/>
          <a:p>
            <a:r>
              <a:rPr lang="zh-CN" altLang="en-US" sz="2800" b="1" dirty="0">
                <a:solidFill>
                  <a:srgbClr val="FF0000"/>
                </a:solidFill>
                <a:latin typeface="Comic Sans MS" panose="030F0702030302020204" pitchFamily="66" charset="0"/>
              </a:rPr>
              <a:t>突出动手能力、弱化死记硬背</a:t>
            </a:r>
            <a:endParaRPr lang="zh-CN" altLang="en-US" sz="2800" b="1" dirty="0">
              <a:solidFill>
                <a:srgbClr val="FF0000"/>
              </a:solidFill>
              <a:latin typeface="Comic Sans MS" panose="030F0702030302020204" pitchFamily="66"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dirty="0"/>
              <a:t>教学用书</a:t>
            </a:r>
            <a:endParaRPr kumimoji="1" lang="zh-CN" altLang="en-US" dirty="0"/>
          </a:p>
        </p:txBody>
      </p:sp>
      <p:sp>
        <p:nvSpPr>
          <p:cNvPr id="3" name="内容占位符 2"/>
          <p:cNvSpPr>
            <a:spLocks noGrp="1"/>
          </p:cNvSpPr>
          <p:nvPr>
            <p:ph idx="1"/>
          </p:nvPr>
        </p:nvSpPr>
        <p:spPr>
          <a:xfrm>
            <a:off x="457200" y="1241425"/>
            <a:ext cx="8229600" cy="2475607"/>
          </a:xfrm>
        </p:spPr>
        <p:txBody>
          <a:bodyPr/>
          <a:lstStyle/>
          <a:p>
            <a:r>
              <a:rPr kumimoji="1" lang="zh-CN" altLang="en-US" dirty="0"/>
              <a:t>教材</a:t>
            </a:r>
            <a:endParaRPr kumimoji="1" lang="zh-CN" altLang="en-US" dirty="0"/>
          </a:p>
          <a:p>
            <a:pPr lvl="1"/>
            <a:r>
              <a:rPr kumimoji="1" lang="en-US" altLang="zh-CN" dirty="0"/>
              <a:t>《C++</a:t>
            </a:r>
            <a:r>
              <a:rPr kumimoji="1" lang="zh-CN" altLang="en-US" dirty="0"/>
              <a:t>程序设计</a:t>
            </a:r>
            <a:r>
              <a:rPr kumimoji="1" lang="en-US" altLang="zh-CN" dirty="0"/>
              <a:t>》</a:t>
            </a:r>
            <a:r>
              <a:rPr kumimoji="1" lang="zh-CN" altLang="en-US" dirty="0"/>
              <a:t>（第</a:t>
            </a:r>
            <a:r>
              <a:rPr kumimoji="1" lang="en-US" altLang="zh-CN" dirty="0"/>
              <a:t>2</a:t>
            </a:r>
            <a:r>
              <a:rPr kumimoji="1" lang="zh-CN" altLang="en-US" dirty="0"/>
              <a:t>版），刘璟编著，高等教育出版社</a:t>
            </a:r>
            <a:endParaRPr kumimoji="1" lang="zh-CN" altLang="en-US" dirty="0"/>
          </a:p>
          <a:p>
            <a:pPr lvl="1"/>
            <a:r>
              <a:rPr kumimoji="1" lang="en-US" altLang="zh-CN" dirty="0"/>
              <a:t>《</a:t>
            </a:r>
            <a:r>
              <a:rPr kumimoji="1" lang="zh-CN" altLang="en-US" dirty="0"/>
              <a:t>高级语言</a:t>
            </a:r>
            <a:r>
              <a:rPr kumimoji="1" lang="en-US" altLang="zh-CN" dirty="0"/>
              <a:t>C++</a:t>
            </a:r>
            <a:r>
              <a:rPr kumimoji="1" lang="zh-CN" altLang="en-US" dirty="0"/>
              <a:t>程序设计实验指导</a:t>
            </a:r>
            <a:r>
              <a:rPr kumimoji="1" lang="en-US" altLang="zh-CN" dirty="0"/>
              <a:t>》</a:t>
            </a:r>
            <a:r>
              <a:rPr kumimoji="1" lang="zh-CN" altLang="en-US" dirty="0"/>
              <a:t>，周玉龙编著，高等教育出版社</a:t>
            </a:r>
            <a:endParaRPr kumimoji="1" lang="zh-CN" altLang="en-US" dirty="0"/>
          </a:p>
          <a:p>
            <a:endParaRPr kumimoji="1" lang="zh-CN" altLang="en-US" dirty="0"/>
          </a:p>
        </p:txBody>
      </p:sp>
      <p:pic>
        <p:nvPicPr>
          <p:cNvPr id="6" name="图片 5" descr="51Y3GtgGn-L__AA500_.jpg"/>
          <p:cNvPicPr>
            <a:picLocks noChangeAspect="1"/>
          </p:cNvPicPr>
          <p:nvPr/>
        </p:nvPicPr>
        <p:blipFill>
          <a:blip r:embed="rId1" cstate="print"/>
          <a:stretch>
            <a:fillRect/>
          </a:stretch>
        </p:blipFill>
        <p:spPr>
          <a:xfrm>
            <a:off x="4857752" y="3789040"/>
            <a:ext cx="2786082" cy="2786082"/>
          </a:xfrm>
          <a:prstGeom prst="rect">
            <a:avLst/>
          </a:prstGeom>
        </p:spPr>
      </p:pic>
      <p:pic>
        <p:nvPicPr>
          <p:cNvPr id="7" name="图片 6" descr="rBEQWVFIMQEIAAAAAAGFllldevQAACZ7AEA1KgAAYWu919.jp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87514" y="3744416"/>
            <a:ext cx="2844785" cy="2852936"/>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绪论</a:t>
            </a:r>
            <a:endParaRPr lang="zh-CN" altLang="en-US" dirty="0"/>
          </a:p>
        </p:txBody>
      </p:sp>
      <p:grpSp>
        <p:nvGrpSpPr>
          <p:cNvPr id="53" name="Group 52"/>
          <p:cNvGrpSpPr/>
          <p:nvPr/>
        </p:nvGrpSpPr>
        <p:grpSpPr bwMode="auto">
          <a:xfrm>
            <a:off x="-2395538" y="1600200"/>
            <a:ext cx="9253538" cy="4824413"/>
            <a:chOff x="-1509" y="1008"/>
            <a:chExt cx="5829" cy="3039"/>
          </a:xfrm>
        </p:grpSpPr>
        <p:sp>
          <p:nvSpPr>
            <p:cNvPr id="54" name="AutoShape 4"/>
            <p:cNvSpPr>
              <a:spLocks noChangeArrowheads="1"/>
            </p:cNvSpPr>
            <p:nvPr/>
          </p:nvSpPr>
          <p:spPr bwMode="ltGray">
            <a:xfrm rot="5400000">
              <a:off x="-1526" y="1025"/>
              <a:ext cx="3039" cy="3005"/>
            </a:xfrm>
            <a:custGeom>
              <a:avLst/>
              <a:gdLst>
                <a:gd name="G0" fmla="+- 10478 0 0"/>
                <a:gd name="G1" fmla="+- -11739500 0 0"/>
                <a:gd name="G2" fmla="+- 0 0 -11739500"/>
                <a:gd name="T0" fmla="*/ 0 256 1"/>
                <a:gd name="T1" fmla="*/ 180 256 1"/>
                <a:gd name="G3" fmla="+- -11739500 T0 T1"/>
                <a:gd name="T2" fmla="*/ 0 256 1"/>
                <a:gd name="T3" fmla="*/ 90 256 1"/>
                <a:gd name="G4" fmla="+- -11739500 T2 T3"/>
                <a:gd name="G5" fmla="*/ G4 2 1"/>
                <a:gd name="T4" fmla="*/ 90 256 1"/>
                <a:gd name="T5" fmla="*/ 0 256 1"/>
                <a:gd name="G6" fmla="+- -11739500 T4 T5"/>
                <a:gd name="G7" fmla="*/ G6 2 1"/>
                <a:gd name="G8" fmla="abs -11739500"/>
                <a:gd name="T6" fmla="*/ 0 256 1"/>
                <a:gd name="T7" fmla="*/ 90 256 1"/>
                <a:gd name="G9" fmla="+- G8 T6 T7"/>
                <a:gd name="G10" fmla="?: G9 G7 G5"/>
                <a:gd name="T8" fmla="*/ 0 256 1"/>
                <a:gd name="T9" fmla="*/ 360 256 1"/>
                <a:gd name="G11" fmla="+- G10 T8 T9"/>
                <a:gd name="G12" fmla="?: G10 G11 G10"/>
                <a:gd name="T10" fmla="*/ 0 256 1"/>
                <a:gd name="T11" fmla="*/ 360 256 1"/>
                <a:gd name="G13" fmla="+- G12 T10 T11"/>
                <a:gd name="G14" fmla="?: G12 G13 G12"/>
                <a:gd name="G15" fmla="+- 0 0 G14"/>
                <a:gd name="G16" fmla="+- 10800 0 0"/>
                <a:gd name="G17" fmla="+- 10800 0 10478"/>
                <a:gd name="G18" fmla="*/ 10478 1 2"/>
                <a:gd name="G19" fmla="+- G18 5400 0"/>
                <a:gd name="G20" fmla="cos G19 -11739500"/>
                <a:gd name="G21" fmla="sin G19 -11739500"/>
                <a:gd name="G22" fmla="+- G20 10800 0"/>
                <a:gd name="G23" fmla="+- G21 10800 0"/>
                <a:gd name="G24" fmla="+- 10800 0 G20"/>
                <a:gd name="G25" fmla="+- 10478 10800 0"/>
                <a:gd name="G26" fmla="?: G9 G17 G25"/>
                <a:gd name="G27" fmla="?: G9 0 21600"/>
                <a:gd name="G28" fmla="cos 10800 -11739500"/>
                <a:gd name="G29" fmla="sin 10800 -11739500"/>
                <a:gd name="G30" fmla="sin 10478 -11739500"/>
                <a:gd name="G31" fmla="+- G28 10800 0"/>
                <a:gd name="G32" fmla="+- G29 10800 0"/>
                <a:gd name="G33" fmla="+- G30 10800 0"/>
                <a:gd name="G34" fmla="?: G4 0 G31"/>
                <a:gd name="G35" fmla="?: -11739500 G34 0"/>
                <a:gd name="G36" fmla="?: G6 G35 G31"/>
                <a:gd name="G37" fmla="+- 21600 0 G36"/>
                <a:gd name="G38" fmla="?: G4 0 G33"/>
                <a:gd name="G39" fmla="?: -11739500 G38 G32"/>
                <a:gd name="G40" fmla="?: G6 G39 0"/>
                <a:gd name="G41" fmla="?: G4 G32 21600"/>
                <a:gd name="G42" fmla="?: G6 G41 G33"/>
                <a:gd name="T12" fmla="*/ 10800 w 21600"/>
                <a:gd name="T13" fmla="*/ 0 h 21600"/>
                <a:gd name="T14" fmla="*/ 162 w 21600"/>
                <a:gd name="T15" fmla="*/ 10638 h 21600"/>
                <a:gd name="T16" fmla="*/ 10800 w 21600"/>
                <a:gd name="T17" fmla="*/ 322 h 21600"/>
                <a:gd name="T18" fmla="*/ 21438 w 21600"/>
                <a:gd name="T19" fmla="*/ 10638 h 21600"/>
                <a:gd name="T20" fmla="*/ G36 w 21600"/>
                <a:gd name="T21" fmla="*/ G40 h 21600"/>
                <a:gd name="T22" fmla="*/ G37 w 21600"/>
                <a:gd name="T23" fmla="*/ G42 h 21600"/>
              </a:gdLst>
              <a:ahLst/>
              <a:cxnLst>
                <a:cxn ang="0">
                  <a:pos x="T12" y="T13"/>
                </a:cxn>
                <a:cxn ang="0">
                  <a:pos x="T14" y="T15"/>
                </a:cxn>
                <a:cxn ang="0">
                  <a:pos x="T16" y="T17"/>
                </a:cxn>
                <a:cxn ang="0">
                  <a:pos x="T18" y="T19"/>
                </a:cxn>
              </a:cxnLst>
              <a:rect l="T20" t="T21" r="T22" b="T23"/>
              <a:pathLst>
                <a:path w="21600" h="21600">
                  <a:moveTo>
                    <a:pt x="323" y="10641"/>
                  </a:moveTo>
                  <a:cubicBezTo>
                    <a:pt x="410" y="4916"/>
                    <a:pt x="5075" y="321"/>
                    <a:pt x="10800" y="322"/>
                  </a:cubicBezTo>
                  <a:cubicBezTo>
                    <a:pt x="16524" y="322"/>
                    <a:pt x="21189" y="4916"/>
                    <a:pt x="21276" y="10641"/>
                  </a:cubicBezTo>
                  <a:lnTo>
                    <a:pt x="21598" y="10636"/>
                  </a:lnTo>
                  <a:cubicBezTo>
                    <a:pt x="21509" y="4736"/>
                    <a:pt x="16700" y="-1"/>
                    <a:pt x="10799" y="0"/>
                  </a:cubicBezTo>
                  <a:cubicBezTo>
                    <a:pt x="4899" y="0"/>
                    <a:pt x="90" y="4736"/>
                    <a:pt x="1" y="10636"/>
                  </a:cubicBezTo>
                  <a:close/>
                </a:path>
              </a:pathLst>
            </a:custGeom>
            <a:gradFill rotWithShape="1">
              <a:gsLst>
                <a:gs pos="0">
                  <a:schemeClr val="bg2">
                    <a:gamma/>
                    <a:tint val="45490"/>
                    <a:invGamma/>
                  </a:schemeClr>
                </a:gs>
                <a:gs pos="50000">
                  <a:schemeClr val="bg2"/>
                </a:gs>
                <a:gs pos="100000">
                  <a:schemeClr val="bg2">
                    <a:gamma/>
                    <a:tint val="45490"/>
                    <a:invGamma/>
                  </a:schemeClr>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endParaRPr lang="zh-CN" altLang="en-US"/>
            </a:p>
          </p:txBody>
        </p:sp>
        <p:sp>
          <p:nvSpPr>
            <p:cNvPr id="55" name="AutoShape 5"/>
            <p:cNvSpPr>
              <a:spLocks noChangeArrowheads="1"/>
            </p:cNvSpPr>
            <p:nvPr/>
          </p:nvSpPr>
          <p:spPr bwMode="ltGray">
            <a:xfrm rot="5400000" flipH="1">
              <a:off x="-1270" y="1299"/>
              <a:ext cx="2540" cy="2475"/>
            </a:xfrm>
            <a:custGeom>
              <a:avLst/>
              <a:gdLst>
                <a:gd name="G0" fmla="+- 56 0 0"/>
                <a:gd name="G1" fmla="+- 11796480 0 0"/>
                <a:gd name="G2" fmla="+- 0 0 11796480"/>
                <a:gd name="T0" fmla="*/ 0 256 1"/>
                <a:gd name="T1" fmla="*/ 180 256 1"/>
                <a:gd name="G3" fmla="+- 11796480 T0 T1"/>
                <a:gd name="T2" fmla="*/ 0 256 1"/>
                <a:gd name="T3" fmla="*/ 90 256 1"/>
                <a:gd name="G4" fmla="+- 11796480 T2 T3"/>
                <a:gd name="G5" fmla="*/ G4 2 1"/>
                <a:gd name="T4" fmla="*/ 90 256 1"/>
                <a:gd name="T5" fmla="*/ 0 256 1"/>
                <a:gd name="G6" fmla="+- 11796480 T4 T5"/>
                <a:gd name="G7" fmla="*/ G6 2 1"/>
                <a:gd name="G8" fmla="abs 11796480"/>
                <a:gd name="T6" fmla="*/ 0 256 1"/>
                <a:gd name="T7" fmla="*/ 90 256 1"/>
                <a:gd name="G9" fmla="+- G8 T6 T7"/>
                <a:gd name="G10" fmla="?: G9 G7 G5"/>
                <a:gd name="T8" fmla="*/ 0 256 1"/>
                <a:gd name="T9" fmla="*/ 360 256 1"/>
                <a:gd name="G11" fmla="+- G10 T8 T9"/>
                <a:gd name="G12" fmla="?: G10 G11 G10"/>
                <a:gd name="T10" fmla="*/ 0 256 1"/>
                <a:gd name="T11" fmla="*/ 360 256 1"/>
                <a:gd name="G13" fmla="+- G12 T10 T11"/>
                <a:gd name="G14" fmla="?: G12 G13 G12"/>
                <a:gd name="G15" fmla="+- 0 0 G14"/>
                <a:gd name="G16" fmla="+- 10800 0 0"/>
                <a:gd name="G17" fmla="+- 10800 0 56"/>
                <a:gd name="G18" fmla="*/ 56 1 2"/>
                <a:gd name="G19" fmla="+- G18 5400 0"/>
                <a:gd name="G20" fmla="cos G19 11796480"/>
                <a:gd name="G21" fmla="sin G19 11796480"/>
                <a:gd name="G22" fmla="+- G20 10800 0"/>
                <a:gd name="G23" fmla="+- G21 10800 0"/>
                <a:gd name="G24" fmla="+- 10800 0 G20"/>
                <a:gd name="G25" fmla="+- 56 10800 0"/>
                <a:gd name="G26" fmla="?: G9 G17 G25"/>
                <a:gd name="G27" fmla="?: G9 0 21600"/>
                <a:gd name="G28" fmla="cos 10800 11796480"/>
                <a:gd name="G29" fmla="sin 10800 11796480"/>
                <a:gd name="G30" fmla="sin 56 11796480"/>
                <a:gd name="G31" fmla="+- G28 10800 0"/>
                <a:gd name="G32" fmla="+- G29 10800 0"/>
                <a:gd name="G33" fmla="+- G30 10800 0"/>
                <a:gd name="G34" fmla="?: G4 0 G31"/>
                <a:gd name="G35" fmla="?: 11796480 G34 0"/>
                <a:gd name="G36" fmla="?: G6 G35 G31"/>
                <a:gd name="G37" fmla="+- 21600 0 G36"/>
                <a:gd name="G38" fmla="?: G4 0 G33"/>
                <a:gd name="G39" fmla="?: 11796480 G38 G32"/>
                <a:gd name="G40" fmla="?: G6 G39 0"/>
                <a:gd name="G41" fmla="?: G4 G32 21600"/>
                <a:gd name="G42" fmla="?: G6 G41 G33"/>
                <a:gd name="T12" fmla="*/ 10800 w 21600"/>
                <a:gd name="T13" fmla="*/ 0 h 21600"/>
                <a:gd name="T14" fmla="*/ 5372 w 21600"/>
                <a:gd name="T15" fmla="*/ 10800 h 21600"/>
                <a:gd name="T16" fmla="*/ 10800 w 21600"/>
                <a:gd name="T17" fmla="*/ 10744 h 21600"/>
                <a:gd name="T18" fmla="*/ 16228 w 21600"/>
                <a:gd name="T19" fmla="*/ 10800 h 21600"/>
                <a:gd name="T20" fmla="*/ G36 w 21600"/>
                <a:gd name="T21" fmla="*/ G40 h 21600"/>
                <a:gd name="T22" fmla="*/ G37 w 21600"/>
                <a:gd name="T23" fmla="*/ G42 h 21600"/>
              </a:gdLst>
              <a:ahLst/>
              <a:cxnLst>
                <a:cxn ang="0">
                  <a:pos x="T12" y="T13"/>
                </a:cxn>
                <a:cxn ang="0">
                  <a:pos x="T14" y="T15"/>
                </a:cxn>
                <a:cxn ang="0">
                  <a:pos x="T16" y="T17"/>
                </a:cxn>
                <a:cxn ang="0">
                  <a:pos x="T18" y="T19"/>
                </a:cxn>
              </a:cxnLst>
              <a:rect l="T20" t="T21" r="T22" b="T23"/>
              <a:pathLst>
                <a:path w="21600" h="21600">
                  <a:moveTo>
                    <a:pt x="10744" y="10800"/>
                  </a:moveTo>
                  <a:cubicBezTo>
                    <a:pt x="10744" y="10769"/>
                    <a:pt x="10769" y="10744"/>
                    <a:pt x="10800" y="10744"/>
                  </a:cubicBezTo>
                  <a:cubicBezTo>
                    <a:pt x="10830" y="10743"/>
                    <a:pt x="10855" y="10769"/>
                    <a:pt x="10856" y="10799"/>
                  </a:cubicBezTo>
                  <a:lnTo>
                    <a:pt x="21600" y="10800"/>
                  </a:lnTo>
                  <a:cubicBezTo>
                    <a:pt x="21600" y="4835"/>
                    <a:pt x="16764" y="0"/>
                    <a:pt x="10800" y="0"/>
                  </a:cubicBezTo>
                  <a:cubicBezTo>
                    <a:pt x="4835" y="0"/>
                    <a:pt x="0" y="4835"/>
                    <a:pt x="0" y="10800"/>
                  </a:cubicBezTo>
                  <a:close/>
                </a:path>
              </a:pathLst>
            </a:custGeom>
            <a:solidFill>
              <a:srgbClr val="BBE0E3"/>
            </a:solidFill>
            <a:ln>
              <a:noFill/>
            </a:ln>
            <a:effectLst/>
            <a:extLst>
              <a:ext uri="{91240B29-F687-4F45-9708-019B960494DF}">
                <a14:hiddenLine xmlns:a14="http://schemas.microsoft.com/office/drawing/2010/main" w="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grpSp>
          <p:nvGrpSpPr>
            <p:cNvPr id="56" name="Group 47"/>
            <p:cNvGrpSpPr/>
            <p:nvPr/>
          </p:nvGrpSpPr>
          <p:grpSpPr bwMode="auto">
            <a:xfrm>
              <a:off x="912" y="1243"/>
              <a:ext cx="2984" cy="320"/>
              <a:chOff x="912" y="1243"/>
              <a:chExt cx="2984" cy="320"/>
            </a:xfrm>
          </p:grpSpPr>
          <p:sp>
            <p:nvSpPr>
              <p:cNvPr id="93" name="AutoShape 10"/>
              <p:cNvSpPr>
                <a:spLocks noChangeArrowheads="1"/>
              </p:cNvSpPr>
              <p:nvPr/>
            </p:nvSpPr>
            <p:spPr bwMode="gray">
              <a:xfrm>
                <a:off x="1112" y="1243"/>
                <a:ext cx="2784" cy="320"/>
              </a:xfrm>
              <a:prstGeom prst="roundRect">
                <a:avLst>
                  <a:gd name="adj" fmla="val 50000"/>
                </a:avLst>
              </a:prstGeom>
              <a:noFill/>
              <a:ln w="28575" algn="ctr">
                <a:solidFill>
                  <a:schemeClr val="bg2"/>
                </a:solidFill>
                <a:rou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hangingPunct="0"/>
                <a:r>
                  <a:rPr lang="zh-CN" altLang="en-US" sz="2400" b="1" dirty="0">
                    <a:solidFill>
                      <a:srgbClr val="800000"/>
                    </a:solidFill>
                    <a:latin typeface="华文新魏" panose="02010800040101010101" pitchFamily="2" charset="-122"/>
                    <a:ea typeface="华文新魏" panose="02010800040101010101" pitchFamily="2" charset="-122"/>
                  </a:rPr>
                  <a:t>计算机与程序设计</a:t>
                </a:r>
                <a:endParaRPr lang="en-US" altLang="zh-CN" sz="2400" b="1" dirty="0">
                  <a:solidFill>
                    <a:srgbClr val="800000"/>
                  </a:solidFill>
                  <a:latin typeface="华文新魏" panose="02010800040101010101" pitchFamily="2" charset="-122"/>
                  <a:ea typeface="华文新魏" panose="02010800040101010101" pitchFamily="2" charset="-122"/>
                </a:endParaRPr>
              </a:p>
            </p:txBody>
          </p:sp>
          <p:grpSp>
            <p:nvGrpSpPr>
              <p:cNvPr id="94" name="Group 11"/>
              <p:cNvGrpSpPr/>
              <p:nvPr/>
            </p:nvGrpSpPr>
            <p:grpSpPr bwMode="auto">
              <a:xfrm>
                <a:off x="912" y="1299"/>
                <a:ext cx="240" cy="240"/>
                <a:chOff x="2078" y="1680"/>
                <a:chExt cx="1615" cy="1615"/>
              </a:xfrm>
            </p:grpSpPr>
            <p:sp>
              <p:nvSpPr>
                <p:cNvPr id="95" name="Oval 12"/>
                <p:cNvSpPr>
                  <a:spLocks noChangeArrowheads="1"/>
                </p:cNvSpPr>
                <p:nvPr/>
              </p:nvSpPr>
              <p:spPr bwMode="gray">
                <a:xfrm>
                  <a:off x="2078" y="1680"/>
                  <a:ext cx="1615" cy="1615"/>
                </a:xfrm>
                <a:prstGeom prst="ellipse">
                  <a:avLst/>
                </a:prstGeom>
                <a:gradFill rotWithShape="1">
                  <a:gsLst>
                    <a:gs pos="0">
                      <a:srgbClr val="FFFFFF">
                        <a:gamma/>
                        <a:shade val="46275"/>
                        <a:invGamma/>
                      </a:srgbClr>
                    </a:gs>
                    <a:gs pos="50000">
                      <a:srgbClr val="FFFFFF"/>
                    </a:gs>
                    <a:gs pos="100000">
                      <a:srgbClr val="FFFFFF">
                        <a:gamma/>
                        <a:shade val="46275"/>
                        <a:invGamma/>
                      </a:srgbClr>
                    </a:gs>
                  </a:gsLst>
                  <a:lin ang="5400000" scaled="1"/>
                </a:gradFill>
                <a:ln>
                  <a:noFill/>
                </a:ln>
                <a:effectLst/>
                <a:extLst>
                  <a:ext uri="{91240B29-F687-4F45-9708-019B960494DF}">
                    <a14:hiddenLine xmlns:a14="http://schemas.microsoft.com/office/drawing/2010/main" w="57150">
                      <a:solidFill>
                        <a:schemeClr val="bg1"/>
                      </a:solidFill>
                      <a:round/>
                    </a14:hiddenLine>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endParaRPr lang="zh-CN" altLang="en-US"/>
                </a:p>
              </p:txBody>
            </p:sp>
            <p:sp>
              <p:nvSpPr>
                <p:cNvPr id="96" name="Oval 13"/>
                <p:cNvSpPr>
                  <a:spLocks noChangeArrowheads="1"/>
                </p:cNvSpPr>
                <p:nvPr/>
              </p:nvSpPr>
              <p:spPr bwMode="gray">
                <a:xfrm>
                  <a:off x="2170" y="1771"/>
                  <a:ext cx="1430" cy="1430"/>
                </a:xfrm>
                <a:prstGeom prst="ellipse">
                  <a:avLst/>
                </a:prstGeom>
                <a:gradFill rotWithShape="1">
                  <a:gsLst>
                    <a:gs pos="0">
                      <a:srgbClr val="FFFFFF">
                        <a:gamma/>
                        <a:shade val="63529"/>
                        <a:invGamma/>
                      </a:srgbClr>
                    </a:gs>
                    <a:gs pos="50000">
                      <a:srgbClr val="FFFFFF"/>
                    </a:gs>
                    <a:gs pos="100000">
                      <a:srgbClr val="FFFFFF">
                        <a:gamma/>
                        <a:shade val="63529"/>
                        <a:invGamma/>
                      </a:srgbClr>
                    </a:gs>
                  </a:gsLst>
                  <a:lin ang="0" scaled="1"/>
                </a:gra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endParaRPr lang="zh-CN" altLang="en-US"/>
                </a:p>
              </p:txBody>
            </p:sp>
            <p:sp>
              <p:nvSpPr>
                <p:cNvPr id="97" name="Oval 14"/>
                <p:cNvSpPr>
                  <a:spLocks noChangeArrowheads="1"/>
                </p:cNvSpPr>
                <p:nvPr/>
              </p:nvSpPr>
              <p:spPr bwMode="gray">
                <a:xfrm>
                  <a:off x="2254" y="1856"/>
                  <a:ext cx="1262" cy="1264"/>
                </a:xfrm>
                <a:prstGeom prst="ellipse">
                  <a:avLst/>
                </a:prstGeom>
                <a:gradFill rotWithShape="1">
                  <a:gsLst>
                    <a:gs pos="0">
                      <a:schemeClr val="hlink">
                        <a:gamma/>
                        <a:tint val="0"/>
                        <a:invGamma/>
                      </a:schemeClr>
                    </a:gs>
                    <a:gs pos="50000">
                      <a:schemeClr val="hlink"/>
                    </a:gs>
                    <a:gs pos="100000">
                      <a:schemeClr val="hlink">
                        <a:gamma/>
                        <a:tint val="0"/>
                        <a:invGamma/>
                      </a:schemeClr>
                    </a:gs>
                  </a:gsLst>
                  <a:lin ang="2700000" scaled="1"/>
                </a:gradFill>
                <a:ln>
                  <a:noFill/>
                </a:ln>
                <a:effectLst/>
                <a:extLst>
                  <a:ext uri="{91240B29-F687-4F45-9708-019B960494DF}">
                    <a14:hiddenLine xmlns:a14="http://schemas.microsoft.com/office/drawing/2010/main" w="38100">
                      <a:solidFill>
                        <a:schemeClr val="bg1"/>
                      </a:solidFill>
                      <a:round/>
                    </a14:hiddenLine>
                  </a:ext>
                  <a:ext uri="{AF507438-7753-43E0-B8FC-AC1667EBCBE1}">
                    <a14:hiddenEffects xmlns:a14="http://schemas.microsoft.com/office/drawing/2010/main">
                      <a:effectLst>
                        <a:outerShdw dist="109250" dir="3267739" algn="ctr" rotWithShape="0">
                          <a:srgbClr val="808080">
                            <a:alpha val="50000"/>
                          </a:srgbClr>
                        </a:outerShdw>
                      </a:effectLst>
                    </a14:hiddenEffects>
                  </a:ext>
                </a:extLst>
              </p:spPr>
              <p:txBody>
                <a:bodyPr wrap="none" anchor="ctr">
                  <a:spAutoFit/>
                </a:bodyPr>
                <a:lstStyle/>
                <a:p>
                  <a:endParaRPr lang="zh-CN" altLang="en-US"/>
                </a:p>
              </p:txBody>
            </p:sp>
            <p:sp>
              <p:nvSpPr>
                <p:cNvPr id="98" name="Oval 15"/>
                <p:cNvSpPr>
                  <a:spLocks noChangeArrowheads="1"/>
                </p:cNvSpPr>
                <p:nvPr/>
              </p:nvSpPr>
              <p:spPr bwMode="gray">
                <a:xfrm>
                  <a:off x="2254" y="1856"/>
                  <a:ext cx="1262" cy="1264"/>
                </a:xfrm>
                <a:prstGeom prst="ellipse">
                  <a:avLst/>
                </a:prstGeom>
                <a:gradFill rotWithShape="1">
                  <a:gsLst>
                    <a:gs pos="0">
                      <a:srgbClr val="FFCC00">
                        <a:gamma/>
                        <a:shade val="0"/>
                        <a:invGamma/>
                      </a:srgbClr>
                    </a:gs>
                    <a:gs pos="100000">
                      <a:srgbClr val="FFCC00"/>
                    </a:gs>
                  </a:gsLst>
                  <a:lin ang="2700000" scaled="1"/>
                </a:gradFill>
                <a:ln>
                  <a:noFill/>
                </a:ln>
                <a:effectLst/>
                <a:extLst>
                  <a:ext uri="{91240B29-F687-4F45-9708-019B960494DF}">
                    <a14:hiddenLine xmlns:a14="http://schemas.microsoft.com/office/drawing/2010/main" w="38100">
                      <a:solidFill>
                        <a:schemeClr val="bg1"/>
                      </a:solidFill>
                      <a:round/>
                    </a14:hiddenLine>
                  </a:ext>
                  <a:ext uri="{AF507438-7753-43E0-B8FC-AC1667EBCBE1}">
                    <a14:hiddenEffects xmlns:a14="http://schemas.microsoft.com/office/drawing/2010/main">
                      <a:effectLst>
                        <a:outerShdw dist="109250" dir="3267739" algn="ctr" rotWithShape="0">
                          <a:srgbClr val="808080">
                            <a:alpha val="50000"/>
                          </a:srgbClr>
                        </a:outerShdw>
                      </a:effectLst>
                    </a14:hiddenEffects>
                  </a:ext>
                </a:extLst>
              </p:spPr>
              <p:txBody>
                <a:bodyPr wrap="none" anchor="ctr">
                  <a:spAutoFit/>
                </a:bodyPr>
                <a:lstStyle/>
                <a:p>
                  <a:endParaRPr lang="zh-CN" altLang="en-US"/>
                </a:p>
              </p:txBody>
            </p:sp>
            <p:sp>
              <p:nvSpPr>
                <p:cNvPr id="99" name="Oval 16"/>
                <p:cNvSpPr>
                  <a:spLocks noChangeArrowheads="1"/>
                </p:cNvSpPr>
                <p:nvPr/>
              </p:nvSpPr>
              <p:spPr bwMode="gray">
                <a:xfrm>
                  <a:off x="2337" y="1939"/>
                  <a:ext cx="1096" cy="1098"/>
                </a:xfrm>
                <a:prstGeom prst="ellipse">
                  <a:avLst/>
                </a:prstGeom>
                <a:gradFill rotWithShape="1">
                  <a:gsLst>
                    <a:gs pos="0">
                      <a:schemeClr val="hlink">
                        <a:gamma/>
                        <a:shade val="54118"/>
                        <a:invGamma/>
                      </a:schemeClr>
                    </a:gs>
                    <a:gs pos="50000">
                      <a:schemeClr val="hlink"/>
                    </a:gs>
                    <a:gs pos="100000">
                      <a:schemeClr val="hlink">
                        <a:gamma/>
                        <a:shade val="54118"/>
                        <a:invGamma/>
                      </a:schemeClr>
                    </a:gs>
                  </a:gsLst>
                  <a:lin ang="18900000" scaled="1"/>
                </a:gradFill>
                <a:ln>
                  <a:noFill/>
                </a:ln>
                <a:effectLst/>
                <a:extLst>
                  <a:ext uri="{91240B29-F687-4F45-9708-019B960494DF}">
                    <a14:hiddenLine xmlns:a14="http://schemas.microsoft.com/office/drawing/2010/main" w="38100">
                      <a:solidFill>
                        <a:schemeClr val="bg1"/>
                      </a:solidFill>
                      <a:round/>
                    </a14:hiddenLine>
                  </a:ext>
                  <a:ext uri="{AF507438-7753-43E0-B8FC-AC1667EBCBE1}">
                    <a14:hiddenEffects xmlns:a14="http://schemas.microsoft.com/office/drawing/2010/main">
                      <a:effectLst>
                        <a:outerShdw dist="109250" dir="3267739" algn="ctr" rotWithShape="0">
                          <a:srgbClr val="808080">
                            <a:alpha val="50000"/>
                          </a:srgbClr>
                        </a:outerShdw>
                      </a:effectLst>
                    </a14:hiddenEffects>
                  </a:ext>
                </a:extLst>
              </p:spPr>
              <p:txBody>
                <a:bodyPr anchor="ctr">
                  <a:spAutoFit/>
                </a:bodyPr>
                <a:lstStyle/>
                <a:p>
                  <a:endParaRPr lang="zh-CN" altLang="en-US"/>
                </a:p>
              </p:txBody>
            </p:sp>
            <p:sp>
              <p:nvSpPr>
                <p:cNvPr id="100" name="Oval 17"/>
                <p:cNvSpPr>
                  <a:spLocks noChangeArrowheads="1"/>
                </p:cNvSpPr>
                <p:nvPr/>
              </p:nvSpPr>
              <p:spPr bwMode="gray">
                <a:xfrm>
                  <a:off x="2337" y="1939"/>
                  <a:ext cx="1096" cy="1098"/>
                </a:xfrm>
                <a:prstGeom prst="ellipse">
                  <a:avLst/>
                </a:prstGeom>
                <a:gradFill rotWithShape="1">
                  <a:gsLst>
                    <a:gs pos="0">
                      <a:srgbClr val="FFCC00"/>
                    </a:gs>
                    <a:gs pos="100000">
                      <a:srgbClr val="FFCC00">
                        <a:gamma/>
                        <a:shade val="48627"/>
                        <a:invGamma/>
                      </a:srgbClr>
                    </a:gs>
                  </a:gsLst>
                  <a:lin ang="2700000" scaled="1"/>
                </a:gradFill>
                <a:ln>
                  <a:noFill/>
                </a:ln>
                <a:effectLst/>
                <a:extLst>
                  <a:ext uri="{91240B29-F687-4F45-9708-019B960494DF}">
                    <a14:hiddenLine xmlns:a14="http://schemas.microsoft.com/office/drawing/2010/main" w="38100">
                      <a:solidFill>
                        <a:schemeClr val="bg1"/>
                      </a:solidFill>
                      <a:round/>
                    </a14:hiddenLine>
                  </a:ext>
                  <a:ext uri="{AF507438-7753-43E0-B8FC-AC1667EBCBE1}">
                    <a14:hiddenEffects xmlns:a14="http://schemas.microsoft.com/office/drawing/2010/main">
                      <a:effectLst>
                        <a:outerShdw dist="109250" dir="3267739" algn="ctr" rotWithShape="0">
                          <a:srgbClr val="808080">
                            <a:alpha val="50000"/>
                          </a:srgbClr>
                        </a:outerShdw>
                      </a:effectLst>
                    </a14:hiddenEffects>
                  </a:ext>
                </a:extLst>
              </p:spPr>
              <p:txBody>
                <a:bodyPr anchor="ctr">
                  <a:spAutoFit/>
                </a:bodyPr>
                <a:lstStyle/>
                <a:p>
                  <a:endParaRPr lang="zh-CN" altLang="en-US"/>
                </a:p>
              </p:txBody>
            </p:sp>
          </p:grpSp>
        </p:grpSp>
        <p:grpSp>
          <p:nvGrpSpPr>
            <p:cNvPr id="57" name="Group 48"/>
            <p:cNvGrpSpPr/>
            <p:nvPr/>
          </p:nvGrpSpPr>
          <p:grpSpPr bwMode="auto">
            <a:xfrm>
              <a:off x="1248" y="1728"/>
              <a:ext cx="2976" cy="320"/>
              <a:chOff x="1248" y="1728"/>
              <a:chExt cx="2976" cy="320"/>
            </a:xfrm>
          </p:grpSpPr>
          <p:sp>
            <p:nvSpPr>
              <p:cNvPr id="85" name="AutoShape 9"/>
              <p:cNvSpPr>
                <a:spLocks noChangeArrowheads="1"/>
              </p:cNvSpPr>
              <p:nvPr/>
            </p:nvSpPr>
            <p:spPr bwMode="gray">
              <a:xfrm>
                <a:off x="1440" y="1728"/>
                <a:ext cx="2784" cy="320"/>
              </a:xfrm>
              <a:prstGeom prst="roundRect">
                <a:avLst>
                  <a:gd name="adj" fmla="val 50000"/>
                </a:avLst>
              </a:prstGeom>
              <a:noFill/>
              <a:ln w="28575" algn="ctr">
                <a:solidFill>
                  <a:schemeClr val="bg2"/>
                </a:solidFill>
                <a:round/>
              </a:ln>
              <a:effectLst/>
              <a:extLst>
                <a:ext uri="{909E8E84-426E-40DD-AFC4-6F175D3DCCD1}">
                  <a14:hiddenFill xmlns:a14="http://schemas.microsoft.com/office/drawing/2010/main">
                    <a:gradFill rotWithShape="1">
                      <a:gsLst>
                        <a:gs pos="0">
                          <a:schemeClr val="folHlink">
                            <a:gamma/>
                            <a:tint val="0"/>
                            <a:invGamma/>
                          </a:schemeClr>
                        </a:gs>
                        <a:gs pos="100000">
                          <a:schemeClr val="folHlink"/>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hangingPunct="0"/>
                <a:r>
                  <a:rPr lang="zh-CN" altLang="en-US" sz="2400" b="1" dirty="0">
                    <a:latin typeface="华文新魏" panose="02010800040101010101" pitchFamily="2" charset="-122"/>
                    <a:ea typeface="华文新魏" panose="02010800040101010101" pitchFamily="2" charset="-122"/>
                  </a:rPr>
                  <a:t>程序设计语言和方法学的发展</a:t>
                </a:r>
                <a:endParaRPr lang="en-US" altLang="zh-CN" sz="2400" b="1" dirty="0">
                  <a:latin typeface="华文新魏" panose="02010800040101010101" pitchFamily="2" charset="-122"/>
                  <a:ea typeface="华文新魏" panose="02010800040101010101" pitchFamily="2" charset="-122"/>
                </a:endParaRPr>
              </a:p>
            </p:txBody>
          </p:sp>
          <p:grpSp>
            <p:nvGrpSpPr>
              <p:cNvPr id="86" name="Group 18"/>
              <p:cNvGrpSpPr/>
              <p:nvPr/>
            </p:nvGrpSpPr>
            <p:grpSpPr bwMode="auto">
              <a:xfrm>
                <a:off x="1248" y="1795"/>
                <a:ext cx="240" cy="240"/>
                <a:chOff x="2078" y="1680"/>
                <a:chExt cx="1615" cy="1615"/>
              </a:xfrm>
            </p:grpSpPr>
            <p:sp>
              <p:nvSpPr>
                <p:cNvPr id="87" name="Oval 19"/>
                <p:cNvSpPr>
                  <a:spLocks noChangeArrowheads="1"/>
                </p:cNvSpPr>
                <p:nvPr/>
              </p:nvSpPr>
              <p:spPr bwMode="gray">
                <a:xfrm>
                  <a:off x="2078" y="1680"/>
                  <a:ext cx="1615" cy="1615"/>
                </a:xfrm>
                <a:prstGeom prst="ellipse">
                  <a:avLst/>
                </a:prstGeom>
                <a:gradFill rotWithShape="1">
                  <a:gsLst>
                    <a:gs pos="0">
                      <a:srgbClr val="FFFFFF">
                        <a:gamma/>
                        <a:shade val="46275"/>
                        <a:invGamma/>
                      </a:srgbClr>
                    </a:gs>
                    <a:gs pos="50000">
                      <a:srgbClr val="FFFFFF"/>
                    </a:gs>
                    <a:gs pos="100000">
                      <a:srgbClr val="FFFFFF">
                        <a:gamma/>
                        <a:shade val="46275"/>
                        <a:invGamma/>
                      </a:srgbClr>
                    </a:gs>
                  </a:gsLst>
                  <a:lin ang="5400000" scaled="1"/>
                </a:gradFill>
                <a:ln>
                  <a:noFill/>
                </a:ln>
                <a:effectLst/>
                <a:extLst>
                  <a:ext uri="{91240B29-F687-4F45-9708-019B960494DF}">
                    <a14:hiddenLine xmlns:a14="http://schemas.microsoft.com/office/drawing/2010/main" w="57150">
                      <a:solidFill>
                        <a:schemeClr val="bg1"/>
                      </a:solidFill>
                      <a:round/>
                    </a14:hiddenLine>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endParaRPr lang="zh-CN" altLang="en-US"/>
                </a:p>
              </p:txBody>
            </p:sp>
            <p:sp>
              <p:nvSpPr>
                <p:cNvPr id="88" name="Oval 20"/>
                <p:cNvSpPr>
                  <a:spLocks noChangeArrowheads="1"/>
                </p:cNvSpPr>
                <p:nvPr/>
              </p:nvSpPr>
              <p:spPr bwMode="gray">
                <a:xfrm>
                  <a:off x="2170" y="1771"/>
                  <a:ext cx="1430" cy="1430"/>
                </a:xfrm>
                <a:prstGeom prst="ellipse">
                  <a:avLst/>
                </a:prstGeom>
                <a:gradFill rotWithShape="1">
                  <a:gsLst>
                    <a:gs pos="0">
                      <a:srgbClr val="FFFFFF">
                        <a:gamma/>
                        <a:shade val="63529"/>
                        <a:invGamma/>
                      </a:srgbClr>
                    </a:gs>
                    <a:gs pos="50000">
                      <a:srgbClr val="FFFFFF"/>
                    </a:gs>
                    <a:gs pos="100000">
                      <a:srgbClr val="FFFFFF">
                        <a:gamma/>
                        <a:shade val="63529"/>
                        <a:invGamma/>
                      </a:srgbClr>
                    </a:gs>
                  </a:gsLst>
                  <a:lin ang="0" scaled="1"/>
                </a:gra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endParaRPr lang="zh-CN" altLang="en-US"/>
                </a:p>
              </p:txBody>
            </p:sp>
            <p:sp>
              <p:nvSpPr>
                <p:cNvPr id="89" name="Oval 21"/>
                <p:cNvSpPr>
                  <a:spLocks noChangeArrowheads="1"/>
                </p:cNvSpPr>
                <p:nvPr/>
              </p:nvSpPr>
              <p:spPr bwMode="gray">
                <a:xfrm>
                  <a:off x="2254" y="1856"/>
                  <a:ext cx="1262" cy="1264"/>
                </a:xfrm>
                <a:prstGeom prst="ellipse">
                  <a:avLst/>
                </a:prstGeom>
                <a:gradFill rotWithShape="1">
                  <a:gsLst>
                    <a:gs pos="0">
                      <a:schemeClr val="hlink">
                        <a:gamma/>
                        <a:tint val="0"/>
                        <a:invGamma/>
                      </a:schemeClr>
                    </a:gs>
                    <a:gs pos="50000">
                      <a:schemeClr val="hlink"/>
                    </a:gs>
                    <a:gs pos="100000">
                      <a:schemeClr val="hlink">
                        <a:gamma/>
                        <a:tint val="0"/>
                        <a:invGamma/>
                      </a:schemeClr>
                    </a:gs>
                  </a:gsLst>
                  <a:lin ang="2700000" scaled="1"/>
                </a:gradFill>
                <a:ln>
                  <a:noFill/>
                </a:ln>
                <a:effectLst/>
                <a:extLst>
                  <a:ext uri="{91240B29-F687-4F45-9708-019B960494DF}">
                    <a14:hiddenLine xmlns:a14="http://schemas.microsoft.com/office/drawing/2010/main" w="38100">
                      <a:solidFill>
                        <a:schemeClr val="bg1"/>
                      </a:solidFill>
                      <a:round/>
                    </a14:hiddenLine>
                  </a:ext>
                  <a:ext uri="{AF507438-7753-43E0-B8FC-AC1667EBCBE1}">
                    <a14:hiddenEffects xmlns:a14="http://schemas.microsoft.com/office/drawing/2010/main">
                      <a:effectLst>
                        <a:outerShdw dist="109250" dir="3267739" algn="ctr" rotWithShape="0">
                          <a:srgbClr val="808080">
                            <a:alpha val="50000"/>
                          </a:srgbClr>
                        </a:outerShdw>
                      </a:effectLst>
                    </a14:hiddenEffects>
                  </a:ext>
                </a:extLst>
              </p:spPr>
              <p:txBody>
                <a:bodyPr wrap="none" anchor="ctr">
                  <a:spAutoFit/>
                </a:bodyPr>
                <a:lstStyle/>
                <a:p>
                  <a:endParaRPr lang="zh-CN" altLang="en-US"/>
                </a:p>
              </p:txBody>
            </p:sp>
            <p:sp>
              <p:nvSpPr>
                <p:cNvPr id="90" name="Oval 22"/>
                <p:cNvSpPr>
                  <a:spLocks noChangeArrowheads="1"/>
                </p:cNvSpPr>
                <p:nvPr/>
              </p:nvSpPr>
              <p:spPr bwMode="gray">
                <a:xfrm>
                  <a:off x="2254" y="1856"/>
                  <a:ext cx="1262" cy="1264"/>
                </a:xfrm>
                <a:prstGeom prst="ellipse">
                  <a:avLst/>
                </a:prstGeom>
                <a:gradFill rotWithShape="1">
                  <a:gsLst>
                    <a:gs pos="0">
                      <a:srgbClr val="48BE67">
                        <a:gamma/>
                        <a:shade val="0"/>
                        <a:invGamma/>
                      </a:srgbClr>
                    </a:gs>
                    <a:gs pos="100000">
                      <a:srgbClr val="48BE67"/>
                    </a:gs>
                  </a:gsLst>
                  <a:lin ang="2700000" scaled="1"/>
                </a:gradFill>
                <a:ln>
                  <a:noFill/>
                </a:ln>
                <a:effectLst/>
                <a:extLst>
                  <a:ext uri="{91240B29-F687-4F45-9708-019B960494DF}">
                    <a14:hiddenLine xmlns:a14="http://schemas.microsoft.com/office/drawing/2010/main" w="38100">
                      <a:solidFill>
                        <a:schemeClr val="bg1"/>
                      </a:solidFill>
                      <a:round/>
                    </a14:hiddenLine>
                  </a:ext>
                  <a:ext uri="{AF507438-7753-43E0-B8FC-AC1667EBCBE1}">
                    <a14:hiddenEffects xmlns:a14="http://schemas.microsoft.com/office/drawing/2010/main">
                      <a:effectLst>
                        <a:outerShdw dist="109250" dir="3267739" algn="ctr" rotWithShape="0">
                          <a:srgbClr val="808080">
                            <a:alpha val="50000"/>
                          </a:srgbClr>
                        </a:outerShdw>
                      </a:effectLst>
                    </a14:hiddenEffects>
                  </a:ext>
                </a:extLst>
              </p:spPr>
              <p:txBody>
                <a:bodyPr wrap="none" anchor="ctr">
                  <a:spAutoFit/>
                </a:bodyPr>
                <a:lstStyle/>
                <a:p>
                  <a:endParaRPr lang="zh-CN" altLang="en-US"/>
                </a:p>
              </p:txBody>
            </p:sp>
            <p:sp>
              <p:nvSpPr>
                <p:cNvPr id="91" name="Oval 23"/>
                <p:cNvSpPr>
                  <a:spLocks noChangeArrowheads="1"/>
                </p:cNvSpPr>
                <p:nvPr/>
              </p:nvSpPr>
              <p:spPr bwMode="gray">
                <a:xfrm>
                  <a:off x="2337" y="1939"/>
                  <a:ext cx="1096" cy="1098"/>
                </a:xfrm>
                <a:prstGeom prst="ellipse">
                  <a:avLst/>
                </a:prstGeom>
                <a:gradFill rotWithShape="1">
                  <a:gsLst>
                    <a:gs pos="0">
                      <a:schemeClr val="hlink">
                        <a:gamma/>
                        <a:shade val="54118"/>
                        <a:invGamma/>
                      </a:schemeClr>
                    </a:gs>
                    <a:gs pos="50000">
                      <a:schemeClr val="hlink"/>
                    </a:gs>
                    <a:gs pos="100000">
                      <a:schemeClr val="hlink">
                        <a:gamma/>
                        <a:shade val="54118"/>
                        <a:invGamma/>
                      </a:schemeClr>
                    </a:gs>
                  </a:gsLst>
                  <a:lin ang="18900000" scaled="1"/>
                </a:gradFill>
                <a:ln>
                  <a:noFill/>
                </a:ln>
                <a:effectLst/>
                <a:extLst>
                  <a:ext uri="{91240B29-F687-4F45-9708-019B960494DF}">
                    <a14:hiddenLine xmlns:a14="http://schemas.microsoft.com/office/drawing/2010/main" w="38100">
                      <a:solidFill>
                        <a:schemeClr val="bg1"/>
                      </a:solidFill>
                      <a:round/>
                    </a14:hiddenLine>
                  </a:ext>
                  <a:ext uri="{AF507438-7753-43E0-B8FC-AC1667EBCBE1}">
                    <a14:hiddenEffects xmlns:a14="http://schemas.microsoft.com/office/drawing/2010/main">
                      <a:effectLst>
                        <a:outerShdw dist="109250" dir="3267739" algn="ctr" rotWithShape="0">
                          <a:srgbClr val="808080">
                            <a:alpha val="50000"/>
                          </a:srgbClr>
                        </a:outerShdw>
                      </a:effectLst>
                    </a14:hiddenEffects>
                  </a:ext>
                </a:extLst>
              </p:spPr>
              <p:txBody>
                <a:bodyPr anchor="ctr">
                  <a:spAutoFit/>
                </a:bodyPr>
                <a:lstStyle/>
                <a:p>
                  <a:endParaRPr lang="zh-CN" altLang="en-US"/>
                </a:p>
              </p:txBody>
            </p:sp>
            <p:sp>
              <p:nvSpPr>
                <p:cNvPr id="92" name="Oval 24"/>
                <p:cNvSpPr>
                  <a:spLocks noChangeArrowheads="1"/>
                </p:cNvSpPr>
                <p:nvPr/>
              </p:nvSpPr>
              <p:spPr bwMode="gray">
                <a:xfrm>
                  <a:off x="2337" y="1939"/>
                  <a:ext cx="1096" cy="1098"/>
                </a:xfrm>
                <a:prstGeom prst="ellipse">
                  <a:avLst/>
                </a:prstGeom>
                <a:gradFill rotWithShape="1">
                  <a:gsLst>
                    <a:gs pos="0">
                      <a:srgbClr val="48BE67"/>
                    </a:gs>
                    <a:gs pos="100000">
                      <a:srgbClr val="48BE67">
                        <a:gamma/>
                        <a:shade val="48627"/>
                        <a:invGamma/>
                      </a:srgbClr>
                    </a:gs>
                  </a:gsLst>
                  <a:lin ang="2700000" scaled="1"/>
                </a:gradFill>
                <a:ln>
                  <a:noFill/>
                </a:ln>
                <a:effectLst/>
                <a:extLst>
                  <a:ext uri="{91240B29-F687-4F45-9708-019B960494DF}">
                    <a14:hiddenLine xmlns:a14="http://schemas.microsoft.com/office/drawing/2010/main" w="38100">
                      <a:solidFill>
                        <a:schemeClr val="bg1"/>
                      </a:solidFill>
                      <a:round/>
                    </a14:hiddenLine>
                  </a:ext>
                  <a:ext uri="{AF507438-7753-43E0-B8FC-AC1667EBCBE1}">
                    <a14:hiddenEffects xmlns:a14="http://schemas.microsoft.com/office/drawing/2010/main">
                      <a:effectLst>
                        <a:outerShdw dist="109250" dir="3267739" algn="ctr" rotWithShape="0">
                          <a:srgbClr val="808080">
                            <a:alpha val="50000"/>
                          </a:srgbClr>
                        </a:outerShdw>
                      </a:effectLst>
                    </a14:hiddenEffects>
                  </a:ext>
                </a:extLst>
              </p:spPr>
              <p:txBody>
                <a:bodyPr anchor="ctr">
                  <a:spAutoFit/>
                </a:bodyPr>
                <a:lstStyle/>
                <a:p>
                  <a:endParaRPr lang="zh-CN" altLang="en-US"/>
                </a:p>
              </p:txBody>
            </p:sp>
          </p:grpSp>
        </p:grpSp>
        <p:grpSp>
          <p:nvGrpSpPr>
            <p:cNvPr id="58" name="Group 49"/>
            <p:cNvGrpSpPr/>
            <p:nvPr/>
          </p:nvGrpSpPr>
          <p:grpSpPr bwMode="auto">
            <a:xfrm>
              <a:off x="1344" y="2275"/>
              <a:ext cx="2976" cy="320"/>
              <a:chOff x="1344" y="2275"/>
              <a:chExt cx="2976" cy="320"/>
            </a:xfrm>
          </p:grpSpPr>
          <p:sp>
            <p:nvSpPr>
              <p:cNvPr id="77" name="AutoShape 8"/>
              <p:cNvSpPr>
                <a:spLocks noChangeArrowheads="1"/>
              </p:cNvSpPr>
              <p:nvPr/>
            </p:nvSpPr>
            <p:spPr bwMode="gray">
              <a:xfrm>
                <a:off x="1536" y="2275"/>
                <a:ext cx="2784" cy="320"/>
              </a:xfrm>
              <a:prstGeom prst="roundRect">
                <a:avLst>
                  <a:gd name="adj" fmla="val 50000"/>
                </a:avLst>
              </a:prstGeom>
              <a:noFill/>
              <a:ln w="28575" algn="ctr">
                <a:solidFill>
                  <a:schemeClr val="bg2"/>
                </a:solidFill>
                <a:rou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hangingPunct="0"/>
                <a:r>
                  <a:rPr lang="en-US" altLang="zh-CN" sz="2400" b="1" dirty="0">
                    <a:latin typeface="华文新魏" panose="02010800040101010101" pitchFamily="2" charset="-122"/>
                    <a:ea typeface="华文新魏" panose="02010800040101010101" pitchFamily="2" charset="-122"/>
                  </a:rPr>
                  <a:t>C++</a:t>
                </a:r>
                <a:r>
                  <a:rPr lang="zh-CN" altLang="en-US" sz="2400" b="1" dirty="0">
                    <a:latin typeface="华文新魏" panose="02010800040101010101" pitchFamily="2" charset="-122"/>
                    <a:ea typeface="华文新魏" panose="02010800040101010101" pitchFamily="2" charset="-122"/>
                  </a:rPr>
                  <a:t>语言概述</a:t>
                </a:r>
                <a:endParaRPr lang="en-US" altLang="zh-CN" sz="2400" b="1" dirty="0">
                  <a:latin typeface="华文新魏" panose="02010800040101010101" pitchFamily="2" charset="-122"/>
                  <a:ea typeface="华文新魏" panose="02010800040101010101" pitchFamily="2" charset="-122"/>
                </a:endParaRPr>
              </a:p>
            </p:txBody>
          </p:sp>
          <p:grpSp>
            <p:nvGrpSpPr>
              <p:cNvPr id="78" name="Group 25"/>
              <p:cNvGrpSpPr/>
              <p:nvPr/>
            </p:nvGrpSpPr>
            <p:grpSpPr bwMode="auto">
              <a:xfrm>
                <a:off x="1344" y="2323"/>
                <a:ext cx="240" cy="240"/>
                <a:chOff x="2078" y="1680"/>
                <a:chExt cx="1615" cy="1615"/>
              </a:xfrm>
            </p:grpSpPr>
            <p:sp>
              <p:nvSpPr>
                <p:cNvPr id="79" name="Oval 26"/>
                <p:cNvSpPr>
                  <a:spLocks noChangeArrowheads="1"/>
                </p:cNvSpPr>
                <p:nvPr/>
              </p:nvSpPr>
              <p:spPr bwMode="gray">
                <a:xfrm>
                  <a:off x="2078" y="1680"/>
                  <a:ext cx="1615" cy="1615"/>
                </a:xfrm>
                <a:prstGeom prst="ellipse">
                  <a:avLst/>
                </a:prstGeom>
                <a:gradFill rotWithShape="1">
                  <a:gsLst>
                    <a:gs pos="0">
                      <a:srgbClr val="FFFFFF">
                        <a:gamma/>
                        <a:shade val="46275"/>
                        <a:invGamma/>
                      </a:srgbClr>
                    </a:gs>
                    <a:gs pos="50000">
                      <a:srgbClr val="FFFFFF"/>
                    </a:gs>
                    <a:gs pos="100000">
                      <a:srgbClr val="FFFFFF">
                        <a:gamma/>
                        <a:shade val="46275"/>
                        <a:invGamma/>
                      </a:srgbClr>
                    </a:gs>
                  </a:gsLst>
                  <a:lin ang="5400000" scaled="1"/>
                </a:gradFill>
                <a:ln>
                  <a:noFill/>
                </a:ln>
                <a:effectLst/>
                <a:extLst>
                  <a:ext uri="{91240B29-F687-4F45-9708-019B960494DF}">
                    <a14:hiddenLine xmlns:a14="http://schemas.microsoft.com/office/drawing/2010/main" w="57150">
                      <a:solidFill>
                        <a:schemeClr val="bg1"/>
                      </a:solidFill>
                      <a:round/>
                    </a14:hiddenLine>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endParaRPr lang="zh-CN" altLang="en-US"/>
                </a:p>
              </p:txBody>
            </p:sp>
            <p:sp>
              <p:nvSpPr>
                <p:cNvPr id="80" name="Oval 27"/>
                <p:cNvSpPr>
                  <a:spLocks noChangeArrowheads="1"/>
                </p:cNvSpPr>
                <p:nvPr/>
              </p:nvSpPr>
              <p:spPr bwMode="gray">
                <a:xfrm>
                  <a:off x="2170" y="1771"/>
                  <a:ext cx="1430" cy="1430"/>
                </a:xfrm>
                <a:prstGeom prst="ellipse">
                  <a:avLst/>
                </a:prstGeom>
                <a:gradFill rotWithShape="1">
                  <a:gsLst>
                    <a:gs pos="0">
                      <a:srgbClr val="FFFFFF">
                        <a:gamma/>
                        <a:shade val="63529"/>
                        <a:invGamma/>
                      </a:srgbClr>
                    </a:gs>
                    <a:gs pos="50000">
                      <a:srgbClr val="FFFFFF"/>
                    </a:gs>
                    <a:gs pos="100000">
                      <a:srgbClr val="FFFFFF">
                        <a:gamma/>
                        <a:shade val="63529"/>
                        <a:invGamma/>
                      </a:srgbClr>
                    </a:gs>
                  </a:gsLst>
                  <a:lin ang="0" scaled="1"/>
                </a:gra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endParaRPr lang="zh-CN" altLang="en-US"/>
                </a:p>
              </p:txBody>
            </p:sp>
            <p:sp>
              <p:nvSpPr>
                <p:cNvPr id="81" name="Oval 28"/>
                <p:cNvSpPr>
                  <a:spLocks noChangeArrowheads="1"/>
                </p:cNvSpPr>
                <p:nvPr/>
              </p:nvSpPr>
              <p:spPr bwMode="gray">
                <a:xfrm>
                  <a:off x="2254" y="1856"/>
                  <a:ext cx="1262" cy="1264"/>
                </a:xfrm>
                <a:prstGeom prst="ellipse">
                  <a:avLst/>
                </a:prstGeom>
                <a:gradFill rotWithShape="1">
                  <a:gsLst>
                    <a:gs pos="0">
                      <a:schemeClr val="hlink">
                        <a:gamma/>
                        <a:tint val="0"/>
                        <a:invGamma/>
                      </a:schemeClr>
                    </a:gs>
                    <a:gs pos="50000">
                      <a:schemeClr val="hlink"/>
                    </a:gs>
                    <a:gs pos="100000">
                      <a:schemeClr val="hlink">
                        <a:gamma/>
                        <a:tint val="0"/>
                        <a:invGamma/>
                      </a:schemeClr>
                    </a:gs>
                  </a:gsLst>
                  <a:lin ang="2700000" scaled="1"/>
                </a:gradFill>
                <a:ln>
                  <a:noFill/>
                </a:ln>
                <a:effectLst/>
                <a:extLst>
                  <a:ext uri="{91240B29-F687-4F45-9708-019B960494DF}">
                    <a14:hiddenLine xmlns:a14="http://schemas.microsoft.com/office/drawing/2010/main" w="38100">
                      <a:solidFill>
                        <a:schemeClr val="bg1"/>
                      </a:solidFill>
                      <a:round/>
                    </a14:hiddenLine>
                  </a:ext>
                  <a:ext uri="{AF507438-7753-43E0-B8FC-AC1667EBCBE1}">
                    <a14:hiddenEffects xmlns:a14="http://schemas.microsoft.com/office/drawing/2010/main">
                      <a:effectLst>
                        <a:outerShdw dist="109250" dir="3267739" algn="ctr" rotWithShape="0">
                          <a:srgbClr val="808080">
                            <a:alpha val="50000"/>
                          </a:srgbClr>
                        </a:outerShdw>
                      </a:effectLst>
                    </a14:hiddenEffects>
                  </a:ext>
                </a:extLst>
              </p:spPr>
              <p:txBody>
                <a:bodyPr wrap="none" anchor="ctr">
                  <a:spAutoFit/>
                </a:bodyPr>
                <a:lstStyle/>
                <a:p>
                  <a:endParaRPr lang="zh-CN" altLang="en-US"/>
                </a:p>
              </p:txBody>
            </p:sp>
            <p:sp>
              <p:nvSpPr>
                <p:cNvPr id="82" name="Oval 29"/>
                <p:cNvSpPr>
                  <a:spLocks noChangeArrowheads="1"/>
                </p:cNvSpPr>
                <p:nvPr/>
              </p:nvSpPr>
              <p:spPr bwMode="gray">
                <a:xfrm>
                  <a:off x="2254" y="1856"/>
                  <a:ext cx="1262" cy="1264"/>
                </a:xfrm>
                <a:prstGeom prst="ellipse">
                  <a:avLst/>
                </a:prstGeom>
                <a:gradFill rotWithShape="1">
                  <a:gsLst>
                    <a:gs pos="0">
                      <a:srgbClr val="21B3E1"/>
                    </a:gs>
                    <a:gs pos="100000">
                      <a:srgbClr val="21B3E1">
                        <a:gamma/>
                        <a:shade val="46275"/>
                        <a:invGamma/>
                      </a:srgbClr>
                    </a:gs>
                  </a:gsLst>
                  <a:lin ang="5400000" scaled="1"/>
                </a:gradFill>
                <a:ln>
                  <a:noFill/>
                </a:ln>
                <a:effectLst/>
                <a:extLst>
                  <a:ext uri="{91240B29-F687-4F45-9708-019B960494DF}">
                    <a14:hiddenLine xmlns:a14="http://schemas.microsoft.com/office/drawing/2010/main" w="38100">
                      <a:solidFill>
                        <a:schemeClr val="bg1"/>
                      </a:solidFill>
                      <a:round/>
                    </a14:hiddenLine>
                  </a:ext>
                  <a:ext uri="{AF507438-7753-43E0-B8FC-AC1667EBCBE1}">
                    <a14:hiddenEffects xmlns:a14="http://schemas.microsoft.com/office/drawing/2010/main">
                      <a:effectLst>
                        <a:outerShdw dist="109250" dir="3267739" algn="ctr" rotWithShape="0">
                          <a:srgbClr val="808080">
                            <a:alpha val="50000"/>
                          </a:srgbClr>
                        </a:outerShdw>
                      </a:effectLst>
                    </a14:hiddenEffects>
                  </a:ext>
                </a:extLst>
              </p:spPr>
              <p:txBody>
                <a:bodyPr wrap="none" anchor="ctr">
                  <a:spAutoFit/>
                </a:bodyPr>
                <a:lstStyle/>
                <a:p>
                  <a:endParaRPr lang="zh-CN" altLang="en-US"/>
                </a:p>
              </p:txBody>
            </p:sp>
            <p:sp>
              <p:nvSpPr>
                <p:cNvPr id="83" name="Oval 30"/>
                <p:cNvSpPr>
                  <a:spLocks noChangeArrowheads="1"/>
                </p:cNvSpPr>
                <p:nvPr/>
              </p:nvSpPr>
              <p:spPr bwMode="gray">
                <a:xfrm>
                  <a:off x="2337" y="1939"/>
                  <a:ext cx="1096" cy="1098"/>
                </a:xfrm>
                <a:prstGeom prst="ellipse">
                  <a:avLst/>
                </a:prstGeom>
                <a:gradFill rotWithShape="1">
                  <a:gsLst>
                    <a:gs pos="0">
                      <a:schemeClr val="hlink">
                        <a:gamma/>
                        <a:shade val="54118"/>
                        <a:invGamma/>
                      </a:schemeClr>
                    </a:gs>
                    <a:gs pos="50000">
                      <a:schemeClr val="hlink"/>
                    </a:gs>
                    <a:gs pos="100000">
                      <a:schemeClr val="hlink">
                        <a:gamma/>
                        <a:shade val="54118"/>
                        <a:invGamma/>
                      </a:schemeClr>
                    </a:gs>
                  </a:gsLst>
                  <a:lin ang="18900000" scaled="1"/>
                </a:gradFill>
                <a:ln>
                  <a:noFill/>
                </a:ln>
                <a:effectLst/>
                <a:extLst>
                  <a:ext uri="{91240B29-F687-4F45-9708-019B960494DF}">
                    <a14:hiddenLine xmlns:a14="http://schemas.microsoft.com/office/drawing/2010/main" w="38100">
                      <a:solidFill>
                        <a:schemeClr val="bg1"/>
                      </a:solidFill>
                      <a:round/>
                    </a14:hiddenLine>
                  </a:ext>
                  <a:ext uri="{AF507438-7753-43E0-B8FC-AC1667EBCBE1}">
                    <a14:hiddenEffects xmlns:a14="http://schemas.microsoft.com/office/drawing/2010/main">
                      <a:effectLst>
                        <a:outerShdw dist="109250" dir="3267739" algn="ctr" rotWithShape="0">
                          <a:srgbClr val="808080">
                            <a:alpha val="50000"/>
                          </a:srgbClr>
                        </a:outerShdw>
                      </a:effectLst>
                    </a14:hiddenEffects>
                  </a:ext>
                </a:extLst>
              </p:spPr>
              <p:txBody>
                <a:bodyPr anchor="ctr">
                  <a:spAutoFit/>
                </a:bodyPr>
                <a:lstStyle/>
                <a:p>
                  <a:endParaRPr lang="zh-CN" altLang="en-US"/>
                </a:p>
              </p:txBody>
            </p:sp>
            <p:sp>
              <p:nvSpPr>
                <p:cNvPr id="84" name="Oval 31"/>
                <p:cNvSpPr>
                  <a:spLocks noChangeArrowheads="1"/>
                </p:cNvSpPr>
                <p:nvPr/>
              </p:nvSpPr>
              <p:spPr bwMode="gray">
                <a:xfrm>
                  <a:off x="2337" y="1939"/>
                  <a:ext cx="1096" cy="1098"/>
                </a:xfrm>
                <a:prstGeom prst="ellipse">
                  <a:avLst/>
                </a:prstGeom>
                <a:gradFill rotWithShape="1">
                  <a:gsLst>
                    <a:gs pos="0">
                      <a:srgbClr val="21B3E1"/>
                    </a:gs>
                    <a:gs pos="100000">
                      <a:srgbClr val="21B3E1">
                        <a:gamma/>
                        <a:shade val="48627"/>
                        <a:invGamma/>
                      </a:srgbClr>
                    </a:gs>
                  </a:gsLst>
                  <a:lin ang="2700000" scaled="1"/>
                </a:gradFill>
                <a:ln>
                  <a:noFill/>
                </a:ln>
                <a:effectLst/>
                <a:extLst>
                  <a:ext uri="{91240B29-F687-4F45-9708-019B960494DF}">
                    <a14:hiddenLine xmlns:a14="http://schemas.microsoft.com/office/drawing/2010/main" w="38100">
                      <a:solidFill>
                        <a:schemeClr val="bg1"/>
                      </a:solidFill>
                      <a:round/>
                    </a14:hiddenLine>
                  </a:ext>
                  <a:ext uri="{AF507438-7753-43E0-B8FC-AC1667EBCBE1}">
                    <a14:hiddenEffects xmlns:a14="http://schemas.microsoft.com/office/drawing/2010/main">
                      <a:effectLst>
                        <a:outerShdw dist="109250" dir="3267739" algn="ctr" rotWithShape="0">
                          <a:srgbClr val="808080">
                            <a:alpha val="50000"/>
                          </a:srgbClr>
                        </a:outerShdw>
                      </a:effectLst>
                    </a14:hiddenEffects>
                  </a:ext>
                </a:extLst>
              </p:spPr>
              <p:txBody>
                <a:bodyPr anchor="ctr">
                  <a:spAutoFit/>
                </a:bodyPr>
                <a:lstStyle/>
                <a:p>
                  <a:endParaRPr lang="zh-CN" altLang="en-US"/>
                </a:p>
              </p:txBody>
            </p:sp>
          </p:grpSp>
        </p:grpSp>
        <p:grpSp>
          <p:nvGrpSpPr>
            <p:cNvPr id="59" name="Group 50"/>
            <p:cNvGrpSpPr/>
            <p:nvPr/>
          </p:nvGrpSpPr>
          <p:grpSpPr bwMode="auto">
            <a:xfrm>
              <a:off x="1248" y="2787"/>
              <a:ext cx="2996" cy="320"/>
              <a:chOff x="1248" y="2787"/>
              <a:chExt cx="2996" cy="320"/>
            </a:xfrm>
          </p:grpSpPr>
          <p:sp>
            <p:nvSpPr>
              <p:cNvPr id="69" name="AutoShape 7"/>
              <p:cNvSpPr>
                <a:spLocks noChangeArrowheads="1"/>
              </p:cNvSpPr>
              <p:nvPr/>
            </p:nvSpPr>
            <p:spPr bwMode="gray">
              <a:xfrm>
                <a:off x="1460" y="2787"/>
                <a:ext cx="2784" cy="320"/>
              </a:xfrm>
              <a:prstGeom prst="roundRect">
                <a:avLst>
                  <a:gd name="adj" fmla="val 50000"/>
                </a:avLst>
              </a:prstGeom>
              <a:noFill/>
              <a:ln w="28575" algn="ctr">
                <a:solidFill>
                  <a:schemeClr val="bg2"/>
                </a:solidFill>
                <a:round/>
              </a:ln>
              <a:effectLst/>
              <a:extLst>
                <a:ext uri="{909E8E84-426E-40DD-AFC4-6F175D3DCCD1}">
                  <a14:hiddenFill xmlns:a14="http://schemas.microsoft.com/office/drawing/2010/main">
                    <a:gradFill rotWithShape="1">
                      <a:gsLst>
                        <a:gs pos="0">
                          <a:schemeClr val="folHlink">
                            <a:gamma/>
                            <a:tint val="0"/>
                            <a:invGamma/>
                          </a:schemeClr>
                        </a:gs>
                        <a:gs pos="100000">
                          <a:schemeClr val="folHlink"/>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hangingPunct="0"/>
                <a:r>
                  <a:rPr lang="zh-CN" altLang="en-US" sz="2400" b="1" dirty="0">
                    <a:latin typeface="华文新魏" panose="02010800040101010101" pitchFamily="2" charset="-122"/>
                    <a:ea typeface="华文新魏" panose="02010800040101010101" pitchFamily="2" charset="-122"/>
                  </a:rPr>
                  <a:t>课程简介</a:t>
                </a:r>
                <a:endParaRPr lang="en-US" altLang="zh-CN" sz="2400" b="1" dirty="0">
                  <a:latin typeface="华文新魏" panose="02010800040101010101" pitchFamily="2" charset="-122"/>
                  <a:ea typeface="华文新魏" panose="02010800040101010101" pitchFamily="2" charset="-122"/>
                </a:endParaRPr>
              </a:p>
            </p:txBody>
          </p:sp>
          <p:grpSp>
            <p:nvGrpSpPr>
              <p:cNvPr id="70" name="Group 32"/>
              <p:cNvGrpSpPr/>
              <p:nvPr/>
            </p:nvGrpSpPr>
            <p:grpSpPr bwMode="auto">
              <a:xfrm>
                <a:off x="1248" y="2851"/>
                <a:ext cx="240" cy="240"/>
                <a:chOff x="2078" y="1680"/>
                <a:chExt cx="1615" cy="1615"/>
              </a:xfrm>
            </p:grpSpPr>
            <p:sp>
              <p:nvSpPr>
                <p:cNvPr id="71" name="Oval 33"/>
                <p:cNvSpPr>
                  <a:spLocks noChangeArrowheads="1"/>
                </p:cNvSpPr>
                <p:nvPr/>
              </p:nvSpPr>
              <p:spPr bwMode="gray">
                <a:xfrm>
                  <a:off x="2078" y="1680"/>
                  <a:ext cx="1615" cy="1615"/>
                </a:xfrm>
                <a:prstGeom prst="ellipse">
                  <a:avLst/>
                </a:prstGeom>
                <a:gradFill rotWithShape="1">
                  <a:gsLst>
                    <a:gs pos="0">
                      <a:srgbClr val="FFFFFF">
                        <a:gamma/>
                        <a:shade val="46275"/>
                        <a:invGamma/>
                      </a:srgbClr>
                    </a:gs>
                    <a:gs pos="50000">
                      <a:srgbClr val="FFFFFF"/>
                    </a:gs>
                    <a:gs pos="100000">
                      <a:srgbClr val="FFFFFF">
                        <a:gamma/>
                        <a:shade val="46275"/>
                        <a:invGamma/>
                      </a:srgbClr>
                    </a:gs>
                  </a:gsLst>
                  <a:lin ang="5400000" scaled="1"/>
                </a:gradFill>
                <a:ln>
                  <a:noFill/>
                </a:ln>
                <a:effectLst/>
                <a:extLst>
                  <a:ext uri="{91240B29-F687-4F45-9708-019B960494DF}">
                    <a14:hiddenLine xmlns:a14="http://schemas.microsoft.com/office/drawing/2010/main" w="57150">
                      <a:solidFill>
                        <a:schemeClr val="bg1"/>
                      </a:solidFill>
                      <a:round/>
                    </a14:hiddenLine>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endParaRPr lang="zh-CN" altLang="en-US"/>
                </a:p>
              </p:txBody>
            </p:sp>
            <p:sp>
              <p:nvSpPr>
                <p:cNvPr id="72" name="Oval 34"/>
                <p:cNvSpPr>
                  <a:spLocks noChangeArrowheads="1"/>
                </p:cNvSpPr>
                <p:nvPr/>
              </p:nvSpPr>
              <p:spPr bwMode="gray">
                <a:xfrm>
                  <a:off x="2170" y="1771"/>
                  <a:ext cx="1430" cy="1430"/>
                </a:xfrm>
                <a:prstGeom prst="ellipse">
                  <a:avLst/>
                </a:prstGeom>
                <a:gradFill rotWithShape="1">
                  <a:gsLst>
                    <a:gs pos="0">
                      <a:srgbClr val="FFFFFF">
                        <a:gamma/>
                        <a:shade val="63529"/>
                        <a:invGamma/>
                      </a:srgbClr>
                    </a:gs>
                    <a:gs pos="50000">
                      <a:srgbClr val="FFFFFF"/>
                    </a:gs>
                    <a:gs pos="100000">
                      <a:srgbClr val="FFFFFF">
                        <a:gamma/>
                        <a:shade val="63529"/>
                        <a:invGamma/>
                      </a:srgbClr>
                    </a:gs>
                  </a:gsLst>
                  <a:lin ang="0" scaled="1"/>
                </a:gra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endParaRPr lang="zh-CN" altLang="en-US"/>
                </a:p>
              </p:txBody>
            </p:sp>
            <p:sp>
              <p:nvSpPr>
                <p:cNvPr id="73" name="Oval 35"/>
                <p:cNvSpPr>
                  <a:spLocks noChangeArrowheads="1"/>
                </p:cNvSpPr>
                <p:nvPr/>
              </p:nvSpPr>
              <p:spPr bwMode="gray">
                <a:xfrm>
                  <a:off x="2254" y="1856"/>
                  <a:ext cx="1262" cy="1264"/>
                </a:xfrm>
                <a:prstGeom prst="ellipse">
                  <a:avLst/>
                </a:prstGeom>
                <a:gradFill rotWithShape="1">
                  <a:gsLst>
                    <a:gs pos="0">
                      <a:schemeClr val="hlink">
                        <a:gamma/>
                        <a:tint val="0"/>
                        <a:invGamma/>
                      </a:schemeClr>
                    </a:gs>
                    <a:gs pos="50000">
                      <a:schemeClr val="hlink"/>
                    </a:gs>
                    <a:gs pos="100000">
                      <a:schemeClr val="hlink">
                        <a:gamma/>
                        <a:tint val="0"/>
                        <a:invGamma/>
                      </a:schemeClr>
                    </a:gs>
                  </a:gsLst>
                  <a:lin ang="2700000" scaled="1"/>
                </a:gradFill>
                <a:ln>
                  <a:noFill/>
                </a:ln>
                <a:effectLst/>
                <a:extLst>
                  <a:ext uri="{91240B29-F687-4F45-9708-019B960494DF}">
                    <a14:hiddenLine xmlns:a14="http://schemas.microsoft.com/office/drawing/2010/main" w="38100">
                      <a:solidFill>
                        <a:schemeClr val="bg1"/>
                      </a:solidFill>
                      <a:round/>
                    </a14:hiddenLine>
                  </a:ext>
                  <a:ext uri="{AF507438-7753-43E0-B8FC-AC1667EBCBE1}">
                    <a14:hiddenEffects xmlns:a14="http://schemas.microsoft.com/office/drawing/2010/main">
                      <a:effectLst>
                        <a:outerShdw dist="109250" dir="3267739" algn="ctr" rotWithShape="0">
                          <a:srgbClr val="808080">
                            <a:alpha val="50000"/>
                          </a:srgbClr>
                        </a:outerShdw>
                      </a:effectLst>
                    </a14:hiddenEffects>
                  </a:ext>
                </a:extLst>
              </p:spPr>
              <p:txBody>
                <a:bodyPr wrap="none" anchor="ctr">
                  <a:spAutoFit/>
                </a:bodyPr>
                <a:lstStyle/>
                <a:p>
                  <a:endParaRPr lang="zh-CN" altLang="en-US"/>
                </a:p>
              </p:txBody>
            </p:sp>
            <p:sp>
              <p:nvSpPr>
                <p:cNvPr id="74" name="Oval 36"/>
                <p:cNvSpPr>
                  <a:spLocks noChangeArrowheads="1"/>
                </p:cNvSpPr>
                <p:nvPr/>
              </p:nvSpPr>
              <p:spPr bwMode="gray">
                <a:xfrm>
                  <a:off x="2254" y="1856"/>
                  <a:ext cx="1262" cy="1264"/>
                </a:xfrm>
                <a:prstGeom prst="ellipse">
                  <a:avLst/>
                </a:prstGeom>
                <a:gradFill rotWithShape="1">
                  <a:gsLst>
                    <a:gs pos="0">
                      <a:srgbClr val="8D67E1">
                        <a:gamma/>
                        <a:shade val="0"/>
                        <a:invGamma/>
                      </a:srgbClr>
                    </a:gs>
                    <a:gs pos="100000">
                      <a:srgbClr val="8D67E1"/>
                    </a:gs>
                  </a:gsLst>
                  <a:lin ang="2700000" scaled="1"/>
                </a:gradFill>
                <a:ln>
                  <a:noFill/>
                </a:ln>
                <a:effectLst/>
                <a:extLst>
                  <a:ext uri="{91240B29-F687-4F45-9708-019B960494DF}">
                    <a14:hiddenLine xmlns:a14="http://schemas.microsoft.com/office/drawing/2010/main" w="38100">
                      <a:solidFill>
                        <a:schemeClr val="bg1"/>
                      </a:solidFill>
                      <a:round/>
                    </a14:hiddenLine>
                  </a:ext>
                  <a:ext uri="{AF507438-7753-43E0-B8FC-AC1667EBCBE1}">
                    <a14:hiddenEffects xmlns:a14="http://schemas.microsoft.com/office/drawing/2010/main">
                      <a:effectLst>
                        <a:outerShdw dist="109250" dir="3267739" algn="ctr" rotWithShape="0">
                          <a:srgbClr val="808080">
                            <a:alpha val="50000"/>
                          </a:srgbClr>
                        </a:outerShdw>
                      </a:effectLst>
                    </a14:hiddenEffects>
                  </a:ext>
                </a:extLst>
              </p:spPr>
              <p:txBody>
                <a:bodyPr wrap="none" anchor="ctr">
                  <a:spAutoFit/>
                </a:bodyPr>
                <a:lstStyle/>
                <a:p>
                  <a:endParaRPr lang="zh-CN" altLang="en-US"/>
                </a:p>
              </p:txBody>
            </p:sp>
            <p:sp>
              <p:nvSpPr>
                <p:cNvPr id="75" name="Oval 37"/>
                <p:cNvSpPr>
                  <a:spLocks noChangeArrowheads="1"/>
                </p:cNvSpPr>
                <p:nvPr/>
              </p:nvSpPr>
              <p:spPr bwMode="gray">
                <a:xfrm>
                  <a:off x="2337" y="1939"/>
                  <a:ext cx="1096" cy="1098"/>
                </a:xfrm>
                <a:prstGeom prst="ellipse">
                  <a:avLst/>
                </a:prstGeom>
                <a:gradFill rotWithShape="1">
                  <a:gsLst>
                    <a:gs pos="0">
                      <a:schemeClr val="hlink">
                        <a:gamma/>
                        <a:shade val="54118"/>
                        <a:invGamma/>
                      </a:schemeClr>
                    </a:gs>
                    <a:gs pos="50000">
                      <a:schemeClr val="hlink"/>
                    </a:gs>
                    <a:gs pos="100000">
                      <a:schemeClr val="hlink">
                        <a:gamma/>
                        <a:shade val="54118"/>
                        <a:invGamma/>
                      </a:schemeClr>
                    </a:gs>
                  </a:gsLst>
                  <a:lin ang="18900000" scaled="1"/>
                </a:gradFill>
                <a:ln>
                  <a:noFill/>
                </a:ln>
                <a:effectLst/>
                <a:extLst>
                  <a:ext uri="{91240B29-F687-4F45-9708-019B960494DF}">
                    <a14:hiddenLine xmlns:a14="http://schemas.microsoft.com/office/drawing/2010/main" w="38100">
                      <a:solidFill>
                        <a:schemeClr val="bg1"/>
                      </a:solidFill>
                      <a:round/>
                    </a14:hiddenLine>
                  </a:ext>
                  <a:ext uri="{AF507438-7753-43E0-B8FC-AC1667EBCBE1}">
                    <a14:hiddenEffects xmlns:a14="http://schemas.microsoft.com/office/drawing/2010/main">
                      <a:effectLst>
                        <a:outerShdw dist="109250" dir="3267739" algn="ctr" rotWithShape="0">
                          <a:srgbClr val="808080">
                            <a:alpha val="50000"/>
                          </a:srgbClr>
                        </a:outerShdw>
                      </a:effectLst>
                    </a14:hiddenEffects>
                  </a:ext>
                </a:extLst>
              </p:spPr>
              <p:txBody>
                <a:bodyPr anchor="ctr">
                  <a:spAutoFit/>
                </a:bodyPr>
                <a:lstStyle/>
                <a:p>
                  <a:endParaRPr lang="zh-CN" altLang="en-US"/>
                </a:p>
              </p:txBody>
            </p:sp>
            <p:sp>
              <p:nvSpPr>
                <p:cNvPr id="76" name="Oval 38"/>
                <p:cNvSpPr>
                  <a:spLocks noChangeArrowheads="1"/>
                </p:cNvSpPr>
                <p:nvPr/>
              </p:nvSpPr>
              <p:spPr bwMode="gray">
                <a:xfrm>
                  <a:off x="2337" y="1939"/>
                  <a:ext cx="1096" cy="1098"/>
                </a:xfrm>
                <a:prstGeom prst="ellipse">
                  <a:avLst/>
                </a:prstGeom>
                <a:gradFill rotWithShape="1">
                  <a:gsLst>
                    <a:gs pos="0">
                      <a:srgbClr val="8D67E1"/>
                    </a:gs>
                    <a:gs pos="100000">
                      <a:srgbClr val="8D67E1">
                        <a:gamma/>
                        <a:shade val="48627"/>
                        <a:invGamma/>
                      </a:srgbClr>
                    </a:gs>
                  </a:gsLst>
                  <a:lin ang="2700000" scaled="1"/>
                </a:gradFill>
                <a:ln>
                  <a:noFill/>
                </a:ln>
                <a:effectLst/>
                <a:extLst>
                  <a:ext uri="{91240B29-F687-4F45-9708-019B960494DF}">
                    <a14:hiddenLine xmlns:a14="http://schemas.microsoft.com/office/drawing/2010/main" w="38100">
                      <a:solidFill>
                        <a:schemeClr val="bg1"/>
                      </a:solidFill>
                      <a:round/>
                    </a14:hiddenLine>
                  </a:ext>
                  <a:ext uri="{AF507438-7753-43E0-B8FC-AC1667EBCBE1}">
                    <a14:hiddenEffects xmlns:a14="http://schemas.microsoft.com/office/drawing/2010/main">
                      <a:effectLst>
                        <a:outerShdw dist="109250" dir="3267739" algn="ctr" rotWithShape="0">
                          <a:srgbClr val="808080">
                            <a:alpha val="50000"/>
                          </a:srgbClr>
                        </a:outerShdw>
                      </a:effectLst>
                    </a14:hiddenEffects>
                  </a:ext>
                </a:extLst>
              </p:spPr>
              <p:txBody>
                <a:bodyPr anchor="ctr">
                  <a:spAutoFit/>
                </a:bodyPr>
                <a:lstStyle/>
                <a:p>
                  <a:endParaRPr lang="zh-CN" altLang="en-US"/>
                </a:p>
              </p:txBody>
            </p:sp>
          </p:grpSp>
        </p:grpSp>
        <p:grpSp>
          <p:nvGrpSpPr>
            <p:cNvPr id="60" name="Group 51"/>
            <p:cNvGrpSpPr/>
            <p:nvPr/>
          </p:nvGrpSpPr>
          <p:grpSpPr bwMode="auto">
            <a:xfrm>
              <a:off x="960" y="3308"/>
              <a:ext cx="2972" cy="320"/>
              <a:chOff x="960" y="3308"/>
              <a:chExt cx="2972" cy="320"/>
            </a:xfrm>
          </p:grpSpPr>
          <p:sp>
            <p:nvSpPr>
              <p:cNvPr id="61" name="AutoShape 6"/>
              <p:cNvSpPr>
                <a:spLocks noChangeArrowheads="1"/>
              </p:cNvSpPr>
              <p:nvPr/>
            </p:nvSpPr>
            <p:spPr bwMode="gray">
              <a:xfrm>
                <a:off x="1148" y="3308"/>
                <a:ext cx="2784" cy="320"/>
              </a:xfrm>
              <a:prstGeom prst="roundRect">
                <a:avLst>
                  <a:gd name="adj" fmla="val 50000"/>
                </a:avLst>
              </a:prstGeom>
              <a:noFill/>
              <a:ln w="28575" algn="ctr">
                <a:solidFill>
                  <a:schemeClr val="bg2"/>
                </a:solidFill>
                <a:rou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hangingPunct="0"/>
                <a:r>
                  <a:rPr lang="zh-CN" altLang="en-US" sz="2400" b="1" dirty="0">
                    <a:latin typeface="华文新魏" panose="02010800040101010101" pitchFamily="2" charset="-122"/>
                    <a:ea typeface="华文新魏" panose="02010800040101010101" pitchFamily="2" charset="-122"/>
                  </a:rPr>
                  <a:t>数制转换</a:t>
                </a:r>
                <a:endParaRPr lang="en-US" altLang="zh-CN" sz="2400" b="1" dirty="0">
                  <a:latin typeface="华文新魏" panose="02010800040101010101" pitchFamily="2" charset="-122"/>
                  <a:ea typeface="华文新魏" panose="02010800040101010101" pitchFamily="2" charset="-122"/>
                </a:endParaRPr>
              </a:p>
            </p:txBody>
          </p:sp>
          <p:grpSp>
            <p:nvGrpSpPr>
              <p:cNvPr id="62" name="Group 39"/>
              <p:cNvGrpSpPr/>
              <p:nvPr/>
            </p:nvGrpSpPr>
            <p:grpSpPr bwMode="auto">
              <a:xfrm>
                <a:off x="960" y="3339"/>
                <a:ext cx="224" cy="240"/>
                <a:chOff x="2078" y="1680"/>
                <a:chExt cx="1615" cy="1615"/>
              </a:xfrm>
            </p:grpSpPr>
            <p:sp>
              <p:nvSpPr>
                <p:cNvPr id="63" name="Oval 40"/>
                <p:cNvSpPr>
                  <a:spLocks noChangeArrowheads="1"/>
                </p:cNvSpPr>
                <p:nvPr/>
              </p:nvSpPr>
              <p:spPr bwMode="gray">
                <a:xfrm>
                  <a:off x="2078" y="1680"/>
                  <a:ext cx="1615" cy="1615"/>
                </a:xfrm>
                <a:prstGeom prst="ellipse">
                  <a:avLst/>
                </a:prstGeom>
                <a:gradFill rotWithShape="1">
                  <a:gsLst>
                    <a:gs pos="0">
                      <a:srgbClr val="FFFFFF">
                        <a:gamma/>
                        <a:shade val="46275"/>
                        <a:invGamma/>
                      </a:srgbClr>
                    </a:gs>
                    <a:gs pos="50000">
                      <a:srgbClr val="FFFFFF"/>
                    </a:gs>
                    <a:gs pos="100000">
                      <a:srgbClr val="FFFFFF">
                        <a:gamma/>
                        <a:shade val="46275"/>
                        <a:invGamma/>
                      </a:srgbClr>
                    </a:gs>
                  </a:gsLst>
                  <a:lin ang="5400000" scaled="1"/>
                </a:gradFill>
                <a:ln>
                  <a:noFill/>
                </a:ln>
                <a:effectLst/>
                <a:extLst>
                  <a:ext uri="{91240B29-F687-4F45-9708-019B960494DF}">
                    <a14:hiddenLine xmlns:a14="http://schemas.microsoft.com/office/drawing/2010/main" w="57150">
                      <a:solidFill>
                        <a:schemeClr val="bg1"/>
                      </a:solidFill>
                      <a:round/>
                    </a14:hiddenLine>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endParaRPr lang="zh-CN" altLang="en-US"/>
                </a:p>
              </p:txBody>
            </p:sp>
            <p:sp>
              <p:nvSpPr>
                <p:cNvPr id="64" name="Oval 41"/>
                <p:cNvSpPr>
                  <a:spLocks noChangeArrowheads="1"/>
                </p:cNvSpPr>
                <p:nvPr/>
              </p:nvSpPr>
              <p:spPr bwMode="gray">
                <a:xfrm>
                  <a:off x="2170" y="1771"/>
                  <a:ext cx="1430" cy="1430"/>
                </a:xfrm>
                <a:prstGeom prst="ellipse">
                  <a:avLst/>
                </a:prstGeom>
                <a:gradFill rotWithShape="1">
                  <a:gsLst>
                    <a:gs pos="0">
                      <a:srgbClr val="FFFFFF">
                        <a:gamma/>
                        <a:shade val="63529"/>
                        <a:invGamma/>
                      </a:srgbClr>
                    </a:gs>
                    <a:gs pos="50000">
                      <a:srgbClr val="FFFFFF"/>
                    </a:gs>
                    <a:gs pos="100000">
                      <a:srgbClr val="FFFFFF">
                        <a:gamma/>
                        <a:shade val="63529"/>
                        <a:invGamma/>
                      </a:srgbClr>
                    </a:gs>
                  </a:gsLst>
                  <a:lin ang="0" scaled="1"/>
                </a:gra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endParaRPr lang="zh-CN" altLang="en-US"/>
                </a:p>
              </p:txBody>
            </p:sp>
            <p:sp>
              <p:nvSpPr>
                <p:cNvPr id="65" name="Oval 42"/>
                <p:cNvSpPr>
                  <a:spLocks noChangeArrowheads="1"/>
                </p:cNvSpPr>
                <p:nvPr/>
              </p:nvSpPr>
              <p:spPr bwMode="gray">
                <a:xfrm>
                  <a:off x="2254" y="1856"/>
                  <a:ext cx="1262" cy="1264"/>
                </a:xfrm>
                <a:prstGeom prst="ellipse">
                  <a:avLst/>
                </a:prstGeom>
                <a:gradFill rotWithShape="1">
                  <a:gsLst>
                    <a:gs pos="0">
                      <a:schemeClr val="hlink">
                        <a:gamma/>
                        <a:tint val="0"/>
                        <a:invGamma/>
                      </a:schemeClr>
                    </a:gs>
                    <a:gs pos="50000">
                      <a:schemeClr val="hlink"/>
                    </a:gs>
                    <a:gs pos="100000">
                      <a:schemeClr val="hlink">
                        <a:gamma/>
                        <a:tint val="0"/>
                        <a:invGamma/>
                      </a:schemeClr>
                    </a:gs>
                  </a:gsLst>
                  <a:lin ang="2700000" scaled="1"/>
                </a:gradFill>
                <a:ln>
                  <a:noFill/>
                </a:ln>
                <a:effectLst/>
                <a:extLst>
                  <a:ext uri="{91240B29-F687-4F45-9708-019B960494DF}">
                    <a14:hiddenLine xmlns:a14="http://schemas.microsoft.com/office/drawing/2010/main" w="38100">
                      <a:solidFill>
                        <a:schemeClr val="bg1"/>
                      </a:solidFill>
                      <a:round/>
                    </a14:hiddenLine>
                  </a:ext>
                  <a:ext uri="{AF507438-7753-43E0-B8FC-AC1667EBCBE1}">
                    <a14:hiddenEffects xmlns:a14="http://schemas.microsoft.com/office/drawing/2010/main">
                      <a:effectLst>
                        <a:outerShdw dist="109250" dir="3267739" algn="ctr" rotWithShape="0">
                          <a:srgbClr val="808080">
                            <a:alpha val="50000"/>
                          </a:srgbClr>
                        </a:outerShdw>
                      </a:effectLst>
                    </a14:hiddenEffects>
                  </a:ext>
                </a:extLst>
              </p:spPr>
              <p:txBody>
                <a:bodyPr wrap="none" anchor="ctr">
                  <a:spAutoFit/>
                </a:bodyPr>
                <a:lstStyle/>
                <a:p>
                  <a:endParaRPr lang="zh-CN" altLang="en-US"/>
                </a:p>
              </p:txBody>
            </p:sp>
            <p:sp>
              <p:nvSpPr>
                <p:cNvPr id="66" name="Oval 43"/>
                <p:cNvSpPr>
                  <a:spLocks noChangeArrowheads="1"/>
                </p:cNvSpPr>
                <p:nvPr/>
              </p:nvSpPr>
              <p:spPr bwMode="gray">
                <a:xfrm>
                  <a:off x="2254" y="1856"/>
                  <a:ext cx="1262" cy="1264"/>
                </a:xfrm>
                <a:prstGeom prst="ellipse">
                  <a:avLst/>
                </a:prstGeom>
                <a:gradFill rotWithShape="1">
                  <a:gsLst>
                    <a:gs pos="0">
                      <a:srgbClr val="E35E23">
                        <a:gamma/>
                        <a:shade val="0"/>
                        <a:invGamma/>
                      </a:srgbClr>
                    </a:gs>
                    <a:gs pos="100000">
                      <a:srgbClr val="E35E23"/>
                    </a:gs>
                  </a:gsLst>
                  <a:lin ang="2700000" scaled="1"/>
                </a:gradFill>
                <a:ln>
                  <a:noFill/>
                </a:ln>
                <a:effectLst/>
                <a:extLst>
                  <a:ext uri="{91240B29-F687-4F45-9708-019B960494DF}">
                    <a14:hiddenLine xmlns:a14="http://schemas.microsoft.com/office/drawing/2010/main" w="38100">
                      <a:solidFill>
                        <a:schemeClr val="bg1"/>
                      </a:solidFill>
                      <a:round/>
                    </a14:hiddenLine>
                  </a:ext>
                  <a:ext uri="{AF507438-7753-43E0-B8FC-AC1667EBCBE1}">
                    <a14:hiddenEffects xmlns:a14="http://schemas.microsoft.com/office/drawing/2010/main">
                      <a:effectLst>
                        <a:outerShdw dist="109250" dir="3267739" algn="ctr" rotWithShape="0">
                          <a:srgbClr val="808080">
                            <a:alpha val="50000"/>
                          </a:srgbClr>
                        </a:outerShdw>
                      </a:effectLst>
                    </a14:hiddenEffects>
                  </a:ext>
                </a:extLst>
              </p:spPr>
              <p:txBody>
                <a:bodyPr wrap="none" anchor="ctr">
                  <a:spAutoFit/>
                </a:bodyPr>
                <a:lstStyle/>
                <a:p>
                  <a:endParaRPr lang="zh-CN" altLang="en-US"/>
                </a:p>
              </p:txBody>
            </p:sp>
            <p:sp>
              <p:nvSpPr>
                <p:cNvPr id="67" name="Oval 44"/>
                <p:cNvSpPr>
                  <a:spLocks noChangeArrowheads="1"/>
                </p:cNvSpPr>
                <p:nvPr/>
              </p:nvSpPr>
              <p:spPr bwMode="gray">
                <a:xfrm>
                  <a:off x="2337" y="1939"/>
                  <a:ext cx="1096" cy="1098"/>
                </a:xfrm>
                <a:prstGeom prst="ellipse">
                  <a:avLst/>
                </a:prstGeom>
                <a:gradFill rotWithShape="1">
                  <a:gsLst>
                    <a:gs pos="0">
                      <a:schemeClr val="hlink">
                        <a:gamma/>
                        <a:shade val="54118"/>
                        <a:invGamma/>
                      </a:schemeClr>
                    </a:gs>
                    <a:gs pos="50000">
                      <a:schemeClr val="hlink"/>
                    </a:gs>
                    <a:gs pos="100000">
                      <a:schemeClr val="hlink">
                        <a:gamma/>
                        <a:shade val="54118"/>
                        <a:invGamma/>
                      </a:schemeClr>
                    </a:gs>
                  </a:gsLst>
                  <a:lin ang="18900000" scaled="1"/>
                </a:gradFill>
                <a:ln>
                  <a:noFill/>
                </a:ln>
                <a:effectLst/>
                <a:extLst>
                  <a:ext uri="{91240B29-F687-4F45-9708-019B960494DF}">
                    <a14:hiddenLine xmlns:a14="http://schemas.microsoft.com/office/drawing/2010/main" w="38100">
                      <a:solidFill>
                        <a:schemeClr val="bg1"/>
                      </a:solidFill>
                      <a:round/>
                    </a14:hiddenLine>
                  </a:ext>
                  <a:ext uri="{AF507438-7753-43E0-B8FC-AC1667EBCBE1}">
                    <a14:hiddenEffects xmlns:a14="http://schemas.microsoft.com/office/drawing/2010/main">
                      <a:effectLst>
                        <a:outerShdw dist="109250" dir="3267739" algn="ctr" rotWithShape="0">
                          <a:srgbClr val="808080">
                            <a:alpha val="50000"/>
                          </a:srgbClr>
                        </a:outerShdw>
                      </a:effectLst>
                    </a14:hiddenEffects>
                  </a:ext>
                </a:extLst>
              </p:spPr>
              <p:txBody>
                <a:bodyPr anchor="ctr">
                  <a:spAutoFit/>
                </a:bodyPr>
                <a:lstStyle/>
                <a:p>
                  <a:endParaRPr lang="zh-CN" altLang="en-US"/>
                </a:p>
              </p:txBody>
            </p:sp>
            <p:sp>
              <p:nvSpPr>
                <p:cNvPr id="68" name="Oval 45"/>
                <p:cNvSpPr>
                  <a:spLocks noChangeArrowheads="1"/>
                </p:cNvSpPr>
                <p:nvPr/>
              </p:nvSpPr>
              <p:spPr bwMode="gray">
                <a:xfrm>
                  <a:off x="2337" y="1939"/>
                  <a:ext cx="1096" cy="1098"/>
                </a:xfrm>
                <a:prstGeom prst="ellipse">
                  <a:avLst/>
                </a:prstGeom>
                <a:gradFill rotWithShape="1">
                  <a:gsLst>
                    <a:gs pos="0">
                      <a:srgbClr val="E35E23"/>
                    </a:gs>
                    <a:gs pos="100000">
                      <a:srgbClr val="E35E23">
                        <a:gamma/>
                        <a:shade val="48627"/>
                        <a:invGamma/>
                      </a:srgbClr>
                    </a:gs>
                  </a:gsLst>
                  <a:lin ang="2700000" scaled="1"/>
                </a:gradFill>
                <a:ln>
                  <a:noFill/>
                </a:ln>
                <a:effectLst/>
                <a:extLst>
                  <a:ext uri="{91240B29-F687-4F45-9708-019B960494DF}">
                    <a14:hiddenLine xmlns:a14="http://schemas.microsoft.com/office/drawing/2010/main" w="38100">
                      <a:solidFill>
                        <a:schemeClr val="bg1"/>
                      </a:solidFill>
                      <a:round/>
                    </a14:hiddenLine>
                  </a:ext>
                  <a:ext uri="{AF507438-7753-43E0-B8FC-AC1667EBCBE1}">
                    <a14:hiddenEffects xmlns:a14="http://schemas.microsoft.com/office/drawing/2010/main">
                      <a:effectLst>
                        <a:outerShdw dist="109250" dir="3267739" algn="ctr" rotWithShape="0">
                          <a:srgbClr val="808080">
                            <a:alpha val="50000"/>
                          </a:srgbClr>
                        </a:outerShdw>
                      </a:effectLst>
                    </a14:hiddenEffects>
                  </a:ext>
                </a:extLst>
              </p:spPr>
              <p:txBody>
                <a:bodyPr anchor="ctr">
                  <a:spAutoFit/>
                </a:bodyPr>
                <a:lstStyle/>
                <a:p>
                  <a:endParaRPr lang="zh-CN" altLang="en-US"/>
                </a:p>
              </p:txBody>
            </p:sp>
          </p:grpSp>
        </p:grpSp>
      </p:gr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计算机与程序设计</a:t>
            </a:r>
            <a:endParaRPr lang="zh-CN" altLang="en-US" dirty="0"/>
          </a:p>
        </p:txBody>
      </p:sp>
      <p:sp>
        <p:nvSpPr>
          <p:cNvPr id="3" name="内容占位符 2"/>
          <p:cNvSpPr>
            <a:spLocks noGrp="1"/>
          </p:cNvSpPr>
          <p:nvPr>
            <p:ph idx="1"/>
          </p:nvPr>
        </p:nvSpPr>
        <p:spPr>
          <a:xfrm>
            <a:off x="457200" y="1828800"/>
            <a:ext cx="8229600" cy="736104"/>
          </a:xfrm>
        </p:spPr>
        <p:txBody>
          <a:bodyPr/>
          <a:lstStyle/>
          <a:p>
            <a:r>
              <a:rPr lang="zh-CN" altLang="en-US" dirty="0"/>
              <a:t>计算机（</a:t>
            </a:r>
            <a:r>
              <a:rPr lang="en-US" altLang="zh-CN" dirty="0"/>
              <a:t>Computer</a:t>
            </a:r>
            <a:r>
              <a:rPr lang="zh-CN" altLang="en-US" dirty="0"/>
              <a:t>）</a:t>
            </a:r>
            <a:endParaRPr lang="en-US" altLang="zh-CN" dirty="0"/>
          </a:p>
        </p:txBody>
      </p:sp>
      <p:pic>
        <p:nvPicPr>
          <p:cNvPr id="4" name="图片 3" descr="笔记本.jpg"/>
          <p:cNvPicPr>
            <a:picLocks noChangeAspect="1"/>
          </p:cNvPicPr>
          <p:nvPr/>
        </p:nvPicPr>
        <p:blipFill>
          <a:blip r:embed="rId1" cstate="print"/>
          <a:stretch>
            <a:fillRect/>
          </a:stretch>
        </p:blipFill>
        <p:spPr>
          <a:xfrm>
            <a:off x="3746496" y="2528138"/>
            <a:ext cx="2641668" cy="1981251"/>
          </a:xfrm>
          <a:prstGeom prst="rect">
            <a:avLst/>
          </a:prstGeom>
        </p:spPr>
      </p:pic>
      <p:pic>
        <p:nvPicPr>
          <p:cNvPr id="5" name="图片 4" descr="台式机.jpg"/>
          <p:cNvPicPr>
            <a:picLocks noChangeAspect="1"/>
          </p:cNvPicPr>
          <p:nvPr/>
        </p:nvPicPr>
        <p:blipFill>
          <a:blip r:embed="rId2" cstate="print"/>
          <a:stretch>
            <a:fillRect/>
          </a:stretch>
        </p:blipFill>
        <p:spPr>
          <a:xfrm>
            <a:off x="624638" y="2528138"/>
            <a:ext cx="3170001" cy="2377501"/>
          </a:xfrm>
          <a:prstGeom prst="rect">
            <a:avLst/>
          </a:prstGeom>
        </p:spPr>
      </p:pic>
      <p:pic>
        <p:nvPicPr>
          <p:cNvPr id="6" name="图片 5" descr="小型机.jpg"/>
          <p:cNvPicPr>
            <a:picLocks noChangeAspect="1"/>
          </p:cNvPicPr>
          <p:nvPr/>
        </p:nvPicPr>
        <p:blipFill>
          <a:blip r:embed="rId3" cstate="print"/>
          <a:stretch>
            <a:fillRect/>
          </a:stretch>
        </p:blipFill>
        <p:spPr>
          <a:xfrm>
            <a:off x="6804248" y="2775794"/>
            <a:ext cx="1981251" cy="1485938"/>
          </a:xfrm>
          <a:prstGeom prst="rect">
            <a:avLst/>
          </a:prstGeom>
        </p:spPr>
      </p:pic>
      <p:pic>
        <p:nvPicPr>
          <p:cNvPr id="9" name="图片 8"/>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198076" y="4509389"/>
            <a:ext cx="1456760" cy="1456760"/>
          </a:xfrm>
          <a:prstGeom prst="rect">
            <a:avLst/>
          </a:prstGeom>
        </p:spPr>
      </p:pic>
      <p:pic>
        <p:nvPicPr>
          <p:cNvPr id="10" name="图片 9"/>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6084168" y="4905639"/>
            <a:ext cx="865227" cy="865227"/>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计算机与程序设计</a:t>
            </a:r>
            <a:endParaRPr lang="zh-CN" altLang="en-US" dirty="0"/>
          </a:p>
        </p:txBody>
      </p:sp>
      <p:sp>
        <p:nvSpPr>
          <p:cNvPr id="3" name="内容占位符 2"/>
          <p:cNvSpPr>
            <a:spLocks noGrp="1"/>
          </p:cNvSpPr>
          <p:nvPr>
            <p:ph idx="1"/>
          </p:nvPr>
        </p:nvSpPr>
        <p:spPr>
          <a:xfrm>
            <a:off x="381000" y="1371600"/>
            <a:ext cx="8229600" cy="600068"/>
          </a:xfrm>
        </p:spPr>
        <p:txBody>
          <a:bodyPr/>
          <a:lstStyle/>
          <a:p>
            <a:r>
              <a:rPr lang="zh-CN" altLang="en-US" dirty="0"/>
              <a:t>计算机体系结构</a:t>
            </a:r>
            <a:r>
              <a:rPr lang="en-US" altLang="zh-CN" dirty="0"/>
              <a:t>——</a:t>
            </a:r>
            <a:r>
              <a:rPr lang="zh-CN" altLang="en-US" dirty="0"/>
              <a:t>冯</a:t>
            </a:r>
            <a:r>
              <a:rPr lang="en-US" altLang="zh-CN" dirty="0"/>
              <a:t>·</a:t>
            </a:r>
            <a:r>
              <a:rPr lang="zh-CN" altLang="en-US" dirty="0"/>
              <a:t>诺依曼结构：</a:t>
            </a:r>
            <a:r>
              <a:rPr lang="zh-CN" altLang="en-US" sz="2800" dirty="0"/>
              <a:t>计算机由</a:t>
            </a:r>
            <a:r>
              <a:rPr lang="zh-CN" altLang="en-US" sz="2800" dirty="0">
                <a:solidFill>
                  <a:srgbClr val="FF0000"/>
                </a:solidFill>
              </a:rPr>
              <a:t>控制器、运算器、存储器、输入设备、输出设备</a:t>
            </a:r>
            <a:r>
              <a:rPr lang="zh-CN" altLang="en-US" sz="2800" dirty="0"/>
              <a:t>五部分组成。冯</a:t>
            </a:r>
            <a:r>
              <a:rPr lang="en-US" altLang="zh-CN" sz="2800" dirty="0"/>
              <a:t>·</a:t>
            </a:r>
            <a:r>
              <a:rPr lang="zh-CN" altLang="en-US" sz="2800" dirty="0"/>
              <a:t>诺伊曼提出的计算机体系结构，奠定了现代计算机的结构理念。</a:t>
            </a:r>
            <a:endParaRPr lang="en-US" altLang="zh-CN" sz="2800" dirty="0"/>
          </a:p>
        </p:txBody>
      </p:sp>
      <p:pic>
        <p:nvPicPr>
          <p:cNvPr id="4098" name="Picture 2" descr="F:\teachingWork\C++课件\人工智能学院\ref\10.png"/>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133600" y="3352800"/>
            <a:ext cx="5543330" cy="2958721"/>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计算机与程序设计</a:t>
            </a:r>
            <a:endParaRPr lang="zh-CN" altLang="en-US" dirty="0"/>
          </a:p>
        </p:txBody>
      </p:sp>
      <p:sp>
        <p:nvSpPr>
          <p:cNvPr id="3" name="内容占位符 2"/>
          <p:cNvSpPr>
            <a:spLocks noGrp="1"/>
          </p:cNvSpPr>
          <p:nvPr>
            <p:ph idx="1"/>
          </p:nvPr>
        </p:nvSpPr>
        <p:spPr>
          <a:xfrm>
            <a:off x="152400" y="1295400"/>
            <a:ext cx="8534400" cy="4953000"/>
          </a:xfrm>
        </p:spPr>
        <p:txBody>
          <a:bodyPr/>
          <a:lstStyle/>
          <a:p>
            <a:r>
              <a:rPr lang="zh-CN" altLang="en-US" dirty="0"/>
              <a:t>计算机的组成</a:t>
            </a:r>
            <a:endParaRPr lang="en-US" altLang="zh-CN" dirty="0"/>
          </a:p>
          <a:p>
            <a:pPr lvl="1"/>
            <a:r>
              <a:rPr lang="zh-CN" altLang="en-US" dirty="0">
                <a:solidFill>
                  <a:srgbClr val="0000CC"/>
                </a:solidFill>
              </a:rPr>
              <a:t>存储器</a:t>
            </a:r>
            <a:r>
              <a:rPr lang="zh-CN" altLang="en-US" dirty="0"/>
              <a:t>（</a:t>
            </a:r>
            <a:r>
              <a:rPr lang="en-US" altLang="zh-CN" dirty="0"/>
              <a:t>RAM － Random Access Memory）：</a:t>
            </a:r>
            <a:r>
              <a:rPr lang="zh-CN" altLang="en-US" dirty="0"/>
              <a:t>存储程序指令和数据，包括随机存取存储器和只读存储器（</a:t>
            </a:r>
            <a:r>
              <a:rPr lang="en-US" altLang="zh-CN" dirty="0"/>
              <a:t>Read Only Memory</a:t>
            </a:r>
            <a:r>
              <a:rPr lang="zh-CN" altLang="en-US" dirty="0"/>
              <a:t>）</a:t>
            </a:r>
            <a:endParaRPr lang="en-US" altLang="zh-CN" dirty="0"/>
          </a:p>
          <a:p>
            <a:pPr lvl="1"/>
            <a:r>
              <a:rPr lang="zh-CN" altLang="en-US" dirty="0">
                <a:solidFill>
                  <a:srgbClr val="0000CC"/>
                </a:solidFill>
              </a:rPr>
              <a:t>中央处理器</a:t>
            </a:r>
            <a:r>
              <a:rPr lang="zh-CN" altLang="en-US" dirty="0"/>
              <a:t>（</a:t>
            </a:r>
            <a:r>
              <a:rPr lang="en-US" altLang="zh-CN" dirty="0"/>
              <a:t>CPU － Central Processing Unit）：</a:t>
            </a:r>
            <a:r>
              <a:rPr lang="zh-CN" altLang="en-US" dirty="0"/>
              <a:t>又可细分为</a:t>
            </a:r>
            <a:r>
              <a:rPr lang="zh-CN" altLang="en-US" dirty="0">
                <a:solidFill>
                  <a:srgbClr val="FF0000"/>
                </a:solidFill>
              </a:rPr>
              <a:t>控制器（</a:t>
            </a:r>
            <a:r>
              <a:rPr lang="en-US" altLang="zh-CN" dirty="0">
                <a:solidFill>
                  <a:srgbClr val="FF0000"/>
                </a:solidFill>
              </a:rPr>
              <a:t>CU）</a:t>
            </a:r>
            <a:r>
              <a:rPr lang="zh-CN" altLang="en-US" dirty="0">
                <a:solidFill>
                  <a:srgbClr val="FF0000"/>
                </a:solidFill>
              </a:rPr>
              <a:t>和运算器（</a:t>
            </a:r>
            <a:r>
              <a:rPr lang="en-US" altLang="zh-CN" dirty="0">
                <a:solidFill>
                  <a:srgbClr val="FF0000"/>
                </a:solidFill>
              </a:rPr>
              <a:t>ALU</a:t>
            </a:r>
            <a:r>
              <a:rPr lang="en-US" altLang="zh-CN" dirty="0"/>
              <a:t>），</a:t>
            </a:r>
            <a:r>
              <a:rPr lang="zh-CN" altLang="en-US" dirty="0"/>
              <a:t>即，</a:t>
            </a:r>
            <a:r>
              <a:rPr lang="en-US" altLang="zh-CN" dirty="0"/>
              <a:t>CPU = CU + ALU。</a:t>
            </a:r>
            <a:endParaRPr lang="en-US" altLang="zh-CN" dirty="0"/>
          </a:p>
          <a:p>
            <a:pPr lvl="1"/>
            <a:r>
              <a:rPr lang="zh-CN" altLang="en-US" dirty="0">
                <a:solidFill>
                  <a:srgbClr val="0000CC"/>
                </a:solidFill>
              </a:rPr>
              <a:t>输入输出设备</a:t>
            </a:r>
            <a:r>
              <a:rPr lang="zh-CN" altLang="en-US" dirty="0"/>
              <a:t>（</a:t>
            </a:r>
            <a:r>
              <a:rPr lang="en-US" altLang="zh-CN" dirty="0"/>
              <a:t>I/O － Input / Output）：</a:t>
            </a:r>
            <a:r>
              <a:rPr lang="zh-CN" altLang="en-US" dirty="0"/>
              <a:t>也称外部设备，负责对数据和程序进行输入与输出。</a:t>
            </a:r>
            <a:endParaRPr lang="zh-CN" altLang="en-US"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2"/>
          <p:cNvSpPr>
            <a:spLocks noGrp="1" noChangeArrowheads="1"/>
          </p:cNvSpPr>
          <p:nvPr>
            <p:ph type="title"/>
          </p:nvPr>
        </p:nvSpPr>
        <p:spPr/>
        <p:txBody>
          <a:bodyPr/>
          <a:lstStyle/>
          <a:p>
            <a:r>
              <a:rPr lang="zh-CN" altLang="en-US" dirty="0">
                <a:ea typeface="宋体" panose="02010600030101010101" pitchFamily="2" charset="-122"/>
              </a:rPr>
              <a:t>计算机组成</a:t>
            </a:r>
            <a:endParaRPr lang="en-US" altLang="zh-CN" dirty="0">
              <a:ea typeface="宋体" panose="02010600030101010101" pitchFamily="2" charset="-122"/>
            </a:endParaRPr>
          </a:p>
        </p:txBody>
      </p:sp>
      <p:sp>
        <p:nvSpPr>
          <p:cNvPr id="51203" name="AutoShape 3"/>
          <p:cNvSpPr>
            <a:spLocks noChangeArrowheads="1"/>
          </p:cNvSpPr>
          <p:nvPr/>
        </p:nvSpPr>
        <p:spPr bwMode="gray">
          <a:xfrm rot="39573186">
            <a:off x="4699913" y="2235784"/>
            <a:ext cx="792163" cy="288925"/>
          </a:xfrm>
          <a:prstGeom prst="rightArrow">
            <a:avLst>
              <a:gd name="adj1" fmla="val 35167"/>
              <a:gd name="adj2" fmla="val 111029"/>
            </a:avLst>
          </a:prstGeom>
          <a:gradFill rotWithShape="1">
            <a:gsLst>
              <a:gs pos="0">
                <a:schemeClr val="tx2">
                  <a:gamma/>
                  <a:shade val="89020"/>
                  <a:invGamma/>
                  <a:alpha val="0"/>
                </a:schemeClr>
              </a:gs>
              <a:gs pos="100000">
                <a:schemeClr val="tx2"/>
              </a:gs>
            </a:gsLst>
            <a:lin ang="0" scaled="1"/>
          </a:gradFill>
          <a:ln w="0" algn="ctr">
            <a:noFill/>
            <a:miter lim="800000"/>
          </a:ln>
          <a:effectLst/>
        </p:spPr>
        <p:txBody>
          <a:bodyPr wrap="none" anchor="ctr"/>
          <a:lstStyle/>
          <a:p>
            <a:endParaRPr lang="zh-CN" altLang="en-US"/>
          </a:p>
        </p:txBody>
      </p:sp>
      <p:sp>
        <p:nvSpPr>
          <p:cNvPr id="51204" name="AutoShape 4"/>
          <p:cNvSpPr>
            <a:spLocks noChangeArrowheads="1"/>
          </p:cNvSpPr>
          <p:nvPr/>
        </p:nvSpPr>
        <p:spPr bwMode="gray">
          <a:xfrm rot="3465783">
            <a:off x="4699914" y="4399546"/>
            <a:ext cx="792162" cy="288925"/>
          </a:xfrm>
          <a:prstGeom prst="rightArrow">
            <a:avLst>
              <a:gd name="adj1" fmla="val 35167"/>
              <a:gd name="adj2" fmla="val 111028"/>
            </a:avLst>
          </a:prstGeom>
          <a:gradFill rotWithShape="1">
            <a:gsLst>
              <a:gs pos="0">
                <a:schemeClr val="tx2">
                  <a:gamma/>
                  <a:shade val="89020"/>
                  <a:invGamma/>
                  <a:alpha val="0"/>
                </a:schemeClr>
              </a:gs>
              <a:gs pos="100000">
                <a:schemeClr val="tx2"/>
              </a:gs>
            </a:gsLst>
            <a:lin ang="0" scaled="1"/>
          </a:gradFill>
          <a:ln w="0" algn="ctr">
            <a:noFill/>
            <a:miter lim="800000"/>
          </a:ln>
          <a:effectLst/>
        </p:spPr>
        <p:txBody>
          <a:bodyPr wrap="none" anchor="ctr"/>
          <a:lstStyle/>
          <a:p>
            <a:endParaRPr lang="zh-CN" altLang="en-US"/>
          </a:p>
        </p:txBody>
      </p:sp>
      <p:sp>
        <p:nvSpPr>
          <p:cNvPr id="51205" name="AutoShape 5"/>
          <p:cNvSpPr>
            <a:spLocks noChangeArrowheads="1"/>
          </p:cNvSpPr>
          <p:nvPr/>
        </p:nvSpPr>
        <p:spPr bwMode="gray">
          <a:xfrm rot="35969022">
            <a:off x="3480713" y="2311984"/>
            <a:ext cx="792163" cy="288925"/>
          </a:xfrm>
          <a:prstGeom prst="rightArrow">
            <a:avLst>
              <a:gd name="adj1" fmla="val 35167"/>
              <a:gd name="adj2" fmla="val 111029"/>
            </a:avLst>
          </a:prstGeom>
          <a:gradFill rotWithShape="1">
            <a:gsLst>
              <a:gs pos="0">
                <a:schemeClr val="tx2">
                  <a:gamma/>
                  <a:shade val="89020"/>
                  <a:invGamma/>
                  <a:alpha val="0"/>
                </a:schemeClr>
              </a:gs>
              <a:gs pos="100000">
                <a:schemeClr val="tx2"/>
              </a:gs>
            </a:gsLst>
            <a:lin ang="0" scaled="1"/>
          </a:gradFill>
          <a:ln w="0" algn="ctr">
            <a:noFill/>
            <a:miter lim="800000"/>
          </a:ln>
          <a:effectLst/>
        </p:spPr>
        <p:txBody>
          <a:bodyPr wrap="none" anchor="ctr"/>
          <a:lstStyle/>
          <a:p>
            <a:endParaRPr lang="zh-CN" altLang="en-US"/>
          </a:p>
        </p:txBody>
      </p:sp>
      <p:sp>
        <p:nvSpPr>
          <p:cNvPr id="51206" name="AutoShape 6"/>
          <p:cNvSpPr>
            <a:spLocks noChangeArrowheads="1"/>
          </p:cNvSpPr>
          <p:nvPr/>
        </p:nvSpPr>
        <p:spPr bwMode="gray">
          <a:xfrm rot="7535209">
            <a:off x="3442613" y="4366209"/>
            <a:ext cx="792163" cy="288925"/>
          </a:xfrm>
          <a:prstGeom prst="rightArrow">
            <a:avLst>
              <a:gd name="adj1" fmla="val 35167"/>
              <a:gd name="adj2" fmla="val 111029"/>
            </a:avLst>
          </a:prstGeom>
          <a:gradFill rotWithShape="1">
            <a:gsLst>
              <a:gs pos="0">
                <a:schemeClr val="tx2">
                  <a:gamma/>
                  <a:shade val="89020"/>
                  <a:invGamma/>
                  <a:alpha val="0"/>
                </a:schemeClr>
              </a:gs>
              <a:gs pos="100000">
                <a:schemeClr val="tx2"/>
              </a:gs>
            </a:gsLst>
            <a:lin ang="0" scaled="1"/>
          </a:gradFill>
          <a:ln w="0" algn="ctr">
            <a:noFill/>
            <a:miter lim="800000"/>
          </a:ln>
          <a:effectLst/>
        </p:spPr>
        <p:txBody>
          <a:bodyPr wrap="none" anchor="ctr"/>
          <a:lstStyle/>
          <a:p>
            <a:endParaRPr lang="zh-CN" altLang="en-US"/>
          </a:p>
        </p:txBody>
      </p:sp>
      <p:sp>
        <p:nvSpPr>
          <p:cNvPr id="51207" name="AutoShape 7"/>
          <p:cNvSpPr>
            <a:spLocks noChangeArrowheads="1"/>
          </p:cNvSpPr>
          <p:nvPr/>
        </p:nvSpPr>
        <p:spPr bwMode="gray">
          <a:xfrm>
            <a:off x="5278557" y="3363703"/>
            <a:ext cx="792163" cy="288925"/>
          </a:xfrm>
          <a:prstGeom prst="rightArrow">
            <a:avLst>
              <a:gd name="adj1" fmla="val 35167"/>
              <a:gd name="adj2" fmla="val 111029"/>
            </a:avLst>
          </a:prstGeom>
          <a:gradFill rotWithShape="1">
            <a:gsLst>
              <a:gs pos="0">
                <a:schemeClr val="tx2">
                  <a:gamma/>
                  <a:shade val="89020"/>
                  <a:invGamma/>
                  <a:alpha val="0"/>
                </a:schemeClr>
              </a:gs>
              <a:gs pos="100000">
                <a:schemeClr val="tx2"/>
              </a:gs>
            </a:gsLst>
            <a:lin ang="0" scaled="1"/>
          </a:gradFill>
          <a:ln w="0" algn="ctr">
            <a:noFill/>
            <a:miter lim="800000"/>
          </a:ln>
          <a:effectLst/>
        </p:spPr>
        <p:txBody>
          <a:bodyPr wrap="none" anchor="ctr"/>
          <a:lstStyle/>
          <a:p>
            <a:endParaRPr lang="zh-CN" altLang="en-US"/>
          </a:p>
        </p:txBody>
      </p:sp>
      <p:sp>
        <p:nvSpPr>
          <p:cNvPr id="51208" name="AutoShape 8"/>
          <p:cNvSpPr>
            <a:spLocks noChangeArrowheads="1"/>
          </p:cNvSpPr>
          <p:nvPr/>
        </p:nvSpPr>
        <p:spPr bwMode="gray">
          <a:xfrm rot="-10800000">
            <a:off x="2868732" y="3357353"/>
            <a:ext cx="863600" cy="288925"/>
          </a:xfrm>
          <a:prstGeom prst="rightArrow">
            <a:avLst>
              <a:gd name="adj1" fmla="val 35167"/>
              <a:gd name="adj2" fmla="val 121041"/>
            </a:avLst>
          </a:prstGeom>
          <a:gradFill rotWithShape="1">
            <a:gsLst>
              <a:gs pos="0">
                <a:schemeClr val="tx2">
                  <a:gamma/>
                  <a:shade val="89020"/>
                  <a:invGamma/>
                  <a:alpha val="0"/>
                </a:schemeClr>
              </a:gs>
              <a:gs pos="100000">
                <a:schemeClr val="tx2"/>
              </a:gs>
            </a:gsLst>
            <a:lin ang="0" scaled="1"/>
          </a:gradFill>
          <a:ln w="0" algn="ctr">
            <a:noFill/>
            <a:miter lim="800000"/>
          </a:ln>
          <a:effectLst/>
        </p:spPr>
        <p:txBody>
          <a:bodyPr wrap="none" anchor="ctr"/>
          <a:lstStyle/>
          <a:p>
            <a:endParaRPr lang="zh-CN" altLang="en-US"/>
          </a:p>
        </p:txBody>
      </p:sp>
      <p:sp>
        <p:nvSpPr>
          <p:cNvPr id="51209" name="Oval 9"/>
          <p:cNvSpPr>
            <a:spLocks noChangeArrowheads="1"/>
          </p:cNvSpPr>
          <p:nvPr/>
        </p:nvSpPr>
        <p:spPr bwMode="gray">
          <a:xfrm>
            <a:off x="2614732" y="1595228"/>
            <a:ext cx="3743325" cy="3744912"/>
          </a:xfrm>
          <a:prstGeom prst="ellipse">
            <a:avLst/>
          </a:prstGeom>
          <a:noFill/>
          <a:ln w="38100" algn="ctr">
            <a:solidFill>
              <a:schemeClr val="tx2"/>
            </a:solidFill>
            <a:round/>
          </a:ln>
          <a:effectLst/>
        </p:spPr>
        <p:txBody>
          <a:bodyPr anchor="ctr">
            <a:spAutoFit/>
          </a:bodyPr>
          <a:lstStyle/>
          <a:p>
            <a:endParaRPr lang="zh-CN" altLang="en-US"/>
          </a:p>
        </p:txBody>
      </p:sp>
      <p:grpSp>
        <p:nvGrpSpPr>
          <p:cNvPr id="2" name="Group 10"/>
          <p:cNvGrpSpPr/>
          <p:nvPr/>
        </p:nvGrpSpPr>
        <p:grpSpPr bwMode="auto">
          <a:xfrm>
            <a:off x="3351332" y="1653965"/>
            <a:ext cx="360363" cy="360363"/>
            <a:chOff x="1973" y="1706"/>
            <a:chExt cx="227" cy="227"/>
          </a:xfrm>
        </p:grpSpPr>
        <p:sp>
          <p:nvSpPr>
            <p:cNvPr id="51211" name="Oval 11"/>
            <p:cNvSpPr>
              <a:spLocks noChangeArrowheads="1"/>
            </p:cNvSpPr>
            <p:nvPr/>
          </p:nvSpPr>
          <p:spPr bwMode="gray">
            <a:xfrm>
              <a:off x="1973" y="1706"/>
              <a:ext cx="227" cy="227"/>
            </a:xfrm>
            <a:prstGeom prst="ellipse">
              <a:avLst/>
            </a:prstGeom>
            <a:gradFill rotWithShape="1">
              <a:gsLst>
                <a:gs pos="0">
                  <a:schemeClr val="accent1">
                    <a:gamma/>
                    <a:tint val="33725"/>
                    <a:invGamma/>
                  </a:schemeClr>
                </a:gs>
                <a:gs pos="100000">
                  <a:schemeClr val="accent1"/>
                </a:gs>
              </a:gsLst>
              <a:path path="shape">
                <a:fillToRect l="50000" t="50000" r="50000" b="50000"/>
              </a:path>
            </a:gradFill>
            <a:ln w="9525" algn="ctr">
              <a:noFill/>
              <a:round/>
            </a:ln>
            <a:effectLst/>
          </p:spPr>
          <p:txBody>
            <a:bodyPr wrap="none" anchor="ctr"/>
            <a:lstStyle/>
            <a:p>
              <a:endParaRPr lang="zh-CN" altLang="en-US"/>
            </a:p>
          </p:txBody>
        </p:sp>
        <p:sp>
          <p:nvSpPr>
            <p:cNvPr id="51212" name="Oval 12"/>
            <p:cNvSpPr>
              <a:spLocks noChangeArrowheads="1"/>
            </p:cNvSpPr>
            <p:nvPr/>
          </p:nvSpPr>
          <p:spPr bwMode="gray">
            <a:xfrm>
              <a:off x="1983" y="1725"/>
              <a:ext cx="141" cy="142"/>
            </a:xfrm>
            <a:prstGeom prst="ellipse">
              <a:avLst/>
            </a:prstGeom>
            <a:gradFill rotWithShape="1">
              <a:gsLst>
                <a:gs pos="0">
                  <a:schemeClr val="accent1">
                    <a:gamma/>
                    <a:tint val="33725"/>
                    <a:invGamma/>
                  </a:schemeClr>
                </a:gs>
                <a:gs pos="100000">
                  <a:schemeClr val="accent1">
                    <a:alpha val="0"/>
                  </a:schemeClr>
                </a:gs>
              </a:gsLst>
              <a:path path="shape">
                <a:fillToRect l="50000" t="50000" r="50000" b="50000"/>
              </a:path>
            </a:gradFill>
            <a:ln w="9525" algn="ctr">
              <a:noFill/>
              <a:round/>
            </a:ln>
            <a:effectLst/>
          </p:spPr>
          <p:txBody>
            <a:bodyPr wrap="none" anchor="ctr"/>
            <a:lstStyle/>
            <a:p>
              <a:endParaRPr lang="zh-CN" altLang="en-US"/>
            </a:p>
          </p:txBody>
        </p:sp>
      </p:grpSp>
      <p:grpSp>
        <p:nvGrpSpPr>
          <p:cNvPr id="3" name="Group 13"/>
          <p:cNvGrpSpPr/>
          <p:nvPr/>
        </p:nvGrpSpPr>
        <p:grpSpPr bwMode="auto">
          <a:xfrm>
            <a:off x="2406770" y="3309728"/>
            <a:ext cx="360362" cy="360362"/>
            <a:chOff x="1565" y="2659"/>
            <a:chExt cx="227" cy="227"/>
          </a:xfrm>
        </p:grpSpPr>
        <p:sp>
          <p:nvSpPr>
            <p:cNvPr id="51214" name="Oval 14"/>
            <p:cNvSpPr>
              <a:spLocks noChangeArrowheads="1"/>
            </p:cNvSpPr>
            <p:nvPr/>
          </p:nvSpPr>
          <p:spPr bwMode="gray">
            <a:xfrm>
              <a:off x="1565" y="2659"/>
              <a:ext cx="227" cy="227"/>
            </a:xfrm>
            <a:prstGeom prst="ellipse">
              <a:avLst/>
            </a:prstGeom>
            <a:gradFill rotWithShape="1">
              <a:gsLst>
                <a:gs pos="0">
                  <a:schemeClr val="accent1">
                    <a:gamma/>
                    <a:tint val="33725"/>
                    <a:invGamma/>
                  </a:schemeClr>
                </a:gs>
                <a:gs pos="100000">
                  <a:schemeClr val="accent1"/>
                </a:gs>
              </a:gsLst>
              <a:path path="shape">
                <a:fillToRect l="50000" t="50000" r="50000" b="50000"/>
              </a:path>
            </a:gradFill>
            <a:ln w="9525" algn="ctr">
              <a:noFill/>
              <a:round/>
            </a:ln>
            <a:effectLst/>
          </p:spPr>
          <p:txBody>
            <a:bodyPr wrap="none" anchor="ctr"/>
            <a:lstStyle/>
            <a:p>
              <a:endParaRPr lang="zh-CN" altLang="en-US"/>
            </a:p>
          </p:txBody>
        </p:sp>
        <p:sp>
          <p:nvSpPr>
            <p:cNvPr id="51215" name="Oval 15"/>
            <p:cNvSpPr>
              <a:spLocks noChangeArrowheads="1"/>
            </p:cNvSpPr>
            <p:nvPr/>
          </p:nvSpPr>
          <p:spPr bwMode="gray">
            <a:xfrm>
              <a:off x="1575" y="2678"/>
              <a:ext cx="141" cy="142"/>
            </a:xfrm>
            <a:prstGeom prst="ellipse">
              <a:avLst/>
            </a:prstGeom>
            <a:gradFill rotWithShape="1">
              <a:gsLst>
                <a:gs pos="0">
                  <a:schemeClr val="accent1">
                    <a:gamma/>
                    <a:tint val="33725"/>
                    <a:invGamma/>
                  </a:schemeClr>
                </a:gs>
                <a:gs pos="100000">
                  <a:schemeClr val="accent1">
                    <a:alpha val="0"/>
                  </a:schemeClr>
                </a:gs>
              </a:gsLst>
              <a:path path="shape">
                <a:fillToRect l="50000" t="50000" r="50000" b="50000"/>
              </a:path>
            </a:gradFill>
            <a:ln w="9525" algn="ctr">
              <a:noFill/>
              <a:round/>
            </a:ln>
            <a:effectLst/>
          </p:spPr>
          <p:txBody>
            <a:bodyPr wrap="none" anchor="ctr"/>
            <a:lstStyle/>
            <a:p>
              <a:endParaRPr lang="zh-CN" altLang="en-US"/>
            </a:p>
          </p:txBody>
        </p:sp>
      </p:grpSp>
      <p:grpSp>
        <p:nvGrpSpPr>
          <p:cNvPr id="4" name="Group 16"/>
          <p:cNvGrpSpPr/>
          <p:nvPr/>
        </p:nvGrpSpPr>
        <p:grpSpPr bwMode="auto">
          <a:xfrm>
            <a:off x="3270370" y="4852778"/>
            <a:ext cx="360362" cy="360362"/>
            <a:chOff x="2109" y="3612"/>
            <a:chExt cx="227" cy="227"/>
          </a:xfrm>
        </p:grpSpPr>
        <p:sp>
          <p:nvSpPr>
            <p:cNvPr id="51217" name="Oval 17"/>
            <p:cNvSpPr>
              <a:spLocks noChangeArrowheads="1"/>
            </p:cNvSpPr>
            <p:nvPr/>
          </p:nvSpPr>
          <p:spPr bwMode="gray">
            <a:xfrm>
              <a:off x="2109" y="3612"/>
              <a:ext cx="227" cy="227"/>
            </a:xfrm>
            <a:prstGeom prst="ellipse">
              <a:avLst/>
            </a:prstGeom>
            <a:gradFill rotWithShape="1">
              <a:gsLst>
                <a:gs pos="0">
                  <a:schemeClr val="accent1">
                    <a:gamma/>
                    <a:tint val="33725"/>
                    <a:invGamma/>
                  </a:schemeClr>
                </a:gs>
                <a:gs pos="100000">
                  <a:schemeClr val="accent1"/>
                </a:gs>
              </a:gsLst>
              <a:path path="shape">
                <a:fillToRect l="50000" t="50000" r="50000" b="50000"/>
              </a:path>
            </a:gradFill>
            <a:ln w="9525" algn="ctr">
              <a:noFill/>
              <a:round/>
            </a:ln>
            <a:effectLst/>
          </p:spPr>
          <p:txBody>
            <a:bodyPr wrap="none" anchor="ctr"/>
            <a:lstStyle/>
            <a:p>
              <a:endParaRPr lang="zh-CN" altLang="en-US"/>
            </a:p>
          </p:txBody>
        </p:sp>
        <p:sp>
          <p:nvSpPr>
            <p:cNvPr id="51218" name="Oval 18"/>
            <p:cNvSpPr>
              <a:spLocks noChangeArrowheads="1"/>
            </p:cNvSpPr>
            <p:nvPr/>
          </p:nvSpPr>
          <p:spPr bwMode="gray">
            <a:xfrm>
              <a:off x="2119" y="3631"/>
              <a:ext cx="141" cy="142"/>
            </a:xfrm>
            <a:prstGeom prst="ellipse">
              <a:avLst/>
            </a:prstGeom>
            <a:gradFill rotWithShape="1">
              <a:gsLst>
                <a:gs pos="0">
                  <a:schemeClr val="accent1">
                    <a:gamma/>
                    <a:tint val="33725"/>
                    <a:invGamma/>
                  </a:schemeClr>
                </a:gs>
                <a:gs pos="100000">
                  <a:schemeClr val="accent1">
                    <a:alpha val="0"/>
                  </a:schemeClr>
                </a:gs>
              </a:gsLst>
              <a:path path="shape">
                <a:fillToRect l="50000" t="50000" r="50000" b="50000"/>
              </a:path>
            </a:gradFill>
            <a:ln w="9525" algn="ctr">
              <a:noFill/>
              <a:round/>
            </a:ln>
            <a:effectLst/>
          </p:spPr>
          <p:txBody>
            <a:bodyPr wrap="none" anchor="ctr"/>
            <a:lstStyle/>
            <a:p>
              <a:endParaRPr lang="zh-CN" altLang="en-US"/>
            </a:p>
          </p:txBody>
        </p:sp>
      </p:grpSp>
      <p:grpSp>
        <p:nvGrpSpPr>
          <p:cNvPr id="5" name="Group 19"/>
          <p:cNvGrpSpPr/>
          <p:nvPr/>
        </p:nvGrpSpPr>
        <p:grpSpPr bwMode="auto">
          <a:xfrm>
            <a:off x="5200770" y="1633328"/>
            <a:ext cx="360362" cy="360362"/>
            <a:chOff x="3470" y="1706"/>
            <a:chExt cx="227" cy="227"/>
          </a:xfrm>
        </p:grpSpPr>
        <p:sp>
          <p:nvSpPr>
            <p:cNvPr id="51220" name="Oval 20"/>
            <p:cNvSpPr>
              <a:spLocks noChangeArrowheads="1"/>
            </p:cNvSpPr>
            <p:nvPr/>
          </p:nvSpPr>
          <p:spPr bwMode="gray">
            <a:xfrm>
              <a:off x="3470" y="1706"/>
              <a:ext cx="227" cy="227"/>
            </a:xfrm>
            <a:prstGeom prst="ellipse">
              <a:avLst/>
            </a:prstGeom>
            <a:gradFill rotWithShape="1">
              <a:gsLst>
                <a:gs pos="0">
                  <a:schemeClr val="accent1">
                    <a:gamma/>
                    <a:tint val="33725"/>
                    <a:invGamma/>
                  </a:schemeClr>
                </a:gs>
                <a:gs pos="100000">
                  <a:schemeClr val="accent1"/>
                </a:gs>
              </a:gsLst>
              <a:path path="shape">
                <a:fillToRect l="50000" t="50000" r="50000" b="50000"/>
              </a:path>
            </a:gradFill>
            <a:ln w="9525" algn="ctr">
              <a:noFill/>
              <a:round/>
            </a:ln>
            <a:effectLst/>
          </p:spPr>
          <p:txBody>
            <a:bodyPr wrap="none" anchor="ctr"/>
            <a:lstStyle/>
            <a:p>
              <a:endParaRPr lang="zh-CN" altLang="en-US"/>
            </a:p>
          </p:txBody>
        </p:sp>
        <p:sp>
          <p:nvSpPr>
            <p:cNvPr id="51221" name="Oval 21"/>
            <p:cNvSpPr>
              <a:spLocks noChangeArrowheads="1"/>
            </p:cNvSpPr>
            <p:nvPr/>
          </p:nvSpPr>
          <p:spPr bwMode="gray">
            <a:xfrm>
              <a:off x="3480" y="1725"/>
              <a:ext cx="141" cy="142"/>
            </a:xfrm>
            <a:prstGeom prst="ellipse">
              <a:avLst/>
            </a:prstGeom>
            <a:gradFill rotWithShape="1">
              <a:gsLst>
                <a:gs pos="0">
                  <a:schemeClr val="accent1">
                    <a:gamma/>
                    <a:tint val="33725"/>
                    <a:invGamma/>
                  </a:schemeClr>
                </a:gs>
                <a:gs pos="100000">
                  <a:schemeClr val="accent1">
                    <a:alpha val="0"/>
                  </a:schemeClr>
                </a:gs>
              </a:gsLst>
              <a:path path="shape">
                <a:fillToRect l="50000" t="50000" r="50000" b="50000"/>
              </a:path>
            </a:gradFill>
            <a:ln w="9525" algn="ctr">
              <a:noFill/>
              <a:round/>
            </a:ln>
            <a:effectLst/>
          </p:spPr>
          <p:txBody>
            <a:bodyPr wrap="none" anchor="ctr"/>
            <a:lstStyle/>
            <a:p>
              <a:endParaRPr lang="zh-CN" altLang="en-US"/>
            </a:p>
          </p:txBody>
        </p:sp>
      </p:grpSp>
      <p:grpSp>
        <p:nvGrpSpPr>
          <p:cNvPr id="6" name="Group 22"/>
          <p:cNvGrpSpPr/>
          <p:nvPr/>
        </p:nvGrpSpPr>
        <p:grpSpPr bwMode="auto">
          <a:xfrm>
            <a:off x="6150095" y="3309728"/>
            <a:ext cx="360362" cy="360362"/>
            <a:chOff x="3923" y="2659"/>
            <a:chExt cx="227" cy="227"/>
          </a:xfrm>
        </p:grpSpPr>
        <p:sp>
          <p:nvSpPr>
            <p:cNvPr id="51223" name="Oval 23"/>
            <p:cNvSpPr>
              <a:spLocks noChangeArrowheads="1"/>
            </p:cNvSpPr>
            <p:nvPr/>
          </p:nvSpPr>
          <p:spPr bwMode="gray">
            <a:xfrm>
              <a:off x="3923" y="2659"/>
              <a:ext cx="227" cy="227"/>
            </a:xfrm>
            <a:prstGeom prst="ellipse">
              <a:avLst/>
            </a:prstGeom>
            <a:gradFill rotWithShape="1">
              <a:gsLst>
                <a:gs pos="0">
                  <a:schemeClr val="accent1">
                    <a:gamma/>
                    <a:tint val="33725"/>
                    <a:invGamma/>
                  </a:schemeClr>
                </a:gs>
                <a:gs pos="100000">
                  <a:schemeClr val="accent1"/>
                </a:gs>
              </a:gsLst>
              <a:path path="shape">
                <a:fillToRect l="50000" t="50000" r="50000" b="50000"/>
              </a:path>
            </a:gradFill>
            <a:ln w="9525" algn="ctr">
              <a:noFill/>
              <a:round/>
            </a:ln>
            <a:effectLst/>
          </p:spPr>
          <p:txBody>
            <a:bodyPr wrap="none" anchor="ctr"/>
            <a:lstStyle/>
            <a:p>
              <a:endParaRPr lang="zh-CN" altLang="en-US"/>
            </a:p>
          </p:txBody>
        </p:sp>
        <p:sp>
          <p:nvSpPr>
            <p:cNvPr id="51224" name="Oval 24"/>
            <p:cNvSpPr>
              <a:spLocks noChangeArrowheads="1"/>
            </p:cNvSpPr>
            <p:nvPr/>
          </p:nvSpPr>
          <p:spPr bwMode="gray">
            <a:xfrm>
              <a:off x="3933" y="2678"/>
              <a:ext cx="141" cy="142"/>
            </a:xfrm>
            <a:prstGeom prst="ellipse">
              <a:avLst/>
            </a:prstGeom>
            <a:gradFill rotWithShape="1">
              <a:gsLst>
                <a:gs pos="0">
                  <a:schemeClr val="accent1">
                    <a:gamma/>
                    <a:tint val="33725"/>
                    <a:invGamma/>
                  </a:schemeClr>
                </a:gs>
                <a:gs pos="100000">
                  <a:schemeClr val="accent1">
                    <a:alpha val="0"/>
                  </a:schemeClr>
                </a:gs>
              </a:gsLst>
              <a:path path="shape">
                <a:fillToRect l="50000" t="50000" r="50000" b="50000"/>
              </a:path>
            </a:gradFill>
            <a:ln w="9525" algn="ctr">
              <a:noFill/>
              <a:round/>
            </a:ln>
            <a:effectLst/>
          </p:spPr>
          <p:txBody>
            <a:bodyPr wrap="none" anchor="ctr"/>
            <a:lstStyle/>
            <a:p>
              <a:endParaRPr lang="zh-CN" altLang="en-US"/>
            </a:p>
          </p:txBody>
        </p:sp>
      </p:grpSp>
      <p:grpSp>
        <p:nvGrpSpPr>
          <p:cNvPr id="7" name="Group 25"/>
          <p:cNvGrpSpPr/>
          <p:nvPr/>
        </p:nvGrpSpPr>
        <p:grpSpPr bwMode="auto">
          <a:xfrm>
            <a:off x="5256332" y="4909928"/>
            <a:ext cx="360363" cy="360362"/>
            <a:chOff x="3515" y="3521"/>
            <a:chExt cx="227" cy="227"/>
          </a:xfrm>
        </p:grpSpPr>
        <p:sp>
          <p:nvSpPr>
            <p:cNvPr id="51226" name="Oval 26"/>
            <p:cNvSpPr>
              <a:spLocks noChangeArrowheads="1"/>
            </p:cNvSpPr>
            <p:nvPr/>
          </p:nvSpPr>
          <p:spPr bwMode="gray">
            <a:xfrm>
              <a:off x="3515" y="3521"/>
              <a:ext cx="227" cy="227"/>
            </a:xfrm>
            <a:prstGeom prst="ellipse">
              <a:avLst/>
            </a:prstGeom>
            <a:gradFill rotWithShape="1">
              <a:gsLst>
                <a:gs pos="0">
                  <a:schemeClr val="accent1">
                    <a:gamma/>
                    <a:tint val="33725"/>
                    <a:invGamma/>
                  </a:schemeClr>
                </a:gs>
                <a:gs pos="100000">
                  <a:schemeClr val="accent1"/>
                </a:gs>
              </a:gsLst>
              <a:path path="shape">
                <a:fillToRect l="50000" t="50000" r="50000" b="50000"/>
              </a:path>
            </a:gradFill>
            <a:ln w="9525" algn="ctr">
              <a:noFill/>
              <a:round/>
            </a:ln>
            <a:effectLst/>
          </p:spPr>
          <p:txBody>
            <a:bodyPr wrap="none" anchor="ctr"/>
            <a:lstStyle/>
            <a:p>
              <a:endParaRPr lang="zh-CN" altLang="en-US"/>
            </a:p>
          </p:txBody>
        </p:sp>
        <p:sp>
          <p:nvSpPr>
            <p:cNvPr id="51227" name="Oval 27"/>
            <p:cNvSpPr>
              <a:spLocks noChangeArrowheads="1"/>
            </p:cNvSpPr>
            <p:nvPr/>
          </p:nvSpPr>
          <p:spPr bwMode="gray">
            <a:xfrm>
              <a:off x="3525" y="3540"/>
              <a:ext cx="141" cy="142"/>
            </a:xfrm>
            <a:prstGeom prst="ellipse">
              <a:avLst/>
            </a:prstGeom>
            <a:gradFill rotWithShape="1">
              <a:gsLst>
                <a:gs pos="0">
                  <a:schemeClr val="accent1">
                    <a:gamma/>
                    <a:tint val="33725"/>
                    <a:invGamma/>
                  </a:schemeClr>
                </a:gs>
                <a:gs pos="100000">
                  <a:schemeClr val="accent1">
                    <a:alpha val="0"/>
                  </a:schemeClr>
                </a:gs>
              </a:gsLst>
              <a:path path="shape">
                <a:fillToRect l="50000" t="50000" r="50000" b="50000"/>
              </a:path>
            </a:gradFill>
            <a:ln w="9525" algn="ctr">
              <a:noFill/>
              <a:round/>
            </a:ln>
            <a:effectLst/>
          </p:spPr>
          <p:txBody>
            <a:bodyPr wrap="none" anchor="ctr"/>
            <a:lstStyle/>
            <a:p>
              <a:endParaRPr lang="zh-CN" altLang="en-US"/>
            </a:p>
          </p:txBody>
        </p:sp>
      </p:grpSp>
      <p:sp>
        <p:nvSpPr>
          <p:cNvPr id="51228" name="Oval 28"/>
          <p:cNvSpPr>
            <a:spLocks noChangeArrowheads="1"/>
          </p:cNvSpPr>
          <p:nvPr/>
        </p:nvSpPr>
        <p:spPr bwMode="gray">
          <a:xfrm>
            <a:off x="3546595" y="2547728"/>
            <a:ext cx="1944687" cy="1944687"/>
          </a:xfrm>
          <a:prstGeom prst="ellipse">
            <a:avLst/>
          </a:prstGeom>
          <a:gradFill rotWithShape="1">
            <a:gsLst>
              <a:gs pos="0">
                <a:schemeClr val="hlink">
                  <a:gamma/>
                  <a:tint val="0"/>
                  <a:invGamma/>
                </a:schemeClr>
              </a:gs>
              <a:gs pos="50000">
                <a:schemeClr val="hlink"/>
              </a:gs>
              <a:gs pos="100000">
                <a:schemeClr val="hlink">
                  <a:gamma/>
                  <a:tint val="0"/>
                  <a:invGamma/>
                </a:schemeClr>
              </a:gs>
            </a:gsLst>
            <a:lin ang="2700000" scaled="1"/>
          </a:gradFill>
          <a:ln w="38100" algn="ctr">
            <a:noFill/>
            <a:round/>
          </a:ln>
          <a:effectLst/>
        </p:spPr>
        <p:txBody>
          <a:bodyPr wrap="none" anchor="ctr">
            <a:spAutoFit/>
          </a:bodyPr>
          <a:lstStyle/>
          <a:p>
            <a:endParaRPr lang="zh-CN" altLang="en-US"/>
          </a:p>
        </p:txBody>
      </p:sp>
      <p:sp>
        <p:nvSpPr>
          <p:cNvPr id="51229" name="Oval 29"/>
          <p:cNvSpPr>
            <a:spLocks noChangeArrowheads="1"/>
          </p:cNvSpPr>
          <p:nvPr/>
        </p:nvSpPr>
        <p:spPr bwMode="gray">
          <a:xfrm>
            <a:off x="3540245" y="2531853"/>
            <a:ext cx="1944687" cy="1944687"/>
          </a:xfrm>
          <a:prstGeom prst="ellipse">
            <a:avLst/>
          </a:prstGeom>
          <a:gradFill rotWithShape="1">
            <a:gsLst>
              <a:gs pos="0">
                <a:schemeClr val="hlink">
                  <a:alpha val="32001"/>
                </a:schemeClr>
              </a:gs>
              <a:gs pos="100000">
                <a:schemeClr val="hlink">
                  <a:gamma/>
                  <a:shade val="46275"/>
                  <a:invGamma/>
                </a:schemeClr>
              </a:gs>
            </a:gsLst>
            <a:lin ang="2700000" scaled="1"/>
          </a:gradFill>
          <a:ln w="38100" algn="ctr">
            <a:noFill/>
            <a:round/>
          </a:ln>
          <a:effectLst/>
        </p:spPr>
        <p:txBody>
          <a:bodyPr wrap="none" anchor="ctr">
            <a:spAutoFit/>
          </a:bodyPr>
          <a:lstStyle/>
          <a:p>
            <a:endParaRPr lang="zh-CN" altLang="en-US"/>
          </a:p>
        </p:txBody>
      </p:sp>
      <p:sp>
        <p:nvSpPr>
          <p:cNvPr id="51230" name="Oval 30"/>
          <p:cNvSpPr>
            <a:spLocks noChangeArrowheads="1"/>
          </p:cNvSpPr>
          <p:nvPr/>
        </p:nvSpPr>
        <p:spPr bwMode="gray">
          <a:xfrm>
            <a:off x="3673595" y="2674728"/>
            <a:ext cx="1690687" cy="1690687"/>
          </a:xfrm>
          <a:prstGeom prst="ellipse">
            <a:avLst/>
          </a:prstGeom>
          <a:gradFill rotWithShape="1">
            <a:gsLst>
              <a:gs pos="0">
                <a:schemeClr val="hlink">
                  <a:gamma/>
                  <a:shade val="54118"/>
                  <a:invGamma/>
                </a:schemeClr>
              </a:gs>
              <a:gs pos="50000">
                <a:schemeClr val="hlink"/>
              </a:gs>
              <a:gs pos="100000">
                <a:schemeClr val="hlink">
                  <a:gamma/>
                  <a:shade val="54118"/>
                  <a:invGamma/>
                </a:schemeClr>
              </a:gs>
            </a:gsLst>
            <a:lin ang="18900000" scaled="1"/>
          </a:gradFill>
          <a:ln w="38100" algn="ctr">
            <a:noFill/>
            <a:round/>
          </a:ln>
          <a:effectLst/>
        </p:spPr>
        <p:txBody>
          <a:bodyPr anchor="ctr">
            <a:spAutoFit/>
          </a:bodyPr>
          <a:lstStyle/>
          <a:p>
            <a:endParaRPr lang="zh-CN" altLang="en-US"/>
          </a:p>
        </p:txBody>
      </p:sp>
      <p:sp>
        <p:nvSpPr>
          <p:cNvPr id="51231" name="Oval 31"/>
          <p:cNvSpPr>
            <a:spLocks noChangeArrowheads="1"/>
          </p:cNvSpPr>
          <p:nvPr/>
        </p:nvSpPr>
        <p:spPr bwMode="gray">
          <a:xfrm>
            <a:off x="3656132" y="2647740"/>
            <a:ext cx="1690688" cy="1690688"/>
          </a:xfrm>
          <a:prstGeom prst="ellipse">
            <a:avLst/>
          </a:prstGeom>
          <a:gradFill rotWithShape="1">
            <a:gsLst>
              <a:gs pos="0">
                <a:schemeClr val="hlink">
                  <a:gamma/>
                  <a:shade val="63529"/>
                  <a:invGamma/>
                </a:schemeClr>
              </a:gs>
              <a:gs pos="100000">
                <a:schemeClr val="hlink">
                  <a:alpha val="0"/>
                </a:schemeClr>
              </a:gs>
            </a:gsLst>
            <a:lin ang="2700000" scaled="1"/>
          </a:gradFill>
          <a:ln w="38100" algn="ctr">
            <a:noFill/>
            <a:round/>
          </a:ln>
          <a:effectLst/>
        </p:spPr>
        <p:txBody>
          <a:bodyPr anchor="ctr">
            <a:spAutoFit/>
          </a:bodyPr>
          <a:lstStyle/>
          <a:p>
            <a:endParaRPr lang="zh-CN" altLang="en-US"/>
          </a:p>
        </p:txBody>
      </p:sp>
      <p:sp>
        <p:nvSpPr>
          <p:cNvPr id="51232" name="Oval 32"/>
          <p:cNvSpPr>
            <a:spLocks noChangeArrowheads="1"/>
          </p:cNvSpPr>
          <p:nvPr/>
        </p:nvSpPr>
        <p:spPr bwMode="gray">
          <a:xfrm>
            <a:off x="3757732" y="2758865"/>
            <a:ext cx="1522413" cy="1522413"/>
          </a:xfrm>
          <a:prstGeom prst="ellipse">
            <a:avLst/>
          </a:prstGeom>
          <a:solidFill>
            <a:srgbClr val="333333"/>
          </a:solidFill>
          <a:ln w="38100" algn="ctr">
            <a:noFill/>
            <a:round/>
          </a:ln>
          <a:effectLst/>
        </p:spPr>
        <p:txBody>
          <a:bodyPr anchor="ctr">
            <a:spAutoFit/>
          </a:bodyPr>
          <a:lstStyle/>
          <a:p>
            <a:endParaRPr lang="zh-CN" altLang="en-US"/>
          </a:p>
        </p:txBody>
      </p:sp>
      <p:sp>
        <p:nvSpPr>
          <p:cNvPr id="51233" name="Oval 33"/>
          <p:cNvSpPr>
            <a:spLocks noChangeArrowheads="1"/>
          </p:cNvSpPr>
          <p:nvPr/>
        </p:nvSpPr>
        <p:spPr bwMode="auto">
          <a:xfrm>
            <a:off x="3779957" y="2777915"/>
            <a:ext cx="1471613" cy="1473200"/>
          </a:xfrm>
          <a:prstGeom prst="ellipse">
            <a:avLst/>
          </a:prstGeom>
          <a:gradFill rotWithShape="1">
            <a:gsLst>
              <a:gs pos="0">
                <a:srgbClr val="D6E1E2">
                  <a:gamma/>
                  <a:shade val="46275"/>
                  <a:invGamma/>
                </a:srgbClr>
              </a:gs>
              <a:gs pos="100000">
                <a:srgbClr val="D6E1E2"/>
              </a:gs>
            </a:gsLst>
            <a:lin ang="5400000" scaled="1"/>
          </a:gradFill>
          <a:ln w="9525" algn="ctr">
            <a:noFill/>
            <a:round/>
          </a:ln>
          <a:effectLst/>
        </p:spPr>
        <p:txBody>
          <a:bodyPr vert="eaVert" wrap="none" anchor="ctr"/>
          <a:lstStyle/>
          <a:p>
            <a:endParaRPr lang="zh-CN" altLang="en-US"/>
          </a:p>
        </p:txBody>
      </p:sp>
      <p:sp>
        <p:nvSpPr>
          <p:cNvPr id="51234" name="Oval 34"/>
          <p:cNvSpPr>
            <a:spLocks noChangeArrowheads="1"/>
          </p:cNvSpPr>
          <p:nvPr/>
        </p:nvSpPr>
        <p:spPr bwMode="auto">
          <a:xfrm>
            <a:off x="3797420" y="2787440"/>
            <a:ext cx="1438275" cy="1435100"/>
          </a:xfrm>
          <a:prstGeom prst="ellipse">
            <a:avLst/>
          </a:prstGeom>
          <a:gradFill rotWithShape="1">
            <a:gsLst>
              <a:gs pos="0">
                <a:srgbClr val="D6E1E2">
                  <a:alpha val="0"/>
                </a:srgbClr>
              </a:gs>
              <a:gs pos="100000">
                <a:srgbClr val="D6E1E2">
                  <a:gamma/>
                  <a:tint val="34902"/>
                  <a:invGamma/>
                </a:srgbClr>
              </a:gs>
            </a:gsLst>
            <a:lin ang="5400000" scaled="1"/>
          </a:gradFill>
          <a:ln w="9525" algn="ctr">
            <a:noFill/>
            <a:round/>
          </a:ln>
          <a:effectLst/>
        </p:spPr>
        <p:txBody>
          <a:bodyPr vert="eaVert" wrap="none" anchor="ctr"/>
          <a:lstStyle/>
          <a:p>
            <a:endParaRPr lang="zh-CN" altLang="en-US"/>
          </a:p>
        </p:txBody>
      </p:sp>
      <p:sp>
        <p:nvSpPr>
          <p:cNvPr id="51235" name="Oval 35"/>
          <p:cNvSpPr>
            <a:spLocks noChangeArrowheads="1"/>
          </p:cNvSpPr>
          <p:nvPr/>
        </p:nvSpPr>
        <p:spPr bwMode="auto">
          <a:xfrm>
            <a:off x="3813295" y="2801728"/>
            <a:ext cx="1366837" cy="1341437"/>
          </a:xfrm>
          <a:prstGeom prst="ellipse">
            <a:avLst/>
          </a:prstGeom>
          <a:gradFill rotWithShape="1">
            <a:gsLst>
              <a:gs pos="0">
                <a:srgbClr val="D6E1E2">
                  <a:gamma/>
                  <a:shade val="79216"/>
                  <a:invGamma/>
                </a:srgbClr>
              </a:gs>
              <a:gs pos="100000">
                <a:srgbClr val="D6E1E2">
                  <a:alpha val="48000"/>
                </a:srgbClr>
              </a:gs>
            </a:gsLst>
            <a:lin ang="5400000" scaled="1"/>
          </a:gradFill>
          <a:ln w="9525" algn="ctr">
            <a:noFill/>
            <a:round/>
          </a:ln>
          <a:effectLst/>
        </p:spPr>
        <p:txBody>
          <a:bodyPr vert="eaVert" wrap="none" anchor="ctr"/>
          <a:lstStyle/>
          <a:p>
            <a:endParaRPr lang="zh-CN" altLang="en-US"/>
          </a:p>
        </p:txBody>
      </p:sp>
      <p:sp>
        <p:nvSpPr>
          <p:cNvPr id="51236" name="Oval 36"/>
          <p:cNvSpPr>
            <a:spLocks noChangeArrowheads="1"/>
          </p:cNvSpPr>
          <p:nvPr/>
        </p:nvSpPr>
        <p:spPr bwMode="auto">
          <a:xfrm>
            <a:off x="3894257" y="2838240"/>
            <a:ext cx="1214438" cy="1090613"/>
          </a:xfrm>
          <a:prstGeom prst="ellipse">
            <a:avLst/>
          </a:prstGeom>
          <a:gradFill rotWithShape="1">
            <a:gsLst>
              <a:gs pos="0">
                <a:srgbClr val="D6E1E2">
                  <a:gamma/>
                  <a:tint val="0"/>
                  <a:invGamma/>
                </a:srgbClr>
              </a:gs>
              <a:gs pos="100000">
                <a:srgbClr val="D6E1E2">
                  <a:alpha val="38000"/>
                </a:srgbClr>
              </a:gs>
            </a:gsLst>
            <a:lin ang="5400000" scaled="1"/>
          </a:gradFill>
          <a:ln w="9525" algn="ctr">
            <a:noFill/>
            <a:round/>
          </a:ln>
          <a:effectLst/>
        </p:spPr>
        <p:txBody>
          <a:bodyPr vert="eaVert" wrap="none" anchor="ctr"/>
          <a:lstStyle/>
          <a:p>
            <a:endParaRPr lang="zh-CN" altLang="en-US"/>
          </a:p>
        </p:txBody>
      </p:sp>
      <p:sp>
        <p:nvSpPr>
          <p:cNvPr id="51237" name="Text Box 37"/>
          <p:cNvSpPr txBox="1">
            <a:spLocks noChangeArrowheads="1"/>
          </p:cNvSpPr>
          <p:nvPr/>
        </p:nvSpPr>
        <p:spPr bwMode="auto">
          <a:xfrm>
            <a:off x="3882439" y="3247815"/>
            <a:ext cx="1261885" cy="523220"/>
          </a:xfrm>
          <a:prstGeom prst="rect">
            <a:avLst/>
          </a:prstGeom>
          <a:noFill/>
          <a:ln w="9525" algn="ctr">
            <a:noFill/>
            <a:miter lim="800000"/>
          </a:ln>
          <a:effectLst/>
        </p:spPr>
        <p:txBody>
          <a:bodyPr wrap="none">
            <a:spAutoFit/>
          </a:bodyPr>
          <a:lstStyle/>
          <a:p>
            <a:pPr algn="ctr" eaLnBrk="0" hangingPunct="0"/>
            <a:r>
              <a:rPr lang="zh-CN" altLang="en-US" sz="2800" dirty="0">
                <a:solidFill>
                  <a:srgbClr val="000000"/>
                </a:solidFill>
                <a:ea typeface="宋体" panose="02010600030101010101" pitchFamily="2" charset="-122"/>
              </a:rPr>
              <a:t>计算机</a:t>
            </a:r>
            <a:endParaRPr lang="en-US" altLang="zh-CN" sz="2800" dirty="0">
              <a:solidFill>
                <a:srgbClr val="000000"/>
              </a:solidFill>
              <a:ea typeface="宋体" panose="02010600030101010101" pitchFamily="2" charset="-122"/>
            </a:endParaRPr>
          </a:p>
        </p:txBody>
      </p:sp>
      <p:sp>
        <p:nvSpPr>
          <p:cNvPr id="51238" name="Text Box 38"/>
          <p:cNvSpPr txBox="1">
            <a:spLocks noChangeArrowheads="1"/>
          </p:cNvSpPr>
          <p:nvPr/>
        </p:nvSpPr>
        <p:spPr bwMode="auto">
          <a:xfrm>
            <a:off x="5637332" y="1580940"/>
            <a:ext cx="595035" cy="338554"/>
          </a:xfrm>
          <a:prstGeom prst="rect">
            <a:avLst/>
          </a:prstGeom>
          <a:noFill/>
          <a:ln w="9525" algn="ctr">
            <a:noFill/>
            <a:miter lim="800000"/>
          </a:ln>
          <a:effectLst/>
        </p:spPr>
        <p:txBody>
          <a:bodyPr wrap="none">
            <a:spAutoFit/>
          </a:bodyPr>
          <a:lstStyle/>
          <a:p>
            <a:pPr eaLnBrk="0" hangingPunct="0"/>
            <a:r>
              <a:rPr lang="zh-CN" altLang="en-US" sz="1600" dirty="0">
                <a:ea typeface="宋体" panose="02010600030101010101" pitchFamily="2" charset="-122"/>
              </a:rPr>
              <a:t>主板</a:t>
            </a:r>
            <a:endParaRPr lang="en-US" altLang="zh-CN" sz="1600" dirty="0">
              <a:ea typeface="宋体" panose="02010600030101010101" pitchFamily="2" charset="-122"/>
            </a:endParaRPr>
          </a:p>
        </p:txBody>
      </p:sp>
      <p:sp>
        <p:nvSpPr>
          <p:cNvPr id="51239" name="Text Box 39"/>
          <p:cNvSpPr txBox="1">
            <a:spLocks noChangeArrowheads="1"/>
          </p:cNvSpPr>
          <p:nvPr/>
        </p:nvSpPr>
        <p:spPr bwMode="auto">
          <a:xfrm>
            <a:off x="2108994" y="1580940"/>
            <a:ext cx="1210588" cy="338554"/>
          </a:xfrm>
          <a:prstGeom prst="rect">
            <a:avLst/>
          </a:prstGeom>
          <a:noFill/>
          <a:ln w="9525" algn="ctr">
            <a:noFill/>
            <a:miter lim="800000"/>
          </a:ln>
          <a:effectLst/>
        </p:spPr>
        <p:txBody>
          <a:bodyPr wrap="none">
            <a:spAutoFit/>
          </a:bodyPr>
          <a:lstStyle/>
          <a:p>
            <a:pPr algn="r" eaLnBrk="0" hangingPunct="0"/>
            <a:r>
              <a:rPr lang="zh-CN" altLang="en-US" sz="1600" dirty="0">
                <a:ea typeface="宋体" panose="02010600030101010101" pitchFamily="2" charset="-122"/>
              </a:rPr>
              <a:t>中央处理器</a:t>
            </a:r>
            <a:endParaRPr lang="en-US" altLang="zh-CN" sz="1600" dirty="0">
              <a:ea typeface="宋体" panose="02010600030101010101" pitchFamily="2" charset="-122"/>
            </a:endParaRPr>
          </a:p>
        </p:txBody>
      </p:sp>
      <p:sp>
        <p:nvSpPr>
          <p:cNvPr id="51240" name="Text Box 40"/>
          <p:cNvSpPr txBox="1">
            <a:spLocks noChangeArrowheads="1"/>
          </p:cNvSpPr>
          <p:nvPr/>
        </p:nvSpPr>
        <p:spPr bwMode="auto">
          <a:xfrm>
            <a:off x="6551732" y="3333540"/>
            <a:ext cx="595035" cy="338554"/>
          </a:xfrm>
          <a:prstGeom prst="rect">
            <a:avLst/>
          </a:prstGeom>
          <a:noFill/>
          <a:ln w="9525" algn="ctr">
            <a:noFill/>
            <a:miter lim="800000"/>
          </a:ln>
          <a:effectLst/>
        </p:spPr>
        <p:txBody>
          <a:bodyPr wrap="none">
            <a:spAutoFit/>
          </a:bodyPr>
          <a:lstStyle/>
          <a:p>
            <a:pPr eaLnBrk="0" hangingPunct="0"/>
            <a:r>
              <a:rPr lang="zh-CN" altLang="en-US" sz="1600" dirty="0">
                <a:ea typeface="宋体" panose="02010600030101010101" pitchFamily="2" charset="-122"/>
              </a:rPr>
              <a:t>内存</a:t>
            </a:r>
            <a:endParaRPr lang="en-US" altLang="zh-CN" sz="1600" dirty="0">
              <a:ea typeface="宋体" panose="02010600030101010101" pitchFamily="2" charset="-122"/>
            </a:endParaRPr>
          </a:p>
        </p:txBody>
      </p:sp>
      <p:sp>
        <p:nvSpPr>
          <p:cNvPr id="51241" name="Text Box 41"/>
          <p:cNvSpPr txBox="1">
            <a:spLocks noChangeArrowheads="1"/>
          </p:cNvSpPr>
          <p:nvPr/>
        </p:nvSpPr>
        <p:spPr bwMode="auto">
          <a:xfrm>
            <a:off x="5637332" y="4933740"/>
            <a:ext cx="2441694" cy="338554"/>
          </a:xfrm>
          <a:prstGeom prst="rect">
            <a:avLst/>
          </a:prstGeom>
          <a:noFill/>
          <a:ln w="9525" algn="ctr">
            <a:noFill/>
            <a:miter lim="800000"/>
          </a:ln>
          <a:effectLst/>
        </p:spPr>
        <p:txBody>
          <a:bodyPr wrap="none">
            <a:spAutoFit/>
          </a:bodyPr>
          <a:lstStyle/>
          <a:p>
            <a:pPr eaLnBrk="0" hangingPunct="0"/>
            <a:r>
              <a:rPr lang="zh-CN" altLang="en-US" sz="1600" dirty="0">
                <a:ea typeface="宋体" panose="02010600030101010101" pitchFamily="2" charset="-122"/>
              </a:rPr>
              <a:t>硬盘、光盘驱动器、</a:t>
            </a:r>
            <a:r>
              <a:rPr lang="en-US" altLang="zh-CN" sz="1600" dirty="0">
                <a:ea typeface="宋体" panose="02010600030101010101" pitchFamily="2" charset="-122"/>
              </a:rPr>
              <a:t>……</a:t>
            </a:r>
            <a:endParaRPr lang="en-US" altLang="zh-CN" sz="1600" dirty="0">
              <a:ea typeface="宋体" panose="02010600030101010101" pitchFamily="2" charset="-122"/>
            </a:endParaRPr>
          </a:p>
        </p:txBody>
      </p:sp>
      <p:sp>
        <p:nvSpPr>
          <p:cNvPr id="51242" name="Text Box 42"/>
          <p:cNvSpPr txBox="1">
            <a:spLocks noChangeArrowheads="1"/>
          </p:cNvSpPr>
          <p:nvPr/>
        </p:nvSpPr>
        <p:spPr bwMode="auto">
          <a:xfrm>
            <a:off x="-36512" y="3333540"/>
            <a:ext cx="2441694" cy="338554"/>
          </a:xfrm>
          <a:prstGeom prst="rect">
            <a:avLst/>
          </a:prstGeom>
          <a:noFill/>
          <a:ln w="9525" algn="ctr">
            <a:noFill/>
            <a:miter lim="800000"/>
          </a:ln>
          <a:effectLst/>
        </p:spPr>
        <p:txBody>
          <a:bodyPr wrap="none">
            <a:spAutoFit/>
          </a:bodyPr>
          <a:lstStyle/>
          <a:p>
            <a:pPr algn="r" eaLnBrk="0" hangingPunct="0"/>
            <a:r>
              <a:rPr lang="zh-CN" altLang="en-US" sz="1600" dirty="0">
                <a:ea typeface="宋体" panose="02010600030101010101" pitchFamily="2" charset="-122"/>
              </a:rPr>
              <a:t>显示器、键盘、鼠标</a:t>
            </a:r>
            <a:r>
              <a:rPr lang="en-US" altLang="zh-CN" sz="1600" dirty="0">
                <a:ea typeface="宋体" panose="02010600030101010101" pitchFamily="2" charset="-122"/>
              </a:rPr>
              <a:t>……</a:t>
            </a:r>
            <a:endParaRPr lang="en-US" altLang="zh-CN" sz="1600" dirty="0">
              <a:ea typeface="宋体" panose="02010600030101010101" pitchFamily="2" charset="-122"/>
            </a:endParaRPr>
          </a:p>
        </p:txBody>
      </p:sp>
      <p:sp>
        <p:nvSpPr>
          <p:cNvPr id="51243" name="Text Box 43"/>
          <p:cNvSpPr txBox="1">
            <a:spLocks noChangeArrowheads="1"/>
          </p:cNvSpPr>
          <p:nvPr/>
        </p:nvSpPr>
        <p:spPr bwMode="auto">
          <a:xfrm>
            <a:off x="1006872" y="4871828"/>
            <a:ext cx="2236510" cy="338554"/>
          </a:xfrm>
          <a:prstGeom prst="rect">
            <a:avLst/>
          </a:prstGeom>
          <a:noFill/>
          <a:ln w="9525" algn="ctr">
            <a:noFill/>
            <a:miter lim="800000"/>
          </a:ln>
          <a:effectLst/>
        </p:spPr>
        <p:txBody>
          <a:bodyPr wrap="none">
            <a:spAutoFit/>
          </a:bodyPr>
          <a:lstStyle/>
          <a:p>
            <a:pPr algn="r" eaLnBrk="0" hangingPunct="0"/>
            <a:r>
              <a:rPr lang="zh-CN" altLang="en-US" sz="1600" dirty="0">
                <a:ea typeface="宋体" panose="02010600030101010101" pitchFamily="2" charset="-122"/>
              </a:rPr>
              <a:t>声卡、显卡、网卡</a:t>
            </a:r>
            <a:r>
              <a:rPr lang="en-US" altLang="zh-CN" sz="1600" dirty="0">
                <a:ea typeface="宋体" panose="02010600030101010101" pitchFamily="2" charset="-122"/>
              </a:rPr>
              <a:t>……</a:t>
            </a:r>
            <a:endParaRPr lang="en-US" altLang="zh-CN" sz="1600" dirty="0">
              <a:ea typeface="宋体" panose="02010600030101010101" pitchFamily="2" charset="-122"/>
            </a:endParaRPr>
          </a:p>
        </p:txBody>
      </p:sp>
      <p:pic>
        <p:nvPicPr>
          <p:cNvPr id="44" name="图片 43" descr="CPU.jpg"/>
          <p:cNvPicPr>
            <a:picLocks noChangeAspect="1"/>
          </p:cNvPicPr>
          <p:nvPr/>
        </p:nvPicPr>
        <p:blipFill>
          <a:blip r:embed="rId1" cstate="print"/>
          <a:stretch>
            <a:fillRect/>
          </a:stretch>
        </p:blipFill>
        <p:spPr>
          <a:xfrm flipH="1">
            <a:off x="993870" y="1553942"/>
            <a:ext cx="819191" cy="571795"/>
          </a:xfrm>
          <a:prstGeom prst="rect">
            <a:avLst/>
          </a:prstGeom>
        </p:spPr>
      </p:pic>
      <p:pic>
        <p:nvPicPr>
          <p:cNvPr id="46" name="图片 45" descr="内存.jpg"/>
          <p:cNvPicPr>
            <a:picLocks noChangeAspect="1"/>
          </p:cNvPicPr>
          <p:nvPr/>
        </p:nvPicPr>
        <p:blipFill>
          <a:blip r:embed="rId2" cstate="print"/>
          <a:stretch>
            <a:fillRect/>
          </a:stretch>
        </p:blipFill>
        <p:spPr>
          <a:xfrm flipH="1">
            <a:off x="7280414" y="3268454"/>
            <a:ext cx="1310705" cy="983029"/>
          </a:xfrm>
          <a:prstGeom prst="rect">
            <a:avLst/>
          </a:prstGeom>
        </p:spPr>
      </p:pic>
      <p:pic>
        <p:nvPicPr>
          <p:cNvPr id="47" name="图片 46" descr="网卡.jpg"/>
          <p:cNvPicPr>
            <a:picLocks noChangeAspect="1"/>
          </p:cNvPicPr>
          <p:nvPr/>
        </p:nvPicPr>
        <p:blipFill>
          <a:blip r:embed="rId3" cstate="print"/>
          <a:stretch>
            <a:fillRect/>
          </a:stretch>
        </p:blipFill>
        <p:spPr>
          <a:xfrm flipH="1">
            <a:off x="922432" y="5268718"/>
            <a:ext cx="1274661" cy="955176"/>
          </a:xfrm>
          <a:prstGeom prst="rect">
            <a:avLst/>
          </a:prstGeom>
        </p:spPr>
      </p:pic>
      <p:pic>
        <p:nvPicPr>
          <p:cNvPr id="48" name="图片 47" descr="显卡.jpg"/>
          <p:cNvPicPr>
            <a:picLocks noChangeAspect="1"/>
          </p:cNvPicPr>
          <p:nvPr/>
        </p:nvPicPr>
        <p:blipFill>
          <a:blip r:embed="rId4" cstate="print"/>
          <a:stretch>
            <a:fillRect/>
          </a:stretch>
        </p:blipFill>
        <p:spPr>
          <a:xfrm flipH="1">
            <a:off x="779556" y="3697082"/>
            <a:ext cx="1310705" cy="983029"/>
          </a:xfrm>
          <a:prstGeom prst="rect">
            <a:avLst/>
          </a:prstGeom>
        </p:spPr>
      </p:pic>
      <p:pic>
        <p:nvPicPr>
          <p:cNvPr id="49" name="图片 48" descr="硬盘.png"/>
          <p:cNvPicPr>
            <a:picLocks noChangeAspect="1"/>
          </p:cNvPicPr>
          <p:nvPr/>
        </p:nvPicPr>
        <p:blipFill>
          <a:blip r:embed="rId5" cstate="print"/>
          <a:stretch>
            <a:fillRect/>
          </a:stretch>
        </p:blipFill>
        <p:spPr>
          <a:xfrm flipH="1">
            <a:off x="7423290" y="4785935"/>
            <a:ext cx="897958" cy="1125725"/>
          </a:xfrm>
          <a:prstGeom prst="rect">
            <a:avLst/>
          </a:prstGeom>
        </p:spPr>
      </p:pic>
      <p:pic>
        <p:nvPicPr>
          <p:cNvPr id="50" name="图片 49" descr="主板.jpg"/>
          <p:cNvPicPr>
            <a:picLocks noChangeAspect="1"/>
          </p:cNvPicPr>
          <p:nvPr/>
        </p:nvPicPr>
        <p:blipFill>
          <a:blip r:embed="rId6" cstate="print"/>
          <a:stretch>
            <a:fillRect/>
          </a:stretch>
        </p:blipFill>
        <p:spPr>
          <a:xfrm flipH="1">
            <a:off x="6780348" y="1196752"/>
            <a:ext cx="2000264" cy="2000264"/>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计算机组成</a:t>
            </a:r>
            <a:endParaRPr lang="zh-CN" altLang="en-US" dirty="0"/>
          </a:p>
        </p:txBody>
      </p:sp>
      <p:sp>
        <p:nvSpPr>
          <p:cNvPr id="3" name="内容占位符 2"/>
          <p:cNvSpPr>
            <a:spLocks noGrp="1"/>
          </p:cNvSpPr>
          <p:nvPr>
            <p:ph idx="1"/>
          </p:nvPr>
        </p:nvSpPr>
        <p:spPr/>
        <p:txBody>
          <a:bodyPr/>
          <a:lstStyle/>
          <a:p>
            <a:r>
              <a:rPr lang="zh-CN" altLang="en-US" dirty="0"/>
              <a:t>三级存取器</a:t>
            </a:r>
            <a:endParaRPr lang="en-US" altLang="zh-CN" dirty="0"/>
          </a:p>
          <a:p>
            <a:pPr lvl="1"/>
            <a:r>
              <a:rPr lang="en-US" altLang="zh-CN" dirty="0"/>
              <a:t>CPU</a:t>
            </a:r>
            <a:r>
              <a:rPr lang="zh-CN" altLang="en-US" dirty="0"/>
              <a:t>二级缓存</a:t>
            </a:r>
            <a:endParaRPr lang="en-US" altLang="zh-CN" dirty="0"/>
          </a:p>
          <a:p>
            <a:pPr lvl="1"/>
            <a:r>
              <a:rPr lang="zh-CN" altLang="en-US" dirty="0"/>
              <a:t>内存</a:t>
            </a:r>
            <a:endParaRPr lang="en-US" altLang="zh-CN" dirty="0"/>
          </a:p>
          <a:p>
            <a:pPr lvl="1"/>
            <a:r>
              <a:rPr lang="zh-CN" altLang="en-US" dirty="0"/>
              <a:t>外存</a:t>
            </a:r>
            <a:endParaRPr lang="en-US" altLang="zh-CN" dirty="0"/>
          </a:p>
          <a:p>
            <a:pPr lvl="2"/>
            <a:r>
              <a:rPr lang="zh-CN" altLang="en-US" dirty="0"/>
              <a:t>硬盘</a:t>
            </a:r>
            <a:endParaRPr lang="en-US" altLang="zh-CN" dirty="0"/>
          </a:p>
          <a:p>
            <a:pPr lvl="2"/>
            <a:r>
              <a:rPr lang="zh-CN" altLang="en-US" dirty="0"/>
              <a:t>光盘</a:t>
            </a:r>
            <a:endParaRPr lang="en-US" altLang="zh-CN" dirty="0"/>
          </a:p>
          <a:p>
            <a:pPr lvl="2"/>
            <a:r>
              <a:rPr lang="zh-CN" altLang="en-US" dirty="0"/>
              <a:t>软盘</a:t>
            </a:r>
            <a:endParaRPr lang="en-US" altLang="zh-CN" dirty="0"/>
          </a:p>
          <a:p>
            <a:pPr lvl="2"/>
            <a:r>
              <a:rPr lang="zh-CN" altLang="en-US" dirty="0"/>
              <a:t>磁带</a:t>
            </a:r>
            <a:endParaRPr lang="en-US" altLang="zh-CN" dirty="0"/>
          </a:p>
          <a:p>
            <a:pPr lvl="2"/>
            <a:r>
              <a:rPr lang="en-US" altLang="zh-CN" dirty="0"/>
              <a:t>……</a:t>
            </a:r>
            <a:endParaRPr lang="zh-CN" altLang="en-US" dirty="0"/>
          </a:p>
        </p:txBody>
      </p:sp>
      <p:sp>
        <p:nvSpPr>
          <p:cNvPr id="6" name="幻灯片编号占位符 5"/>
          <p:cNvSpPr>
            <a:spLocks noGrp="1"/>
          </p:cNvSpPr>
          <p:nvPr>
            <p:ph type="sldNum" sz="quarter" idx="4294967295"/>
          </p:nvPr>
        </p:nvSpPr>
        <p:spPr>
          <a:xfrm>
            <a:off x="3124200" y="6553200"/>
            <a:ext cx="2133600" cy="234950"/>
          </a:xfrm>
          <a:prstGeom prst="rect">
            <a:avLst/>
          </a:prstGeom>
        </p:spPr>
        <p:txBody>
          <a:bodyPr/>
          <a:lstStyle/>
          <a:p>
            <a:fld id="{81622E5D-7BC3-44E6-BA65-C8AAD10FCEE5}" type="slidenum">
              <a:rPr lang="en-US" altLang="zh-CN" smtClean="0"/>
            </a:fld>
            <a:endParaRPr lang="en-US" altLang="zh-CN"/>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计算机组成</a:t>
            </a:r>
            <a:endParaRPr lang="zh-CN" altLang="en-US" dirty="0"/>
          </a:p>
        </p:txBody>
      </p:sp>
      <p:sp>
        <p:nvSpPr>
          <p:cNvPr id="3" name="内容占位符 2"/>
          <p:cNvSpPr>
            <a:spLocks noGrp="1"/>
          </p:cNvSpPr>
          <p:nvPr>
            <p:ph idx="1"/>
          </p:nvPr>
        </p:nvSpPr>
        <p:spPr/>
        <p:txBody>
          <a:bodyPr/>
          <a:lstStyle/>
          <a:p>
            <a:r>
              <a:rPr lang="zh-CN" altLang="en-US" dirty="0"/>
              <a:t>计算机软件</a:t>
            </a:r>
            <a:endParaRPr lang="en-US" altLang="zh-CN" dirty="0"/>
          </a:p>
          <a:p>
            <a:pPr lvl="1"/>
            <a:r>
              <a:rPr lang="zh-CN" altLang="en-US" dirty="0"/>
              <a:t>系统软件</a:t>
            </a:r>
            <a:endParaRPr lang="en-US" altLang="zh-CN" dirty="0"/>
          </a:p>
          <a:p>
            <a:pPr lvl="2"/>
            <a:r>
              <a:rPr lang="zh-CN" altLang="en-US" dirty="0"/>
              <a:t>操作系统（</a:t>
            </a:r>
            <a:r>
              <a:rPr lang="en-US" altLang="zh-CN" dirty="0"/>
              <a:t>Operating System</a:t>
            </a:r>
            <a:r>
              <a:rPr lang="zh-CN" altLang="en-US" dirty="0"/>
              <a:t>）</a:t>
            </a:r>
            <a:endParaRPr lang="en-US" altLang="zh-CN" dirty="0"/>
          </a:p>
          <a:p>
            <a:pPr lvl="3"/>
            <a:r>
              <a:rPr lang="en-US" altLang="zh-CN" dirty="0"/>
              <a:t>Windows</a:t>
            </a:r>
            <a:endParaRPr lang="en-US" altLang="zh-CN" dirty="0"/>
          </a:p>
          <a:p>
            <a:pPr lvl="3"/>
            <a:r>
              <a:rPr lang="en-US" altLang="zh-CN" dirty="0"/>
              <a:t>Unix</a:t>
            </a:r>
            <a:endParaRPr lang="en-US" altLang="zh-CN" dirty="0"/>
          </a:p>
          <a:p>
            <a:pPr lvl="3"/>
            <a:r>
              <a:rPr lang="en-US" altLang="zh-CN" dirty="0"/>
              <a:t>……</a:t>
            </a:r>
            <a:endParaRPr lang="en-US" altLang="zh-CN" dirty="0"/>
          </a:p>
          <a:p>
            <a:pPr lvl="1"/>
            <a:r>
              <a:rPr lang="zh-CN" altLang="en-US" dirty="0"/>
              <a:t>应用软件</a:t>
            </a:r>
            <a:endParaRPr lang="en-US" altLang="zh-CN" dirty="0"/>
          </a:p>
          <a:p>
            <a:pPr lvl="2"/>
            <a:r>
              <a:rPr lang="en-US" altLang="zh-CN" dirty="0"/>
              <a:t>Office</a:t>
            </a:r>
            <a:r>
              <a:rPr lang="zh-CN" altLang="en-US" dirty="0"/>
              <a:t>系列</a:t>
            </a:r>
            <a:endParaRPr lang="en-US" altLang="zh-CN" dirty="0"/>
          </a:p>
          <a:p>
            <a:pPr lvl="2"/>
            <a:r>
              <a:rPr lang="en-US" altLang="zh-CN" dirty="0"/>
              <a:t>Media Player</a:t>
            </a:r>
            <a:endParaRPr lang="en-US" altLang="zh-CN" dirty="0"/>
          </a:p>
          <a:p>
            <a:pPr lvl="2"/>
            <a:r>
              <a:rPr lang="en-US" altLang="zh-CN" dirty="0"/>
              <a:t>Internet</a:t>
            </a:r>
            <a:r>
              <a:rPr lang="zh-CN" altLang="en-US" dirty="0"/>
              <a:t> </a:t>
            </a:r>
            <a:r>
              <a:rPr lang="en-US" altLang="zh-CN" dirty="0"/>
              <a:t>Explorer</a:t>
            </a:r>
            <a:endParaRPr lang="en-US" altLang="zh-CN" dirty="0"/>
          </a:p>
          <a:p>
            <a:pPr lvl="2"/>
            <a:r>
              <a:rPr lang="zh-CN" altLang="en-US"/>
              <a:t>魔兽争霸</a:t>
            </a:r>
            <a:endParaRPr lang="en-US" altLang="zh-CN"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计算机组成</a:t>
            </a:r>
            <a:endParaRPr lang="zh-CN" altLang="en-US" dirty="0"/>
          </a:p>
        </p:txBody>
      </p:sp>
      <p:sp>
        <p:nvSpPr>
          <p:cNvPr id="3" name="内容占位符 2"/>
          <p:cNvSpPr>
            <a:spLocks noGrp="1"/>
          </p:cNvSpPr>
          <p:nvPr>
            <p:ph idx="1"/>
          </p:nvPr>
        </p:nvSpPr>
        <p:spPr/>
        <p:txBody>
          <a:bodyPr/>
          <a:lstStyle/>
          <a:p>
            <a:endParaRPr lang="zh-CN" altLang="en-US" dirty="0"/>
          </a:p>
        </p:txBody>
      </p:sp>
      <p:sp>
        <p:nvSpPr>
          <p:cNvPr id="5" name="Oval 7"/>
          <p:cNvSpPr>
            <a:spLocks noChangeArrowheads="1"/>
          </p:cNvSpPr>
          <p:nvPr/>
        </p:nvSpPr>
        <p:spPr bwMode="auto">
          <a:xfrm>
            <a:off x="4140200" y="3213100"/>
            <a:ext cx="1368425" cy="1223963"/>
          </a:xfrm>
          <a:prstGeom prst="ellipse">
            <a:avLst/>
          </a:prstGeom>
          <a:solidFill>
            <a:srgbClr val="FFFF00"/>
          </a:solidFill>
          <a:ln w="9525" algn="ctr">
            <a:solidFill>
              <a:schemeClr val="tx1"/>
            </a:solidFill>
            <a:round/>
          </a:ln>
        </p:spPr>
        <p:txBody>
          <a:bodyPr wrap="none" anchor="ctr"/>
          <a:lstStyle/>
          <a:p>
            <a:endParaRPr lang="zh-CN" altLang="en-US"/>
          </a:p>
        </p:txBody>
      </p:sp>
      <p:sp>
        <p:nvSpPr>
          <p:cNvPr id="6" name="Text Box 8"/>
          <p:cNvSpPr txBox="1">
            <a:spLocks noChangeArrowheads="1"/>
          </p:cNvSpPr>
          <p:nvPr/>
        </p:nvSpPr>
        <p:spPr bwMode="auto">
          <a:xfrm>
            <a:off x="4427538" y="3500438"/>
            <a:ext cx="1081087" cy="530225"/>
          </a:xfrm>
          <a:prstGeom prst="rect">
            <a:avLst/>
          </a:prstGeom>
          <a:noFill/>
          <a:ln w="9525" algn="ctr">
            <a:noFill/>
            <a:miter lim="800000"/>
          </a:ln>
        </p:spPr>
        <p:txBody>
          <a:bodyPr>
            <a:spAutoFit/>
          </a:bodyPr>
          <a:lstStyle/>
          <a:p>
            <a:pPr marL="342900" indent="-342900">
              <a:spcBef>
                <a:spcPct val="50000"/>
              </a:spcBef>
            </a:pPr>
            <a:r>
              <a:rPr lang="zh-CN" altLang="en-US"/>
              <a:t>硬件</a:t>
            </a:r>
            <a:endParaRPr lang="zh-CN" altLang="en-US"/>
          </a:p>
        </p:txBody>
      </p:sp>
      <p:sp>
        <p:nvSpPr>
          <p:cNvPr id="7" name="Oval 9"/>
          <p:cNvSpPr>
            <a:spLocks noChangeArrowheads="1"/>
          </p:cNvSpPr>
          <p:nvPr/>
        </p:nvSpPr>
        <p:spPr bwMode="auto">
          <a:xfrm>
            <a:off x="3635375" y="2636838"/>
            <a:ext cx="2449513" cy="2339975"/>
          </a:xfrm>
          <a:prstGeom prst="ellipse">
            <a:avLst/>
          </a:prstGeom>
          <a:solidFill>
            <a:srgbClr val="FF00FF">
              <a:alpha val="23137"/>
            </a:srgbClr>
          </a:solidFill>
          <a:ln w="9525" algn="ctr">
            <a:solidFill>
              <a:schemeClr val="tx1"/>
            </a:solidFill>
            <a:round/>
          </a:ln>
        </p:spPr>
        <p:txBody>
          <a:bodyPr wrap="none" anchor="ctr"/>
          <a:lstStyle/>
          <a:p>
            <a:endParaRPr lang="zh-CN" altLang="en-US"/>
          </a:p>
        </p:txBody>
      </p:sp>
      <p:sp>
        <p:nvSpPr>
          <p:cNvPr id="8" name="Text Box 10"/>
          <p:cNvSpPr txBox="1">
            <a:spLocks noChangeArrowheads="1"/>
          </p:cNvSpPr>
          <p:nvPr/>
        </p:nvSpPr>
        <p:spPr bwMode="auto">
          <a:xfrm>
            <a:off x="4554538" y="4356100"/>
            <a:ext cx="1296987" cy="530225"/>
          </a:xfrm>
          <a:prstGeom prst="rect">
            <a:avLst/>
          </a:prstGeom>
          <a:noFill/>
          <a:ln w="9525" algn="ctr">
            <a:noFill/>
            <a:miter lim="800000"/>
          </a:ln>
        </p:spPr>
        <p:txBody>
          <a:bodyPr>
            <a:spAutoFit/>
          </a:bodyPr>
          <a:lstStyle/>
          <a:p>
            <a:pPr marL="342900" indent="-342900">
              <a:spcBef>
                <a:spcPct val="50000"/>
              </a:spcBef>
            </a:pPr>
            <a:r>
              <a:rPr lang="en-US" altLang="zh-CN"/>
              <a:t>OS</a:t>
            </a:r>
            <a:endParaRPr lang="en-US" altLang="zh-CN"/>
          </a:p>
        </p:txBody>
      </p:sp>
      <p:sp>
        <p:nvSpPr>
          <p:cNvPr id="9" name="Oval 13"/>
          <p:cNvSpPr>
            <a:spLocks noChangeArrowheads="1"/>
          </p:cNvSpPr>
          <p:nvPr/>
        </p:nvSpPr>
        <p:spPr bwMode="auto">
          <a:xfrm>
            <a:off x="2843213" y="1916113"/>
            <a:ext cx="3959225" cy="4105275"/>
          </a:xfrm>
          <a:prstGeom prst="ellipse">
            <a:avLst/>
          </a:prstGeom>
          <a:solidFill>
            <a:srgbClr val="00CCFF">
              <a:alpha val="23921"/>
            </a:srgbClr>
          </a:solidFill>
          <a:ln w="9525" algn="ctr">
            <a:solidFill>
              <a:schemeClr val="tx1"/>
            </a:solidFill>
            <a:round/>
          </a:ln>
        </p:spPr>
        <p:txBody>
          <a:bodyPr wrap="none" anchor="ctr"/>
          <a:lstStyle/>
          <a:p>
            <a:endParaRPr lang="zh-CN" altLang="en-US"/>
          </a:p>
        </p:txBody>
      </p:sp>
      <p:sp>
        <p:nvSpPr>
          <p:cNvPr id="10" name="Text Box 14"/>
          <p:cNvSpPr txBox="1">
            <a:spLocks noChangeArrowheads="1"/>
          </p:cNvSpPr>
          <p:nvPr/>
        </p:nvSpPr>
        <p:spPr bwMode="auto">
          <a:xfrm>
            <a:off x="4067175" y="5157788"/>
            <a:ext cx="1944688" cy="530225"/>
          </a:xfrm>
          <a:prstGeom prst="rect">
            <a:avLst/>
          </a:prstGeom>
          <a:noFill/>
          <a:ln w="9525" algn="ctr">
            <a:noFill/>
            <a:miter lim="800000"/>
          </a:ln>
        </p:spPr>
        <p:txBody>
          <a:bodyPr>
            <a:spAutoFit/>
          </a:bodyPr>
          <a:lstStyle/>
          <a:p>
            <a:pPr marL="342900" indent="-342900">
              <a:spcBef>
                <a:spcPct val="50000"/>
              </a:spcBef>
            </a:pPr>
            <a:r>
              <a:rPr lang="zh-CN" altLang="en-US"/>
              <a:t>应用软件</a:t>
            </a:r>
            <a:endParaRPr lang="zh-CN" alt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程序设计</a:t>
            </a:r>
            <a:endParaRPr lang="zh-CN" altLang="en-US" dirty="0"/>
          </a:p>
        </p:txBody>
      </p:sp>
      <p:sp>
        <p:nvSpPr>
          <p:cNvPr id="3" name="内容占位符 2"/>
          <p:cNvSpPr>
            <a:spLocks noGrp="1"/>
          </p:cNvSpPr>
          <p:nvPr>
            <p:ph idx="1"/>
          </p:nvPr>
        </p:nvSpPr>
        <p:spPr/>
        <p:txBody>
          <a:bodyPr/>
          <a:lstStyle/>
          <a:p>
            <a:r>
              <a:rPr lang="zh-CN" altLang="en-US" dirty="0"/>
              <a:t>程序的含义  </a:t>
            </a:r>
            <a:r>
              <a:rPr lang="en-US" altLang="zh-CN" dirty="0">
                <a:latin typeface="Arial Unicode MS" panose="020B0604020202020204" charset="-122"/>
                <a:ea typeface="Arial Unicode MS" panose="020B0604020202020204" charset="-122"/>
                <a:cs typeface="Arial Unicode MS" panose="020B0604020202020204" charset="-122"/>
              </a:rPr>
              <a:t>program</a:t>
            </a:r>
            <a:endParaRPr lang="en-US" altLang="zh-CN" dirty="0">
              <a:latin typeface="Arial Unicode MS" panose="020B0604020202020204" charset="-122"/>
              <a:ea typeface="Arial Unicode MS" panose="020B0604020202020204" charset="-122"/>
              <a:cs typeface="Arial Unicode MS" panose="020B0604020202020204" charset="-122"/>
            </a:endParaRPr>
          </a:p>
          <a:p>
            <a:pPr lvl="1"/>
            <a:r>
              <a:rPr lang="zh-CN" altLang="en-US" dirty="0"/>
              <a:t>要计算机完成某一任务所规定的一系列动作或步骤</a:t>
            </a:r>
            <a:endParaRPr lang="en-US" altLang="zh-CN" dirty="0"/>
          </a:p>
          <a:p>
            <a:pPr lvl="1"/>
            <a:endParaRPr lang="en-US" altLang="zh-CN" dirty="0"/>
          </a:p>
          <a:p>
            <a:r>
              <a:rPr lang="zh-CN" altLang="en-US" dirty="0"/>
              <a:t>程序在计算机系统中的地位</a:t>
            </a:r>
            <a:endParaRPr lang="en-US" altLang="zh-CN" dirty="0"/>
          </a:p>
          <a:p>
            <a:pPr lvl="1"/>
            <a:r>
              <a:rPr lang="zh-CN" altLang="en-US" dirty="0"/>
              <a:t>软件的根基  </a:t>
            </a:r>
            <a:r>
              <a:rPr lang="en-US" altLang="zh-CN" dirty="0">
                <a:solidFill>
                  <a:srgbClr val="0000CC"/>
                </a:solidFill>
                <a:latin typeface="Arial Unicode MS" panose="020B0604020202020204" charset="-122"/>
                <a:ea typeface="Arial Unicode MS" panose="020B0604020202020204" charset="-122"/>
                <a:cs typeface="Arial Unicode MS" panose="020B0604020202020204" charset="-122"/>
              </a:rPr>
              <a:t>software</a:t>
            </a:r>
            <a:endParaRPr lang="en-US" altLang="zh-CN" dirty="0">
              <a:solidFill>
                <a:srgbClr val="0000CC"/>
              </a:solidFill>
              <a:latin typeface="Arial Unicode MS" panose="020B0604020202020204" charset="-122"/>
              <a:ea typeface="Arial Unicode MS" panose="020B0604020202020204" charset="-122"/>
              <a:cs typeface="Arial Unicode MS" panose="020B0604020202020204" charset="-122"/>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绪论</a:t>
            </a:r>
            <a:endParaRPr lang="zh-CN" altLang="en-US" dirty="0"/>
          </a:p>
        </p:txBody>
      </p:sp>
      <p:grpSp>
        <p:nvGrpSpPr>
          <p:cNvPr id="53" name="Group 52"/>
          <p:cNvGrpSpPr/>
          <p:nvPr/>
        </p:nvGrpSpPr>
        <p:grpSpPr bwMode="auto">
          <a:xfrm>
            <a:off x="-2395538" y="1600200"/>
            <a:ext cx="9253538" cy="4824413"/>
            <a:chOff x="-1509" y="1008"/>
            <a:chExt cx="5829" cy="3039"/>
          </a:xfrm>
        </p:grpSpPr>
        <p:sp>
          <p:nvSpPr>
            <p:cNvPr id="54" name="AutoShape 4"/>
            <p:cNvSpPr>
              <a:spLocks noChangeArrowheads="1"/>
            </p:cNvSpPr>
            <p:nvPr/>
          </p:nvSpPr>
          <p:spPr bwMode="ltGray">
            <a:xfrm rot="5400000">
              <a:off x="-1526" y="1025"/>
              <a:ext cx="3039" cy="3005"/>
            </a:xfrm>
            <a:custGeom>
              <a:avLst/>
              <a:gdLst>
                <a:gd name="G0" fmla="+- 10478 0 0"/>
                <a:gd name="G1" fmla="+- -11739500 0 0"/>
                <a:gd name="G2" fmla="+- 0 0 -11739500"/>
                <a:gd name="T0" fmla="*/ 0 256 1"/>
                <a:gd name="T1" fmla="*/ 180 256 1"/>
                <a:gd name="G3" fmla="+- -11739500 T0 T1"/>
                <a:gd name="T2" fmla="*/ 0 256 1"/>
                <a:gd name="T3" fmla="*/ 90 256 1"/>
                <a:gd name="G4" fmla="+- -11739500 T2 T3"/>
                <a:gd name="G5" fmla="*/ G4 2 1"/>
                <a:gd name="T4" fmla="*/ 90 256 1"/>
                <a:gd name="T5" fmla="*/ 0 256 1"/>
                <a:gd name="G6" fmla="+- -11739500 T4 T5"/>
                <a:gd name="G7" fmla="*/ G6 2 1"/>
                <a:gd name="G8" fmla="abs -11739500"/>
                <a:gd name="T6" fmla="*/ 0 256 1"/>
                <a:gd name="T7" fmla="*/ 90 256 1"/>
                <a:gd name="G9" fmla="+- G8 T6 T7"/>
                <a:gd name="G10" fmla="?: G9 G7 G5"/>
                <a:gd name="T8" fmla="*/ 0 256 1"/>
                <a:gd name="T9" fmla="*/ 360 256 1"/>
                <a:gd name="G11" fmla="+- G10 T8 T9"/>
                <a:gd name="G12" fmla="?: G10 G11 G10"/>
                <a:gd name="T10" fmla="*/ 0 256 1"/>
                <a:gd name="T11" fmla="*/ 360 256 1"/>
                <a:gd name="G13" fmla="+- G12 T10 T11"/>
                <a:gd name="G14" fmla="?: G12 G13 G12"/>
                <a:gd name="G15" fmla="+- 0 0 G14"/>
                <a:gd name="G16" fmla="+- 10800 0 0"/>
                <a:gd name="G17" fmla="+- 10800 0 10478"/>
                <a:gd name="G18" fmla="*/ 10478 1 2"/>
                <a:gd name="G19" fmla="+- G18 5400 0"/>
                <a:gd name="G20" fmla="cos G19 -11739500"/>
                <a:gd name="G21" fmla="sin G19 -11739500"/>
                <a:gd name="G22" fmla="+- G20 10800 0"/>
                <a:gd name="G23" fmla="+- G21 10800 0"/>
                <a:gd name="G24" fmla="+- 10800 0 G20"/>
                <a:gd name="G25" fmla="+- 10478 10800 0"/>
                <a:gd name="G26" fmla="?: G9 G17 G25"/>
                <a:gd name="G27" fmla="?: G9 0 21600"/>
                <a:gd name="G28" fmla="cos 10800 -11739500"/>
                <a:gd name="G29" fmla="sin 10800 -11739500"/>
                <a:gd name="G30" fmla="sin 10478 -11739500"/>
                <a:gd name="G31" fmla="+- G28 10800 0"/>
                <a:gd name="G32" fmla="+- G29 10800 0"/>
                <a:gd name="G33" fmla="+- G30 10800 0"/>
                <a:gd name="G34" fmla="?: G4 0 G31"/>
                <a:gd name="G35" fmla="?: -11739500 G34 0"/>
                <a:gd name="G36" fmla="?: G6 G35 G31"/>
                <a:gd name="G37" fmla="+- 21600 0 G36"/>
                <a:gd name="G38" fmla="?: G4 0 G33"/>
                <a:gd name="G39" fmla="?: -11739500 G38 G32"/>
                <a:gd name="G40" fmla="?: G6 G39 0"/>
                <a:gd name="G41" fmla="?: G4 G32 21600"/>
                <a:gd name="G42" fmla="?: G6 G41 G33"/>
                <a:gd name="T12" fmla="*/ 10800 w 21600"/>
                <a:gd name="T13" fmla="*/ 0 h 21600"/>
                <a:gd name="T14" fmla="*/ 162 w 21600"/>
                <a:gd name="T15" fmla="*/ 10638 h 21600"/>
                <a:gd name="T16" fmla="*/ 10800 w 21600"/>
                <a:gd name="T17" fmla="*/ 322 h 21600"/>
                <a:gd name="T18" fmla="*/ 21438 w 21600"/>
                <a:gd name="T19" fmla="*/ 10638 h 21600"/>
                <a:gd name="T20" fmla="*/ G36 w 21600"/>
                <a:gd name="T21" fmla="*/ G40 h 21600"/>
                <a:gd name="T22" fmla="*/ G37 w 21600"/>
                <a:gd name="T23" fmla="*/ G42 h 21600"/>
              </a:gdLst>
              <a:ahLst/>
              <a:cxnLst>
                <a:cxn ang="0">
                  <a:pos x="T12" y="T13"/>
                </a:cxn>
                <a:cxn ang="0">
                  <a:pos x="T14" y="T15"/>
                </a:cxn>
                <a:cxn ang="0">
                  <a:pos x="T16" y="T17"/>
                </a:cxn>
                <a:cxn ang="0">
                  <a:pos x="T18" y="T19"/>
                </a:cxn>
              </a:cxnLst>
              <a:rect l="T20" t="T21" r="T22" b="T23"/>
              <a:pathLst>
                <a:path w="21600" h="21600">
                  <a:moveTo>
                    <a:pt x="323" y="10641"/>
                  </a:moveTo>
                  <a:cubicBezTo>
                    <a:pt x="410" y="4916"/>
                    <a:pt x="5075" y="321"/>
                    <a:pt x="10800" y="322"/>
                  </a:cubicBezTo>
                  <a:cubicBezTo>
                    <a:pt x="16524" y="322"/>
                    <a:pt x="21189" y="4916"/>
                    <a:pt x="21276" y="10641"/>
                  </a:cubicBezTo>
                  <a:lnTo>
                    <a:pt x="21598" y="10636"/>
                  </a:lnTo>
                  <a:cubicBezTo>
                    <a:pt x="21509" y="4736"/>
                    <a:pt x="16700" y="-1"/>
                    <a:pt x="10799" y="0"/>
                  </a:cubicBezTo>
                  <a:cubicBezTo>
                    <a:pt x="4899" y="0"/>
                    <a:pt x="90" y="4736"/>
                    <a:pt x="1" y="10636"/>
                  </a:cubicBezTo>
                  <a:close/>
                </a:path>
              </a:pathLst>
            </a:custGeom>
            <a:gradFill rotWithShape="1">
              <a:gsLst>
                <a:gs pos="0">
                  <a:schemeClr val="bg2">
                    <a:gamma/>
                    <a:tint val="45490"/>
                    <a:invGamma/>
                  </a:schemeClr>
                </a:gs>
                <a:gs pos="50000">
                  <a:schemeClr val="bg2"/>
                </a:gs>
                <a:gs pos="100000">
                  <a:schemeClr val="bg2">
                    <a:gamma/>
                    <a:tint val="45490"/>
                    <a:invGamma/>
                  </a:schemeClr>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endParaRPr lang="zh-CN" altLang="en-US"/>
            </a:p>
          </p:txBody>
        </p:sp>
        <p:sp>
          <p:nvSpPr>
            <p:cNvPr id="55" name="AutoShape 5"/>
            <p:cNvSpPr>
              <a:spLocks noChangeArrowheads="1"/>
            </p:cNvSpPr>
            <p:nvPr/>
          </p:nvSpPr>
          <p:spPr bwMode="ltGray">
            <a:xfrm rot="5400000" flipH="1">
              <a:off x="-1270" y="1299"/>
              <a:ext cx="2540" cy="2475"/>
            </a:xfrm>
            <a:custGeom>
              <a:avLst/>
              <a:gdLst>
                <a:gd name="G0" fmla="+- 56 0 0"/>
                <a:gd name="G1" fmla="+- 11796480 0 0"/>
                <a:gd name="G2" fmla="+- 0 0 11796480"/>
                <a:gd name="T0" fmla="*/ 0 256 1"/>
                <a:gd name="T1" fmla="*/ 180 256 1"/>
                <a:gd name="G3" fmla="+- 11796480 T0 T1"/>
                <a:gd name="T2" fmla="*/ 0 256 1"/>
                <a:gd name="T3" fmla="*/ 90 256 1"/>
                <a:gd name="G4" fmla="+- 11796480 T2 T3"/>
                <a:gd name="G5" fmla="*/ G4 2 1"/>
                <a:gd name="T4" fmla="*/ 90 256 1"/>
                <a:gd name="T5" fmla="*/ 0 256 1"/>
                <a:gd name="G6" fmla="+- 11796480 T4 T5"/>
                <a:gd name="G7" fmla="*/ G6 2 1"/>
                <a:gd name="G8" fmla="abs 11796480"/>
                <a:gd name="T6" fmla="*/ 0 256 1"/>
                <a:gd name="T7" fmla="*/ 90 256 1"/>
                <a:gd name="G9" fmla="+- G8 T6 T7"/>
                <a:gd name="G10" fmla="?: G9 G7 G5"/>
                <a:gd name="T8" fmla="*/ 0 256 1"/>
                <a:gd name="T9" fmla="*/ 360 256 1"/>
                <a:gd name="G11" fmla="+- G10 T8 T9"/>
                <a:gd name="G12" fmla="?: G10 G11 G10"/>
                <a:gd name="T10" fmla="*/ 0 256 1"/>
                <a:gd name="T11" fmla="*/ 360 256 1"/>
                <a:gd name="G13" fmla="+- G12 T10 T11"/>
                <a:gd name="G14" fmla="?: G12 G13 G12"/>
                <a:gd name="G15" fmla="+- 0 0 G14"/>
                <a:gd name="G16" fmla="+- 10800 0 0"/>
                <a:gd name="G17" fmla="+- 10800 0 56"/>
                <a:gd name="G18" fmla="*/ 56 1 2"/>
                <a:gd name="G19" fmla="+- G18 5400 0"/>
                <a:gd name="G20" fmla="cos G19 11796480"/>
                <a:gd name="G21" fmla="sin G19 11796480"/>
                <a:gd name="G22" fmla="+- G20 10800 0"/>
                <a:gd name="G23" fmla="+- G21 10800 0"/>
                <a:gd name="G24" fmla="+- 10800 0 G20"/>
                <a:gd name="G25" fmla="+- 56 10800 0"/>
                <a:gd name="G26" fmla="?: G9 G17 G25"/>
                <a:gd name="G27" fmla="?: G9 0 21600"/>
                <a:gd name="G28" fmla="cos 10800 11796480"/>
                <a:gd name="G29" fmla="sin 10800 11796480"/>
                <a:gd name="G30" fmla="sin 56 11796480"/>
                <a:gd name="G31" fmla="+- G28 10800 0"/>
                <a:gd name="G32" fmla="+- G29 10800 0"/>
                <a:gd name="G33" fmla="+- G30 10800 0"/>
                <a:gd name="G34" fmla="?: G4 0 G31"/>
                <a:gd name="G35" fmla="?: 11796480 G34 0"/>
                <a:gd name="G36" fmla="?: G6 G35 G31"/>
                <a:gd name="G37" fmla="+- 21600 0 G36"/>
                <a:gd name="G38" fmla="?: G4 0 G33"/>
                <a:gd name="G39" fmla="?: 11796480 G38 G32"/>
                <a:gd name="G40" fmla="?: G6 G39 0"/>
                <a:gd name="G41" fmla="?: G4 G32 21600"/>
                <a:gd name="G42" fmla="?: G6 G41 G33"/>
                <a:gd name="T12" fmla="*/ 10800 w 21600"/>
                <a:gd name="T13" fmla="*/ 0 h 21600"/>
                <a:gd name="T14" fmla="*/ 5372 w 21600"/>
                <a:gd name="T15" fmla="*/ 10800 h 21600"/>
                <a:gd name="T16" fmla="*/ 10800 w 21600"/>
                <a:gd name="T17" fmla="*/ 10744 h 21600"/>
                <a:gd name="T18" fmla="*/ 16228 w 21600"/>
                <a:gd name="T19" fmla="*/ 10800 h 21600"/>
                <a:gd name="T20" fmla="*/ G36 w 21600"/>
                <a:gd name="T21" fmla="*/ G40 h 21600"/>
                <a:gd name="T22" fmla="*/ G37 w 21600"/>
                <a:gd name="T23" fmla="*/ G42 h 21600"/>
              </a:gdLst>
              <a:ahLst/>
              <a:cxnLst>
                <a:cxn ang="0">
                  <a:pos x="T12" y="T13"/>
                </a:cxn>
                <a:cxn ang="0">
                  <a:pos x="T14" y="T15"/>
                </a:cxn>
                <a:cxn ang="0">
                  <a:pos x="T16" y="T17"/>
                </a:cxn>
                <a:cxn ang="0">
                  <a:pos x="T18" y="T19"/>
                </a:cxn>
              </a:cxnLst>
              <a:rect l="T20" t="T21" r="T22" b="T23"/>
              <a:pathLst>
                <a:path w="21600" h="21600">
                  <a:moveTo>
                    <a:pt x="10744" y="10800"/>
                  </a:moveTo>
                  <a:cubicBezTo>
                    <a:pt x="10744" y="10769"/>
                    <a:pt x="10769" y="10744"/>
                    <a:pt x="10800" y="10744"/>
                  </a:cubicBezTo>
                  <a:cubicBezTo>
                    <a:pt x="10830" y="10743"/>
                    <a:pt x="10855" y="10769"/>
                    <a:pt x="10856" y="10799"/>
                  </a:cubicBezTo>
                  <a:lnTo>
                    <a:pt x="21600" y="10800"/>
                  </a:lnTo>
                  <a:cubicBezTo>
                    <a:pt x="21600" y="4835"/>
                    <a:pt x="16764" y="0"/>
                    <a:pt x="10800" y="0"/>
                  </a:cubicBezTo>
                  <a:cubicBezTo>
                    <a:pt x="4835" y="0"/>
                    <a:pt x="0" y="4835"/>
                    <a:pt x="0" y="10800"/>
                  </a:cubicBezTo>
                  <a:close/>
                </a:path>
              </a:pathLst>
            </a:custGeom>
            <a:solidFill>
              <a:srgbClr val="BBE0E3"/>
            </a:solidFill>
            <a:ln>
              <a:noFill/>
            </a:ln>
            <a:effectLst/>
            <a:extLst>
              <a:ext uri="{91240B29-F687-4F45-9708-019B960494DF}">
                <a14:hiddenLine xmlns:a14="http://schemas.microsoft.com/office/drawing/2010/main" w="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grpSp>
          <p:nvGrpSpPr>
            <p:cNvPr id="56" name="Group 47"/>
            <p:cNvGrpSpPr/>
            <p:nvPr/>
          </p:nvGrpSpPr>
          <p:grpSpPr bwMode="auto">
            <a:xfrm>
              <a:off x="912" y="1243"/>
              <a:ext cx="2984" cy="320"/>
              <a:chOff x="912" y="1243"/>
              <a:chExt cx="2984" cy="320"/>
            </a:xfrm>
          </p:grpSpPr>
          <p:sp>
            <p:nvSpPr>
              <p:cNvPr id="93" name="AutoShape 10"/>
              <p:cNvSpPr>
                <a:spLocks noChangeArrowheads="1"/>
              </p:cNvSpPr>
              <p:nvPr/>
            </p:nvSpPr>
            <p:spPr bwMode="gray">
              <a:xfrm>
                <a:off x="1112" y="1243"/>
                <a:ext cx="2784" cy="320"/>
              </a:xfrm>
              <a:prstGeom prst="roundRect">
                <a:avLst>
                  <a:gd name="adj" fmla="val 50000"/>
                </a:avLst>
              </a:prstGeom>
              <a:noFill/>
              <a:ln w="28575" algn="ctr">
                <a:solidFill>
                  <a:schemeClr val="bg2"/>
                </a:solidFill>
                <a:rou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hangingPunct="0"/>
                <a:r>
                  <a:rPr lang="zh-CN" altLang="en-US" sz="2400" b="1" dirty="0">
                    <a:latin typeface="华文新魏" panose="02010800040101010101" pitchFamily="2" charset="-122"/>
                    <a:ea typeface="华文新魏" panose="02010800040101010101" pitchFamily="2" charset="-122"/>
                  </a:rPr>
                  <a:t>计算机与程序设计</a:t>
                </a:r>
                <a:endParaRPr lang="en-US" altLang="zh-CN" sz="2400" b="1" dirty="0">
                  <a:latin typeface="华文新魏" panose="02010800040101010101" pitchFamily="2" charset="-122"/>
                  <a:ea typeface="华文新魏" panose="02010800040101010101" pitchFamily="2" charset="-122"/>
                </a:endParaRPr>
              </a:p>
            </p:txBody>
          </p:sp>
          <p:grpSp>
            <p:nvGrpSpPr>
              <p:cNvPr id="94" name="Group 11"/>
              <p:cNvGrpSpPr/>
              <p:nvPr/>
            </p:nvGrpSpPr>
            <p:grpSpPr bwMode="auto">
              <a:xfrm>
                <a:off x="912" y="1299"/>
                <a:ext cx="240" cy="240"/>
                <a:chOff x="2078" y="1680"/>
                <a:chExt cx="1615" cy="1615"/>
              </a:xfrm>
            </p:grpSpPr>
            <p:sp>
              <p:nvSpPr>
                <p:cNvPr id="95" name="Oval 12"/>
                <p:cNvSpPr>
                  <a:spLocks noChangeArrowheads="1"/>
                </p:cNvSpPr>
                <p:nvPr/>
              </p:nvSpPr>
              <p:spPr bwMode="gray">
                <a:xfrm>
                  <a:off x="2078" y="1680"/>
                  <a:ext cx="1615" cy="1615"/>
                </a:xfrm>
                <a:prstGeom prst="ellipse">
                  <a:avLst/>
                </a:prstGeom>
                <a:gradFill rotWithShape="1">
                  <a:gsLst>
                    <a:gs pos="0">
                      <a:srgbClr val="FFFFFF">
                        <a:gamma/>
                        <a:shade val="46275"/>
                        <a:invGamma/>
                      </a:srgbClr>
                    </a:gs>
                    <a:gs pos="50000">
                      <a:srgbClr val="FFFFFF"/>
                    </a:gs>
                    <a:gs pos="100000">
                      <a:srgbClr val="FFFFFF">
                        <a:gamma/>
                        <a:shade val="46275"/>
                        <a:invGamma/>
                      </a:srgbClr>
                    </a:gs>
                  </a:gsLst>
                  <a:lin ang="5400000" scaled="1"/>
                </a:gradFill>
                <a:ln>
                  <a:noFill/>
                </a:ln>
                <a:effectLst/>
                <a:extLst>
                  <a:ext uri="{91240B29-F687-4F45-9708-019B960494DF}">
                    <a14:hiddenLine xmlns:a14="http://schemas.microsoft.com/office/drawing/2010/main" w="57150">
                      <a:solidFill>
                        <a:schemeClr val="bg1"/>
                      </a:solidFill>
                      <a:round/>
                    </a14:hiddenLine>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endParaRPr lang="zh-CN" altLang="en-US"/>
                </a:p>
              </p:txBody>
            </p:sp>
            <p:sp>
              <p:nvSpPr>
                <p:cNvPr id="96" name="Oval 13"/>
                <p:cNvSpPr>
                  <a:spLocks noChangeArrowheads="1"/>
                </p:cNvSpPr>
                <p:nvPr/>
              </p:nvSpPr>
              <p:spPr bwMode="gray">
                <a:xfrm>
                  <a:off x="2170" y="1771"/>
                  <a:ext cx="1430" cy="1430"/>
                </a:xfrm>
                <a:prstGeom prst="ellipse">
                  <a:avLst/>
                </a:prstGeom>
                <a:gradFill rotWithShape="1">
                  <a:gsLst>
                    <a:gs pos="0">
                      <a:srgbClr val="FFFFFF">
                        <a:gamma/>
                        <a:shade val="63529"/>
                        <a:invGamma/>
                      </a:srgbClr>
                    </a:gs>
                    <a:gs pos="50000">
                      <a:srgbClr val="FFFFFF"/>
                    </a:gs>
                    <a:gs pos="100000">
                      <a:srgbClr val="FFFFFF">
                        <a:gamma/>
                        <a:shade val="63529"/>
                        <a:invGamma/>
                      </a:srgbClr>
                    </a:gs>
                  </a:gsLst>
                  <a:lin ang="0" scaled="1"/>
                </a:gra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endParaRPr lang="zh-CN" altLang="en-US"/>
                </a:p>
              </p:txBody>
            </p:sp>
            <p:sp>
              <p:nvSpPr>
                <p:cNvPr id="97" name="Oval 14"/>
                <p:cNvSpPr>
                  <a:spLocks noChangeArrowheads="1"/>
                </p:cNvSpPr>
                <p:nvPr/>
              </p:nvSpPr>
              <p:spPr bwMode="gray">
                <a:xfrm>
                  <a:off x="2254" y="1856"/>
                  <a:ext cx="1262" cy="1264"/>
                </a:xfrm>
                <a:prstGeom prst="ellipse">
                  <a:avLst/>
                </a:prstGeom>
                <a:gradFill rotWithShape="1">
                  <a:gsLst>
                    <a:gs pos="0">
                      <a:schemeClr val="hlink">
                        <a:gamma/>
                        <a:tint val="0"/>
                        <a:invGamma/>
                      </a:schemeClr>
                    </a:gs>
                    <a:gs pos="50000">
                      <a:schemeClr val="hlink"/>
                    </a:gs>
                    <a:gs pos="100000">
                      <a:schemeClr val="hlink">
                        <a:gamma/>
                        <a:tint val="0"/>
                        <a:invGamma/>
                      </a:schemeClr>
                    </a:gs>
                  </a:gsLst>
                  <a:lin ang="2700000" scaled="1"/>
                </a:gradFill>
                <a:ln>
                  <a:noFill/>
                </a:ln>
                <a:effectLst/>
                <a:extLst>
                  <a:ext uri="{91240B29-F687-4F45-9708-019B960494DF}">
                    <a14:hiddenLine xmlns:a14="http://schemas.microsoft.com/office/drawing/2010/main" w="38100">
                      <a:solidFill>
                        <a:schemeClr val="bg1"/>
                      </a:solidFill>
                      <a:round/>
                    </a14:hiddenLine>
                  </a:ext>
                  <a:ext uri="{AF507438-7753-43E0-B8FC-AC1667EBCBE1}">
                    <a14:hiddenEffects xmlns:a14="http://schemas.microsoft.com/office/drawing/2010/main">
                      <a:effectLst>
                        <a:outerShdw dist="109250" dir="3267739" algn="ctr" rotWithShape="0">
                          <a:srgbClr val="808080">
                            <a:alpha val="50000"/>
                          </a:srgbClr>
                        </a:outerShdw>
                      </a:effectLst>
                    </a14:hiddenEffects>
                  </a:ext>
                </a:extLst>
              </p:spPr>
              <p:txBody>
                <a:bodyPr wrap="none" anchor="ctr">
                  <a:spAutoFit/>
                </a:bodyPr>
                <a:lstStyle/>
                <a:p>
                  <a:endParaRPr lang="zh-CN" altLang="en-US"/>
                </a:p>
              </p:txBody>
            </p:sp>
            <p:sp>
              <p:nvSpPr>
                <p:cNvPr id="98" name="Oval 15"/>
                <p:cNvSpPr>
                  <a:spLocks noChangeArrowheads="1"/>
                </p:cNvSpPr>
                <p:nvPr/>
              </p:nvSpPr>
              <p:spPr bwMode="gray">
                <a:xfrm>
                  <a:off x="2254" y="1856"/>
                  <a:ext cx="1262" cy="1264"/>
                </a:xfrm>
                <a:prstGeom prst="ellipse">
                  <a:avLst/>
                </a:prstGeom>
                <a:gradFill rotWithShape="1">
                  <a:gsLst>
                    <a:gs pos="0">
                      <a:srgbClr val="FFCC00">
                        <a:gamma/>
                        <a:shade val="0"/>
                        <a:invGamma/>
                      </a:srgbClr>
                    </a:gs>
                    <a:gs pos="100000">
                      <a:srgbClr val="FFCC00"/>
                    </a:gs>
                  </a:gsLst>
                  <a:lin ang="2700000" scaled="1"/>
                </a:gradFill>
                <a:ln>
                  <a:noFill/>
                </a:ln>
                <a:effectLst/>
                <a:extLst>
                  <a:ext uri="{91240B29-F687-4F45-9708-019B960494DF}">
                    <a14:hiddenLine xmlns:a14="http://schemas.microsoft.com/office/drawing/2010/main" w="38100">
                      <a:solidFill>
                        <a:schemeClr val="bg1"/>
                      </a:solidFill>
                      <a:round/>
                    </a14:hiddenLine>
                  </a:ext>
                  <a:ext uri="{AF507438-7753-43E0-B8FC-AC1667EBCBE1}">
                    <a14:hiddenEffects xmlns:a14="http://schemas.microsoft.com/office/drawing/2010/main">
                      <a:effectLst>
                        <a:outerShdw dist="109250" dir="3267739" algn="ctr" rotWithShape="0">
                          <a:srgbClr val="808080">
                            <a:alpha val="50000"/>
                          </a:srgbClr>
                        </a:outerShdw>
                      </a:effectLst>
                    </a14:hiddenEffects>
                  </a:ext>
                </a:extLst>
              </p:spPr>
              <p:txBody>
                <a:bodyPr wrap="none" anchor="ctr">
                  <a:spAutoFit/>
                </a:bodyPr>
                <a:lstStyle/>
                <a:p>
                  <a:endParaRPr lang="zh-CN" altLang="en-US"/>
                </a:p>
              </p:txBody>
            </p:sp>
            <p:sp>
              <p:nvSpPr>
                <p:cNvPr id="99" name="Oval 16"/>
                <p:cNvSpPr>
                  <a:spLocks noChangeArrowheads="1"/>
                </p:cNvSpPr>
                <p:nvPr/>
              </p:nvSpPr>
              <p:spPr bwMode="gray">
                <a:xfrm>
                  <a:off x="2337" y="1939"/>
                  <a:ext cx="1096" cy="1098"/>
                </a:xfrm>
                <a:prstGeom prst="ellipse">
                  <a:avLst/>
                </a:prstGeom>
                <a:gradFill rotWithShape="1">
                  <a:gsLst>
                    <a:gs pos="0">
                      <a:schemeClr val="hlink">
                        <a:gamma/>
                        <a:shade val="54118"/>
                        <a:invGamma/>
                      </a:schemeClr>
                    </a:gs>
                    <a:gs pos="50000">
                      <a:schemeClr val="hlink"/>
                    </a:gs>
                    <a:gs pos="100000">
                      <a:schemeClr val="hlink">
                        <a:gamma/>
                        <a:shade val="54118"/>
                        <a:invGamma/>
                      </a:schemeClr>
                    </a:gs>
                  </a:gsLst>
                  <a:lin ang="18900000" scaled="1"/>
                </a:gradFill>
                <a:ln>
                  <a:noFill/>
                </a:ln>
                <a:effectLst/>
                <a:extLst>
                  <a:ext uri="{91240B29-F687-4F45-9708-019B960494DF}">
                    <a14:hiddenLine xmlns:a14="http://schemas.microsoft.com/office/drawing/2010/main" w="38100">
                      <a:solidFill>
                        <a:schemeClr val="bg1"/>
                      </a:solidFill>
                      <a:round/>
                    </a14:hiddenLine>
                  </a:ext>
                  <a:ext uri="{AF507438-7753-43E0-B8FC-AC1667EBCBE1}">
                    <a14:hiddenEffects xmlns:a14="http://schemas.microsoft.com/office/drawing/2010/main">
                      <a:effectLst>
                        <a:outerShdw dist="109250" dir="3267739" algn="ctr" rotWithShape="0">
                          <a:srgbClr val="808080">
                            <a:alpha val="50000"/>
                          </a:srgbClr>
                        </a:outerShdw>
                      </a:effectLst>
                    </a14:hiddenEffects>
                  </a:ext>
                </a:extLst>
              </p:spPr>
              <p:txBody>
                <a:bodyPr anchor="ctr">
                  <a:spAutoFit/>
                </a:bodyPr>
                <a:lstStyle/>
                <a:p>
                  <a:endParaRPr lang="zh-CN" altLang="en-US"/>
                </a:p>
              </p:txBody>
            </p:sp>
            <p:sp>
              <p:nvSpPr>
                <p:cNvPr id="100" name="Oval 17"/>
                <p:cNvSpPr>
                  <a:spLocks noChangeArrowheads="1"/>
                </p:cNvSpPr>
                <p:nvPr/>
              </p:nvSpPr>
              <p:spPr bwMode="gray">
                <a:xfrm>
                  <a:off x="2337" y="1939"/>
                  <a:ext cx="1096" cy="1098"/>
                </a:xfrm>
                <a:prstGeom prst="ellipse">
                  <a:avLst/>
                </a:prstGeom>
                <a:gradFill rotWithShape="1">
                  <a:gsLst>
                    <a:gs pos="0">
                      <a:srgbClr val="FFCC00"/>
                    </a:gs>
                    <a:gs pos="100000">
                      <a:srgbClr val="FFCC00">
                        <a:gamma/>
                        <a:shade val="48627"/>
                        <a:invGamma/>
                      </a:srgbClr>
                    </a:gs>
                  </a:gsLst>
                  <a:lin ang="2700000" scaled="1"/>
                </a:gradFill>
                <a:ln>
                  <a:noFill/>
                </a:ln>
                <a:effectLst/>
                <a:extLst>
                  <a:ext uri="{91240B29-F687-4F45-9708-019B960494DF}">
                    <a14:hiddenLine xmlns:a14="http://schemas.microsoft.com/office/drawing/2010/main" w="38100">
                      <a:solidFill>
                        <a:schemeClr val="bg1"/>
                      </a:solidFill>
                      <a:round/>
                    </a14:hiddenLine>
                  </a:ext>
                  <a:ext uri="{AF507438-7753-43E0-B8FC-AC1667EBCBE1}">
                    <a14:hiddenEffects xmlns:a14="http://schemas.microsoft.com/office/drawing/2010/main">
                      <a:effectLst>
                        <a:outerShdw dist="109250" dir="3267739" algn="ctr" rotWithShape="0">
                          <a:srgbClr val="808080">
                            <a:alpha val="50000"/>
                          </a:srgbClr>
                        </a:outerShdw>
                      </a:effectLst>
                    </a14:hiddenEffects>
                  </a:ext>
                </a:extLst>
              </p:spPr>
              <p:txBody>
                <a:bodyPr anchor="ctr">
                  <a:spAutoFit/>
                </a:bodyPr>
                <a:lstStyle/>
                <a:p>
                  <a:endParaRPr lang="zh-CN" altLang="en-US"/>
                </a:p>
              </p:txBody>
            </p:sp>
          </p:grpSp>
        </p:grpSp>
        <p:grpSp>
          <p:nvGrpSpPr>
            <p:cNvPr id="57" name="Group 48"/>
            <p:cNvGrpSpPr/>
            <p:nvPr/>
          </p:nvGrpSpPr>
          <p:grpSpPr bwMode="auto">
            <a:xfrm>
              <a:off x="1248" y="1728"/>
              <a:ext cx="2976" cy="320"/>
              <a:chOff x="1248" y="1728"/>
              <a:chExt cx="2976" cy="320"/>
            </a:xfrm>
          </p:grpSpPr>
          <p:sp>
            <p:nvSpPr>
              <p:cNvPr id="85" name="AutoShape 9"/>
              <p:cNvSpPr>
                <a:spLocks noChangeArrowheads="1"/>
              </p:cNvSpPr>
              <p:nvPr/>
            </p:nvSpPr>
            <p:spPr bwMode="gray">
              <a:xfrm>
                <a:off x="1440" y="1728"/>
                <a:ext cx="2784" cy="320"/>
              </a:xfrm>
              <a:prstGeom prst="roundRect">
                <a:avLst>
                  <a:gd name="adj" fmla="val 50000"/>
                </a:avLst>
              </a:prstGeom>
              <a:noFill/>
              <a:ln w="28575" algn="ctr">
                <a:solidFill>
                  <a:schemeClr val="bg2"/>
                </a:solidFill>
                <a:round/>
              </a:ln>
              <a:effectLst/>
              <a:extLst>
                <a:ext uri="{909E8E84-426E-40DD-AFC4-6F175D3DCCD1}">
                  <a14:hiddenFill xmlns:a14="http://schemas.microsoft.com/office/drawing/2010/main">
                    <a:gradFill rotWithShape="1">
                      <a:gsLst>
                        <a:gs pos="0">
                          <a:schemeClr val="folHlink">
                            <a:gamma/>
                            <a:tint val="0"/>
                            <a:invGamma/>
                          </a:schemeClr>
                        </a:gs>
                        <a:gs pos="100000">
                          <a:schemeClr val="folHlink"/>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hangingPunct="0"/>
                <a:r>
                  <a:rPr lang="zh-CN" altLang="en-US" sz="2400" b="1" dirty="0">
                    <a:solidFill>
                      <a:srgbClr val="800000"/>
                    </a:solidFill>
                    <a:latin typeface="华文新魏" panose="02010800040101010101" pitchFamily="2" charset="-122"/>
                    <a:ea typeface="华文新魏" panose="02010800040101010101" pitchFamily="2" charset="-122"/>
                  </a:rPr>
                  <a:t>程序设计语言和方法学的发展</a:t>
                </a:r>
                <a:endParaRPr lang="en-US" altLang="zh-CN" sz="2400" b="1" dirty="0">
                  <a:solidFill>
                    <a:srgbClr val="800000"/>
                  </a:solidFill>
                  <a:latin typeface="华文新魏" panose="02010800040101010101" pitchFamily="2" charset="-122"/>
                  <a:ea typeface="华文新魏" panose="02010800040101010101" pitchFamily="2" charset="-122"/>
                </a:endParaRPr>
              </a:p>
            </p:txBody>
          </p:sp>
          <p:grpSp>
            <p:nvGrpSpPr>
              <p:cNvPr id="86" name="Group 18"/>
              <p:cNvGrpSpPr/>
              <p:nvPr/>
            </p:nvGrpSpPr>
            <p:grpSpPr bwMode="auto">
              <a:xfrm>
                <a:off x="1248" y="1795"/>
                <a:ext cx="240" cy="240"/>
                <a:chOff x="2078" y="1680"/>
                <a:chExt cx="1615" cy="1615"/>
              </a:xfrm>
            </p:grpSpPr>
            <p:sp>
              <p:nvSpPr>
                <p:cNvPr id="87" name="Oval 19"/>
                <p:cNvSpPr>
                  <a:spLocks noChangeArrowheads="1"/>
                </p:cNvSpPr>
                <p:nvPr/>
              </p:nvSpPr>
              <p:spPr bwMode="gray">
                <a:xfrm>
                  <a:off x="2078" y="1680"/>
                  <a:ext cx="1615" cy="1615"/>
                </a:xfrm>
                <a:prstGeom prst="ellipse">
                  <a:avLst/>
                </a:prstGeom>
                <a:gradFill rotWithShape="1">
                  <a:gsLst>
                    <a:gs pos="0">
                      <a:srgbClr val="FFFFFF">
                        <a:gamma/>
                        <a:shade val="46275"/>
                        <a:invGamma/>
                      </a:srgbClr>
                    </a:gs>
                    <a:gs pos="50000">
                      <a:srgbClr val="FFFFFF"/>
                    </a:gs>
                    <a:gs pos="100000">
                      <a:srgbClr val="FFFFFF">
                        <a:gamma/>
                        <a:shade val="46275"/>
                        <a:invGamma/>
                      </a:srgbClr>
                    </a:gs>
                  </a:gsLst>
                  <a:lin ang="5400000" scaled="1"/>
                </a:gradFill>
                <a:ln>
                  <a:noFill/>
                </a:ln>
                <a:effectLst/>
                <a:extLst>
                  <a:ext uri="{91240B29-F687-4F45-9708-019B960494DF}">
                    <a14:hiddenLine xmlns:a14="http://schemas.microsoft.com/office/drawing/2010/main" w="57150">
                      <a:solidFill>
                        <a:schemeClr val="bg1"/>
                      </a:solidFill>
                      <a:round/>
                    </a14:hiddenLine>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endParaRPr lang="zh-CN" altLang="en-US"/>
                </a:p>
              </p:txBody>
            </p:sp>
            <p:sp>
              <p:nvSpPr>
                <p:cNvPr id="88" name="Oval 20"/>
                <p:cNvSpPr>
                  <a:spLocks noChangeArrowheads="1"/>
                </p:cNvSpPr>
                <p:nvPr/>
              </p:nvSpPr>
              <p:spPr bwMode="gray">
                <a:xfrm>
                  <a:off x="2170" y="1771"/>
                  <a:ext cx="1430" cy="1430"/>
                </a:xfrm>
                <a:prstGeom prst="ellipse">
                  <a:avLst/>
                </a:prstGeom>
                <a:gradFill rotWithShape="1">
                  <a:gsLst>
                    <a:gs pos="0">
                      <a:srgbClr val="FFFFFF">
                        <a:gamma/>
                        <a:shade val="63529"/>
                        <a:invGamma/>
                      </a:srgbClr>
                    </a:gs>
                    <a:gs pos="50000">
                      <a:srgbClr val="FFFFFF"/>
                    </a:gs>
                    <a:gs pos="100000">
                      <a:srgbClr val="FFFFFF">
                        <a:gamma/>
                        <a:shade val="63529"/>
                        <a:invGamma/>
                      </a:srgbClr>
                    </a:gs>
                  </a:gsLst>
                  <a:lin ang="0" scaled="1"/>
                </a:gra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endParaRPr lang="zh-CN" altLang="en-US"/>
                </a:p>
              </p:txBody>
            </p:sp>
            <p:sp>
              <p:nvSpPr>
                <p:cNvPr id="89" name="Oval 21"/>
                <p:cNvSpPr>
                  <a:spLocks noChangeArrowheads="1"/>
                </p:cNvSpPr>
                <p:nvPr/>
              </p:nvSpPr>
              <p:spPr bwMode="gray">
                <a:xfrm>
                  <a:off x="2254" y="1856"/>
                  <a:ext cx="1262" cy="1264"/>
                </a:xfrm>
                <a:prstGeom prst="ellipse">
                  <a:avLst/>
                </a:prstGeom>
                <a:gradFill rotWithShape="1">
                  <a:gsLst>
                    <a:gs pos="0">
                      <a:schemeClr val="hlink">
                        <a:gamma/>
                        <a:tint val="0"/>
                        <a:invGamma/>
                      </a:schemeClr>
                    </a:gs>
                    <a:gs pos="50000">
                      <a:schemeClr val="hlink"/>
                    </a:gs>
                    <a:gs pos="100000">
                      <a:schemeClr val="hlink">
                        <a:gamma/>
                        <a:tint val="0"/>
                        <a:invGamma/>
                      </a:schemeClr>
                    </a:gs>
                  </a:gsLst>
                  <a:lin ang="2700000" scaled="1"/>
                </a:gradFill>
                <a:ln>
                  <a:noFill/>
                </a:ln>
                <a:effectLst/>
                <a:extLst>
                  <a:ext uri="{91240B29-F687-4F45-9708-019B960494DF}">
                    <a14:hiddenLine xmlns:a14="http://schemas.microsoft.com/office/drawing/2010/main" w="38100">
                      <a:solidFill>
                        <a:schemeClr val="bg1"/>
                      </a:solidFill>
                      <a:round/>
                    </a14:hiddenLine>
                  </a:ext>
                  <a:ext uri="{AF507438-7753-43E0-B8FC-AC1667EBCBE1}">
                    <a14:hiddenEffects xmlns:a14="http://schemas.microsoft.com/office/drawing/2010/main">
                      <a:effectLst>
                        <a:outerShdw dist="109250" dir="3267739" algn="ctr" rotWithShape="0">
                          <a:srgbClr val="808080">
                            <a:alpha val="50000"/>
                          </a:srgbClr>
                        </a:outerShdw>
                      </a:effectLst>
                    </a14:hiddenEffects>
                  </a:ext>
                </a:extLst>
              </p:spPr>
              <p:txBody>
                <a:bodyPr wrap="none" anchor="ctr">
                  <a:spAutoFit/>
                </a:bodyPr>
                <a:lstStyle/>
                <a:p>
                  <a:endParaRPr lang="zh-CN" altLang="en-US"/>
                </a:p>
              </p:txBody>
            </p:sp>
            <p:sp>
              <p:nvSpPr>
                <p:cNvPr id="90" name="Oval 22"/>
                <p:cNvSpPr>
                  <a:spLocks noChangeArrowheads="1"/>
                </p:cNvSpPr>
                <p:nvPr/>
              </p:nvSpPr>
              <p:spPr bwMode="gray">
                <a:xfrm>
                  <a:off x="2254" y="1856"/>
                  <a:ext cx="1262" cy="1264"/>
                </a:xfrm>
                <a:prstGeom prst="ellipse">
                  <a:avLst/>
                </a:prstGeom>
                <a:gradFill rotWithShape="1">
                  <a:gsLst>
                    <a:gs pos="0">
                      <a:srgbClr val="48BE67">
                        <a:gamma/>
                        <a:shade val="0"/>
                        <a:invGamma/>
                      </a:srgbClr>
                    </a:gs>
                    <a:gs pos="100000">
                      <a:srgbClr val="48BE67"/>
                    </a:gs>
                  </a:gsLst>
                  <a:lin ang="2700000" scaled="1"/>
                </a:gradFill>
                <a:ln>
                  <a:noFill/>
                </a:ln>
                <a:effectLst/>
                <a:extLst>
                  <a:ext uri="{91240B29-F687-4F45-9708-019B960494DF}">
                    <a14:hiddenLine xmlns:a14="http://schemas.microsoft.com/office/drawing/2010/main" w="38100">
                      <a:solidFill>
                        <a:schemeClr val="bg1"/>
                      </a:solidFill>
                      <a:round/>
                    </a14:hiddenLine>
                  </a:ext>
                  <a:ext uri="{AF507438-7753-43E0-B8FC-AC1667EBCBE1}">
                    <a14:hiddenEffects xmlns:a14="http://schemas.microsoft.com/office/drawing/2010/main">
                      <a:effectLst>
                        <a:outerShdw dist="109250" dir="3267739" algn="ctr" rotWithShape="0">
                          <a:srgbClr val="808080">
                            <a:alpha val="50000"/>
                          </a:srgbClr>
                        </a:outerShdw>
                      </a:effectLst>
                    </a14:hiddenEffects>
                  </a:ext>
                </a:extLst>
              </p:spPr>
              <p:txBody>
                <a:bodyPr wrap="none" anchor="ctr">
                  <a:spAutoFit/>
                </a:bodyPr>
                <a:lstStyle/>
                <a:p>
                  <a:endParaRPr lang="zh-CN" altLang="en-US"/>
                </a:p>
              </p:txBody>
            </p:sp>
            <p:sp>
              <p:nvSpPr>
                <p:cNvPr id="91" name="Oval 23"/>
                <p:cNvSpPr>
                  <a:spLocks noChangeArrowheads="1"/>
                </p:cNvSpPr>
                <p:nvPr/>
              </p:nvSpPr>
              <p:spPr bwMode="gray">
                <a:xfrm>
                  <a:off x="2337" y="1939"/>
                  <a:ext cx="1096" cy="1098"/>
                </a:xfrm>
                <a:prstGeom prst="ellipse">
                  <a:avLst/>
                </a:prstGeom>
                <a:gradFill rotWithShape="1">
                  <a:gsLst>
                    <a:gs pos="0">
                      <a:schemeClr val="hlink">
                        <a:gamma/>
                        <a:shade val="54118"/>
                        <a:invGamma/>
                      </a:schemeClr>
                    </a:gs>
                    <a:gs pos="50000">
                      <a:schemeClr val="hlink"/>
                    </a:gs>
                    <a:gs pos="100000">
                      <a:schemeClr val="hlink">
                        <a:gamma/>
                        <a:shade val="54118"/>
                        <a:invGamma/>
                      </a:schemeClr>
                    </a:gs>
                  </a:gsLst>
                  <a:lin ang="18900000" scaled="1"/>
                </a:gradFill>
                <a:ln>
                  <a:noFill/>
                </a:ln>
                <a:effectLst/>
                <a:extLst>
                  <a:ext uri="{91240B29-F687-4F45-9708-019B960494DF}">
                    <a14:hiddenLine xmlns:a14="http://schemas.microsoft.com/office/drawing/2010/main" w="38100">
                      <a:solidFill>
                        <a:schemeClr val="bg1"/>
                      </a:solidFill>
                      <a:round/>
                    </a14:hiddenLine>
                  </a:ext>
                  <a:ext uri="{AF507438-7753-43E0-B8FC-AC1667EBCBE1}">
                    <a14:hiddenEffects xmlns:a14="http://schemas.microsoft.com/office/drawing/2010/main">
                      <a:effectLst>
                        <a:outerShdw dist="109250" dir="3267739" algn="ctr" rotWithShape="0">
                          <a:srgbClr val="808080">
                            <a:alpha val="50000"/>
                          </a:srgbClr>
                        </a:outerShdw>
                      </a:effectLst>
                    </a14:hiddenEffects>
                  </a:ext>
                </a:extLst>
              </p:spPr>
              <p:txBody>
                <a:bodyPr anchor="ctr">
                  <a:spAutoFit/>
                </a:bodyPr>
                <a:lstStyle/>
                <a:p>
                  <a:endParaRPr lang="zh-CN" altLang="en-US"/>
                </a:p>
              </p:txBody>
            </p:sp>
            <p:sp>
              <p:nvSpPr>
                <p:cNvPr id="92" name="Oval 24"/>
                <p:cNvSpPr>
                  <a:spLocks noChangeArrowheads="1"/>
                </p:cNvSpPr>
                <p:nvPr/>
              </p:nvSpPr>
              <p:spPr bwMode="gray">
                <a:xfrm>
                  <a:off x="2337" y="1939"/>
                  <a:ext cx="1096" cy="1098"/>
                </a:xfrm>
                <a:prstGeom prst="ellipse">
                  <a:avLst/>
                </a:prstGeom>
                <a:gradFill rotWithShape="1">
                  <a:gsLst>
                    <a:gs pos="0">
                      <a:srgbClr val="48BE67"/>
                    </a:gs>
                    <a:gs pos="100000">
                      <a:srgbClr val="48BE67">
                        <a:gamma/>
                        <a:shade val="48627"/>
                        <a:invGamma/>
                      </a:srgbClr>
                    </a:gs>
                  </a:gsLst>
                  <a:lin ang="2700000" scaled="1"/>
                </a:gradFill>
                <a:ln>
                  <a:noFill/>
                </a:ln>
                <a:effectLst/>
                <a:extLst>
                  <a:ext uri="{91240B29-F687-4F45-9708-019B960494DF}">
                    <a14:hiddenLine xmlns:a14="http://schemas.microsoft.com/office/drawing/2010/main" w="38100">
                      <a:solidFill>
                        <a:schemeClr val="bg1"/>
                      </a:solidFill>
                      <a:round/>
                    </a14:hiddenLine>
                  </a:ext>
                  <a:ext uri="{AF507438-7753-43E0-B8FC-AC1667EBCBE1}">
                    <a14:hiddenEffects xmlns:a14="http://schemas.microsoft.com/office/drawing/2010/main">
                      <a:effectLst>
                        <a:outerShdw dist="109250" dir="3267739" algn="ctr" rotWithShape="0">
                          <a:srgbClr val="808080">
                            <a:alpha val="50000"/>
                          </a:srgbClr>
                        </a:outerShdw>
                      </a:effectLst>
                    </a14:hiddenEffects>
                  </a:ext>
                </a:extLst>
              </p:spPr>
              <p:txBody>
                <a:bodyPr anchor="ctr">
                  <a:spAutoFit/>
                </a:bodyPr>
                <a:lstStyle/>
                <a:p>
                  <a:endParaRPr lang="zh-CN" altLang="en-US"/>
                </a:p>
              </p:txBody>
            </p:sp>
          </p:grpSp>
        </p:grpSp>
        <p:grpSp>
          <p:nvGrpSpPr>
            <p:cNvPr id="58" name="Group 49"/>
            <p:cNvGrpSpPr/>
            <p:nvPr/>
          </p:nvGrpSpPr>
          <p:grpSpPr bwMode="auto">
            <a:xfrm>
              <a:off x="1344" y="2275"/>
              <a:ext cx="2976" cy="320"/>
              <a:chOff x="1344" y="2275"/>
              <a:chExt cx="2976" cy="320"/>
            </a:xfrm>
          </p:grpSpPr>
          <p:sp>
            <p:nvSpPr>
              <p:cNvPr id="77" name="AutoShape 8"/>
              <p:cNvSpPr>
                <a:spLocks noChangeArrowheads="1"/>
              </p:cNvSpPr>
              <p:nvPr/>
            </p:nvSpPr>
            <p:spPr bwMode="gray">
              <a:xfrm>
                <a:off x="1536" y="2275"/>
                <a:ext cx="2784" cy="320"/>
              </a:xfrm>
              <a:prstGeom prst="roundRect">
                <a:avLst>
                  <a:gd name="adj" fmla="val 50000"/>
                </a:avLst>
              </a:prstGeom>
              <a:noFill/>
              <a:ln w="28575" algn="ctr">
                <a:solidFill>
                  <a:schemeClr val="bg2"/>
                </a:solidFill>
                <a:rou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hangingPunct="0"/>
                <a:r>
                  <a:rPr lang="en-US" altLang="zh-CN" sz="2400" b="1" dirty="0">
                    <a:latin typeface="华文新魏" panose="02010800040101010101" pitchFamily="2" charset="-122"/>
                    <a:ea typeface="华文新魏" panose="02010800040101010101" pitchFamily="2" charset="-122"/>
                  </a:rPr>
                  <a:t>C++</a:t>
                </a:r>
                <a:r>
                  <a:rPr lang="zh-CN" altLang="en-US" sz="2400" b="1" dirty="0">
                    <a:latin typeface="华文新魏" panose="02010800040101010101" pitchFamily="2" charset="-122"/>
                    <a:ea typeface="华文新魏" panose="02010800040101010101" pitchFamily="2" charset="-122"/>
                  </a:rPr>
                  <a:t>语言概述</a:t>
                </a:r>
                <a:endParaRPr lang="en-US" altLang="zh-CN" sz="2400" b="1" dirty="0">
                  <a:latin typeface="华文新魏" panose="02010800040101010101" pitchFamily="2" charset="-122"/>
                  <a:ea typeface="华文新魏" panose="02010800040101010101" pitchFamily="2" charset="-122"/>
                </a:endParaRPr>
              </a:p>
            </p:txBody>
          </p:sp>
          <p:grpSp>
            <p:nvGrpSpPr>
              <p:cNvPr id="78" name="Group 25"/>
              <p:cNvGrpSpPr/>
              <p:nvPr/>
            </p:nvGrpSpPr>
            <p:grpSpPr bwMode="auto">
              <a:xfrm>
                <a:off x="1344" y="2323"/>
                <a:ext cx="240" cy="240"/>
                <a:chOff x="2078" y="1680"/>
                <a:chExt cx="1615" cy="1615"/>
              </a:xfrm>
            </p:grpSpPr>
            <p:sp>
              <p:nvSpPr>
                <p:cNvPr id="79" name="Oval 26"/>
                <p:cNvSpPr>
                  <a:spLocks noChangeArrowheads="1"/>
                </p:cNvSpPr>
                <p:nvPr/>
              </p:nvSpPr>
              <p:spPr bwMode="gray">
                <a:xfrm>
                  <a:off x="2078" y="1680"/>
                  <a:ext cx="1615" cy="1615"/>
                </a:xfrm>
                <a:prstGeom prst="ellipse">
                  <a:avLst/>
                </a:prstGeom>
                <a:gradFill rotWithShape="1">
                  <a:gsLst>
                    <a:gs pos="0">
                      <a:srgbClr val="FFFFFF">
                        <a:gamma/>
                        <a:shade val="46275"/>
                        <a:invGamma/>
                      </a:srgbClr>
                    </a:gs>
                    <a:gs pos="50000">
                      <a:srgbClr val="FFFFFF"/>
                    </a:gs>
                    <a:gs pos="100000">
                      <a:srgbClr val="FFFFFF">
                        <a:gamma/>
                        <a:shade val="46275"/>
                        <a:invGamma/>
                      </a:srgbClr>
                    </a:gs>
                  </a:gsLst>
                  <a:lin ang="5400000" scaled="1"/>
                </a:gradFill>
                <a:ln>
                  <a:noFill/>
                </a:ln>
                <a:effectLst/>
                <a:extLst>
                  <a:ext uri="{91240B29-F687-4F45-9708-019B960494DF}">
                    <a14:hiddenLine xmlns:a14="http://schemas.microsoft.com/office/drawing/2010/main" w="57150">
                      <a:solidFill>
                        <a:schemeClr val="bg1"/>
                      </a:solidFill>
                      <a:round/>
                    </a14:hiddenLine>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endParaRPr lang="zh-CN" altLang="en-US"/>
                </a:p>
              </p:txBody>
            </p:sp>
            <p:sp>
              <p:nvSpPr>
                <p:cNvPr id="80" name="Oval 27"/>
                <p:cNvSpPr>
                  <a:spLocks noChangeArrowheads="1"/>
                </p:cNvSpPr>
                <p:nvPr/>
              </p:nvSpPr>
              <p:spPr bwMode="gray">
                <a:xfrm>
                  <a:off x="2170" y="1771"/>
                  <a:ext cx="1430" cy="1430"/>
                </a:xfrm>
                <a:prstGeom prst="ellipse">
                  <a:avLst/>
                </a:prstGeom>
                <a:gradFill rotWithShape="1">
                  <a:gsLst>
                    <a:gs pos="0">
                      <a:srgbClr val="FFFFFF">
                        <a:gamma/>
                        <a:shade val="63529"/>
                        <a:invGamma/>
                      </a:srgbClr>
                    </a:gs>
                    <a:gs pos="50000">
                      <a:srgbClr val="FFFFFF"/>
                    </a:gs>
                    <a:gs pos="100000">
                      <a:srgbClr val="FFFFFF">
                        <a:gamma/>
                        <a:shade val="63529"/>
                        <a:invGamma/>
                      </a:srgbClr>
                    </a:gs>
                  </a:gsLst>
                  <a:lin ang="0" scaled="1"/>
                </a:gra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endParaRPr lang="zh-CN" altLang="en-US"/>
                </a:p>
              </p:txBody>
            </p:sp>
            <p:sp>
              <p:nvSpPr>
                <p:cNvPr id="81" name="Oval 28"/>
                <p:cNvSpPr>
                  <a:spLocks noChangeArrowheads="1"/>
                </p:cNvSpPr>
                <p:nvPr/>
              </p:nvSpPr>
              <p:spPr bwMode="gray">
                <a:xfrm>
                  <a:off x="2254" y="1856"/>
                  <a:ext cx="1262" cy="1264"/>
                </a:xfrm>
                <a:prstGeom prst="ellipse">
                  <a:avLst/>
                </a:prstGeom>
                <a:gradFill rotWithShape="1">
                  <a:gsLst>
                    <a:gs pos="0">
                      <a:schemeClr val="hlink">
                        <a:gamma/>
                        <a:tint val="0"/>
                        <a:invGamma/>
                      </a:schemeClr>
                    </a:gs>
                    <a:gs pos="50000">
                      <a:schemeClr val="hlink"/>
                    </a:gs>
                    <a:gs pos="100000">
                      <a:schemeClr val="hlink">
                        <a:gamma/>
                        <a:tint val="0"/>
                        <a:invGamma/>
                      </a:schemeClr>
                    </a:gs>
                  </a:gsLst>
                  <a:lin ang="2700000" scaled="1"/>
                </a:gradFill>
                <a:ln>
                  <a:noFill/>
                </a:ln>
                <a:effectLst/>
                <a:extLst>
                  <a:ext uri="{91240B29-F687-4F45-9708-019B960494DF}">
                    <a14:hiddenLine xmlns:a14="http://schemas.microsoft.com/office/drawing/2010/main" w="38100">
                      <a:solidFill>
                        <a:schemeClr val="bg1"/>
                      </a:solidFill>
                      <a:round/>
                    </a14:hiddenLine>
                  </a:ext>
                  <a:ext uri="{AF507438-7753-43E0-B8FC-AC1667EBCBE1}">
                    <a14:hiddenEffects xmlns:a14="http://schemas.microsoft.com/office/drawing/2010/main">
                      <a:effectLst>
                        <a:outerShdw dist="109250" dir="3267739" algn="ctr" rotWithShape="0">
                          <a:srgbClr val="808080">
                            <a:alpha val="50000"/>
                          </a:srgbClr>
                        </a:outerShdw>
                      </a:effectLst>
                    </a14:hiddenEffects>
                  </a:ext>
                </a:extLst>
              </p:spPr>
              <p:txBody>
                <a:bodyPr wrap="none" anchor="ctr">
                  <a:spAutoFit/>
                </a:bodyPr>
                <a:lstStyle/>
                <a:p>
                  <a:endParaRPr lang="zh-CN" altLang="en-US"/>
                </a:p>
              </p:txBody>
            </p:sp>
            <p:sp>
              <p:nvSpPr>
                <p:cNvPr id="82" name="Oval 29"/>
                <p:cNvSpPr>
                  <a:spLocks noChangeArrowheads="1"/>
                </p:cNvSpPr>
                <p:nvPr/>
              </p:nvSpPr>
              <p:spPr bwMode="gray">
                <a:xfrm>
                  <a:off x="2254" y="1856"/>
                  <a:ext cx="1262" cy="1264"/>
                </a:xfrm>
                <a:prstGeom prst="ellipse">
                  <a:avLst/>
                </a:prstGeom>
                <a:gradFill rotWithShape="1">
                  <a:gsLst>
                    <a:gs pos="0">
                      <a:srgbClr val="21B3E1"/>
                    </a:gs>
                    <a:gs pos="100000">
                      <a:srgbClr val="21B3E1">
                        <a:gamma/>
                        <a:shade val="46275"/>
                        <a:invGamma/>
                      </a:srgbClr>
                    </a:gs>
                  </a:gsLst>
                  <a:lin ang="5400000" scaled="1"/>
                </a:gradFill>
                <a:ln>
                  <a:noFill/>
                </a:ln>
                <a:effectLst/>
                <a:extLst>
                  <a:ext uri="{91240B29-F687-4F45-9708-019B960494DF}">
                    <a14:hiddenLine xmlns:a14="http://schemas.microsoft.com/office/drawing/2010/main" w="38100">
                      <a:solidFill>
                        <a:schemeClr val="bg1"/>
                      </a:solidFill>
                      <a:round/>
                    </a14:hiddenLine>
                  </a:ext>
                  <a:ext uri="{AF507438-7753-43E0-B8FC-AC1667EBCBE1}">
                    <a14:hiddenEffects xmlns:a14="http://schemas.microsoft.com/office/drawing/2010/main">
                      <a:effectLst>
                        <a:outerShdw dist="109250" dir="3267739" algn="ctr" rotWithShape="0">
                          <a:srgbClr val="808080">
                            <a:alpha val="50000"/>
                          </a:srgbClr>
                        </a:outerShdw>
                      </a:effectLst>
                    </a14:hiddenEffects>
                  </a:ext>
                </a:extLst>
              </p:spPr>
              <p:txBody>
                <a:bodyPr wrap="none" anchor="ctr">
                  <a:spAutoFit/>
                </a:bodyPr>
                <a:lstStyle/>
                <a:p>
                  <a:endParaRPr lang="zh-CN" altLang="en-US"/>
                </a:p>
              </p:txBody>
            </p:sp>
            <p:sp>
              <p:nvSpPr>
                <p:cNvPr id="83" name="Oval 30"/>
                <p:cNvSpPr>
                  <a:spLocks noChangeArrowheads="1"/>
                </p:cNvSpPr>
                <p:nvPr/>
              </p:nvSpPr>
              <p:spPr bwMode="gray">
                <a:xfrm>
                  <a:off x="2337" y="1939"/>
                  <a:ext cx="1096" cy="1098"/>
                </a:xfrm>
                <a:prstGeom prst="ellipse">
                  <a:avLst/>
                </a:prstGeom>
                <a:gradFill rotWithShape="1">
                  <a:gsLst>
                    <a:gs pos="0">
                      <a:schemeClr val="hlink">
                        <a:gamma/>
                        <a:shade val="54118"/>
                        <a:invGamma/>
                      </a:schemeClr>
                    </a:gs>
                    <a:gs pos="50000">
                      <a:schemeClr val="hlink"/>
                    </a:gs>
                    <a:gs pos="100000">
                      <a:schemeClr val="hlink">
                        <a:gamma/>
                        <a:shade val="54118"/>
                        <a:invGamma/>
                      </a:schemeClr>
                    </a:gs>
                  </a:gsLst>
                  <a:lin ang="18900000" scaled="1"/>
                </a:gradFill>
                <a:ln>
                  <a:noFill/>
                </a:ln>
                <a:effectLst/>
                <a:extLst>
                  <a:ext uri="{91240B29-F687-4F45-9708-019B960494DF}">
                    <a14:hiddenLine xmlns:a14="http://schemas.microsoft.com/office/drawing/2010/main" w="38100">
                      <a:solidFill>
                        <a:schemeClr val="bg1"/>
                      </a:solidFill>
                      <a:round/>
                    </a14:hiddenLine>
                  </a:ext>
                  <a:ext uri="{AF507438-7753-43E0-B8FC-AC1667EBCBE1}">
                    <a14:hiddenEffects xmlns:a14="http://schemas.microsoft.com/office/drawing/2010/main">
                      <a:effectLst>
                        <a:outerShdw dist="109250" dir="3267739" algn="ctr" rotWithShape="0">
                          <a:srgbClr val="808080">
                            <a:alpha val="50000"/>
                          </a:srgbClr>
                        </a:outerShdw>
                      </a:effectLst>
                    </a14:hiddenEffects>
                  </a:ext>
                </a:extLst>
              </p:spPr>
              <p:txBody>
                <a:bodyPr anchor="ctr">
                  <a:spAutoFit/>
                </a:bodyPr>
                <a:lstStyle/>
                <a:p>
                  <a:endParaRPr lang="zh-CN" altLang="en-US"/>
                </a:p>
              </p:txBody>
            </p:sp>
            <p:sp>
              <p:nvSpPr>
                <p:cNvPr id="84" name="Oval 31"/>
                <p:cNvSpPr>
                  <a:spLocks noChangeArrowheads="1"/>
                </p:cNvSpPr>
                <p:nvPr/>
              </p:nvSpPr>
              <p:spPr bwMode="gray">
                <a:xfrm>
                  <a:off x="2337" y="1939"/>
                  <a:ext cx="1096" cy="1098"/>
                </a:xfrm>
                <a:prstGeom prst="ellipse">
                  <a:avLst/>
                </a:prstGeom>
                <a:gradFill rotWithShape="1">
                  <a:gsLst>
                    <a:gs pos="0">
                      <a:srgbClr val="21B3E1"/>
                    </a:gs>
                    <a:gs pos="100000">
                      <a:srgbClr val="21B3E1">
                        <a:gamma/>
                        <a:shade val="48627"/>
                        <a:invGamma/>
                      </a:srgbClr>
                    </a:gs>
                  </a:gsLst>
                  <a:lin ang="2700000" scaled="1"/>
                </a:gradFill>
                <a:ln>
                  <a:noFill/>
                </a:ln>
                <a:effectLst/>
                <a:extLst>
                  <a:ext uri="{91240B29-F687-4F45-9708-019B960494DF}">
                    <a14:hiddenLine xmlns:a14="http://schemas.microsoft.com/office/drawing/2010/main" w="38100">
                      <a:solidFill>
                        <a:schemeClr val="bg1"/>
                      </a:solidFill>
                      <a:round/>
                    </a14:hiddenLine>
                  </a:ext>
                  <a:ext uri="{AF507438-7753-43E0-B8FC-AC1667EBCBE1}">
                    <a14:hiddenEffects xmlns:a14="http://schemas.microsoft.com/office/drawing/2010/main">
                      <a:effectLst>
                        <a:outerShdw dist="109250" dir="3267739" algn="ctr" rotWithShape="0">
                          <a:srgbClr val="808080">
                            <a:alpha val="50000"/>
                          </a:srgbClr>
                        </a:outerShdw>
                      </a:effectLst>
                    </a14:hiddenEffects>
                  </a:ext>
                </a:extLst>
              </p:spPr>
              <p:txBody>
                <a:bodyPr anchor="ctr">
                  <a:spAutoFit/>
                </a:bodyPr>
                <a:lstStyle/>
                <a:p>
                  <a:endParaRPr lang="zh-CN" altLang="en-US"/>
                </a:p>
              </p:txBody>
            </p:sp>
          </p:grpSp>
        </p:grpSp>
        <p:grpSp>
          <p:nvGrpSpPr>
            <p:cNvPr id="59" name="Group 50"/>
            <p:cNvGrpSpPr/>
            <p:nvPr/>
          </p:nvGrpSpPr>
          <p:grpSpPr bwMode="auto">
            <a:xfrm>
              <a:off x="1248" y="2787"/>
              <a:ext cx="2996" cy="320"/>
              <a:chOff x="1248" y="2787"/>
              <a:chExt cx="2996" cy="320"/>
            </a:xfrm>
          </p:grpSpPr>
          <p:sp>
            <p:nvSpPr>
              <p:cNvPr id="69" name="AutoShape 7"/>
              <p:cNvSpPr>
                <a:spLocks noChangeArrowheads="1"/>
              </p:cNvSpPr>
              <p:nvPr/>
            </p:nvSpPr>
            <p:spPr bwMode="gray">
              <a:xfrm>
                <a:off x="1460" y="2787"/>
                <a:ext cx="2784" cy="320"/>
              </a:xfrm>
              <a:prstGeom prst="roundRect">
                <a:avLst>
                  <a:gd name="adj" fmla="val 50000"/>
                </a:avLst>
              </a:prstGeom>
              <a:noFill/>
              <a:ln w="28575" algn="ctr">
                <a:solidFill>
                  <a:schemeClr val="bg2"/>
                </a:solidFill>
                <a:round/>
              </a:ln>
              <a:effectLst/>
              <a:extLst>
                <a:ext uri="{909E8E84-426E-40DD-AFC4-6F175D3DCCD1}">
                  <a14:hiddenFill xmlns:a14="http://schemas.microsoft.com/office/drawing/2010/main">
                    <a:gradFill rotWithShape="1">
                      <a:gsLst>
                        <a:gs pos="0">
                          <a:schemeClr val="folHlink">
                            <a:gamma/>
                            <a:tint val="0"/>
                            <a:invGamma/>
                          </a:schemeClr>
                        </a:gs>
                        <a:gs pos="100000">
                          <a:schemeClr val="folHlink"/>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hangingPunct="0"/>
                <a:r>
                  <a:rPr lang="zh-CN" altLang="en-US" sz="2400" b="1" dirty="0">
                    <a:latin typeface="华文新魏" panose="02010800040101010101" pitchFamily="2" charset="-122"/>
                    <a:ea typeface="华文新魏" panose="02010800040101010101" pitchFamily="2" charset="-122"/>
                  </a:rPr>
                  <a:t>课程简介</a:t>
                </a:r>
                <a:endParaRPr lang="en-US" altLang="zh-CN" sz="2400" b="1" dirty="0">
                  <a:latin typeface="华文新魏" panose="02010800040101010101" pitchFamily="2" charset="-122"/>
                  <a:ea typeface="华文新魏" panose="02010800040101010101" pitchFamily="2" charset="-122"/>
                </a:endParaRPr>
              </a:p>
            </p:txBody>
          </p:sp>
          <p:grpSp>
            <p:nvGrpSpPr>
              <p:cNvPr id="70" name="Group 32"/>
              <p:cNvGrpSpPr/>
              <p:nvPr/>
            </p:nvGrpSpPr>
            <p:grpSpPr bwMode="auto">
              <a:xfrm>
                <a:off x="1248" y="2851"/>
                <a:ext cx="240" cy="240"/>
                <a:chOff x="2078" y="1680"/>
                <a:chExt cx="1615" cy="1615"/>
              </a:xfrm>
            </p:grpSpPr>
            <p:sp>
              <p:nvSpPr>
                <p:cNvPr id="71" name="Oval 33"/>
                <p:cNvSpPr>
                  <a:spLocks noChangeArrowheads="1"/>
                </p:cNvSpPr>
                <p:nvPr/>
              </p:nvSpPr>
              <p:spPr bwMode="gray">
                <a:xfrm>
                  <a:off x="2078" y="1680"/>
                  <a:ext cx="1615" cy="1615"/>
                </a:xfrm>
                <a:prstGeom prst="ellipse">
                  <a:avLst/>
                </a:prstGeom>
                <a:gradFill rotWithShape="1">
                  <a:gsLst>
                    <a:gs pos="0">
                      <a:srgbClr val="FFFFFF">
                        <a:gamma/>
                        <a:shade val="46275"/>
                        <a:invGamma/>
                      </a:srgbClr>
                    </a:gs>
                    <a:gs pos="50000">
                      <a:srgbClr val="FFFFFF"/>
                    </a:gs>
                    <a:gs pos="100000">
                      <a:srgbClr val="FFFFFF">
                        <a:gamma/>
                        <a:shade val="46275"/>
                        <a:invGamma/>
                      </a:srgbClr>
                    </a:gs>
                  </a:gsLst>
                  <a:lin ang="5400000" scaled="1"/>
                </a:gradFill>
                <a:ln>
                  <a:noFill/>
                </a:ln>
                <a:effectLst/>
                <a:extLst>
                  <a:ext uri="{91240B29-F687-4F45-9708-019B960494DF}">
                    <a14:hiddenLine xmlns:a14="http://schemas.microsoft.com/office/drawing/2010/main" w="57150">
                      <a:solidFill>
                        <a:schemeClr val="bg1"/>
                      </a:solidFill>
                      <a:round/>
                    </a14:hiddenLine>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endParaRPr lang="zh-CN" altLang="en-US"/>
                </a:p>
              </p:txBody>
            </p:sp>
            <p:sp>
              <p:nvSpPr>
                <p:cNvPr id="72" name="Oval 34"/>
                <p:cNvSpPr>
                  <a:spLocks noChangeArrowheads="1"/>
                </p:cNvSpPr>
                <p:nvPr/>
              </p:nvSpPr>
              <p:spPr bwMode="gray">
                <a:xfrm>
                  <a:off x="2170" y="1771"/>
                  <a:ext cx="1430" cy="1430"/>
                </a:xfrm>
                <a:prstGeom prst="ellipse">
                  <a:avLst/>
                </a:prstGeom>
                <a:gradFill rotWithShape="1">
                  <a:gsLst>
                    <a:gs pos="0">
                      <a:srgbClr val="FFFFFF">
                        <a:gamma/>
                        <a:shade val="63529"/>
                        <a:invGamma/>
                      </a:srgbClr>
                    </a:gs>
                    <a:gs pos="50000">
                      <a:srgbClr val="FFFFFF"/>
                    </a:gs>
                    <a:gs pos="100000">
                      <a:srgbClr val="FFFFFF">
                        <a:gamma/>
                        <a:shade val="63529"/>
                        <a:invGamma/>
                      </a:srgbClr>
                    </a:gs>
                  </a:gsLst>
                  <a:lin ang="0" scaled="1"/>
                </a:gra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endParaRPr lang="zh-CN" altLang="en-US"/>
                </a:p>
              </p:txBody>
            </p:sp>
            <p:sp>
              <p:nvSpPr>
                <p:cNvPr id="73" name="Oval 35"/>
                <p:cNvSpPr>
                  <a:spLocks noChangeArrowheads="1"/>
                </p:cNvSpPr>
                <p:nvPr/>
              </p:nvSpPr>
              <p:spPr bwMode="gray">
                <a:xfrm>
                  <a:off x="2254" y="1856"/>
                  <a:ext cx="1262" cy="1264"/>
                </a:xfrm>
                <a:prstGeom prst="ellipse">
                  <a:avLst/>
                </a:prstGeom>
                <a:gradFill rotWithShape="1">
                  <a:gsLst>
                    <a:gs pos="0">
                      <a:schemeClr val="hlink">
                        <a:gamma/>
                        <a:tint val="0"/>
                        <a:invGamma/>
                      </a:schemeClr>
                    </a:gs>
                    <a:gs pos="50000">
                      <a:schemeClr val="hlink"/>
                    </a:gs>
                    <a:gs pos="100000">
                      <a:schemeClr val="hlink">
                        <a:gamma/>
                        <a:tint val="0"/>
                        <a:invGamma/>
                      </a:schemeClr>
                    </a:gs>
                  </a:gsLst>
                  <a:lin ang="2700000" scaled="1"/>
                </a:gradFill>
                <a:ln>
                  <a:noFill/>
                </a:ln>
                <a:effectLst/>
                <a:extLst>
                  <a:ext uri="{91240B29-F687-4F45-9708-019B960494DF}">
                    <a14:hiddenLine xmlns:a14="http://schemas.microsoft.com/office/drawing/2010/main" w="38100">
                      <a:solidFill>
                        <a:schemeClr val="bg1"/>
                      </a:solidFill>
                      <a:round/>
                    </a14:hiddenLine>
                  </a:ext>
                  <a:ext uri="{AF507438-7753-43E0-B8FC-AC1667EBCBE1}">
                    <a14:hiddenEffects xmlns:a14="http://schemas.microsoft.com/office/drawing/2010/main">
                      <a:effectLst>
                        <a:outerShdw dist="109250" dir="3267739" algn="ctr" rotWithShape="0">
                          <a:srgbClr val="808080">
                            <a:alpha val="50000"/>
                          </a:srgbClr>
                        </a:outerShdw>
                      </a:effectLst>
                    </a14:hiddenEffects>
                  </a:ext>
                </a:extLst>
              </p:spPr>
              <p:txBody>
                <a:bodyPr wrap="none" anchor="ctr">
                  <a:spAutoFit/>
                </a:bodyPr>
                <a:lstStyle/>
                <a:p>
                  <a:endParaRPr lang="zh-CN" altLang="en-US"/>
                </a:p>
              </p:txBody>
            </p:sp>
            <p:sp>
              <p:nvSpPr>
                <p:cNvPr id="74" name="Oval 36"/>
                <p:cNvSpPr>
                  <a:spLocks noChangeArrowheads="1"/>
                </p:cNvSpPr>
                <p:nvPr/>
              </p:nvSpPr>
              <p:spPr bwMode="gray">
                <a:xfrm>
                  <a:off x="2254" y="1856"/>
                  <a:ext cx="1262" cy="1264"/>
                </a:xfrm>
                <a:prstGeom prst="ellipse">
                  <a:avLst/>
                </a:prstGeom>
                <a:gradFill rotWithShape="1">
                  <a:gsLst>
                    <a:gs pos="0">
                      <a:srgbClr val="8D67E1">
                        <a:gamma/>
                        <a:shade val="0"/>
                        <a:invGamma/>
                      </a:srgbClr>
                    </a:gs>
                    <a:gs pos="100000">
                      <a:srgbClr val="8D67E1"/>
                    </a:gs>
                  </a:gsLst>
                  <a:lin ang="2700000" scaled="1"/>
                </a:gradFill>
                <a:ln>
                  <a:noFill/>
                </a:ln>
                <a:effectLst/>
                <a:extLst>
                  <a:ext uri="{91240B29-F687-4F45-9708-019B960494DF}">
                    <a14:hiddenLine xmlns:a14="http://schemas.microsoft.com/office/drawing/2010/main" w="38100">
                      <a:solidFill>
                        <a:schemeClr val="bg1"/>
                      </a:solidFill>
                      <a:round/>
                    </a14:hiddenLine>
                  </a:ext>
                  <a:ext uri="{AF507438-7753-43E0-B8FC-AC1667EBCBE1}">
                    <a14:hiddenEffects xmlns:a14="http://schemas.microsoft.com/office/drawing/2010/main">
                      <a:effectLst>
                        <a:outerShdw dist="109250" dir="3267739" algn="ctr" rotWithShape="0">
                          <a:srgbClr val="808080">
                            <a:alpha val="50000"/>
                          </a:srgbClr>
                        </a:outerShdw>
                      </a:effectLst>
                    </a14:hiddenEffects>
                  </a:ext>
                </a:extLst>
              </p:spPr>
              <p:txBody>
                <a:bodyPr wrap="none" anchor="ctr">
                  <a:spAutoFit/>
                </a:bodyPr>
                <a:lstStyle/>
                <a:p>
                  <a:endParaRPr lang="zh-CN" altLang="en-US"/>
                </a:p>
              </p:txBody>
            </p:sp>
            <p:sp>
              <p:nvSpPr>
                <p:cNvPr id="75" name="Oval 37"/>
                <p:cNvSpPr>
                  <a:spLocks noChangeArrowheads="1"/>
                </p:cNvSpPr>
                <p:nvPr/>
              </p:nvSpPr>
              <p:spPr bwMode="gray">
                <a:xfrm>
                  <a:off x="2337" y="1939"/>
                  <a:ext cx="1096" cy="1098"/>
                </a:xfrm>
                <a:prstGeom prst="ellipse">
                  <a:avLst/>
                </a:prstGeom>
                <a:gradFill rotWithShape="1">
                  <a:gsLst>
                    <a:gs pos="0">
                      <a:schemeClr val="hlink">
                        <a:gamma/>
                        <a:shade val="54118"/>
                        <a:invGamma/>
                      </a:schemeClr>
                    </a:gs>
                    <a:gs pos="50000">
                      <a:schemeClr val="hlink"/>
                    </a:gs>
                    <a:gs pos="100000">
                      <a:schemeClr val="hlink">
                        <a:gamma/>
                        <a:shade val="54118"/>
                        <a:invGamma/>
                      </a:schemeClr>
                    </a:gs>
                  </a:gsLst>
                  <a:lin ang="18900000" scaled="1"/>
                </a:gradFill>
                <a:ln>
                  <a:noFill/>
                </a:ln>
                <a:effectLst/>
                <a:extLst>
                  <a:ext uri="{91240B29-F687-4F45-9708-019B960494DF}">
                    <a14:hiddenLine xmlns:a14="http://schemas.microsoft.com/office/drawing/2010/main" w="38100">
                      <a:solidFill>
                        <a:schemeClr val="bg1"/>
                      </a:solidFill>
                      <a:round/>
                    </a14:hiddenLine>
                  </a:ext>
                  <a:ext uri="{AF507438-7753-43E0-B8FC-AC1667EBCBE1}">
                    <a14:hiddenEffects xmlns:a14="http://schemas.microsoft.com/office/drawing/2010/main">
                      <a:effectLst>
                        <a:outerShdw dist="109250" dir="3267739" algn="ctr" rotWithShape="0">
                          <a:srgbClr val="808080">
                            <a:alpha val="50000"/>
                          </a:srgbClr>
                        </a:outerShdw>
                      </a:effectLst>
                    </a14:hiddenEffects>
                  </a:ext>
                </a:extLst>
              </p:spPr>
              <p:txBody>
                <a:bodyPr anchor="ctr">
                  <a:spAutoFit/>
                </a:bodyPr>
                <a:lstStyle/>
                <a:p>
                  <a:endParaRPr lang="zh-CN" altLang="en-US"/>
                </a:p>
              </p:txBody>
            </p:sp>
            <p:sp>
              <p:nvSpPr>
                <p:cNvPr id="76" name="Oval 38"/>
                <p:cNvSpPr>
                  <a:spLocks noChangeArrowheads="1"/>
                </p:cNvSpPr>
                <p:nvPr/>
              </p:nvSpPr>
              <p:spPr bwMode="gray">
                <a:xfrm>
                  <a:off x="2337" y="1939"/>
                  <a:ext cx="1096" cy="1098"/>
                </a:xfrm>
                <a:prstGeom prst="ellipse">
                  <a:avLst/>
                </a:prstGeom>
                <a:gradFill rotWithShape="1">
                  <a:gsLst>
                    <a:gs pos="0">
                      <a:srgbClr val="8D67E1"/>
                    </a:gs>
                    <a:gs pos="100000">
                      <a:srgbClr val="8D67E1">
                        <a:gamma/>
                        <a:shade val="48627"/>
                        <a:invGamma/>
                      </a:srgbClr>
                    </a:gs>
                  </a:gsLst>
                  <a:lin ang="2700000" scaled="1"/>
                </a:gradFill>
                <a:ln>
                  <a:noFill/>
                </a:ln>
                <a:effectLst/>
                <a:extLst>
                  <a:ext uri="{91240B29-F687-4F45-9708-019B960494DF}">
                    <a14:hiddenLine xmlns:a14="http://schemas.microsoft.com/office/drawing/2010/main" w="38100">
                      <a:solidFill>
                        <a:schemeClr val="bg1"/>
                      </a:solidFill>
                      <a:round/>
                    </a14:hiddenLine>
                  </a:ext>
                  <a:ext uri="{AF507438-7753-43E0-B8FC-AC1667EBCBE1}">
                    <a14:hiddenEffects xmlns:a14="http://schemas.microsoft.com/office/drawing/2010/main">
                      <a:effectLst>
                        <a:outerShdw dist="109250" dir="3267739" algn="ctr" rotWithShape="0">
                          <a:srgbClr val="808080">
                            <a:alpha val="50000"/>
                          </a:srgbClr>
                        </a:outerShdw>
                      </a:effectLst>
                    </a14:hiddenEffects>
                  </a:ext>
                </a:extLst>
              </p:spPr>
              <p:txBody>
                <a:bodyPr anchor="ctr">
                  <a:spAutoFit/>
                </a:bodyPr>
                <a:lstStyle/>
                <a:p>
                  <a:endParaRPr lang="zh-CN" altLang="en-US"/>
                </a:p>
              </p:txBody>
            </p:sp>
          </p:grpSp>
        </p:grpSp>
        <p:grpSp>
          <p:nvGrpSpPr>
            <p:cNvPr id="60" name="Group 51"/>
            <p:cNvGrpSpPr/>
            <p:nvPr/>
          </p:nvGrpSpPr>
          <p:grpSpPr bwMode="auto">
            <a:xfrm>
              <a:off x="960" y="3308"/>
              <a:ext cx="2972" cy="320"/>
              <a:chOff x="960" y="3308"/>
              <a:chExt cx="2972" cy="320"/>
            </a:xfrm>
          </p:grpSpPr>
          <p:sp>
            <p:nvSpPr>
              <p:cNvPr id="61" name="AutoShape 6"/>
              <p:cNvSpPr>
                <a:spLocks noChangeArrowheads="1"/>
              </p:cNvSpPr>
              <p:nvPr/>
            </p:nvSpPr>
            <p:spPr bwMode="gray">
              <a:xfrm>
                <a:off x="1148" y="3308"/>
                <a:ext cx="2784" cy="320"/>
              </a:xfrm>
              <a:prstGeom prst="roundRect">
                <a:avLst>
                  <a:gd name="adj" fmla="val 50000"/>
                </a:avLst>
              </a:prstGeom>
              <a:noFill/>
              <a:ln w="28575" algn="ctr">
                <a:solidFill>
                  <a:schemeClr val="bg2"/>
                </a:solidFill>
                <a:rou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hangingPunct="0"/>
                <a:r>
                  <a:rPr lang="zh-CN" altLang="en-US" sz="2400" b="1" dirty="0">
                    <a:latin typeface="华文新魏" panose="02010800040101010101" pitchFamily="2" charset="-122"/>
                    <a:ea typeface="华文新魏" panose="02010800040101010101" pitchFamily="2" charset="-122"/>
                  </a:rPr>
                  <a:t>数制转换</a:t>
                </a:r>
                <a:endParaRPr lang="en-US" altLang="zh-CN" sz="2400" b="1" dirty="0">
                  <a:latin typeface="华文新魏" panose="02010800040101010101" pitchFamily="2" charset="-122"/>
                  <a:ea typeface="华文新魏" panose="02010800040101010101" pitchFamily="2" charset="-122"/>
                </a:endParaRPr>
              </a:p>
            </p:txBody>
          </p:sp>
          <p:grpSp>
            <p:nvGrpSpPr>
              <p:cNvPr id="62" name="Group 39"/>
              <p:cNvGrpSpPr/>
              <p:nvPr/>
            </p:nvGrpSpPr>
            <p:grpSpPr bwMode="auto">
              <a:xfrm>
                <a:off x="960" y="3339"/>
                <a:ext cx="224" cy="240"/>
                <a:chOff x="2078" y="1680"/>
                <a:chExt cx="1615" cy="1615"/>
              </a:xfrm>
            </p:grpSpPr>
            <p:sp>
              <p:nvSpPr>
                <p:cNvPr id="63" name="Oval 40"/>
                <p:cNvSpPr>
                  <a:spLocks noChangeArrowheads="1"/>
                </p:cNvSpPr>
                <p:nvPr/>
              </p:nvSpPr>
              <p:spPr bwMode="gray">
                <a:xfrm>
                  <a:off x="2078" y="1680"/>
                  <a:ext cx="1615" cy="1615"/>
                </a:xfrm>
                <a:prstGeom prst="ellipse">
                  <a:avLst/>
                </a:prstGeom>
                <a:gradFill rotWithShape="1">
                  <a:gsLst>
                    <a:gs pos="0">
                      <a:srgbClr val="FFFFFF">
                        <a:gamma/>
                        <a:shade val="46275"/>
                        <a:invGamma/>
                      </a:srgbClr>
                    </a:gs>
                    <a:gs pos="50000">
                      <a:srgbClr val="FFFFFF"/>
                    </a:gs>
                    <a:gs pos="100000">
                      <a:srgbClr val="FFFFFF">
                        <a:gamma/>
                        <a:shade val="46275"/>
                        <a:invGamma/>
                      </a:srgbClr>
                    </a:gs>
                  </a:gsLst>
                  <a:lin ang="5400000" scaled="1"/>
                </a:gradFill>
                <a:ln>
                  <a:noFill/>
                </a:ln>
                <a:effectLst/>
                <a:extLst>
                  <a:ext uri="{91240B29-F687-4F45-9708-019B960494DF}">
                    <a14:hiddenLine xmlns:a14="http://schemas.microsoft.com/office/drawing/2010/main" w="57150">
                      <a:solidFill>
                        <a:schemeClr val="bg1"/>
                      </a:solidFill>
                      <a:round/>
                    </a14:hiddenLine>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endParaRPr lang="zh-CN" altLang="en-US"/>
                </a:p>
              </p:txBody>
            </p:sp>
            <p:sp>
              <p:nvSpPr>
                <p:cNvPr id="64" name="Oval 41"/>
                <p:cNvSpPr>
                  <a:spLocks noChangeArrowheads="1"/>
                </p:cNvSpPr>
                <p:nvPr/>
              </p:nvSpPr>
              <p:spPr bwMode="gray">
                <a:xfrm>
                  <a:off x="2170" y="1771"/>
                  <a:ext cx="1430" cy="1430"/>
                </a:xfrm>
                <a:prstGeom prst="ellipse">
                  <a:avLst/>
                </a:prstGeom>
                <a:gradFill rotWithShape="1">
                  <a:gsLst>
                    <a:gs pos="0">
                      <a:srgbClr val="FFFFFF">
                        <a:gamma/>
                        <a:shade val="63529"/>
                        <a:invGamma/>
                      </a:srgbClr>
                    </a:gs>
                    <a:gs pos="50000">
                      <a:srgbClr val="FFFFFF"/>
                    </a:gs>
                    <a:gs pos="100000">
                      <a:srgbClr val="FFFFFF">
                        <a:gamma/>
                        <a:shade val="63529"/>
                        <a:invGamma/>
                      </a:srgbClr>
                    </a:gs>
                  </a:gsLst>
                  <a:lin ang="0" scaled="1"/>
                </a:gra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endParaRPr lang="zh-CN" altLang="en-US"/>
                </a:p>
              </p:txBody>
            </p:sp>
            <p:sp>
              <p:nvSpPr>
                <p:cNvPr id="65" name="Oval 42"/>
                <p:cNvSpPr>
                  <a:spLocks noChangeArrowheads="1"/>
                </p:cNvSpPr>
                <p:nvPr/>
              </p:nvSpPr>
              <p:spPr bwMode="gray">
                <a:xfrm>
                  <a:off x="2254" y="1856"/>
                  <a:ext cx="1262" cy="1264"/>
                </a:xfrm>
                <a:prstGeom prst="ellipse">
                  <a:avLst/>
                </a:prstGeom>
                <a:gradFill rotWithShape="1">
                  <a:gsLst>
                    <a:gs pos="0">
                      <a:schemeClr val="hlink">
                        <a:gamma/>
                        <a:tint val="0"/>
                        <a:invGamma/>
                      </a:schemeClr>
                    </a:gs>
                    <a:gs pos="50000">
                      <a:schemeClr val="hlink"/>
                    </a:gs>
                    <a:gs pos="100000">
                      <a:schemeClr val="hlink">
                        <a:gamma/>
                        <a:tint val="0"/>
                        <a:invGamma/>
                      </a:schemeClr>
                    </a:gs>
                  </a:gsLst>
                  <a:lin ang="2700000" scaled="1"/>
                </a:gradFill>
                <a:ln>
                  <a:noFill/>
                </a:ln>
                <a:effectLst/>
                <a:extLst>
                  <a:ext uri="{91240B29-F687-4F45-9708-019B960494DF}">
                    <a14:hiddenLine xmlns:a14="http://schemas.microsoft.com/office/drawing/2010/main" w="38100">
                      <a:solidFill>
                        <a:schemeClr val="bg1"/>
                      </a:solidFill>
                      <a:round/>
                    </a14:hiddenLine>
                  </a:ext>
                  <a:ext uri="{AF507438-7753-43E0-B8FC-AC1667EBCBE1}">
                    <a14:hiddenEffects xmlns:a14="http://schemas.microsoft.com/office/drawing/2010/main">
                      <a:effectLst>
                        <a:outerShdw dist="109250" dir="3267739" algn="ctr" rotWithShape="0">
                          <a:srgbClr val="808080">
                            <a:alpha val="50000"/>
                          </a:srgbClr>
                        </a:outerShdw>
                      </a:effectLst>
                    </a14:hiddenEffects>
                  </a:ext>
                </a:extLst>
              </p:spPr>
              <p:txBody>
                <a:bodyPr wrap="none" anchor="ctr">
                  <a:spAutoFit/>
                </a:bodyPr>
                <a:lstStyle/>
                <a:p>
                  <a:endParaRPr lang="zh-CN" altLang="en-US"/>
                </a:p>
              </p:txBody>
            </p:sp>
            <p:sp>
              <p:nvSpPr>
                <p:cNvPr id="66" name="Oval 43"/>
                <p:cNvSpPr>
                  <a:spLocks noChangeArrowheads="1"/>
                </p:cNvSpPr>
                <p:nvPr/>
              </p:nvSpPr>
              <p:spPr bwMode="gray">
                <a:xfrm>
                  <a:off x="2254" y="1856"/>
                  <a:ext cx="1262" cy="1264"/>
                </a:xfrm>
                <a:prstGeom prst="ellipse">
                  <a:avLst/>
                </a:prstGeom>
                <a:gradFill rotWithShape="1">
                  <a:gsLst>
                    <a:gs pos="0">
                      <a:srgbClr val="E35E23">
                        <a:gamma/>
                        <a:shade val="0"/>
                        <a:invGamma/>
                      </a:srgbClr>
                    </a:gs>
                    <a:gs pos="100000">
                      <a:srgbClr val="E35E23"/>
                    </a:gs>
                  </a:gsLst>
                  <a:lin ang="2700000" scaled="1"/>
                </a:gradFill>
                <a:ln>
                  <a:noFill/>
                </a:ln>
                <a:effectLst/>
                <a:extLst>
                  <a:ext uri="{91240B29-F687-4F45-9708-019B960494DF}">
                    <a14:hiddenLine xmlns:a14="http://schemas.microsoft.com/office/drawing/2010/main" w="38100">
                      <a:solidFill>
                        <a:schemeClr val="bg1"/>
                      </a:solidFill>
                      <a:round/>
                    </a14:hiddenLine>
                  </a:ext>
                  <a:ext uri="{AF507438-7753-43E0-B8FC-AC1667EBCBE1}">
                    <a14:hiddenEffects xmlns:a14="http://schemas.microsoft.com/office/drawing/2010/main">
                      <a:effectLst>
                        <a:outerShdw dist="109250" dir="3267739" algn="ctr" rotWithShape="0">
                          <a:srgbClr val="808080">
                            <a:alpha val="50000"/>
                          </a:srgbClr>
                        </a:outerShdw>
                      </a:effectLst>
                    </a14:hiddenEffects>
                  </a:ext>
                </a:extLst>
              </p:spPr>
              <p:txBody>
                <a:bodyPr wrap="none" anchor="ctr">
                  <a:spAutoFit/>
                </a:bodyPr>
                <a:lstStyle/>
                <a:p>
                  <a:endParaRPr lang="zh-CN" altLang="en-US"/>
                </a:p>
              </p:txBody>
            </p:sp>
            <p:sp>
              <p:nvSpPr>
                <p:cNvPr id="67" name="Oval 44"/>
                <p:cNvSpPr>
                  <a:spLocks noChangeArrowheads="1"/>
                </p:cNvSpPr>
                <p:nvPr/>
              </p:nvSpPr>
              <p:spPr bwMode="gray">
                <a:xfrm>
                  <a:off x="2337" y="1939"/>
                  <a:ext cx="1096" cy="1098"/>
                </a:xfrm>
                <a:prstGeom prst="ellipse">
                  <a:avLst/>
                </a:prstGeom>
                <a:gradFill rotWithShape="1">
                  <a:gsLst>
                    <a:gs pos="0">
                      <a:schemeClr val="hlink">
                        <a:gamma/>
                        <a:shade val="54118"/>
                        <a:invGamma/>
                      </a:schemeClr>
                    </a:gs>
                    <a:gs pos="50000">
                      <a:schemeClr val="hlink"/>
                    </a:gs>
                    <a:gs pos="100000">
                      <a:schemeClr val="hlink">
                        <a:gamma/>
                        <a:shade val="54118"/>
                        <a:invGamma/>
                      </a:schemeClr>
                    </a:gs>
                  </a:gsLst>
                  <a:lin ang="18900000" scaled="1"/>
                </a:gradFill>
                <a:ln>
                  <a:noFill/>
                </a:ln>
                <a:effectLst/>
                <a:extLst>
                  <a:ext uri="{91240B29-F687-4F45-9708-019B960494DF}">
                    <a14:hiddenLine xmlns:a14="http://schemas.microsoft.com/office/drawing/2010/main" w="38100">
                      <a:solidFill>
                        <a:schemeClr val="bg1"/>
                      </a:solidFill>
                      <a:round/>
                    </a14:hiddenLine>
                  </a:ext>
                  <a:ext uri="{AF507438-7753-43E0-B8FC-AC1667EBCBE1}">
                    <a14:hiddenEffects xmlns:a14="http://schemas.microsoft.com/office/drawing/2010/main">
                      <a:effectLst>
                        <a:outerShdw dist="109250" dir="3267739" algn="ctr" rotWithShape="0">
                          <a:srgbClr val="808080">
                            <a:alpha val="50000"/>
                          </a:srgbClr>
                        </a:outerShdw>
                      </a:effectLst>
                    </a14:hiddenEffects>
                  </a:ext>
                </a:extLst>
              </p:spPr>
              <p:txBody>
                <a:bodyPr anchor="ctr">
                  <a:spAutoFit/>
                </a:bodyPr>
                <a:lstStyle/>
                <a:p>
                  <a:endParaRPr lang="zh-CN" altLang="en-US"/>
                </a:p>
              </p:txBody>
            </p:sp>
            <p:sp>
              <p:nvSpPr>
                <p:cNvPr id="68" name="Oval 45"/>
                <p:cNvSpPr>
                  <a:spLocks noChangeArrowheads="1"/>
                </p:cNvSpPr>
                <p:nvPr/>
              </p:nvSpPr>
              <p:spPr bwMode="gray">
                <a:xfrm>
                  <a:off x="2337" y="1939"/>
                  <a:ext cx="1096" cy="1098"/>
                </a:xfrm>
                <a:prstGeom prst="ellipse">
                  <a:avLst/>
                </a:prstGeom>
                <a:gradFill rotWithShape="1">
                  <a:gsLst>
                    <a:gs pos="0">
                      <a:srgbClr val="E35E23"/>
                    </a:gs>
                    <a:gs pos="100000">
                      <a:srgbClr val="E35E23">
                        <a:gamma/>
                        <a:shade val="48627"/>
                        <a:invGamma/>
                      </a:srgbClr>
                    </a:gs>
                  </a:gsLst>
                  <a:lin ang="2700000" scaled="1"/>
                </a:gradFill>
                <a:ln>
                  <a:noFill/>
                </a:ln>
                <a:effectLst/>
                <a:extLst>
                  <a:ext uri="{91240B29-F687-4F45-9708-019B960494DF}">
                    <a14:hiddenLine xmlns:a14="http://schemas.microsoft.com/office/drawing/2010/main" w="38100">
                      <a:solidFill>
                        <a:schemeClr val="bg1"/>
                      </a:solidFill>
                      <a:round/>
                    </a14:hiddenLine>
                  </a:ext>
                  <a:ext uri="{AF507438-7753-43E0-B8FC-AC1667EBCBE1}">
                    <a14:hiddenEffects xmlns:a14="http://schemas.microsoft.com/office/drawing/2010/main">
                      <a:effectLst>
                        <a:outerShdw dist="109250" dir="3267739" algn="ctr" rotWithShape="0">
                          <a:srgbClr val="808080">
                            <a:alpha val="50000"/>
                          </a:srgbClr>
                        </a:outerShdw>
                      </a:effectLst>
                    </a14:hiddenEffects>
                  </a:ext>
                </a:extLst>
              </p:spPr>
              <p:txBody>
                <a:bodyPr anchor="ctr">
                  <a:spAutoFit/>
                </a:bodyPr>
                <a:lstStyle/>
                <a:p>
                  <a:endParaRPr lang="zh-CN" altLang="en-US"/>
                </a:p>
              </p:txBody>
            </p:sp>
          </p:grpSp>
        </p:grpSp>
      </p:gr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程序设计语言</a:t>
            </a:r>
            <a:endParaRPr lang="zh-CN" altLang="en-US" dirty="0"/>
          </a:p>
        </p:txBody>
      </p:sp>
      <p:sp>
        <p:nvSpPr>
          <p:cNvPr id="3" name="内容占位符 2"/>
          <p:cNvSpPr>
            <a:spLocks noGrp="1"/>
          </p:cNvSpPr>
          <p:nvPr>
            <p:ph idx="1"/>
          </p:nvPr>
        </p:nvSpPr>
        <p:spPr/>
        <p:txBody>
          <a:bodyPr/>
          <a:lstStyle/>
          <a:p>
            <a:pPr>
              <a:lnSpc>
                <a:spcPct val="200000"/>
              </a:lnSpc>
            </a:pPr>
            <a:r>
              <a:rPr lang="zh-CN" altLang="en-US" dirty="0"/>
              <a:t>程序设计的基础</a:t>
            </a:r>
            <a:r>
              <a:rPr lang="en-US" altLang="zh-CN" dirty="0"/>
              <a:t>——</a:t>
            </a:r>
            <a:r>
              <a:rPr lang="zh-CN" altLang="en-US" dirty="0"/>
              <a:t>计算机语言</a:t>
            </a:r>
            <a:endParaRPr lang="en-US" altLang="zh-CN" dirty="0"/>
          </a:p>
          <a:p>
            <a:pPr lvl="1">
              <a:lnSpc>
                <a:spcPct val="200000"/>
              </a:lnSpc>
            </a:pPr>
            <a:r>
              <a:rPr lang="zh-CN" altLang="en-US" dirty="0"/>
              <a:t>计算机指令系统：机器语言</a:t>
            </a:r>
            <a:endParaRPr lang="en-US" altLang="zh-CN" dirty="0"/>
          </a:p>
          <a:p>
            <a:pPr lvl="1">
              <a:lnSpc>
                <a:spcPct val="200000"/>
              </a:lnSpc>
            </a:pPr>
            <a:r>
              <a:rPr lang="zh-CN" altLang="en-US" dirty="0"/>
              <a:t>低级编程语言</a:t>
            </a:r>
            <a:endParaRPr lang="en-US" altLang="zh-CN" dirty="0"/>
          </a:p>
          <a:p>
            <a:pPr lvl="1">
              <a:lnSpc>
                <a:spcPct val="200000"/>
              </a:lnSpc>
            </a:pPr>
            <a:r>
              <a:rPr lang="zh-CN" altLang="en-US" dirty="0"/>
              <a:t>高级程序设计语言</a:t>
            </a:r>
            <a:endParaRPr lang="zh-CN" altLang="en-US"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机器指令</a:t>
            </a:r>
            <a:endParaRPr lang="zh-CN" altLang="en-US" dirty="0"/>
          </a:p>
        </p:txBody>
      </p:sp>
      <p:sp>
        <p:nvSpPr>
          <p:cNvPr id="3" name="内容占位符 2"/>
          <p:cNvSpPr>
            <a:spLocks noGrp="1"/>
          </p:cNvSpPr>
          <p:nvPr>
            <p:ph idx="1"/>
          </p:nvPr>
        </p:nvSpPr>
        <p:spPr>
          <a:xfrm>
            <a:off x="457200" y="1700808"/>
            <a:ext cx="8229600" cy="4788892"/>
          </a:xfrm>
        </p:spPr>
        <p:txBody>
          <a:bodyPr/>
          <a:lstStyle/>
          <a:p>
            <a:pPr>
              <a:lnSpc>
                <a:spcPct val="150000"/>
              </a:lnSpc>
            </a:pPr>
            <a:r>
              <a:rPr lang="zh-CN" altLang="en-US" dirty="0"/>
              <a:t>计算机设计者把计算机可以完成的动作编辑成一个机器指令表，并为每种动作赋予一个二进制代码，通常由指令码（操作码）和内存地址（操作数）来构成。通过机器指令来编写的程序称为机器语言程序。</a:t>
            </a:r>
            <a:endParaRPr lang="zh-CN" altLang="en-US"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机器指令</a:t>
            </a:r>
            <a:endParaRPr lang="zh-CN" altLang="en-US" dirty="0"/>
          </a:p>
        </p:txBody>
      </p:sp>
      <p:sp>
        <p:nvSpPr>
          <p:cNvPr id="3" name="内容占位符 2"/>
          <p:cNvSpPr>
            <a:spLocks noGrp="1"/>
          </p:cNvSpPr>
          <p:nvPr>
            <p:ph idx="1"/>
          </p:nvPr>
        </p:nvSpPr>
        <p:spPr>
          <a:xfrm>
            <a:off x="381000" y="1219200"/>
            <a:ext cx="8305800" cy="4953000"/>
          </a:xfrm>
        </p:spPr>
        <p:txBody>
          <a:bodyPr/>
          <a:lstStyle/>
          <a:p>
            <a:pPr>
              <a:lnSpc>
                <a:spcPct val="150000"/>
              </a:lnSpc>
            </a:pPr>
            <a:r>
              <a:rPr lang="zh-CN" altLang="en-US" dirty="0"/>
              <a:t>机器语言示例</a:t>
            </a:r>
            <a:endParaRPr lang="en-US" altLang="zh-CN" dirty="0"/>
          </a:p>
          <a:p>
            <a:pPr lvl="1">
              <a:lnSpc>
                <a:spcPct val="150000"/>
              </a:lnSpc>
            </a:pPr>
            <a:r>
              <a:rPr lang="zh-CN" altLang="en-US" dirty="0"/>
              <a:t>使用“机器语言”编出的做一次加法“</a:t>
            </a:r>
            <a:r>
              <a:rPr lang="en-US" altLang="zh-CN" dirty="0"/>
              <a:t>TOTAL = PRICE + TAX”</a:t>
            </a:r>
            <a:r>
              <a:rPr lang="zh-CN" altLang="en-US" dirty="0"/>
              <a:t>的程序为：</a:t>
            </a:r>
            <a:endParaRPr lang="en-US" altLang="zh-CN" dirty="0"/>
          </a:p>
          <a:p>
            <a:pPr>
              <a:lnSpc>
                <a:spcPct val="150000"/>
              </a:lnSpc>
              <a:buNone/>
            </a:pPr>
            <a:r>
              <a:rPr lang="zh-CN" altLang="en-US" sz="2400" b="1" dirty="0">
                <a:solidFill>
                  <a:srgbClr val="0000FF"/>
                </a:solidFill>
                <a:latin typeface="楷体_GB2312" pitchFamily="49" charset="-122"/>
                <a:ea typeface="楷体_GB2312" pitchFamily="49" charset="-122"/>
              </a:rPr>
              <a:t>     </a:t>
            </a:r>
            <a:r>
              <a:rPr lang="zh-CN" altLang="en-US" sz="2400" b="1" dirty="0">
                <a:solidFill>
                  <a:srgbClr val="7030A0"/>
                </a:solidFill>
                <a:latin typeface="楷体_GB2312" pitchFamily="49" charset="-122"/>
                <a:ea typeface="楷体_GB2312" pitchFamily="49" charset="-122"/>
              </a:rPr>
              <a:t>156</a:t>
            </a:r>
            <a:r>
              <a:rPr lang="en-US" altLang="zh-CN" sz="2400" b="1" dirty="0">
                <a:solidFill>
                  <a:srgbClr val="7030A0"/>
                </a:solidFill>
                <a:latin typeface="楷体_GB2312" pitchFamily="49" charset="-122"/>
                <a:ea typeface="楷体_GB2312" pitchFamily="49" charset="-122"/>
              </a:rPr>
              <a:t>C          // </a:t>
            </a:r>
            <a:r>
              <a:rPr lang="zh-CN" altLang="en-US" sz="2400" b="1" dirty="0">
                <a:solidFill>
                  <a:srgbClr val="7030A0"/>
                </a:solidFill>
                <a:latin typeface="楷体_GB2312" pitchFamily="49" charset="-122"/>
                <a:ea typeface="楷体_GB2312" pitchFamily="49" charset="-122"/>
              </a:rPr>
              <a:t>取6</a:t>
            </a:r>
            <a:r>
              <a:rPr lang="en-US" altLang="zh-CN" sz="2400" b="1" dirty="0">
                <a:solidFill>
                  <a:srgbClr val="7030A0"/>
                </a:solidFill>
                <a:latin typeface="楷体_GB2312" pitchFamily="49" charset="-122"/>
                <a:ea typeface="楷体_GB2312" pitchFamily="49" charset="-122"/>
              </a:rPr>
              <a:t>C</a:t>
            </a:r>
            <a:r>
              <a:rPr lang="zh-CN" altLang="en-US" sz="2400" b="1" dirty="0">
                <a:solidFill>
                  <a:srgbClr val="7030A0"/>
                </a:solidFill>
                <a:latin typeface="楷体_GB2312" pitchFamily="49" charset="-122"/>
                <a:ea typeface="楷体_GB2312" pitchFamily="49" charset="-122"/>
              </a:rPr>
              <a:t>内容送寄存器5</a:t>
            </a:r>
            <a:endParaRPr lang="zh-CN" altLang="en-US" sz="2400" b="1" dirty="0">
              <a:solidFill>
                <a:srgbClr val="7030A0"/>
              </a:solidFill>
              <a:latin typeface="楷体_GB2312" pitchFamily="49" charset="-122"/>
              <a:ea typeface="楷体_GB2312" pitchFamily="49" charset="-122"/>
            </a:endParaRPr>
          </a:p>
          <a:p>
            <a:pPr>
              <a:lnSpc>
                <a:spcPct val="150000"/>
              </a:lnSpc>
              <a:buNone/>
            </a:pPr>
            <a:r>
              <a:rPr lang="zh-CN" altLang="en-US" sz="2400" b="1" dirty="0">
                <a:solidFill>
                  <a:srgbClr val="7030A0"/>
                </a:solidFill>
                <a:latin typeface="楷体_GB2312" pitchFamily="49" charset="-122"/>
                <a:ea typeface="楷体_GB2312" pitchFamily="49" charset="-122"/>
              </a:rPr>
              <a:t>     166</a:t>
            </a:r>
            <a:r>
              <a:rPr lang="en-US" altLang="zh-CN" sz="2400" b="1" dirty="0">
                <a:solidFill>
                  <a:srgbClr val="7030A0"/>
                </a:solidFill>
                <a:latin typeface="楷体_GB2312" pitchFamily="49" charset="-122"/>
                <a:ea typeface="楷体_GB2312" pitchFamily="49" charset="-122"/>
              </a:rPr>
              <a:t>D          // </a:t>
            </a:r>
            <a:r>
              <a:rPr lang="zh-CN" altLang="en-US" sz="2400" b="1" dirty="0">
                <a:solidFill>
                  <a:srgbClr val="7030A0"/>
                </a:solidFill>
                <a:latin typeface="楷体_GB2312" pitchFamily="49" charset="-122"/>
                <a:ea typeface="楷体_GB2312" pitchFamily="49" charset="-122"/>
              </a:rPr>
              <a:t>取6</a:t>
            </a:r>
            <a:r>
              <a:rPr lang="en-US" altLang="zh-CN" sz="2400" b="1" dirty="0">
                <a:solidFill>
                  <a:srgbClr val="7030A0"/>
                </a:solidFill>
                <a:latin typeface="楷体_GB2312" pitchFamily="49" charset="-122"/>
                <a:ea typeface="楷体_GB2312" pitchFamily="49" charset="-122"/>
              </a:rPr>
              <a:t>D</a:t>
            </a:r>
            <a:r>
              <a:rPr lang="zh-CN" altLang="en-US" sz="2400" b="1" dirty="0">
                <a:solidFill>
                  <a:srgbClr val="7030A0"/>
                </a:solidFill>
                <a:latin typeface="楷体_GB2312" pitchFamily="49" charset="-122"/>
                <a:ea typeface="楷体_GB2312" pitchFamily="49" charset="-122"/>
              </a:rPr>
              <a:t>内容送寄存器6</a:t>
            </a:r>
            <a:endParaRPr lang="zh-CN" altLang="en-US" sz="2400" b="1" dirty="0">
              <a:solidFill>
                <a:srgbClr val="7030A0"/>
              </a:solidFill>
              <a:latin typeface="楷体_GB2312" pitchFamily="49" charset="-122"/>
              <a:ea typeface="楷体_GB2312" pitchFamily="49" charset="-122"/>
            </a:endParaRPr>
          </a:p>
          <a:p>
            <a:pPr>
              <a:lnSpc>
                <a:spcPct val="150000"/>
              </a:lnSpc>
              <a:buNone/>
            </a:pPr>
            <a:r>
              <a:rPr lang="zh-CN" altLang="en-US" sz="2400" b="1" dirty="0">
                <a:solidFill>
                  <a:srgbClr val="7030A0"/>
                </a:solidFill>
                <a:latin typeface="楷体_GB2312" pitchFamily="49" charset="-122"/>
                <a:ea typeface="楷体_GB2312" pitchFamily="49" charset="-122"/>
              </a:rPr>
              <a:t>	  5056    	 // 把二值相加，结果送寄存器0</a:t>
            </a:r>
            <a:endParaRPr lang="en-US" altLang="zh-CN" sz="2400" b="1" dirty="0">
              <a:solidFill>
                <a:srgbClr val="7030A0"/>
              </a:solidFill>
              <a:latin typeface="楷体_GB2312" pitchFamily="49" charset="-122"/>
              <a:ea typeface="楷体_GB2312" pitchFamily="49" charset="-122"/>
            </a:endParaRPr>
          </a:p>
          <a:p>
            <a:pPr>
              <a:lnSpc>
                <a:spcPct val="150000"/>
              </a:lnSpc>
              <a:buNone/>
            </a:pPr>
            <a:r>
              <a:rPr lang="zh-CN" altLang="en-US" sz="2400" b="1" dirty="0">
                <a:solidFill>
                  <a:srgbClr val="7030A0"/>
                </a:solidFill>
                <a:latin typeface="楷体_GB2312" pitchFamily="49" charset="-122"/>
                <a:ea typeface="楷体_GB2312" pitchFamily="49" charset="-122"/>
              </a:rPr>
              <a:t>     306</a:t>
            </a:r>
            <a:r>
              <a:rPr lang="en-US" altLang="zh-CN" sz="2400" b="1" dirty="0">
                <a:solidFill>
                  <a:srgbClr val="7030A0"/>
                </a:solidFill>
                <a:latin typeface="楷体_GB2312" pitchFamily="49" charset="-122"/>
                <a:ea typeface="楷体_GB2312" pitchFamily="49" charset="-122"/>
              </a:rPr>
              <a:t>E          // </a:t>
            </a:r>
            <a:r>
              <a:rPr lang="zh-CN" altLang="en-US" sz="2400" b="1" dirty="0">
                <a:solidFill>
                  <a:srgbClr val="7030A0"/>
                </a:solidFill>
                <a:latin typeface="楷体_GB2312" pitchFamily="49" charset="-122"/>
                <a:ea typeface="楷体_GB2312" pitchFamily="49" charset="-122"/>
              </a:rPr>
              <a:t>把寄存器0中的结果送地址6</a:t>
            </a:r>
            <a:r>
              <a:rPr lang="en-US" altLang="zh-CN" sz="2400" b="1" dirty="0">
                <a:solidFill>
                  <a:srgbClr val="7030A0"/>
                </a:solidFill>
                <a:latin typeface="楷体_GB2312" pitchFamily="49" charset="-122"/>
                <a:ea typeface="楷体_GB2312" pitchFamily="49" charset="-122"/>
              </a:rPr>
              <a:t>E</a:t>
            </a:r>
            <a:endParaRPr lang="en-US" altLang="zh-CN" sz="2400" b="1" dirty="0">
              <a:solidFill>
                <a:srgbClr val="7030A0"/>
              </a:solidFill>
              <a:latin typeface="楷体_GB2312" pitchFamily="49" charset="-122"/>
              <a:ea typeface="楷体_GB2312" pitchFamily="49" charset="-122"/>
            </a:endParaRPr>
          </a:p>
          <a:p>
            <a:pPr>
              <a:lnSpc>
                <a:spcPct val="150000"/>
              </a:lnSpc>
              <a:buNone/>
            </a:pPr>
            <a:r>
              <a:rPr lang="en-US" altLang="zh-CN" sz="2400" b="1" dirty="0">
                <a:solidFill>
                  <a:srgbClr val="7030A0"/>
                </a:solidFill>
                <a:latin typeface="楷体_GB2312" pitchFamily="49" charset="-122"/>
                <a:ea typeface="楷体_GB2312" pitchFamily="49" charset="-122"/>
              </a:rPr>
              <a:t>     C000          // </a:t>
            </a:r>
            <a:r>
              <a:rPr lang="zh-CN" altLang="en-US" sz="2400" b="1" dirty="0">
                <a:solidFill>
                  <a:srgbClr val="7030A0"/>
                </a:solidFill>
                <a:latin typeface="楷体_GB2312" pitchFamily="49" charset="-122"/>
                <a:ea typeface="楷体_GB2312" pitchFamily="49" charset="-122"/>
              </a:rPr>
              <a:t>停机</a:t>
            </a:r>
            <a:endParaRPr lang="zh-CN" altLang="en-US" sz="2400" b="1" dirty="0">
              <a:solidFill>
                <a:srgbClr val="7030A0"/>
              </a:solidFill>
              <a:latin typeface="楷体_GB2312" pitchFamily="49" charset="-122"/>
              <a:ea typeface="楷体_GB2312" pitchFamily="49" charset="-122"/>
            </a:endParaRPr>
          </a:p>
          <a:p>
            <a:pPr lvl="1">
              <a:buNone/>
            </a:pPr>
            <a:endParaRPr lang="en-US" altLang="zh-CN" b="1" dirty="0">
              <a:solidFill>
                <a:srgbClr val="0000FF"/>
              </a:solidFill>
              <a:latin typeface="楷体_GB2312" pitchFamily="49" charset="-122"/>
              <a:ea typeface="楷体_GB2312" pitchFamily="49" charset="-122"/>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机器指令</a:t>
            </a:r>
            <a:endParaRPr lang="zh-CN" altLang="en-US" dirty="0"/>
          </a:p>
        </p:txBody>
      </p:sp>
      <p:sp>
        <p:nvSpPr>
          <p:cNvPr id="3" name="内容占位符 2"/>
          <p:cNvSpPr>
            <a:spLocks noGrp="1"/>
          </p:cNvSpPr>
          <p:nvPr>
            <p:ph idx="1"/>
          </p:nvPr>
        </p:nvSpPr>
        <p:spPr/>
        <p:txBody>
          <a:bodyPr/>
          <a:lstStyle/>
          <a:p>
            <a:r>
              <a:rPr lang="zh-CN" altLang="en-US" b="1" dirty="0"/>
              <a:t>机器指令的执行</a:t>
            </a:r>
            <a:endParaRPr lang="en-US" altLang="zh-CN" b="1" dirty="0"/>
          </a:p>
          <a:p>
            <a:pPr lvl="1"/>
            <a:r>
              <a:rPr lang="zh-CN" altLang="en-US" b="1" dirty="0"/>
              <a:t>在内存中执行</a:t>
            </a:r>
            <a:endParaRPr lang="en-US" altLang="zh-CN" b="1" dirty="0"/>
          </a:p>
          <a:p>
            <a:pPr lvl="1"/>
            <a:r>
              <a:rPr lang="zh-CN" altLang="en-US" b="1" dirty="0"/>
              <a:t>举例：</a:t>
            </a:r>
            <a:r>
              <a:rPr lang="zh-CN" altLang="en-US" b="1" dirty="0">
                <a:latin typeface="楷体_GB2312" pitchFamily="49" charset="-122"/>
                <a:ea typeface="楷体_GB2312" pitchFamily="49" charset="-122"/>
              </a:rPr>
              <a:t>计算：5+15=？</a:t>
            </a:r>
            <a:endParaRPr lang="en-US" altLang="zh-CN" b="1" dirty="0">
              <a:latin typeface="楷体_GB2312" pitchFamily="49" charset="-122"/>
              <a:ea typeface="楷体_GB2312" pitchFamily="49" charset="-122"/>
            </a:endParaRPr>
          </a:p>
          <a:p>
            <a:pPr lvl="2"/>
            <a:r>
              <a:rPr lang="zh-CN" altLang="en-US" sz="2200" b="1" dirty="0">
                <a:solidFill>
                  <a:srgbClr val="692AA2"/>
                </a:solidFill>
                <a:latin typeface="楷体_GB2312" pitchFamily="49" charset="-122"/>
                <a:ea typeface="楷体_GB2312" pitchFamily="49" charset="-122"/>
              </a:rPr>
              <a:t>将0010</a:t>
            </a:r>
            <a:r>
              <a:rPr lang="en-US" altLang="zh-CN" sz="2200" b="1" dirty="0">
                <a:solidFill>
                  <a:srgbClr val="692AA2"/>
                </a:solidFill>
                <a:latin typeface="楷体_GB2312" pitchFamily="49" charset="-122"/>
                <a:ea typeface="楷体_GB2312" pitchFamily="49" charset="-122"/>
              </a:rPr>
              <a:t>H</a:t>
            </a:r>
            <a:r>
              <a:rPr lang="zh-CN" altLang="en-US" sz="2200" b="1" dirty="0">
                <a:solidFill>
                  <a:srgbClr val="692AA2"/>
                </a:solidFill>
                <a:latin typeface="楷体_GB2312" pitchFamily="49" charset="-122"/>
                <a:ea typeface="楷体_GB2312" pitchFamily="49" charset="-122"/>
              </a:rPr>
              <a:t>存储单元的数据（5）取出，存放在</a:t>
            </a:r>
            <a:r>
              <a:rPr lang="en-US" altLang="zh-CN" sz="2200" b="1" dirty="0">
                <a:solidFill>
                  <a:srgbClr val="692AA2"/>
                </a:solidFill>
                <a:latin typeface="楷体_GB2312" pitchFamily="49" charset="-122"/>
                <a:ea typeface="楷体_GB2312" pitchFamily="49" charset="-122"/>
              </a:rPr>
              <a:t>ALU。</a:t>
            </a:r>
            <a:endParaRPr lang="en-US" altLang="zh-CN" sz="2400" b="1" dirty="0">
              <a:solidFill>
                <a:srgbClr val="692AA2"/>
              </a:solidFill>
              <a:latin typeface="楷体_GB2312" pitchFamily="49" charset="-122"/>
              <a:ea typeface="楷体_GB2312" pitchFamily="49" charset="-122"/>
            </a:endParaRPr>
          </a:p>
          <a:p>
            <a:pPr lvl="2"/>
            <a:r>
              <a:rPr lang="zh-CN" altLang="en-US" dirty="0">
                <a:solidFill>
                  <a:srgbClr val="692AA2"/>
                </a:solidFill>
                <a:latin typeface="楷体_GB2312" pitchFamily="49" charset="-122"/>
                <a:ea typeface="楷体_GB2312" pitchFamily="49" charset="-122"/>
              </a:rPr>
              <a:t>将0011</a:t>
            </a:r>
            <a:r>
              <a:rPr lang="en-US" altLang="zh-CN" dirty="0">
                <a:solidFill>
                  <a:srgbClr val="692AA2"/>
                </a:solidFill>
                <a:latin typeface="楷体_GB2312" pitchFamily="49" charset="-122"/>
                <a:ea typeface="楷体_GB2312" pitchFamily="49" charset="-122"/>
              </a:rPr>
              <a:t>H</a:t>
            </a:r>
            <a:r>
              <a:rPr lang="zh-CN" altLang="en-US" dirty="0">
                <a:solidFill>
                  <a:srgbClr val="692AA2"/>
                </a:solidFill>
                <a:latin typeface="楷体_GB2312" pitchFamily="49" charset="-122"/>
                <a:ea typeface="楷体_GB2312" pitchFamily="49" charset="-122"/>
              </a:rPr>
              <a:t>存储单元的数据（15）取出，与 </a:t>
            </a:r>
            <a:r>
              <a:rPr lang="en-US" altLang="zh-CN" dirty="0">
                <a:solidFill>
                  <a:srgbClr val="692AA2"/>
                </a:solidFill>
                <a:latin typeface="楷体_GB2312" pitchFamily="49" charset="-122"/>
                <a:ea typeface="楷体_GB2312" pitchFamily="49" charset="-122"/>
              </a:rPr>
              <a:t>ALU </a:t>
            </a:r>
            <a:r>
              <a:rPr lang="zh-CN" altLang="en-US" dirty="0">
                <a:solidFill>
                  <a:srgbClr val="692AA2"/>
                </a:solidFill>
                <a:latin typeface="楷体_GB2312" pitchFamily="49" charset="-122"/>
                <a:ea typeface="楷体_GB2312" pitchFamily="49" charset="-122"/>
              </a:rPr>
              <a:t>的数据相加，运算结果存放在</a:t>
            </a:r>
            <a:r>
              <a:rPr lang="en-US" altLang="zh-CN" dirty="0">
                <a:solidFill>
                  <a:srgbClr val="692AA2"/>
                </a:solidFill>
                <a:latin typeface="楷体_GB2312" pitchFamily="49" charset="-122"/>
                <a:ea typeface="楷体_GB2312" pitchFamily="49" charset="-122"/>
              </a:rPr>
              <a:t>ALU。</a:t>
            </a:r>
            <a:endParaRPr lang="en-US" altLang="zh-CN" dirty="0">
              <a:solidFill>
                <a:srgbClr val="692AA2"/>
              </a:solidFill>
              <a:latin typeface="楷体_GB2312" pitchFamily="49" charset="-122"/>
              <a:ea typeface="楷体_GB2312" pitchFamily="49" charset="-122"/>
            </a:endParaRPr>
          </a:p>
          <a:p>
            <a:pPr lvl="2"/>
            <a:r>
              <a:rPr lang="zh-CN" altLang="en-US" dirty="0">
                <a:solidFill>
                  <a:srgbClr val="692AA2"/>
                </a:solidFill>
                <a:latin typeface="楷体_GB2312" pitchFamily="49" charset="-122"/>
                <a:ea typeface="楷体_GB2312" pitchFamily="49" charset="-122"/>
              </a:rPr>
              <a:t>将 </a:t>
            </a:r>
            <a:r>
              <a:rPr lang="en-US" altLang="zh-CN" dirty="0">
                <a:solidFill>
                  <a:srgbClr val="692AA2"/>
                </a:solidFill>
                <a:latin typeface="楷体_GB2312" pitchFamily="49" charset="-122"/>
                <a:ea typeface="楷体_GB2312" pitchFamily="49" charset="-122"/>
              </a:rPr>
              <a:t>ALU </a:t>
            </a:r>
            <a:r>
              <a:rPr lang="zh-CN" altLang="en-US" dirty="0">
                <a:solidFill>
                  <a:srgbClr val="692AA2"/>
                </a:solidFill>
                <a:latin typeface="楷体_GB2312" pitchFamily="49" charset="-122"/>
                <a:ea typeface="楷体_GB2312" pitchFamily="49" charset="-122"/>
              </a:rPr>
              <a:t>中的数据（20）存放到0012</a:t>
            </a:r>
            <a:r>
              <a:rPr lang="en-US" altLang="zh-CN" dirty="0">
                <a:solidFill>
                  <a:srgbClr val="692AA2"/>
                </a:solidFill>
                <a:latin typeface="楷体_GB2312" pitchFamily="49" charset="-122"/>
                <a:ea typeface="楷体_GB2312" pitchFamily="49" charset="-122"/>
              </a:rPr>
              <a:t>H</a:t>
            </a:r>
            <a:r>
              <a:rPr lang="zh-CN" altLang="en-US" dirty="0">
                <a:solidFill>
                  <a:srgbClr val="692AA2"/>
                </a:solidFill>
                <a:latin typeface="楷体_GB2312" pitchFamily="49" charset="-122"/>
                <a:ea typeface="楷体_GB2312" pitchFamily="49" charset="-122"/>
              </a:rPr>
              <a:t>存储单元。</a:t>
            </a:r>
            <a:endParaRPr lang="en-US" altLang="zh-CN" dirty="0">
              <a:solidFill>
                <a:srgbClr val="692AA2"/>
              </a:solidFill>
              <a:latin typeface="楷体_GB2312" pitchFamily="49" charset="-122"/>
              <a:ea typeface="楷体_GB2312" pitchFamily="49" charset="-122"/>
            </a:endParaRPr>
          </a:p>
          <a:p>
            <a:pPr lvl="2"/>
            <a:r>
              <a:rPr lang="zh-CN" altLang="en-US" dirty="0">
                <a:solidFill>
                  <a:srgbClr val="692AA2"/>
                </a:solidFill>
                <a:latin typeface="楷体_GB2312" pitchFamily="49" charset="-122"/>
                <a:ea typeface="楷体_GB2312" pitchFamily="49" charset="-122"/>
              </a:rPr>
              <a:t>停止执行</a:t>
            </a:r>
            <a:endParaRPr lang="en-US" altLang="zh-CN" dirty="0">
              <a:solidFill>
                <a:srgbClr val="692AA2"/>
              </a:solidFill>
              <a:latin typeface="楷体_GB2312" pitchFamily="49" charset="-122"/>
              <a:ea typeface="楷体_GB2312" pitchFamily="49" charset="-122"/>
            </a:endParaRPr>
          </a:p>
          <a:p>
            <a:pPr lvl="1"/>
            <a:r>
              <a:rPr lang="zh-CN" altLang="en-US" dirty="0"/>
              <a:t>计算机依赖</a:t>
            </a:r>
            <a:r>
              <a:rPr lang="zh-CN" altLang="en-US" dirty="0">
                <a:solidFill>
                  <a:srgbClr val="FF0000"/>
                </a:solidFill>
              </a:rPr>
              <a:t>机器指令</a:t>
            </a:r>
            <a:r>
              <a:rPr lang="zh-CN" altLang="en-US" dirty="0"/>
              <a:t>运行，机器指令以及各种被处理的数据都以</a:t>
            </a:r>
            <a:r>
              <a:rPr lang="zh-CN" altLang="en-US" dirty="0">
                <a:solidFill>
                  <a:srgbClr val="FF0000"/>
                </a:solidFill>
              </a:rPr>
              <a:t>二进制形式</a:t>
            </a:r>
            <a:r>
              <a:rPr lang="zh-CN" altLang="en-US" dirty="0"/>
              <a:t>存储。</a:t>
            </a:r>
            <a:endParaRPr lang="zh-CN" altLang="en-US" dirty="0"/>
          </a:p>
          <a:p>
            <a:pPr lvl="1"/>
            <a:endParaRPr lang="zh-CN" altLang="en-US"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低级编程语言</a:t>
            </a:r>
            <a:endParaRPr lang="zh-CN" altLang="en-US" dirty="0"/>
          </a:p>
        </p:txBody>
      </p:sp>
      <p:sp>
        <p:nvSpPr>
          <p:cNvPr id="3" name="内容占位符 2"/>
          <p:cNvSpPr>
            <a:spLocks noGrp="1"/>
          </p:cNvSpPr>
          <p:nvPr>
            <p:ph idx="1"/>
          </p:nvPr>
        </p:nvSpPr>
        <p:spPr/>
        <p:txBody>
          <a:bodyPr/>
          <a:lstStyle/>
          <a:p>
            <a:r>
              <a:rPr lang="zh-CN" altLang="en-US" b="1" dirty="0"/>
              <a:t>汇编语言</a:t>
            </a:r>
            <a:endParaRPr lang="en-US" altLang="zh-CN" b="1" dirty="0"/>
          </a:p>
          <a:p>
            <a:pPr lvl="1"/>
            <a:r>
              <a:rPr lang="zh-CN" altLang="en-US" b="1" dirty="0"/>
              <a:t>引入“助记符”</a:t>
            </a:r>
            <a:endParaRPr lang="en-US" altLang="zh-CN" b="1" dirty="0"/>
          </a:p>
          <a:p>
            <a:pPr lvl="2"/>
            <a:r>
              <a:rPr lang="en-US" altLang="zh-CN" dirty="0"/>
              <a:t>ADD</a:t>
            </a:r>
            <a:r>
              <a:rPr lang="zh-CN" altLang="en-US" dirty="0"/>
              <a:t>、</a:t>
            </a:r>
            <a:r>
              <a:rPr lang="en-US" altLang="zh-CN" dirty="0"/>
              <a:t>SUB</a:t>
            </a:r>
            <a:r>
              <a:rPr lang="zh-CN" altLang="en-US" dirty="0"/>
              <a:t>、</a:t>
            </a:r>
            <a:r>
              <a:rPr lang="en-US" altLang="zh-CN" dirty="0"/>
              <a:t>MOV</a:t>
            </a:r>
            <a:r>
              <a:rPr lang="zh-CN" altLang="en-US" dirty="0"/>
              <a:t>、</a:t>
            </a:r>
            <a:r>
              <a:rPr lang="en-US" altLang="zh-CN" dirty="0"/>
              <a:t>……</a:t>
            </a:r>
            <a:endParaRPr lang="en-US" altLang="zh-CN" b="1" dirty="0"/>
          </a:p>
          <a:p>
            <a:pPr lvl="1"/>
            <a:r>
              <a:rPr lang="zh-CN" altLang="en-US" dirty="0"/>
              <a:t>汇编程序系统(</a:t>
            </a:r>
            <a:r>
              <a:rPr lang="en-US" altLang="zh-CN" dirty="0"/>
              <a:t>Assembler)</a:t>
            </a:r>
            <a:endParaRPr lang="en-US" altLang="zh-CN" dirty="0"/>
          </a:p>
          <a:p>
            <a:pPr lvl="2"/>
            <a:r>
              <a:rPr lang="zh-CN" altLang="en-US" dirty="0">
                <a:ea typeface="楷体_GB2312" pitchFamily="49" charset="-122"/>
              </a:rPr>
              <a:t>汇编语言源程序                </a:t>
            </a:r>
            <a:r>
              <a:rPr lang="en-US" altLang="zh-CN">
                <a:ea typeface="楷体_GB2312" pitchFamily="49" charset="-122"/>
              </a:rPr>
              <a:t>        </a:t>
            </a:r>
            <a:r>
              <a:rPr lang="zh-CN" altLang="en-US">
                <a:ea typeface="楷体_GB2312" pitchFamily="49" charset="-122"/>
              </a:rPr>
              <a:t>机器语</a:t>
            </a:r>
            <a:r>
              <a:rPr lang="zh-CN" altLang="en-US" dirty="0">
                <a:ea typeface="楷体_GB2312" pitchFamily="49" charset="-122"/>
              </a:rPr>
              <a:t>言</a:t>
            </a:r>
            <a:endParaRPr lang="en-US" altLang="zh-CN" dirty="0">
              <a:ea typeface="楷体_GB2312" pitchFamily="49" charset="-122"/>
            </a:endParaRPr>
          </a:p>
          <a:p>
            <a:r>
              <a:rPr lang="zh-CN" altLang="en-US" dirty="0"/>
              <a:t>低级语言的缺点</a:t>
            </a:r>
            <a:endParaRPr lang="en-US" altLang="zh-CN" dirty="0"/>
          </a:p>
          <a:p>
            <a:pPr lvl="1"/>
            <a:r>
              <a:rPr lang="zh-CN" altLang="en-US" dirty="0"/>
              <a:t>依赖于机器，可移植性差</a:t>
            </a:r>
            <a:endParaRPr lang="en-US" altLang="zh-CN" dirty="0"/>
          </a:p>
          <a:p>
            <a:pPr lvl="1"/>
            <a:r>
              <a:rPr lang="zh-CN" altLang="en-US" dirty="0"/>
              <a:t>代码冗长，不易于编写大规模的程序</a:t>
            </a:r>
            <a:endParaRPr lang="en-US" altLang="zh-CN" dirty="0"/>
          </a:p>
          <a:p>
            <a:pPr lvl="1"/>
            <a:r>
              <a:rPr lang="zh-CN" altLang="en-US" dirty="0"/>
              <a:t>可读性差</a:t>
            </a:r>
            <a:endParaRPr lang="en-US" altLang="zh-CN" dirty="0"/>
          </a:p>
          <a:p>
            <a:pPr lvl="1"/>
            <a:r>
              <a:rPr lang="zh-CN" altLang="en-US" dirty="0"/>
              <a:t>可维护性差</a:t>
            </a:r>
            <a:endParaRPr lang="zh-CN" altLang="en-US" dirty="0"/>
          </a:p>
        </p:txBody>
      </p:sp>
      <p:sp>
        <p:nvSpPr>
          <p:cNvPr id="4" name="右箭头 3"/>
          <p:cNvSpPr/>
          <p:nvPr/>
        </p:nvSpPr>
        <p:spPr>
          <a:xfrm>
            <a:off x="4363956" y="3430710"/>
            <a:ext cx="1360172" cy="214314"/>
          </a:xfrm>
          <a:prstGeom prst="rightArrow">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高级程序设计语言</a:t>
            </a:r>
            <a:endParaRPr lang="zh-CN" altLang="en-US" dirty="0"/>
          </a:p>
        </p:txBody>
      </p:sp>
      <p:sp>
        <p:nvSpPr>
          <p:cNvPr id="3" name="内容占位符 2"/>
          <p:cNvSpPr>
            <a:spLocks noGrp="1"/>
          </p:cNvSpPr>
          <p:nvPr>
            <p:ph idx="1"/>
          </p:nvPr>
        </p:nvSpPr>
        <p:spPr/>
        <p:txBody>
          <a:bodyPr/>
          <a:lstStyle/>
          <a:p>
            <a:pPr>
              <a:lnSpc>
                <a:spcPct val="150000"/>
              </a:lnSpc>
            </a:pPr>
            <a:r>
              <a:rPr lang="zh-CN" altLang="en-US" dirty="0"/>
              <a:t>高级语言</a:t>
            </a:r>
            <a:endParaRPr lang="en-US" altLang="zh-CN" dirty="0"/>
          </a:p>
          <a:p>
            <a:pPr lvl="1">
              <a:lnSpc>
                <a:spcPct val="150000"/>
              </a:lnSpc>
            </a:pPr>
            <a:r>
              <a:rPr lang="zh-CN" altLang="en-US" dirty="0"/>
              <a:t>易于理解、记忆和使用</a:t>
            </a:r>
            <a:endParaRPr lang="en-US" altLang="zh-CN" dirty="0"/>
          </a:p>
          <a:p>
            <a:pPr lvl="1">
              <a:lnSpc>
                <a:spcPct val="150000"/>
              </a:lnSpc>
            </a:pPr>
            <a:r>
              <a:rPr lang="zh-CN" altLang="en-US" dirty="0"/>
              <a:t>更加接近人的思维方式和自然语言</a:t>
            </a:r>
            <a:endParaRPr lang="en-US" altLang="zh-CN" dirty="0"/>
          </a:p>
          <a:p>
            <a:pPr lvl="1">
              <a:lnSpc>
                <a:spcPct val="150000"/>
              </a:lnSpc>
            </a:pPr>
            <a:r>
              <a:rPr lang="zh-CN" altLang="en-US" dirty="0"/>
              <a:t>应用广泛的高级语言：</a:t>
            </a:r>
            <a:endParaRPr lang="en-US" altLang="zh-CN" dirty="0"/>
          </a:p>
          <a:p>
            <a:pPr lvl="2">
              <a:lnSpc>
                <a:spcPct val="150000"/>
              </a:lnSpc>
            </a:pPr>
            <a:r>
              <a:rPr lang="en-US" altLang="zh-CN" dirty="0">
                <a:solidFill>
                  <a:srgbClr val="692AA2"/>
                </a:solidFill>
                <a:latin typeface="Times New Roman" panose="02020603050405020304" pitchFamily="18" charset="0"/>
                <a:ea typeface="楷体_GB2312" pitchFamily="49" charset="-122"/>
                <a:cs typeface="Times New Roman" panose="02020603050405020304" pitchFamily="18" charset="0"/>
              </a:rPr>
              <a:t>FORTRAN、ALGOL、COBOL、BASIC、PASCAL、C、LISP、PROLOG</a:t>
            </a:r>
            <a:r>
              <a:rPr lang="zh-CN" altLang="en-US" dirty="0">
                <a:solidFill>
                  <a:srgbClr val="692AA2"/>
                </a:solidFill>
                <a:latin typeface="Times New Roman" panose="02020603050405020304" pitchFamily="18" charset="0"/>
                <a:ea typeface="楷体_GB2312" pitchFamily="49" charset="-122"/>
                <a:cs typeface="Times New Roman" panose="02020603050405020304" pitchFamily="18" charset="0"/>
              </a:rPr>
              <a:t>， </a:t>
            </a:r>
            <a:r>
              <a:rPr lang="en-US" altLang="zh-CN" dirty="0">
                <a:solidFill>
                  <a:srgbClr val="692AA2"/>
                </a:solidFill>
                <a:latin typeface="Times New Roman" panose="02020603050405020304" pitchFamily="18" charset="0"/>
                <a:ea typeface="楷体_GB2312" pitchFamily="49" charset="-122"/>
                <a:cs typeface="Times New Roman" panose="02020603050405020304" pitchFamily="18" charset="0"/>
              </a:rPr>
              <a:t>C++</a:t>
            </a:r>
            <a:r>
              <a:rPr lang="zh-CN" altLang="en-US" dirty="0">
                <a:solidFill>
                  <a:srgbClr val="692AA2"/>
                </a:solidFill>
                <a:latin typeface="Times New Roman" panose="02020603050405020304" pitchFamily="18" charset="0"/>
                <a:ea typeface="楷体_GB2312" pitchFamily="49" charset="-122"/>
                <a:cs typeface="Times New Roman" panose="02020603050405020304" pitchFamily="18" charset="0"/>
              </a:rPr>
              <a:t>，</a:t>
            </a:r>
            <a:r>
              <a:rPr lang="en-US" altLang="zh-CN" dirty="0">
                <a:solidFill>
                  <a:srgbClr val="692AA2"/>
                </a:solidFill>
                <a:latin typeface="Times New Roman" panose="02020603050405020304" pitchFamily="18" charset="0"/>
                <a:ea typeface="楷体_GB2312" pitchFamily="49" charset="-122"/>
                <a:cs typeface="Times New Roman" panose="02020603050405020304" pitchFamily="18" charset="0"/>
              </a:rPr>
              <a:t>C#</a:t>
            </a:r>
            <a:r>
              <a:rPr lang="zh-CN" altLang="en-US" dirty="0">
                <a:solidFill>
                  <a:srgbClr val="692AA2"/>
                </a:solidFill>
                <a:latin typeface="Times New Roman" panose="02020603050405020304" pitchFamily="18" charset="0"/>
                <a:ea typeface="楷体_GB2312" pitchFamily="49" charset="-122"/>
                <a:cs typeface="Times New Roman" panose="02020603050405020304" pitchFamily="18" charset="0"/>
              </a:rPr>
              <a:t>， </a:t>
            </a:r>
            <a:r>
              <a:rPr lang="en-US" altLang="zh-CN" dirty="0">
                <a:solidFill>
                  <a:srgbClr val="692AA2"/>
                </a:solidFill>
                <a:latin typeface="Times New Roman" panose="02020603050405020304" pitchFamily="18" charset="0"/>
                <a:ea typeface="楷体_GB2312" pitchFamily="49" charset="-122"/>
                <a:cs typeface="Times New Roman" panose="02020603050405020304" pitchFamily="18" charset="0"/>
              </a:rPr>
              <a:t>Java</a:t>
            </a:r>
            <a:r>
              <a:rPr lang="zh-CN" altLang="en-US" dirty="0">
                <a:solidFill>
                  <a:srgbClr val="692AA2"/>
                </a:solidFill>
                <a:latin typeface="Times New Roman" panose="02020603050405020304" pitchFamily="18" charset="0"/>
                <a:ea typeface="楷体_GB2312" pitchFamily="49" charset="-122"/>
                <a:cs typeface="Times New Roman" panose="02020603050405020304" pitchFamily="18" charset="0"/>
              </a:rPr>
              <a:t>等</a:t>
            </a:r>
            <a:endParaRPr lang="zh-CN" altLang="en-US" dirty="0">
              <a:solidFill>
                <a:srgbClr val="692AA2"/>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高级程序设计语言</a:t>
            </a:r>
            <a:endParaRPr lang="zh-CN" altLang="en-US" dirty="0"/>
          </a:p>
        </p:txBody>
      </p:sp>
      <p:sp>
        <p:nvSpPr>
          <p:cNvPr id="3" name="内容占位符 2"/>
          <p:cNvSpPr>
            <a:spLocks noGrp="1"/>
          </p:cNvSpPr>
          <p:nvPr>
            <p:ph idx="1"/>
          </p:nvPr>
        </p:nvSpPr>
        <p:spPr/>
        <p:txBody>
          <a:bodyPr/>
          <a:lstStyle/>
          <a:p>
            <a:pPr>
              <a:lnSpc>
                <a:spcPct val="150000"/>
              </a:lnSpc>
            </a:pPr>
            <a:r>
              <a:rPr lang="zh-CN" altLang="en-US" dirty="0"/>
              <a:t>高级语言程序的运行</a:t>
            </a:r>
            <a:endParaRPr lang="en-US" altLang="zh-CN" dirty="0"/>
          </a:p>
          <a:p>
            <a:pPr lvl="1">
              <a:lnSpc>
                <a:spcPct val="150000"/>
              </a:lnSpc>
            </a:pPr>
            <a:r>
              <a:rPr lang="zh-CN" altLang="en-US" dirty="0"/>
              <a:t>编译程序系统</a:t>
            </a:r>
            <a:endParaRPr lang="en-US" altLang="zh-CN" dirty="0"/>
          </a:p>
          <a:p>
            <a:pPr lvl="2">
              <a:lnSpc>
                <a:spcPct val="150000"/>
              </a:lnSpc>
            </a:pPr>
            <a:r>
              <a:rPr lang="zh-CN" altLang="en-US" dirty="0"/>
              <a:t>编译</a:t>
            </a:r>
            <a:endParaRPr lang="en-US" altLang="zh-CN" dirty="0"/>
          </a:p>
          <a:p>
            <a:pPr lvl="3">
              <a:lnSpc>
                <a:spcPct val="150000"/>
              </a:lnSpc>
            </a:pPr>
            <a:r>
              <a:rPr lang="zh-CN" altLang="en-US" dirty="0"/>
              <a:t>将高级语言源程序转换为汇编语言源程序（目标程序）</a:t>
            </a:r>
            <a:endParaRPr lang="en-US" altLang="zh-CN" dirty="0"/>
          </a:p>
          <a:p>
            <a:pPr lvl="2">
              <a:lnSpc>
                <a:spcPct val="150000"/>
              </a:lnSpc>
            </a:pPr>
            <a:r>
              <a:rPr lang="zh-CN" altLang="en-US" dirty="0"/>
              <a:t>连接</a:t>
            </a:r>
            <a:endParaRPr lang="en-US" altLang="zh-CN" dirty="0"/>
          </a:p>
          <a:p>
            <a:pPr lvl="3">
              <a:lnSpc>
                <a:spcPct val="150000"/>
              </a:lnSpc>
            </a:pPr>
            <a:r>
              <a:rPr lang="zh-CN" altLang="en-US" dirty="0"/>
              <a:t>将目标程序转换为机器指令程序（可执行程序）</a:t>
            </a:r>
            <a:endParaRPr lang="en-US" altLang="zh-CN" dirty="0"/>
          </a:p>
          <a:p>
            <a:pPr lvl="2">
              <a:lnSpc>
                <a:spcPct val="150000"/>
              </a:lnSpc>
            </a:pPr>
            <a:r>
              <a:rPr lang="zh-CN" altLang="en-US" dirty="0"/>
              <a:t>执行</a:t>
            </a:r>
            <a:endParaRPr lang="en-US" altLang="zh-CN" dirty="0"/>
          </a:p>
          <a:p>
            <a:pPr lvl="3">
              <a:lnSpc>
                <a:spcPct val="150000"/>
              </a:lnSpc>
            </a:pPr>
            <a:r>
              <a:rPr lang="zh-CN" altLang="en-US" dirty="0"/>
              <a:t>执行可执行程序，得到所需的结果</a:t>
            </a:r>
            <a:endParaRPr lang="en-US" altLang="zh-CN"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程序设计方法学的发展</a:t>
            </a:r>
            <a:endParaRPr lang="zh-CN" altLang="en-US" dirty="0"/>
          </a:p>
        </p:txBody>
      </p:sp>
      <p:sp>
        <p:nvSpPr>
          <p:cNvPr id="3" name="内容占位符 2"/>
          <p:cNvSpPr>
            <a:spLocks noGrp="1"/>
          </p:cNvSpPr>
          <p:nvPr>
            <p:ph idx="1"/>
          </p:nvPr>
        </p:nvSpPr>
        <p:spPr/>
        <p:txBody>
          <a:bodyPr/>
          <a:lstStyle/>
          <a:p>
            <a:r>
              <a:rPr lang="zh-CN" altLang="en-US" dirty="0"/>
              <a:t>程序设计技术的初级阶段</a:t>
            </a:r>
            <a:endParaRPr lang="en-US" altLang="zh-CN" dirty="0"/>
          </a:p>
          <a:p>
            <a:pPr lvl="1"/>
            <a:r>
              <a:rPr lang="zh-CN" altLang="en-US" dirty="0"/>
              <a:t>计算机诞生，</a:t>
            </a:r>
            <a:r>
              <a:rPr lang="en-US" altLang="zh-CN" dirty="0"/>
              <a:t>von Neumann </a:t>
            </a:r>
            <a:r>
              <a:rPr lang="zh-CN" altLang="en-US" dirty="0"/>
              <a:t>模式形成，低级语言编程是主要开发形式。 </a:t>
            </a:r>
            <a:endParaRPr lang="en-US" altLang="zh-CN" dirty="0"/>
          </a:p>
          <a:p>
            <a:pPr lvl="1"/>
            <a:r>
              <a:rPr lang="zh-CN" altLang="en-US" dirty="0"/>
              <a:t>第一代高级语言（以 </a:t>
            </a:r>
            <a:r>
              <a:rPr lang="en-US" altLang="zh-CN" dirty="0"/>
              <a:t>FORTRAN </a:t>
            </a:r>
            <a:r>
              <a:rPr lang="zh-CN" altLang="en-US" dirty="0"/>
              <a:t>和</a:t>
            </a:r>
            <a:r>
              <a:rPr lang="en-US" altLang="zh-CN" dirty="0"/>
              <a:t>ALGOL60 </a:t>
            </a:r>
            <a:r>
              <a:rPr lang="zh-CN" altLang="en-US" dirty="0"/>
              <a:t>为代表）诞生，从低级语言编程转向高级语言编程。</a:t>
            </a:r>
            <a:endParaRPr lang="zh-CN" altLang="en-US" dirty="0"/>
          </a:p>
          <a:p>
            <a:pPr lvl="2"/>
            <a:r>
              <a:rPr lang="zh-CN" altLang="en-US" dirty="0"/>
              <a:t>高级语言的出现使得程序设计的难度降低，导致了计算机应用在五六十年代的发展进入新的阶段。</a:t>
            </a:r>
            <a:endParaRPr lang="zh-CN" altLang="en-US" dirty="0"/>
          </a:p>
          <a:p>
            <a:pPr lvl="2"/>
            <a:r>
              <a:rPr lang="en-US" altLang="zh-CN" dirty="0"/>
              <a:t>60</a:t>
            </a:r>
            <a:r>
              <a:rPr lang="zh-CN" altLang="en-US" dirty="0"/>
              <a:t>年代，以大规模程序频频出错</a:t>
            </a:r>
            <a:r>
              <a:rPr lang="en-US" altLang="zh-CN" dirty="0"/>
              <a:t>(</a:t>
            </a:r>
            <a:r>
              <a:rPr lang="zh-CN" altLang="en-US" dirty="0"/>
              <a:t>例如</a:t>
            </a:r>
            <a:r>
              <a:rPr lang="en-US" altLang="zh-CN" dirty="0"/>
              <a:t>1962</a:t>
            </a:r>
            <a:r>
              <a:rPr lang="zh-CN" altLang="en-US" dirty="0"/>
              <a:t>年，因软件出错导致美国金星探测器水手</a:t>
            </a:r>
            <a:r>
              <a:rPr lang="en-US" altLang="zh-CN" dirty="0"/>
              <a:t>Ⅱ</a:t>
            </a:r>
            <a:r>
              <a:rPr lang="zh-CN" altLang="en-US" dirty="0"/>
              <a:t>号卫星发射失败</a:t>
            </a:r>
            <a:r>
              <a:rPr lang="en-US" altLang="zh-CN" dirty="0"/>
              <a:t>)</a:t>
            </a:r>
            <a:r>
              <a:rPr lang="zh-CN" altLang="en-US" dirty="0"/>
              <a:t>为特征的“软件危机”发生，引起关于“</a:t>
            </a:r>
            <a:r>
              <a:rPr lang="en-US" altLang="zh-CN" dirty="0" err="1"/>
              <a:t>Goto</a:t>
            </a:r>
            <a:r>
              <a:rPr lang="zh-CN" altLang="en-US" dirty="0"/>
              <a:t>语句”的辩论。</a:t>
            </a:r>
            <a:endParaRPr lang="zh-CN" altLang="en-US"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程序设计方法学的发展</a:t>
            </a:r>
            <a:endParaRPr lang="zh-CN" altLang="en-US" dirty="0"/>
          </a:p>
        </p:txBody>
      </p:sp>
      <p:sp>
        <p:nvSpPr>
          <p:cNvPr id="3" name="内容占位符 2"/>
          <p:cNvSpPr>
            <a:spLocks noGrp="1"/>
          </p:cNvSpPr>
          <p:nvPr>
            <p:ph idx="1"/>
          </p:nvPr>
        </p:nvSpPr>
        <p:spPr/>
        <p:txBody>
          <a:bodyPr/>
          <a:lstStyle/>
          <a:p>
            <a:r>
              <a:rPr lang="zh-CN" altLang="en-US" dirty="0"/>
              <a:t>结构程序设计（</a:t>
            </a:r>
            <a:r>
              <a:rPr lang="en-US" altLang="zh-CN" dirty="0">
                <a:latin typeface="Times New Roman" panose="02020603050405020304" pitchFamily="18" charset="0"/>
                <a:cs typeface="Times New Roman" panose="02020603050405020304" pitchFamily="18" charset="0"/>
              </a:rPr>
              <a:t>Structured Programming</a:t>
            </a:r>
            <a:r>
              <a:rPr lang="zh-CN" altLang="en-US" dirty="0"/>
              <a:t>）阶段</a:t>
            </a:r>
            <a:endParaRPr lang="en-US" altLang="zh-CN" dirty="0"/>
          </a:p>
          <a:p>
            <a:pPr lvl="1"/>
            <a:r>
              <a:rPr lang="zh-CN" altLang="en-US" dirty="0"/>
              <a:t>以</a:t>
            </a:r>
            <a:r>
              <a:rPr lang="en-US" altLang="zh-CN" dirty="0"/>
              <a:t>Pascal </a:t>
            </a:r>
            <a:r>
              <a:rPr lang="zh-CN" altLang="en-US" dirty="0"/>
              <a:t>语言和</a:t>
            </a:r>
            <a:r>
              <a:rPr lang="en-US" altLang="zh-CN" dirty="0"/>
              <a:t>C</a:t>
            </a:r>
            <a:r>
              <a:rPr lang="zh-CN" altLang="en-US" dirty="0"/>
              <a:t>语言为代表</a:t>
            </a:r>
            <a:endParaRPr lang="en-US" altLang="zh-CN" dirty="0"/>
          </a:p>
          <a:p>
            <a:pPr lvl="2"/>
            <a:r>
              <a:rPr lang="zh-CN" altLang="en-US" dirty="0"/>
              <a:t>强调数据类型、程序结构</a:t>
            </a:r>
            <a:endParaRPr lang="en-US" altLang="zh-CN" dirty="0"/>
          </a:p>
          <a:p>
            <a:pPr lvl="2"/>
            <a:r>
              <a:rPr lang="zh-CN" altLang="en-US" dirty="0"/>
              <a:t>注重可靠性、可维护性</a:t>
            </a:r>
            <a:endParaRPr lang="en-US" altLang="zh-CN" dirty="0"/>
          </a:p>
          <a:p>
            <a:pPr lvl="1"/>
            <a:r>
              <a:rPr lang="zh-CN" altLang="en-US" dirty="0"/>
              <a:t>主要特点</a:t>
            </a:r>
            <a:endParaRPr lang="en-US" altLang="zh-CN" dirty="0"/>
          </a:p>
          <a:p>
            <a:pPr lvl="2"/>
            <a:r>
              <a:rPr lang="zh-CN" altLang="en-US" dirty="0"/>
              <a:t>采用自顶向下、逐步求精的设计方法 </a:t>
            </a:r>
            <a:endParaRPr lang="en-US" altLang="zh-CN" dirty="0"/>
          </a:p>
          <a:p>
            <a:pPr lvl="2"/>
            <a:r>
              <a:rPr lang="zh-CN" altLang="en-US" sz="2200" dirty="0"/>
              <a:t>程序运行的动态结构与程序书写的静态结构相对一致 </a:t>
            </a:r>
            <a:endParaRPr lang="en-US" altLang="zh-CN" sz="2200" dirty="0"/>
          </a:p>
          <a:p>
            <a:pPr lvl="2"/>
            <a:r>
              <a:rPr lang="zh-CN" altLang="en-US" sz="2200" dirty="0"/>
              <a:t>严格区分数据类型 </a:t>
            </a:r>
            <a:endParaRPr lang="en-US" altLang="zh-CN" sz="2200" dirty="0"/>
          </a:p>
          <a:p>
            <a:pPr lvl="1"/>
            <a:r>
              <a:rPr lang="zh-CN" altLang="en-US" sz="2400" dirty="0"/>
              <a:t>缺点</a:t>
            </a:r>
            <a:endParaRPr lang="en-US" altLang="zh-CN" sz="2400" dirty="0"/>
          </a:p>
          <a:p>
            <a:pPr lvl="2"/>
            <a:r>
              <a:rPr lang="zh-CN" altLang="en-US" dirty="0"/>
              <a:t>程序的可重用性差</a:t>
            </a:r>
            <a:endParaRPr lang="zh-CN" altLang="en-US"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面向对象程序设计阶段</a:t>
            </a:r>
            <a:endParaRPr lang="zh-CN" altLang="en-US" dirty="0"/>
          </a:p>
        </p:txBody>
      </p:sp>
      <p:sp>
        <p:nvSpPr>
          <p:cNvPr id="3" name="内容占位符 2"/>
          <p:cNvSpPr>
            <a:spLocks noGrp="1"/>
          </p:cNvSpPr>
          <p:nvPr>
            <p:ph idx="1"/>
          </p:nvPr>
        </p:nvSpPr>
        <p:spPr/>
        <p:txBody>
          <a:bodyPr/>
          <a:lstStyle/>
          <a:p>
            <a:r>
              <a:rPr lang="en-US" altLang="zh-CN" dirty="0"/>
              <a:t>80</a:t>
            </a:r>
            <a:r>
              <a:rPr lang="zh-CN" altLang="en-US" dirty="0"/>
              <a:t>年代，面向对象程序设计逐渐从理论转向实践，程序设计理论步入成熟期。</a:t>
            </a:r>
            <a:endParaRPr lang="en-US" altLang="zh-CN" dirty="0"/>
          </a:p>
          <a:p>
            <a:pPr lvl="1"/>
            <a:r>
              <a:rPr lang="en-US" altLang="zh-CN" dirty="0" err="1"/>
              <a:t>A.Kay</a:t>
            </a:r>
            <a:r>
              <a:rPr lang="en-US" altLang="zh-CN" dirty="0"/>
              <a:t> </a:t>
            </a:r>
            <a:r>
              <a:rPr lang="zh-CN" altLang="en-US" dirty="0"/>
              <a:t>研制了</a:t>
            </a:r>
            <a:r>
              <a:rPr lang="en-US" altLang="zh-CN" dirty="0"/>
              <a:t>Smalltalk </a:t>
            </a:r>
            <a:r>
              <a:rPr lang="zh-CN" altLang="en-US" dirty="0"/>
              <a:t>语言</a:t>
            </a:r>
            <a:endParaRPr lang="en-US" altLang="zh-CN" dirty="0"/>
          </a:p>
          <a:p>
            <a:pPr lvl="1"/>
            <a:r>
              <a:rPr lang="en-US" altLang="zh-CN" dirty="0" err="1"/>
              <a:t>B.Stroustrup</a:t>
            </a:r>
            <a:r>
              <a:rPr lang="en-US" altLang="zh-CN" dirty="0"/>
              <a:t> </a:t>
            </a:r>
            <a:r>
              <a:rPr lang="zh-CN" altLang="en-US" dirty="0"/>
              <a:t>开发了</a:t>
            </a:r>
            <a:r>
              <a:rPr lang="en-US" altLang="zh-CN" dirty="0"/>
              <a:t>C++ </a:t>
            </a:r>
            <a:r>
              <a:rPr lang="zh-CN" altLang="en-US" dirty="0"/>
              <a:t>语言</a:t>
            </a:r>
            <a:r>
              <a:rPr lang="en-US" altLang="zh-CN" dirty="0"/>
              <a:t> </a:t>
            </a:r>
            <a:endParaRPr lang="en-US" altLang="zh-CN" dirty="0"/>
          </a:p>
          <a:p>
            <a:r>
              <a:rPr lang="en-US" altLang="zh-CN" dirty="0"/>
              <a:t>OOP</a:t>
            </a:r>
            <a:r>
              <a:rPr lang="zh-CN" altLang="en-US" dirty="0"/>
              <a:t>方法在</a:t>
            </a:r>
            <a:r>
              <a:rPr lang="en-US" altLang="zh-CN" dirty="0"/>
              <a:t>90</a:t>
            </a:r>
            <a:r>
              <a:rPr lang="zh-CN" altLang="en-US" dirty="0"/>
              <a:t>年代盛行</a:t>
            </a:r>
            <a:endParaRPr lang="en-US" altLang="zh-CN" dirty="0"/>
          </a:p>
          <a:p>
            <a:pPr lvl="1"/>
            <a:r>
              <a:rPr lang="en-US" altLang="zh-CN" sz="2400" dirty="0"/>
              <a:t>OOP</a:t>
            </a:r>
            <a:r>
              <a:rPr lang="zh-CN" altLang="en-US" sz="2400" dirty="0"/>
              <a:t>方法从思想上与</a:t>
            </a:r>
            <a:r>
              <a:rPr lang="en-US" altLang="zh-CN" sz="2400" dirty="0"/>
              <a:t>SP</a:t>
            </a:r>
            <a:r>
              <a:rPr lang="zh-CN" altLang="en-US" sz="2400" dirty="0"/>
              <a:t>方法相比是抓住了软件开发的本质和规律，计算机所要解决的问题越来越重要，越来越复杂。</a:t>
            </a:r>
            <a:endParaRPr lang="en-US" altLang="zh-CN" sz="2400" dirty="0"/>
          </a:p>
          <a:p>
            <a:pPr lvl="1"/>
            <a:r>
              <a:rPr lang="en-US" altLang="zh-CN" sz="2400" dirty="0"/>
              <a:t>OPP</a:t>
            </a:r>
            <a:r>
              <a:rPr lang="zh-CN" altLang="en-US" sz="2400" dirty="0"/>
              <a:t>技术之所以能适应今天软件产业的需要，是因为它比较好地解决了软件模块化、信息隐蔽和抽象的目标。</a:t>
            </a:r>
            <a:endParaRPr lang="zh-CN" altLang="en-US" sz="24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面向对象程序设计阶段</a:t>
            </a:r>
            <a:endParaRPr lang="zh-CN" altLang="en-US" dirty="0"/>
          </a:p>
        </p:txBody>
      </p:sp>
      <p:sp>
        <p:nvSpPr>
          <p:cNvPr id="3" name="内容占位符 2"/>
          <p:cNvSpPr>
            <a:spLocks noGrp="1"/>
          </p:cNvSpPr>
          <p:nvPr>
            <p:ph idx="1"/>
          </p:nvPr>
        </p:nvSpPr>
        <p:spPr/>
        <p:txBody>
          <a:bodyPr/>
          <a:lstStyle/>
          <a:p>
            <a:r>
              <a:rPr lang="zh-CN" altLang="en-US" dirty="0"/>
              <a:t>常用的面向对象语言</a:t>
            </a:r>
            <a:endParaRPr lang="en-US" altLang="zh-CN" dirty="0"/>
          </a:p>
          <a:p>
            <a:pPr lvl="1"/>
            <a:r>
              <a:rPr lang="en-US" altLang="zh-CN" dirty="0"/>
              <a:t>C++</a:t>
            </a:r>
            <a:endParaRPr lang="en-US" altLang="zh-CN" dirty="0"/>
          </a:p>
          <a:p>
            <a:pPr lvl="1"/>
            <a:r>
              <a:rPr lang="en-US" altLang="zh-CN" dirty="0"/>
              <a:t>Visual C++</a:t>
            </a:r>
            <a:endParaRPr lang="en-US" altLang="zh-CN" dirty="0"/>
          </a:p>
          <a:p>
            <a:pPr lvl="2"/>
            <a:r>
              <a:rPr lang="zh-CN" altLang="en-US" dirty="0"/>
              <a:t>基于</a:t>
            </a:r>
            <a:r>
              <a:rPr lang="en-US" altLang="zh-CN" dirty="0"/>
              <a:t>Windows</a:t>
            </a:r>
            <a:r>
              <a:rPr lang="zh-CN" altLang="en-US" dirty="0"/>
              <a:t>窗体规范的</a:t>
            </a:r>
            <a:r>
              <a:rPr lang="en-US" altLang="zh-CN" dirty="0"/>
              <a:t>C++</a:t>
            </a:r>
            <a:r>
              <a:rPr lang="zh-CN" altLang="en-US" dirty="0"/>
              <a:t>的具体实现版本</a:t>
            </a:r>
            <a:endParaRPr lang="en-US" altLang="zh-CN" dirty="0"/>
          </a:p>
          <a:p>
            <a:pPr lvl="1"/>
            <a:r>
              <a:rPr lang="en-US" altLang="zh-CN" dirty="0"/>
              <a:t>Smalltalk</a:t>
            </a:r>
            <a:endParaRPr lang="en-US" altLang="zh-CN" dirty="0"/>
          </a:p>
          <a:p>
            <a:pPr lvl="1"/>
            <a:r>
              <a:rPr lang="en-US" altLang="zh-CN" dirty="0"/>
              <a:t>Simula67</a:t>
            </a:r>
            <a:endParaRPr lang="en-US" altLang="zh-CN" dirty="0"/>
          </a:p>
          <a:p>
            <a:pPr lvl="1"/>
            <a:r>
              <a:rPr lang="en-US" altLang="zh-CN" dirty="0"/>
              <a:t>LISP</a:t>
            </a:r>
            <a:r>
              <a:rPr lang="zh-CN" altLang="en-US" dirty="0"/>
              <a:t>家族语言</a:t>
            </a:r>
            <a:endParaRPr lang="en-US" altLang="zh-CN" dirty="0"/>
          </a:p>
          <a:p>
            <a:pPr lvl="1"/>
            <a:r>
              <a:rPr lang="en-US" altLang="zh-CN" dirty="0"/>
              <a:t>Java</a:t>
            </a:r>
            <a:endParaRPr lang="en-US" altLang="zh-CN" dirty="0"/>
          </a:p>
          <a:p>
            <a:pPr lvl="1"/>
            <a:r>
              <a:rPr lang="en-US" altLang="zh-CN" dirty="0"/>
              <a:t>C#</a:t>
            </a:r>
            <a:endParaRPr lang="zh-CN" altLang="en-US"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面向对象程序设计阶段</a:t>
            </a:r>
            <a:endParaRPr lang="zh-CN" altLang="en-US" dirty="0"/>
          </a:p>
        </p:txBody>
      </p:sp>
      <p:sp>
        <p:nvSpPr>
          <p:cNvPr id="3" name="内容占位符 2"/>
          <p:cNvSpPr>
            <a:spLocks noGrp="1"/>
          </p:cNvSpPr>
          <p:nvPr>
            <p:ph idx="1"/>
          </p:nvPr>
        </p:nvSpPr>
        <p:spPr/>
        <p:txBody>
          <a:bodyPr/>
          <a:lstStyle/>
          <a:p>
            <a:r>
              <a:rPr lang="zh-CN" altLang="en-US" dirty="0"/>
              <a:t>面向对象程序设计方法的特点</a:t>
            </a:r>
            <a:endParaRPr lang="en-US" altLang="zh-CN" dirty="0"/>
          </a:p>
          <a:p>
            <a:pPr lvl="2"/>
            <a:r>
              <a:rPr lang="zh-CN" altLang="en-US" dirty="0"/>
              <a:t>将数据以及对这些数据进行操作的方法放在一起，形成一个相互依存、不可分离的整体</a:t>
            </a:r>
            <a:r>
              <a:rPr lang="en-US" altLang="zh-CN" dirty="0"/>
              <a:t>——</a:t>
            </a:r>
            <a:r>
              <a:rPr lang="zh-CN" altLang="en-US" dirty="0"/>
              <a:t>对象。</a:t>
            </a:r>
            <a:endParaRPr lang="en-US" altLang="zh-CN" dirty="0"/>
          </a:p>
          <a:p>
            <a:pPr lvl="2"/>
            <a:r>
              <a:rPr lang="zh-CN" altLang="en-US" dirty="0"/>
              <a:t>通过对事物的抽象找出同一类对象的共同属性(静态特征)和行为(动态特征)，从而形成类。类是面向对象程序设计方法中的程序主体，类中的大多数数据只能用本类的方法进行处理，以保障程序模块的独立性以及数据的安全性。类通过一个简单的公共对外接口与外界发生联系，对象与对象之间通过消息进行通讯。</a:t>
            </a:r>
            <a:endParaRPr lang="en-US" altLang="zh-CN" dirty="0"/>
          </a:p>
          <a:p>
            <a:pPr lvl="2"/>
            <a:r>
              <a:rPr lang="zh-CN" altLang="en-US" dirty="0"/>
              <a:t>面向对象程序设计的三大特征是：封装性、继承性、多态性。</a:t>
            </a:r>
            <a:endParaRPr lang="zh-CN" altLang="en-US"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面向对象程序设计阶段</a:t>
            </a:r>
            <a:endParaRPr lang="zh-CN" altLang="en-US" dirty="0"/>
          </a:p>
        </p:txBody>
      </p:sp>
      <p:sp>
        <p:nvSpPr>
          <p:cNvPr id="3" name="内容占位符 2"/>
          <p:cNvSpPr>
            <a:spLocks noGrp="1"/>
          </p:cNvSpPr>
          <p:nvPr>
            <p:ph idx="1"/>
          </p:nvPr>
        </p:nvSpPr>
        <p:spPr/>
        <p:txBody>
          <a:bodyPr/>
          <a:lstStyle/>
          <a:p>
            <a:r>
              <a:rPr lang="en-US" altLang="zh-CN" dirty="0"/>
              <a:t>C++</a:t>
            </a:r>
            <a:r>
              <a:rPr lang="zh-CN" altLang="en-US" dirty="0"/>
              <a:t>对面向对象程序设计方法的支持</a:t>
            </a:r>
            <a:endParaRPr lang="en-US" altLang="zh-CN" dirty="0"/>
          </a:p>
          <a:p>
            <a:pPr lvl="1"/>
            <a:r>
              <a:rPr lang="zh-CN" altLang="en-US" dirty="0"/>
              <a:t>支持数据封装</a:t>
            </a:r>
            <a:endParaRPr lang="en-US" altLang="zh-CN" dirty="0"/>
          </a:p>
          <a:p>
            <a:pPr lvl="2"/>
            <a:r>
              <a:rPr lang="en-US" altLang="zh-CN" dirty="0"/>
              <a:t>C++</a:t>
            </a:r>
            <a:r>
              <a:rPr lang="zh-CN" altLang="en-US" dirty="0"/>
              <a:t>语言中的类(</a:t>
            </a:r>
            <a:r>
              <a:rPr lang="en-US" altLang="zh-CN" dirty="0"/>
              <a:t>class)</a:t>
            </a:r>
            <a:r>
              <a:rPr lang="zh-CN" altLang="en-US" dirty="0"/>
              <a:t>是支持数据封装的工具。通过类(</a:t>
            </a:r>
            <a:r>
              <a:rPr lang="en-US" altLang="zh-CN" dirty="0"/>
              <a:t>class)</a:t>
            </a:r>
            <a:r>
              <a:rPr lang="zh-CN" altLang="en-US" dirty="0"/>
              <a:t>类型对所要处理的问题进行抽象描述，从而将逻辑上相关的数据与函数进行封装。</a:t>
            </a:r>
            <a:endParaRPr lang="en-US" altLang="zh-CN" dirty="0"/>
          </a:p>
          <a:p>
            <a:pPr lvl="1"/>
            <a:r>
              <a:rPr lang="zh-CN" altLang="en-US" dirty="0"/>
              <a:t>支持继承性</a:t>
            </a:r>
            <a:endParaRPr lang="en-US" altLang="zh-CN" dirty="0"/>
          </a:p>
          <a:p>
            <a:pPr lvl="2"/>
            <a:r>
              <a:rPr lang="en-US" altLang="zh-CN" dirty="0"/>
              <a:t>C++</a:t>
            </a:r>
            <a:r>
              <a:rPr lang="zh-CN" altLang="en-US" dirty="0"/>
              <a:t>语言允许单继承和多继承。类之间可形成多层次的派生以及继承关系。</a:t>
            </a:r>
            <a:endParaRPr lang="en-US" altLang="zh-CN" dirty="0"/>
          </a:p>
          <a:p>
            <a:pPr lvl="1"/>
            <a:r>
              <a:rPr lang="zh-CN" altLang="en-US" dirty="0"/>
              <a:t>支持多态性</a:t>
            </a:r>
            <a:endParaRPr lang="zh-CN" altLang="en-US" dirty="0"/>
          </a:p>
          <a:p>
            <a:pPr lvl="2"/>
            <a:r>
              <a:rPr lang="zh-CN" altLang="en-US" dirty="0"/>
              <a:t>允许对函数和运算符进行重载。通过在基类及其派生类间对虚函数进行使用体现出另一种多态性。</a:t>
            </a:r>
            <a:endParaRPr lang="zh-CN" altLang="en-US"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程序设计的范型</a:t>
            </a:r>
            <a:endParaRPr lang="zh-CN" altLang="en-US" dirty="0"/>
          </a:p>
        </p:txBody>
      </p:sp>
      <p:sp>
        <p:nvSpPr>
          <p:cNvPr id="3" name="内容占位符 2"/>
          <p:cNvSpPr>
            <a:spLocks noGrp="1"/>
          </p:cNvSpPr>
          <p:nvPr>
            <p:ph idx="1"/>
          </p:nvPr>
        </p:nvSpPr>
        <p:spPr/>
        <p:txBody>
          <a:bodyPr/>
          <a:lstStyle/>
          <a:p>
            <a:r>
              <a:rPr lang="zh-CN" altLang="en-US" dirty="0"/>
              <a:t>命令型程序设计</a:t>
            </a:r>
            <a:endParaRPr lang="en-US" altLang="zh-CN" dirty="0"/>
          </a:p>
          <a:p>
            <a:pPr lvl="1"/>
            <a:r>
              <a:rPr lang="zh-CN" altLang="en-US" dirty="0"/>
              <a:t>过程型程序设计，指令序列</a:t>
            </a:r>
            <a:endParaRPr lang="en-US" altLang="zh-CN" dirty="0"/>
          </a:p>
          <a:p>
            <a:r>
              <a:rPr lang="en-US" altLang="zh-CN" dirty="0"/>
              <a:t>OOP</a:t>
            </a:r>
            <a:r>
              <a:rPr lang="zh-CN" altLang="en-US" dirty="0"/>
              <a:t>程序设计</a:t>
            </a:r>
            <a:endParaRPr lang="en-US" altLang="zh-CN" dirty="0"/>
          </a:p>
          <a:p>
            <a:pPr lvl="1"/>
            <a:r>
              <a:rPr lang="zh-CN" altLang="en-US" dirty="0"/>
              <a:t>组合成类或对象</a:t>
            </a:r>
            <a:endParaRPr lang="en-US" altLang="zh-CN" dirty="0"/>
          </a:p>
          <a:p>
            <a:r>
              <a:rPr lang="zh-CN" altLang="en-US" dirty="0"/>
              <a:t>函数性程序设计</a:t>
            </a:r>
            <a:endParaRPr lang="en-US" altLang="zh-CN" dirty="0"/>
          </a:p>
          <a:p>
            <a:pPr lvl="1"/>
            <a:r>
              <a:rPr lang="zh-CN" altLang="en-US" dirty="0"/>
              <a:t>“黑盒子”方式</a:t>
            </a:r>
            <a:endParaRPr lang="en-US" altLang="zh-CN" dirty="0"/>
          </a:p>
          <a:p>
            <a:r>
              <a:rPr lang="zh-CN" altLang="en-US" dirty="0"/>
              <a:t>逻辑性程序设计</a:t>
            </a:r>
            <a:endParaRPr lang="en-US" altLang="zh-CN" dirty="0"/>
          </a:p>
          <a:p>
            <a:pPr lvl="1"/>
            <a:r>
              <a:rPr lang="zh-CN" altLang="en-US" dirty="0"/>
              <a:t>申述型程序设计</a:t>
            </a:r>
            <a:endParaRPr lang="zh-CN" altLang="en-US" dirty="0"/>
          </a:p>
          <a:p>
            <a:endParaRPr lang="zh-CN" altLang="en-US"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绪论</a:t>
            </a:r>
            <a:endParaRPr lang="zh-CN" altLang="en-US" dirty="0"/>
          </a:p>
        </p:txBody>
      </p:sp>
      <p:grpSp>
        <p:nvGrpSpPr>
          <p:cNvPr id="53" name="Group 52"/>
          <p:cNvGrpSpPr/>
          <p:nvPr/>
        </p:nvGrpSpPr>
        <p:grpSpPr bwMode="auto">
          <a:xfrm>
            <a:off x="-2395538" y="1600200"/>
            <a:ext cx="9253538" cy="4824413"/>
            <a:chOff x="-1509" y="1008"/>
            <a:chExt cx="5829" cy="3039"/>
          </a:xfrm>
        </p:grpSpPr>
        <p:sp>
          <p:nvSpPr>
            <p:cNvPr id="54" name="AutoShape 4"/>
            <p:cNvSpPr>
              <a:spLocks noChangeArrowheads="1"/>
            </p:cNvSpPr>
            <p:nvPr/>
          </p:nvSpPr>
          <p:spPr bwMode="ltGray">
            <a:xfrm rot="5400000">
              <a:off x="-1526" y="1025"/>
              <a:ext cx="3039" cy="3005"/>
            </a:xfrm>
            <a:custGeom>
              <a:avLst/>
              <a:gdLst>
                <a:gd name="G0" fmla="+- 10478 0 0"/>
                <a:gd name="G1" fmla="+- -11739500 0 0"/>
                <a:gd name="G2" fmla="+- 0 0 -11739500"/>
                <a:gd name="T0" fmla="*/ 0 256 1"/>
                <a:gd name="T1" fmla="*/ 180 256 1"/>
                <a:gd name="G3" fmla="+- -11739500 T0 T1"/>
                <a:gd name="T2" fmla="*/ 0 256 1"/>
                <a:gd name="T3" fmla="*/ 90 256 1"/>
                <a:gd name="G4" fmla="+- -11739500 T2 T3"/>
                <a:gd name="G5" fmla="*/ G4 2 1"/>
                <a:gd name="T4" fmla="*/ 90 256 1"/>
                <a:gd name="T5" fmla="*/ 0 256 1"/>
                <a:gd name="G6" fmla="+- -11739500 T4 T5"/>
                <a:gd name="G7" fmla="*/ G6 2 1"/>
                <a:gd name="G8" fmla="abs -11739500"/>
                <a:gd name="T6" fmla="*/ 0 256 1"/>
                <a:gd name="T7" fmla="*/ 90 256 1"/>
                <a:gd name="G9" fmla="+- G8 T6 T7"/>
                <a:gd name="G10" fmla="?: G9 G7 G5"/>
                <a:gd name="T8" fmla="*/ 0 256 1"/>
                <a:gd name="T9" fmla="*/ 360 256 1"/>
                <a:gd name="G11" fmla="+- G10 T8 T9"/>
                <a:gd name="G12" fmla="?: G10 G11 G10"/>
                <a:gd name="T10" fmla="*/ 0 256 1"/>
                <a:gd name="T11" fmla="*/ 360 256 1"/>
                <a:gd name="G13" fmla="+- G12 T10 T11"/>
                <a:gd name="G14" fmla="?: G12 G13 G12"/>
                <a:gd name="G15" fmla="+- 0 0 G14"/>
                <a:gd name="G16" fmla="+- 10800 0 0"/>
                <a:gd name="G17" fmla="+- 10800 0 10478"/>
                <a:gd name="G18" fmla="*/ 10478 1 2"/>
                <a:gd name="G19" fmla="+- G18 5400 0"/>
                <a:gd name="G20" fmla="cos G19 -11739500"/>
                <a:gd name="G21" fmla="sin G19 -11739500"/>
                <a:gd name="G22" fmla="+- G20 10800 0"/>
                <a:gd name="G23" fmla="+- G21 10800 0"/>
                <a:gd name="G24" fmla="+- 10800 0 G20"/>
                <a:gd name="G25" fmla="+- 10478 10800 0"/>
                <a:gd name="G26" fmla="?: G9 G17 G25"/>
                <a:gd name="G27" fmla="?: G9 0 21600"/>
                <a:gd name="G28" fmla="cos 10800 -11739500"/>
                <a:gd name="G29" fmla="sin 10800 -11739500"/>
                <a:gd name="G30" fmla="sin 10478 -11739500"/>
                <a:gd name="G31" fmla="+- G28 10800 0"/>
                <a:gd name="G32" fmla="+- G29 10800 0"/>
                <a:gd name="G33" fmla="+- G30 10800 0"/>
                <a:gd name="G34" fmla="?: G4 0 G31"/>
                <a:gd name="G35" fmla="?: -11739500 G34 0"/>
                <a:gd name="G36" fmla="?: G6 G35 G31"/>
                <a:gd name="G37" fmla="+- 21600 0 G36"/>
                <a:gd name="G38" fmla="?: G4 0 G33"/>
                <a:gd name="G39" fmla="?: -11739500 G38 G32"/>
                <a:gd name="G40" fmla="?: G6 G39 0"/>
                <a:gd name="G41" fmla="?: G4 G32 21600"/>
                <a:gd name="G42" fmla="?: G6 G41 G33"/>
                <a:gd name="T12" fmla="*/ 10800 w 21600"/>
                <a:gd name="T13" fmla="*/ 0 h 21600"/>
                <a:gd name="T14" fmla="*/ 162 w 21600"/>
                <a:gd name="T15" fmla="*/ 10638 h 21600"/>
                <a:gd name="T16" fmla="*/ 10800 w 21600"/>
                <a:gd name="T17" fmla="*/ 322 h 21600"/>
                <a:gd name="T18" fmla="*/ 21438 w 21600"/>
                <a:gd name="T19" fmla="*/ 10638 h 21600"/>
                <a:gd name="T20" fmla="*/ G36 w 21600"/>
                <a:gd name="T21" fmla="*/ G40 h 21600"/>
                <a:gd name="T22" fmla="*/ G37 w 21600"/>
                <a:gd name="T23" fmla="*/ G42 h 21600"/>
              </a:gdLst>
              <a:ahLst/>
              <a:cxnLst>
                <a:cxn ang="0">
                  <a:pos x="T12" y="T13"/>
                </a:cxn>
                <a:cxn ang="0">
                  <a:pos x="T14" y="T15"/>
                </a:cxn>
                <a:cxn ang="0">
                  <a:pos x="T16" y="T17"/>
                </a:cxn>
                <a:cxn ang="0">
                  <a:pos x="T18" y="T19"/>
                </a:cxn>
              </a:cxnLst>
              <a:rect l="T20" t="T21" r="T22" b="T23"/>
              <a:pathLst>
                <a:path w="21600" h="21600">
                  <a:moveTo>
                    <a:pt x="323" y="10641"/>
                  </a:moveTo>
                  <a:cubicBezTo>
                    <a:pt x="410" y="4916"/>
                    <a:pt x="5075" y="321"/>
                    <a:pt x="10800" y="322"/>
                  </a:cubicBezTo>
                  <a:cubicBezTo>
                    <a:pt x="16524" y="322"/>
                    <a:pt x="21189" y="4916"/>
                    <a:pt x="21276" y="10641"/>
                  </a:cubicBezTo>
                  <a:lnTo>
                    <a:pt x="21598" y="10636"/>
                  </a:lnTo>
                  <a:cubicBezTo>
                    <a:pt x="21509" y="4736"/>
                    <a:pt x="16700" y="-1"/>
                    <a:pt x="10799" y="0"/>
                  </a:cubicBezTo>
                  <a:cubicBezTo>
                    <a:pt x="4899" y="0"/>
                    <a:pt x="90" y="4736"/>
                    <a:pt x="1" y="10636"/>
                  </a:cubicBezTo>
                  <a:close/>
                </a:path>
              </a:pathLst>
            </a:custGeom>
            <a:gradFill rotWithShape="1">
              <a:gsLst>
                <a:gs pos="0">
                  <a:schemeClr val="bg2">
                    <a:gamma/>
                    <a:tint val="45490"/>
                    <a:invGamma/>
                  </a:schemeClr>
                </a:gs>
                <a:gs pos="50000">
                  <a:schemeClr val="bg2"/>
                </a:gs>
                <a:gs pos="100000">
                  <a:schemeClr val="bg2">
                    <a:gamma/>
                    <a:tint val="45490"/>
                    <a:invGamma/>
                  </a:schemeClr>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endParaRPr lang="zh-CN" altLang="en-US"/>
            </a:p>
          </p:txBody>
        </p:sp>
        <p:sp>
          <p:nvSpPr>
            <p:cNvPr id="55" name="AutoShape 5"/>
            <p:cNvSpPr>
              <a:spLocks noChangeArrowheads="1"/>
            </p:cNvSpPr>
            <p:nvPr/>
          </p:nvSpPr>
          <p:spPr bwMode="ltGray">
            <a:xfrm rot="5400000" flipH="1">
              <a:off x="-1270" y="1299"/>
              <a:ext cx="2540" cy="2475"/>
            </a:xfrm>
            <a:custGeom>
              <a:avLst/>
              <a:gdLst>
                <a:gd name="G0" fmla="+- 56 0 0"/>
                <a:gd name="G1" fmla="+- 11796480 0 0"/>
                <a:gd name="G2" fmla="+- 0 0 11796480"/>
                <a:gd name="T0" fmla="*/ 0 256 1"/>
                <a:gd name="T1" fmla="*/ 180 256 1"/>
                <a:gd name="G3" fmla="+- 11796480 T0 T1"/>
                <a:gd name="T2" fmla="*/ 0 256 1"/>
                <a:gd name="T3" fmla="*/ 90 256 1"/>
                <a:gd name="G4" fmla="+- 11796480 T2 T3"/>
                <a:gd name="G5" fmla="*/ G4 2 1"/>
                <a:gd name="T4" fmla="*/ 90 256 1"/>
                <a:gd name="T5" fmla="*/ 0 256 1"/>
                <a:gd name="G6" fmla="+- 11796480 T4 T5"/>
                <a:gd name="G7" fmla="*/ G6 2 1"/>
                <a:gd name="G8" fmla="abs 11796480"/>
                <a:gd name="T6" fmla="*/ 0 256 1"/>
                <a:gd name="T7" fmla="*/ 90 256 1"/>
                <a:gd name="G9" fmla="+- G8 T6 T7"/>
                <a:gd name="G10" fmla="?: G9 G7 G5"/>
                <a:gd name="T8" fmla="*/ 0 256 1"/>
                <a:gd name="T9" fmla="*/ 360 256 1"/>
                <a:gd name="G11" fmla="+- G10 T8 T9"/>
                <a:gd name="G12" fmla="?: G10 G11 G10"/>
                <a:gd name="T10" fmla="*/ 0 256 1"/>
                <a:gd name="T11" fmla="*/ 360 256 1"/>
                <a:gd name="G13" fmla="+- G12 T10 T11"/>
                <a:gd name="G14" fmla="?: G12 G13 G12"/>
                <a:gd name="G15" fmla="+- 0 0 G14"/>
                <a:gd name="G16" fmla="+- 10800 0 0"/>
                <a:gd name="G17" fmla="+- 10800 0 56"/>
                <a:gd name="G18" fmla="*/ 56 1 2"/>
                <a:gd name="G19" fmla="+- G18 5400 0"/>
                <a:gd name="G20" fmla="cos G19 11796480"/>
                <a:gd name="G21" fmla="sin G19 11796480"/>
                <a:gd name="G22" fmla="+- G20 10800 0"/>
                <a:gd name="G23" fmla="+- G21 10800 0"/>
                <a:gd name="G24" fmla="+- 10800 0 G20"/>
                <a:gd name="G25" fmla="+- 56 10800 0"/>
                <a:gd name="G26" fmla="?: G9 G17 G25"/>
                <a:gd name="G27" fmla="?: G9 0 21600"/>
                <a:gd name="G28" fmla="cos 10800 11796480"/>
                <a:gd name="G29" fmla="sin 10800 11796480"/>
                <a:gd name="G30" fmla="sin 56 11796480"/>
                <a:gd name="G31" fmla="+- G28 10800 0"/>
                <a:gd name="G32" fmla="+- G29 10800 0"/>
                <a:gd name="G33" fmla="+- G30 10800 0"/>
                <a:gd name="G34" fmla="?: G4 0 G31"/>
                <a:gd name="G35" fmla="?: 11796480 G34 0"/>
                <a:gd name="G36" fmla="?: G6 G35 G31"/>
                <a:gd name="G37" fmla="+- 21600 0 G36"/>
                <a:gd name="G38" fmla="?: G4 0 G33"/>
                <a:gd name="G39" fmla="?: 11796480 G38 G32"/>
                <a:gd name="G40" fmla="?: G6 G39 0"/>
                <a:gd name="G41" fmla="?: G4 G32 21600"/>
                <a:gd name="G42" fmla="?: G6 G41 G33"/>
                <a:gd name="T12" fmla="*/ 10800 w 21600"/>
                <a:gd name="T13" fmla="*/ 0 h 21600"/>
                <a:gd name="T14" fmla="*/ 5372 w 21600"/>
                <a:gd name="T15" fmla="*/ 10800 h 21600"/>
                <a:gd name="T16" fmla="*/ 10800 w 21600"/>
                <a:gd name="T17" fmla="*/ 10744 h 21600"/>
                <a:gd name="T18" fmla="*/ 16228 w 21600"/>
                <a:gd name="T19" fmla="*/ 10800 h 21600"/>
                <a:gd name="T20" fmla="*/ G36 w 21600"/>
                <a:gd name="T21" fmla="*/ G40 h 21600"/>
                <a:gd name="T22" fmla="*/ G37 w 21600"/>
                <a:gd name="T23" fmla="*/ G42 h 21600"/>
              </a:gdLst>
              <a:ahLst/>
              <a:cxnLst>
                <a:cxn ang="0">
                  <a:pos x="T12" y="T13"/>
                </a:cxn>
                <a:cxn ang="0">
                  <a:pos x="T14" y="T15"/>
                </a:cxn>
                <a:cxn ang="0">
                  <a:pos x="T16" y="T17"/>
                </a:cxn>
                <a:cxn ang="0">
                  <a:pos x="T18" y="T19"/>
                </a:cxn>
              </a:cxnLst>
              <a:rect l="T20" t="T21" r="T22" b="T23"/>
              <a:pathLst>
                <a:path w="21600" h="21600">
                  <a:moveTo>
                    <a:pt x="10744" y="10800"/>
                  </a:moveTo>
                  <a:cubicBezTo>
                    <a:pt x="10744" y="10769"/>
                    <a:pt x="10769" y="10744"/>
                    <a:pt x="10800" y="10744"/>
                  </a:cubicBezTo>
                  <a:cubicBezTo>
                    <a:pt x="10830" y="10743"/>
                    <a:pt x="10855" y="10769"/>
                    <a:pt x="10856" y="10799"/>
                  </a:cubicBezTo>
                  <a:lnTo>
                    <a:pt x="21600" y="10800"/>
                  </a:lnTo>
                  <a:cubicBezTo>
                    <a:pt x="21600" y="4835"/>
                    <a:pt x="16764" y="0"/>
                    <a:pt x="10800" y="0"/>
                  </a:cubicBezTo>
                  <a:cubicBezTo>
                    <a:pt x="4835" y="0"/>
                    <a:pt x="0" y="4835"/>
                    <a:pt x="0" y="10800"/>
                  </a:cubicBezTo>
                  <a:close/>
                </a:path>
              </a:pathLst>
            </a:custGeom>
            <a:solidFill>
              <a:srgbClr val="BBE0E3"/>
            </a:solidFill>
            <a:ln>
              <a:noFill/>
            </a:ln>
            <a:effectLst/>
            <a:extLst>
              <a:ext uri="{91240B29-F687-4F45-9708-019B960494DF}">
                <a14:hiddenLine xmlns:a14="http://schemas.microsoft.com/office/drawing/2010/main" w="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grpSp>
          <p:nvGrpSpPr>
            <p:cNvPr id="56" name="Group 47"/>
            <p:cNvGrpSpPr/>
            <p:nvPr/>
          </p:nvGrpSpPr>
          <p:grpSpPr bwMode="auto">
            <a:xfrm>
              <a:off x="912" y="1243"/>
              <a:ext cx="2984" cy="320"/>
              <a:chOff x="912" y="1243"/>
              <a:chExt cx="2984" cy="320"/>
            </a:xfrm>
          </p:grpSpPr>
          <p:sp>
            <p:nvSpPr>
              <p:cNvPr id="93" name="AutoShape 10"/>
              <p:cNvSpPr>
                <a:spLocks noChangeArrowheads="1"/>
              </p:cNvSpPr>
              <p:nvPr/>
            </p:nvSpPr>
            <p:spPr bwMode="gray">
              <a:xfrm>
                <a:off x="1112" y="1243"/>
                <a:ext cx="2784" cy="320"/>
              </a:xfrm>
              <a:prstGeom prst="roundRect">
                <a:avLst>
                  <a:gd name="adj" fmla="val 50000"/>
                </a:avLst>
              </a:prstGeom>
              <a:noFill/>
              <a:ln w="28575" algn="ctr">
                <a:solidFill>
                  <a:schemeClr val="bg2"/>
                </a:solidFill>
                <a:rou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hangingPunct="0"/>
                <a:r>
                  <a:rPr lang="zh-CN" altLang="en-US" sz="2400" b="1" dirty="0">
                    <a:latin typeface="华文新魏" panose="02010800040101010101" pitchFamily="2" charset="-122"/>
                    <a:ea typeface="华文新魏" panose="02010800040101010101" pitchFamily="2" charset="-122"/>
                  </a:rPr>
                  <a:t>计算机与程序设计</a:t>
                </a:r>
                <a:endParaRPr lang="en-US" altLang="zh-CN" sz="2400" b="1" dirty="0">
                  <a:latin typeface="华文新魏" panose="02010800040101010101" pitchFamily="2" charset="-122"/>
                  <a:ea typeface="华文新魏" panose="02010800040101010101" pitchFamily="2" charset="-122"/>
                </a:endParaRPr>
              </a:p>
            </p:txBody>
          </p:sp>
          <p:grpSp>
            <p:nvGrpSpPr>
              <p:cNvPr id="94" name="Group 11"/>
              <p:cNvGrpSpPr/>
              <p:nvPr/>
            </p:nvGrpSpPr>
            <p:grpSpPr bwMode="auto">
              <a:xfrm>
                <a:off x="912" y="1299"/>
                <a:ext cx="240" cy="240"/>
                <a:chOff x="2078" y="1680"/>
                <a:chExt cx="1615" cy="1615"/>
              </a:xfrm>
            </p:grpSpPr>
            <p:sp>
              <p:nvSpPr>
                <p:cNvPr id="95" name="Oval 12"/>
                <p:cNvSpPr>
                  <a:spLocks noChangeArrowheads="1"/>
                </p:cNvSpPr>
                <p:nvPr/>
              </p:nvSpPr>
              <p:spPr bwMode="gray">
                <a:xfrm>
                  <a:off x="2078" y="1680"/>
                  <a:ext cx="1615" cy="1615"/>
                </a:xfrm>
                <a:prstGeom prst="ellipse">
                  <a:avLst/>
                </a:prstGeom>
                <a:gradFill rotWithShape="1">
                  <a:gsLst>
                    <a:gs pos="0">
                      <a:srgbClr val="FFFFFF">
                        <a:gamma/>
                        <a:shade val="46275"/>
                        <a:invGamma/>
                      </a:srgbClr>
                    </a:gs>
                    <a:gs pos="50000">
                      <a:srgbClr val="FFFFFF"/>
                    </a:gs>
                    <a:gs pos="100000">
                      <a:srgbClr val="FFFFFF">
                        <a:gamma/>
                        <a:shade val="46275"/>
                        <a:invGamma/>
                      </a:srgbClr>
                    </a:gs>
                  </a:gsLst>
                  <a:lin ang="5400000" scaled="1"/>
                </a:gradFill>
                <a:ln>
                  <a:noFill/>
                </a:ln>
                <a:effectLst/>
                <a:extLst>
                  <a:ext uri="{91240B29-F687-4F45-9708-019B960494DF}">
                    <a14:hiddenLine xmlns:a14="http://schemas.microsoft.com/office/drawing/2010/main" w="57150">
                      <a:solidFill>
                        <a:schemeClr val="bg1"/>
                      </a:solidFill>
                      <a:round/>
                    </a14:hiddenLine>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endParaRPr lang="zh-CN" altLang="en-US"/>
                </a:p>
              </p:txBody>
            </p:sp>
            <p:sp>
              <p:nvSpPr>
                <p:cNvPr id="96" name="Oval 13"/>
                <p:cNvSpPr>
                  <a:spLocks noChangeArrowheads="1"/>
                </p:cNvSpPr>
                <p:nvPr/>
              </p:nvSpPr>
              <p:spPr bwMode="gray">
                <a:xfrm>
                  <a:off x="2170" y="1771"/>
                  <a:ext cx="1430" cy="1430"/>
                </a:xfrm>
                <a:prstGeom prst="ellipse">
                  <a:avLst/>
                </a:prstGeom>
                <a:gradFill rotWithShape="1">
                  <a:gsLst>
                    <a:gs pos="0">
                      <a:srgbClr val="FFFFFF">
                        <a:gamma/>
                        <a:shade val="63529"/>
                        <a:invGamma/>
                      </a:srgbClr>
                    </a:gs>
                    <a:gs pos="50000">
                      <a:srgbClr val="FFFFFF"/>
                    </a:gs>
                    <a:gs pos="100000">
                      <a:srgbClr val="FFFFFF">
                        <a:gamma/>
                        <a:shade val="63529"/>
                        <a:invGamma/>
                      </a:srgbClr>
                    </a:gs>
                  </a:gsLst>
                  <a:lin ang="0" scaled="1"/>
                </a:gra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endParaRPr lang="zh-CN" altLang="en-US"/>
                </a:p>
              </p:txBody>
            </p:sp>
            <p:sp>
              <p:nvSpPr>
                <p:cNvPr id="97" name="Oval 14"/>
                <p:cNvSpPr>
                  <a:spLocks noChangeArrowheads="1"/>
                </p:cNvSpPr>
                <p:nvPr/>
              </p:nvSpPr>
              <p:spPr bwMode="gray">
                <a:xfrm>
                  <a:off x="2254" y="1856"/>
                  <a:ext cx="1262" cy="1264"/>
                </a:xfrm>
                <a:prstGeom prst="ellipse">
                  <a:avLst/>
                </a:prstGeom>
                <a:gradFill rotWithShape="1">
                  <a:gsLst>
                    <a:gs pos="0">
                      <a:schemeClr val="hlink">
                        <a:gamma/>
                        <a:tint val="0"/>
                        <a:invGamma/>
                      </a:schemeClr>
                    </a:gs>
                    <a:gs pos="50000">
                      <a:schemeClr val="hlink"/>
                    </a:gs>
                    <a:gs pos="100000">
                      <a:schemeClr val="hlink">
                        <a:gamma/>
                        <a:tint val="0"/>
                        <a:invGamma/>
                      </a:schemeClr>
                    </a:gs>
                  </a:gsLst>
                  <a:lin ang="2700000" scaled="1"/>
                </a:gradFill>
                <a:ln>
                  <a:noFill/>
                </a:ln>
                <a:effectLst/>
                <a:extLst>
                  <a:ext uri="{91240B29-F687-4F45-9708-019B960494DF}">
                    <a14:hiddenLine xmlns:a14="http://schemas.microsoft.com/office/drawing/2010/main" w="38100">
                      <a:solidFill>
                        <a:schemeClr val="bg1"/>
                      </a:solidFill>
                      <a:round/>
                    </a14:hiddenLine>
                  </a:ext>
                  <a:ext uri="{AF507438-7753-43E0-B8FC-AC1667EBCBE1}">
                    <a14:hiddenEffects xmlns:a14="http://schemas.microsoft.com/office/drawing/2010/main">
                      <a:effectLst>
                        <a:outerShdw dist="109250" dir="3267739" algn="ctr" rotWithShape="0">
                          <a:srgbClr val="808080">
                            <a:alpha val="50000"/>
                          </a:srgbClr>
                        </a:outerShdw>
                      </a:effectLst>
                    </a14:hiddenEffects>
                  </a:ext>
                </a:extLst>
              </p:spPr>
              <p:txBody>
                <a:bodyPr wrap="none" anchor="ctr">
                  <a:spAutoFit/>
                </a:bodyPr>
                <a:lstStyle/>
                <a:p>
                  <a:endParaRPr lang="zh-CN" altLang="en-US"/>
                </a:p>
              </p:txBody>
            </p:sp>
            <p:sp>
              <p:nvSpPr>
                <p:cNvPr id="98" name="Oval 15"/>
                <p:cNvSpPr>
                  <a:spLocks noChangeArrowheads="1"/>
                </p:cNvSpPr>
                <p:nvPr/>
              </p:nvSpPr>
              <p:spPr bwMode="gray">
                <a:xfrm>
                  <a:off x="2254" y="1856"/>
                  <a:ext cx="1262" cy="1264"/>
                </a:xfrm>
                <a:prstGeom prst="ellipse">
                  <a:avLst/>
                </a:prstGeom>
                <a:gradFill rotWithShape="1">
                  <a:gsLst>
                    <a:gs pos="0">
                      <a:srgbClr val="FFCC00">
                        <a:gamma/>
                        <a:shade val="0"/>
                        <a:invGamma/>
                      </a:srgbClr>
                    </a:gs>
                    <a:gs pos="100000">
                      <a:srgbClr val="FFCC00"/>
                    </a:gs>
                  </a:gsLst>
                  <a:lin ang="2700000" scaled="1"/>
                </a:gradFill>
                <a:ln>
                  <a:noFill/>
                </a:ln>
                <a:effectLst/>
                <a:extLst>
                  <a:ext uri="{91240B29-F687-4F45-9708-019B960494DF}">
                    <a14:hiddenLine xmlns:a14="http://schemas.microsoft.com/office/drawing/2010/main" w="38100">
                      <a:solidFill>
                        <a:schemeClr val="bg1"/>
                      </a:solidFill>
                      <a:round/>
                    </a14:hiddenLine>
                  </a:ext>
                  <a:ext uri="{AF507438-7753-43E0-B8FC-AC1667EBCBE1}">
                    <a14:hiddenEffects xmlns:a14="http://schemas.microsoft.com/office/drawing/2010/main">
                      <a:effectLst>
                        <a:outerShdw dist="109250" dir="3267739" algn="ctr" rotWithShape="0">
                          <a:srgbClr val="808080">
                            <a:alpha val="50000"/>
                          </a:srgbClr>
                        </a:outerShdw>
                      </a:effectLst>
                    </a14:hiddenEffects>
                  </a:ext>
                </a:extLst>
              </p:spPr>
              <p:txBody>
                <a:bodyPr wrap="none" anchor="ctr">
                  <a:spAutoFit/>
                </a:bodyPr>
                <a:lstStyle/>
                <a:p>
                  <a:endParaRPr lang="zh-CN" altLang="en-US"/>
                </a:p>
              </p:txBody>
            </p:sp>
            <p:sp>
              <p:nvSpPr>
                <p:cNvPr id="99" name="Oval 16"/>
                <p:cNvSpPr>
                  <a:spLocks noChangeArrowheads="1"/>
                </p:cNvSpPr>
                <p:nvPr/>
              </p:nvSpPr>
              <p:spPr bwMode="gray">
                <a:xfrm>
                  <a:off x="2337" y="1939"/>
                  <a:ext cx="1096" cy="1098"/>
                </a:xfrm>
                <a:prstGeom prst="ellipse">
                  <a:avLst/>
                </a:prstGeom>
                <a:gradFill rotWithShape="1">
                  <a:gsLst>
                    <a:gs pos="0">
                      <a:schemeClr val="hlink">
                        <a:gamma/>
                        <a:shade val="54118"/>
                        <a:invGamma/>
                      </a:schemeClr>
                    </a:gs>
                    <a:gs pos="50000">
                      <a:schemeClr val="hlink"/>
                    </a:gs>
                    <a:gs pos="100000">
                      <a:schemeClr val="hlink">
                        <a:gamma/>
                        <a:shade val="54118"/>
                        <a:invGamma/>
                      </a:schemeClr>
                    </a:gs>
                  </a:gsLst>
                  <a:lin ang="18900000" scaled="1"/>
                </a:gradFill>
                <a:ln>
                  <a:noFill/>
                </a:ln>
                <a:effectLst/>
                <a:extLst>
                  <a:ext uri="{91240B29-F687-4F45-9708-019B960494DF}">
                    <a14:hiddenLine xmlns:a14="http://schemas.microsoft.com/office/drawing/2010/main" w="38100">
                      <a:solidFill>
                        <a:schemeClr val="bg1"/>
                      </a:solidFill>
                      <a:round/>
                    </a14:hiddenLine>
                  </a:ext>
                  <a:ext uri="{AF507438-7753-43E0-B8FC-AC1667EBCBE1}">
                    <a14:hiddenEffects xmlns:a14="http://schemas.microsoft.com/office/drawing/2010/main">
                      <a:effectLst>
                        <a:outerShdw dist="109250" dir="3267739" algn="ctr" rotWithShape="0">
                          <a:srgbClr val="808080">
                            <a:alpha val="50000"/>
                          </a:srgbClr>
                        </a:outerShdw>
                      </a:effectLst>
                    </a14:hiddenEffects>
                  </a:ext>
                </a:extLst>
              </p:spPr>
              <p:txBody>
                <a:bodyPr anchor="ctr">
                  <a:spAutoFit/>
                </a:bodyPr>
                <a:lstStyle/>
                <a:p>
                  <a:endParaRPr lang="zh-CN" altLang="en-US"/>
                </a:p>
              </p:txBody>
            </p:sp>
            <p:sp>
              <p:nvSpPr>
                <p:cNvPr id="100" name="Oval 17"/>
                <p:cNvSpPr>
                  <a:spLocks noChangeArrowheads="1"/>
                </p:cNvSpPr>
                <p:nvPr/>
              </p:nvSpPr>
              <p:spPr bwMode="gray">
                <a:xfrm>
                  <a:off x="2337" y="1939"/>
                  <a:ext cx="1096" cy="1098"/>
                </a:xfrm>
                <a:prstGeom prst="ellipse">
                  <a:avLst/>
                </a:prstGeom>
                <a:gradFill rotWithShape="1">
                  <a:gsLst>
                    <a:gs pos="0">
                      <a:srgbClr val="FFCC00"/>
                    </a:gs>
                    <a:gs pos="100000">
                      <a:srgbClr val="FFCC00">
                        <a:gamma/>
                        <a:shade val="48627"/>
                        <a:invGamma/>
                      </a:srgbClr>
                    </a:gs>
                  </a:gsLst>
                  <a:lin ang="2700000" scaled="1"/>
                </a:gradFill>
                <a:ln>
                  <a:noFill/>
                </a:ln>
                <a:effectLst/>
                <a:extLst>
                  <a:ext uri="{91240B29-F687-4F45-9708-019B960494DF}">
                    <a14:hiddenLine xmlns:a14="http://schemas.microsoft.com/office/drawing/2010/main" w="38100">
                      <a:solidFill>
                        <a:schemeClr val="bg1"/>
                      </a:solidFill>
                      <a:round/>
                    </a14:hiddenLine>
                  </a:ext>
                  <a:ext uri="{AF507438-7753-43E0-B8FC-AC1667EBCBE1}">
                    <a14:hiddenEffects xmlns:a14="http://schemas.microsoft.com/office/drawing/2010/main">
                      <a:effectLst>
                        <a:outerShdw dist="109250" dir="3267739" algn="ctr" rotWithShape="0">
                          <a:srgbClr val="808080">
                            <a:alpha val="50000"/>
                          </a:srgbClr>
                        </a:outerShdw>
                      </a:effectLst>
                    </a14:hiddenEffects>
                  </a:ext>
                </a:extLst>
              </p:spPr>
              <p:txBody>
                <a:bodyPr anchor="ctr">
                  <a:spAutoFit/>
                </a:bodyPr>
                <a:lstStyle/>
                <a:p>
                  <a:endParaRPr lang="zh-CN" altLang="en-US"/>
                </a:p>
              </p:txBody>
            </p:sp>
          </p:grpSp>
        </p:grpSp>
        <p:grpSp>
          <p:nvGrpSpPr>
            <p:cNvPr id="57" name="Group 48"/>
            <p:cNvGrpSpPr/>
            <p:nvPr/>
          </p:nvGrpSpPr>
          <p:grpSpPr bwMode="auto">
            <a:xfrm>
              <a:off x="1248" y="1728"/>
              <a:ext cx="2976" cy="320"/>
              <a:chOff x="1248" y="1728"/>
              <a:chExt cx="2976" cy="320"/>
            </a:xfrm>
          </p:grpSpPr>
          <p:sp>
            <p:nvSpPr>
              <p:cNvPr id="85" name="AutoShape 9"/>
              <p:cNvSpPr>
                <a:spLocks noChangeArrowheads="1"/>
              </p:cNvSpPr>
              <p:nvPr/>
            </p:nvSpPr>
            <p:spPr bwMode="gray">
              <a:xfrm>
                <a:off x="1440" y="1728"/>
                <a:ext cx="2784" cy="320"/>
              </a:xfrm>
              <a:prstGeom prst="roundRect">
                <a:avLst>
                  <a:gd name="adj" fmla="val 50000"/>
                </a:avLst>
              </a:prstGeom>
              <a:noFill/>
              <a:ln w="28575" algn="ctr">
                <a:solidFill>
                  <a:schemeClr val="bg2"/>
                </a:solidFill>
                <a:round/>
              </a:ln>
              <a:effectLst/>
              <a:extLst>
                <a:ext uri="{909E8E84-426E-40DD-AFC4-6F175D3DCCD1}">
                  <a14:hiddenFill xmlns:a14="http://schemas.microsoft.com/office/drawing/2010/main">
                    <a:gradFill rotWithShape="1">
                      <a:gsLst>
                        <a:gs pos="0">
                          <a:schemeClr val="folHlink">
                            <a:gamma/>
                            <a:tint val="0"/>
                            <a:invGamma/>
                          </a:schemeClr>
                        </a:gs>
                        <a:gs pos="100000">
                          <a:schemeClr val="folHlink"/>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hangingPunct="0"/>
                <a:r>
                  <a:rPr lang="zh-CN" altLang="en-US" sz="2400" b="1" dirty="0">
                    <a:latin typeface="华文新魏" panose="02010800040101010101" pitchFamily="2" charset="-122"/>
                    <a:ea typeface="华文新魏" panose="02010800040101010101" pitchFamily="2" charset="-122"/>
                  </a:rPr>
                  <a:t>程序设计语言和方法学的发展</a:t>
                </a:r>
                <a:endParaRPr lang="en-US" altLang="zh-CN" sz="2400" b="1" dirty="0">
                  <a:latin typeface="华文新魏" panose="02010800040101010101" pitchFamily="2" charset="-122"/>
                  <a:ea typeface="华文新魏" panose="02010800040101010101" pitchFamily="2" charset="-122"/>
                </a:endParaRPr>
              </a:p>
            </p:txBody>
          </p:sp>
          <p:grpSp>
            <p:nvGrpSpPr>
              <p:cNvPr id="86" name="Group 18"/>
              <p:cNvGrpSpPr/>
              <p:nvPr/>
            </p:nvGrpSpPr>
            <p:grpSpPr bwMode="auto">
              <a:xfrm>
                <a:off x="1248" y="1795"/>
                <a:ext cx="240" cy="240"/>
                <a:chOff x="2078" y="1680"/>
                <a:chExt cx="1615" cy="1615"/>
              </a:xfrm>
            </p:grpSpPr>
            <p:sp>
              <p:nvSpPr>
                <p:cNvPr id="87" name="Oval 19"/>
                <p:cNvSpPr>
                  <a:spLocks noChangeArrowheads="1"/>
                </p:cNvSpPr>
                <p:nvPr/>
              </p:nvSpPr>
              <p:spPr bwMode="gray">
                <a:xfrm>
                  <a:off x="2078" y="1680"/>
                  <a:ext cx="1615" cy="1615"/>
                </a:xfrm>
                <a:prstGeom prst="ellipse">
                  <a:avLst/>
                </a:prstGeom>
                <a:gradFill rotWithShape="1">
                  <a:gsLst>
                    <a:gs pos="0">
                      <a:srgbClr val="FFFFFF">
                        <a:gamma/>
                        <a:shade val="46275"/>
                        <a:invGamma/>
                      </a:srgbClr>
                    </a:gs>
                    <a:gs pos="50000">
                      <a:srgbClr val="FFFFFF"/>
                    </a:gs>
                    <a:gs pos="100000">
                      <a:srgbClr val="FFFFFF">
                        <a:gamma/>
                        <a:shade val="46275"/>
                        <a:invGamma/>
                      </a:srgbClr>
                    </a:gs>
                  </a:gsLst>
                  <a:lin ang="5400000" scaled="1"/>
                </a:gradFill>
                <a:ln>
                  <a:noFill/>
                </a:ln>
                <a:effectLst/>
                <a:extLst>
                  <a:ext uri="{91240B29-F687-4F45-9708-019B960494DF}">
                    <a14:hiddenLine xmlns:a14="http://schemas.microsoft.com/office/drawing/2010/main" w="57150">
                      <a:solidFill>
                        <a:schemeClr val="bg1"/>
                      </a:solidFill>
                      <a:round/>
                    </a14:hiddenLine>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endParaRPr lang="zh-CN" altLang="en-US"/>
                </a:p>
              </p:txBody>
            </p:sp>
            <p:sp>
              <p:nvSpPr>
                <p:cNvPr id="88" name="Oval 20"/>
                <p:cNvSpPr>
                  <a:spLocks noChangeArrowheads="1"/>
                </p:cNvSpPr>
                <p:nvPr/>
              </p:nvSpPr>
              <p:spPr bwMode="gray">
                <a:xfrm>
                  <a:off x="2170" y="1771"/>
                  <a:ext cx="1430" cy="1430"/>
                </a:xfrm>
                <a:prstGeom prst="ellipse">
                  <a:avLst/>
                </a:prstGeom>
                <a:gradFill rotWithShape="1">
                  <a:gsLst>
                    <a:gs pos="0">
                      <a:srgbClr val="FFFFFF">
                        <a:gamma/>
                        <a:shade val="63529"/>
                        <a:invGamma/>
                      </a:srgbClr>
                    </a:gs>
                    <a:gs pos="50000">
                      <a:srgbClr val="FFFFFF"/>
                    </a:gs>
                    <a:gs pos="100000">
                      <a:srgbClr val="FFFFFF">
                        <a:gamma/>
                        <a:shade val="63529"/>
                        <a:invGamma/>
                      </a:srgbClr>
                    </a:gs>
                  </a:gsLst>
                  <a:lin ang="0" scaled="1"/>
                </a:gra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endParaRPr lang="zh-CN" altLang="en-US"/>
                </a:p>
              </p:txBody>
            </p:sp>
            <p:sp>
              <p:nvSpPr>
                <p:cNvPr id="89" name="Oval 21"/>
                <p:cNvSpPr>
                  <a:spLocks noChangeArrowheads="1"/>
                </p:cNvSpPr>
                <p:nvPr/>
              </p:nvSpPr>
              <p:spPr bwMode="gray">
                <a:xfrm>
                  <a:off x="2254" y="1856"/>
                  <a:ext cx="1262" cy="1264"/>
                </a:xfrm>
                <a:prstGeom prst="ellipse">
                  <a:avLst/>
                </a:prstGeom>
                <a:gradFill rotWithShape="1">
                  <a:gsLst>
                    <a:gs pos="0">
                      <a:schemeClr val="hlink">
                        <a:gamma/>
                        <a:tint val="0"/>
                        <a:invGamma/>
                      </a:schemeClr>
                    </a:gs>
                    <a:gs pos="50000">
                      <a:schemeClr val="hlink"/>
                    </a:gs>
                    <a:gs pos="100000">
                      <a:schemeClr val="hlink">
                        <a:gamma/>
                        <a:tint val="0"/>
                        <a:invGamma/>
                      </a:schemeClr>
                    </a:gs>
                  </a:gsLst>
                  <a:lin ang="2700000" scaled="1"/>
                </a:gradFill>
                <a:ln>
                  <a:noFill/>
                </a:ln>
                <a:effectLst/>
                <a:extLst>
                  <a:ext uri="{91240B29-F687-4F45-9708-019B960494DF}">
                    <a14:hiddenLine xmlns:a14="http://schemas.microsoft.com/office/drawing/2010/main" w="38100">
                      <a:solidFill>
                        <a:schemeClr val="bg1"/>
                      </a:solidFill>
                      <a:round/>
                    </a14:hiddenLine>
                  </a:ext>
                  <a:ext uri="{AF507438-7753-43E0-B8FC-AC1667EBCBE1}">
                    <a14:hiddenEffects xmlns:a14="http://schemas.microsoft.com/office/drawing/2010/main">
                      <a:effectLst>
                        <a:outerShdw dist="109250" dir="3267739" algn="ctr" rotWithShape="0">
                          <a:srgbClr val="808080">
                            <a:alpha val="50000"/>
                          </a:srgbClr>
                        </a:outerShdw>
                      </a:effectLst>
                    </a14:hiddenEffects>
                  </a:ext>
                </a:extLst>
              </p:spPr>
              <p:txBody>
                <a:bodyPr wrap="none" anchor="ctr">
                  <a:spAutoFit/>
                </a:bodyPr>
                <a:lstStyle/>
                <a:p>
                  <a:endParaRPr lang="zh-CN" altLang="en-US"/>
                </a:p>
              </p:txBody>
            </p:sp>
            <p:sp>
              <p:nvSpPr>
                <p:cNvPr id="90" name="Oval 22"/>
                <p:cNvSpPr>
                  <a:spLocks noChangeArrowheads="1"/>
                </p:cNvSpPr>
                <p:nvPr/>
              </p:nvSpPr>
              <p:spPr bwMode="gray">
                <a:xfrm>
                  <a:off x="2254" y="1856"/>
                  <a:ext cx="1262" cy="1264"/>
                </a:xfrm>
                <a:prstGeom prst="ellipse">
                  <a:avLst/>
                </a:prstGeom>
                <a:gradFill rotWithShape="1">
                  <a:gsLst>
                    <a:gs pos="0">
                      <a:srgbClr val="48BE67">
                        <a:gamma/>
                        <a:shade val="0"/>
                        <a:invGamma/>
                      </a:srgbClr>
                    </a:gs>
                    <a:gs pos="100000">
                      <a:srgbClr val="48BE67"/>
                    </a:gs>
                  </a:gsLst>
                  <a:lin ang="2700000" scaled="1"/>
                </a:gradFill>
                <a:ln>
                  <a:noFill/>
                </a:ln>
                <a:effectLst/>
                <a:extLst>
                  <a:ext uri="{91240B29-F687-4F45-9708-019B960494DF}">
                    <a14:hiddenLine xmlns:a14="http://schemas.microsoft.com/office/drawing/2010/main" w="38100">
                      <a:solidFill>
                        <a:schemeClr val="bg1"/>
                      </a:solidFill>
                      <a:round/>
                    </a14:hiddenLine>
                  </a:ext>
                  <a:ext uri="{AF507438-7753-43E0-B8FC-AC1667EBCBE1}">
                    <a14:hiddenEffects xmlns:a14="http://schemas.microsoft.com/office/drawing/2010/main">
                      <a:effectLst>
                        <a:outerShdw dist="109250" dir="3267739" algn="ctr" rotWithShape="0">
                          <a:srgbClr val="808080">
                            <a:alpha val="50000"/>
                          </a:srgbClr>
                        </a:outerShdw>
                      </a:effectLst>
                    </a14:hiddenEffects>
                  </a:ext>
                </a:extLst>
              </p:spPr>
              <p:txBody>
                <a:bodyPr wrap="none" anchor="ctr">
                  <a:spAutoFit/>
                </a:bodyPr>
                <a:lstStyle/>
                <a:p>
                  <a:endParaRPr lang="zh-CN" altLang="en-US"/>
                </a:p>
              </p:txBody>
            </p:sp>
            <p:sp>
              <p:nvSpPr>
                <p:cNvPr id="91" name="Oval 23"/>
                <p:cNvSpPr>
                  <a:spLocks noChangeArrowheads="1"/>
                </p:cNvSpPr>
                <p:nvPr/>
              </p:nvSpPr>
              <p:spPr bwMode="gray">
                <a:xfrm>
                  <a:off x="2337" y="1939"/>
                  <a:ext cx="1096" cy="1098"/>
                </a:xfrm>
                <a:prstGeom prst="ellipse">
                  <a:avLst/>
                </a:prstGeom>
                <a:gradFill rotWithShape="1">
                  <a:gsLst>
                    <a:gs pos="0">
                      <a:schemeClr val="hlink">
                        <a:gamma/>
                        <a:shade val="54118"/>
                        <a:invGamma/>
                      </a:schemeClr>
                    </a:gs>
                    <a:gs pos="50000">
                      <a:schemeClr val="hlink"/>
                    </a:gs>
                    <a:gs pos="100000">
                      <a:schemeClr val="hlink">
                        <a:gamma/>
                        <a:shade val="54118"/>
                        <a:invGamma/>
                      </a:schemeClr>
                    </a:gs>
                  </a:gsLst>
                  <a:lin ang="18900000" scaled="1"/>
                </a:gradFill>
                <a:ln>
                  <a:noFill/>
                </a:ln>
                <a:effectLst/>
                <a:extLst>
                  <a:ext uri="{91240B29-F687-4F45-9708-019B960494DF}">
                    <a14:hiddenLine xmlns:a14="http://schemas.microsoft.com/office/drawing/2010/main" w="38100">
                      <a:solidFill>
                        <a:schemeClr val="bg1"/>
                      </a:solidFill>
                      <a:round/>
                    </a14:hiddenLine>
                  </a:ext>
                  <a:ext uri="{AF507438-7753-43E0-B8FC-AC1667EBCBE1}">
                    <a14:hiddenEffects xmlns:a14="http://schemas.microsoft.com/office/drawing/2010/main">
                      <a:effectLst>
                        <a:outerShdw dist="109250" dir="3267739" algn="ctr" rotWithShape="0">
                          <a:srgbClr val="808080">
                            <a:alpha val="50000"/>
                          </a:srgbClr>
                        </a:outerShdw>
                      </a:effectLst>
                    </a14:hiddenEffects>
                  </a:ext>
                </a:extLst>
              </p:spPr>
              <p:txBody>
                <a:bodyPr anchor="ctr">
                  <a:spAutoFit/>
                </a:bodyPr>
                <a:lstStyle/>
                <a:p>
                  <a:endParaRPr lang="zh-CN" altLang="en-US"/>
                </a:p>
              </p:txBody>
            </p:sp>
            <p:sp>
              <p:nvSpPr>
                <p:cNvPr id="92" name="Oval 24"/>
                <p:cNvSpPr>
                  <a:spLocks noChangeArrowheads="1"/>
                </p:cNvSpPr>
                <p:nvPr/>
              </p:nvSpPr>
              <p:spPr bwMode="gray">
                <a:xfrm>
                  <a:off x="2337" y="1939"/>
                  <a:ext cx="1096" cy="1098"/>
                </a:xfrm>
                <a:prstGeom prst="ellipse">
                  <a:avLst/>
                </a:prstGeom>
                <a:gradFill rotWithShape="1">
                  <a:gsLst>
                    <a:gs pos="0">
                      <a:srgbClr val="48BE67"/>
                    </a:gs>
                    <a:gs pos="100000">
                      <a:srgbClr val="48BE67">
                        <a:gamma/>
                        <a:shade val="48627"/>
                        <a:invGamma/>
                      </a:srgbClr>
                    </a:gs>
                  </a:gsLst>
                  <a:lin ang="2700000" scaled="1"/>
                </a:gradFill>
                <a:ln>
                  <a:noFill/>
                </a:ln>
                <a:effectLst/>
                <a:extLst>
                  <a:ext uri="{91240B29-F687-4F45-9708-019B960494DF}">
                    <a14:hiddenLine xmlns:a14="http://schemas.microsoft.com/office/drawing/2010/main" w="38100">
                      <a:solidFill>
                        <a:schemeClr val="bg1"/>
                      </a:solidFill>
                      <a:round/>
                    </a14:hiddenLine>
                  </a:ext>
                  <a:ext uri="{AF507438-7753-43E0-B8FC-AC1667EBCBE1}">
                    <a14:hiddenEffects xmlns:a14="http://schemas.microsoft.com/office/drawing/2010/main">
                      <a:effectLst>
                        <a:outerShdw dist="109250" dir="3267739" algn="ctr" rotWithShape="0">
                          <a:srgbClr val="808080">
                            <a:alpha val="50000"/>
                          </a:srgbClr>
                        </a:outerShdw>
                      </a:effectLst>
                    </a14:hiddenEffects>
                  </a:ext>
                </a:extLst>
              </p:spPr>
              <p:txBody>
                <a:bodyPr anchor="ctr">
                  <a:spAutoFit/>
                </a:bodyPr>
                <a:lstStyle/>
                <a:p>
                  <a:endParaRPr lang="zh-CN" altLang="en-US"/>
                </a:p>
              </p:txBody>
            </p:sp>
          </p:grpSp>
        </p:grpSp>
        <p:grpSp>
          <p:nvGrpSpPr>
            <p:cNvPr id="58" name="Group 49"/>
            <p:cNvGrpSpPr/>
            <p:nvPr/>
          </p:nvGrpSpPr>
          <p:grpSpPr bwMode="auto">
            <a:xfrm>
              <a:off x="1344" y="2275"/>
              <a:ext cx="2976" cy="320"/>
              <a:chOff x="1344" y="2275"/>
              <a:chExt cx="2976" cy="320"/>
            </a:xfrm>
          </p:grpSpPr>
          <p:sp>
            <p:nvSpPr>
              <p:cNvPr id="77" name="AutoShape 8"/>
              <p:cNvSpPr>
                <a:spLocks noChangeArrowheads="1"/>
              </p:cNvSpPr>
              <p:nvPr/>
            </p:nvSpPr>
            <p:spPr bwMode="gray">
              <a:xfrm>
                <a:off x="1536" y="2275"/>
                <a:ext cx="2784" cy="320"/>
              </a:xfrm>
              <a:prstGeom prst="roundRect">
                <a:avLst>
                  <a:gd name="adj" fmla="val 50000"/>
                </a:avLst>
              </a:prstGeom>
              <a:noFill/>
              <a:ln w="28575" algn="ctr">
                <a:solidFill>
                  <a:schemeClr val="bg2"/>
                </a:solidFill>
                <a:rou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hangingPunct="0"/>
                <a:r>
                  <a:rPr lang="en-US" altLang="zh-CN" sz="2400" b="1" dirty="0">
                    <a:solidFill>
                      <a:srgbClr val="800000"/>
                    </a:solidFill>
                    <a:latin typeface="华文新魏" panose="02010800040101010101" pitchFamily="2" charset="-122"/>
                    <a:ea typeface="华文新魏" panose="02010800040101010101" pitchFamily="2" charset="-122"/>
                  </a:rPr>
                  <a:t>C++</a:t>
                </a:r>
                <a:r>
                  <a:rPr lang="zh-CN" altLang="en-US" sz="2400" b="1" dirty="0">
                    <a:solidFill>
                      <a:srgbClr val="800000"/>
                    </a:solidFill>
                    <a:latin typeface="华文新魏" panose="02010800040101010101" pitchFamily="2" charset="-122"/>
                    <a:ea typeface="华文新魏" panose="02010800040101010101" pitchFamily="2" charset="-122"/>
                  </a:rPr>
                  <a:t>语言概述</a:t>
                </a:r>
                <a:endParaRPr lang="en-US" altLang="zh-CN" sz="2400" b="1" dirty="0">
                  <a:solidFill>
                    <a:srgbClr val="800000"/>
                  </a:solidFill>
                  <a:latin typeface="华文新魏" panose="02010800040101010101" pitchFamily="2" charset="-122"/>
                  <a:ea typeface="华文新魏" panose="02010800040101010101" pitchFamily="2" charset="-122"/>
                </a:endParaRPr>
              </a:p>
            </p:txBody>
          </p:sp>
          <p:grpSp>
            <p:nvGrpSpPr>
              <p:cNvPr id="78" name="Group 25"/>
              <p:cNvGrpSpPr/>
              <p:nvPr/>
            </p:nvGrpSpPr>
            <p:grpSpPr bwMode="auto">
              <a:xfrm>
                <a:off x="1344" y="2323"/>
                <a:ext cx="240" cy="240"/>
                <a:chOff x="2078" y="1680"/>
                <a:chExt cx="1615" cy="1615"/>
              </a:xfrm>
            </p:grpSpPr>
            <p:sp>
              <p:nvSpPr>
                <p:cNvPr id="79" name="Oval 26"/>
                <p:cNvSpPr>
                  <a:spLocks noChangeArrowheads="1"/>
                </p:cNvSpPr>
                <p:nvPr/>
              </p:nvSpPr>
              <p:spPr bwMode="gray">
                <a:xfrm>
                  <a:off x="2078" y="1680"/>
                  <a:ext cx="1615" cy="1615"/>
                </a:xfrm>
                <a:prstGeom prst="ellipse">
                  <a:avLst/>
                </a:prstGeom>
                <a:gradFill rotWithShape="1">
                  <a:gsLst>
                    <a:gs pos="0">
                      <a:srgbClr val="FFFFFF">
                        <a:gamma/>
                        <a:shade val="46275"/>
                        <a:invGamma/>
                      </a:srgbClr>
                    </a:gs>
                    <a:gs pos="50000">
                      <a:srgbClr val="FFFFFF"/>
                    </a:gs>
                    <a:gs pos="100000">
                      <a:srgbClr val="FFFFFF">
                        <a:gamma/>
                        <a:shade val="46275"/>
                        <a:invGamma/>
                      </a:srgbClr>
                    </a:gs>
                  </a:gsLst>
                  <a:lin ang="5400000" scaled="1"/>
                </a:gradFill>
                <a:ln>
                  <a:noFill/>
                </a:ln>
                <a:effectLst/>
                <a:extLst>
                  <a:ext uri="{91240B29-F687-4F45-9708-019B960494DF}">
                    <a14:hiddenLine xmlns:a14="http://schemas.microsoft.com/office/drawing/2010/main" w="57150">
                      <a:solidFill>
                        <a:schemeClr val="bg1"/>
                      </a:solidFill>
                      <a:round/>
                    </a14:hiddenLine>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endParaRPr lang="zh-CN" altLang="en-US"/>
                </a:p>
              </p:txBody>
            </p:sp>
            <p:sp>
              <p:nvSpPr>
                <p:cNvPr id="80" name="Oval 27"/>
                <p:cNvSpPr>
                  <a:spLocks noChangeArrowheads="1"/>
                </p:cNvSpPr>
                <p:nvPr/>
              </p:nvSpPr>
              <p:spPr bwMode="gray">
                <a:xfrm>
                  <a:off x="2170" y="1771"/>
                  <a:ext cx="1430" cy="1430"/>
                </a:xfrm>
                <a:prstGeom prst="ellipse">
                  <a:avLst/>
                </a:prstGeom>
                <a:gradFill rotWithShape="1">
                  <a:gsLst>
                    <a:gs pos="0">
                      <a:srgbClr val="FFFFFF">
                        <a:gamma/>
                        <a:shade val="63529"/>
                        <a:invGamma/>
                      </a:srgbClr>
                    </a:gs>
                    <a:gs pos="50000">
                      <a:srgbClr val="FFFFFF"/>
                    </a:gs>
                    <a:gs pos="100000">
                      <a:srgbClr val="FFFFFF">
                        <a:gamma/>
                        <a:shade val="63529"/>
                        <a:invGamma/>
                      </a:srgbClr>
                    </a:gs>
                  </a:gsLst>
                  <a:lin ang="0" scaled="1"/>
                </a:gra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endParaRPr lang="zh-CN" altLang="en-US"/>
                </a:p>
              </p:txBody>
            </p:sp>
            <p:sp>
              <p:nvSpPr>
                <p:cNvPr id="81" name="Oval 28"/>
                <p:cNvSpPr>
                  <a:spLocks noChangeArrowheads="1"/>
                </p:cNvSpPr>
                <p:nvPr/>
              </p:nvSpPr>
              <p:spPr bwMode="gray">
                <a:xfrm>
                  <a:off x="2254" y="1856"/>
                  <a:ext cx="1262" cy="1264"/>
                </a:xfrm>
                <a:prstGeom prst="ellipse">
                  <a:avLst/>
                </a:prstGeom>
                <a:gradFill rotWithShape="1">
                  <a:gsLst>
                    <a:gs pos="0">
                      <a:schemeClr val="hlink">
                        <a:gamma/>
                        <a:tint val="0"/>
                        <a:invGamma/>
                      </a:schemeClr>
                    </a:gs>
                    <a:gs pos="50000">
                      <a:schemeClr val="hlink"/>
                    </a:gs>
                    <a:gs pos="100000">
                      <a:schemeClr val="hlink">
                        <a:gamma/>
                        <a:tint val="0"/>
                        <a:invGamma/>
                      </a:schemeClr>
                    </a:gs>
                  </a:gsLst>
                  <a:lin ang="2700000" scaled="1"/>
                </a:gradFill>
                <a:ln>
                  <a:noFill/>
                </a:ln>
                <a:effectLst/>
                <a:extLst>
                  <a:ext uri="{91240B29-F687-4F45-9708-019B960494DF}">
                    <a14:hiddenLine xmlns:a14="http://schemas.microsoft.com/office/drawing/2010/main" w="38100">
                      <a:solidFill>
                        <a:schemeClr val="bg1"/>
                      </a:solidFill>
                      <a:round/>
                    </a14:hiddenLine>
                  </a:ext>
                  <a:ext uri="{AF507438-7753-43E0-B8FC-AC1667EBCBE1}">
                    <a14:hiddenEffects xmlns:a14="http://schemas.microsoft.com/office/drawing/2010/main">
                      <a:effectLst>
                        <a:outerShdw dist="109250" dir="3267739" algn="ctr" rotWithShape="0">
                          <a:srgbClr val="808080">
                            <a:alpha val="50000"/>
                          </a:srgbClr>
                        </a:outerShdw>
                      </a:effectLst>
                    </a14:hiddenEffects>
                  </a:ext>
                </a:extLst>
              </p:spPr>
              <p:txBody>
                <a:bodyPr wrap="none" anchor="ctr">
                  <a:spAutoFit/>
                </a:bodyPr>
                <a:lstStyle/>
                <a:p>
                  <a:endParaRPr lang="zh-CN" altLang="en-US"/>
                </a:p>
              </p:txBody>
            </p:sp>
            <p:sp>
              <p:nvSpPr>
                <p:cNvPr id="82" name="Oval 29"/>
                <p:cNvSpPr>
                  <a:spLocks noChangeArrowheads="1"/>
                </p:cNvSpPr>
                <p:nvPr/>
              </p:nvSpPr>
              <p:spPr bwMode="gray">
                <a:xfrm>
                  <a:off x="2254" y="1856"/>
                  <a:ext cx="1262" cy="1264"/>
                </a:xfrm>
                <a:prstGeom prst="ellipse">
                  <a:avLst/>
                </a:prstGeom>
                <a:gradFill rotWithShape="1">
                  <a:gsLst>
                    <a:gs pos="0">
                      <a:srgbClr val="21B3E1"/>
                    </a:gs>
                    <a:gs pos="100000">
                      <a:srgbClr val="21B3E1">
                        <a:gamma/>
                        <a:shade val="46275"/>
                        <a:invGamma/>
                      </a:srgbClr>
                    </a:gs>
                  </a:gsLst>
                  <a:lin ang="5400000" scaled="1"/>
                </a:gradFill>
                <a:ln>
                  <a:noFill/>
                </a:ln>
                <a:effectLst/>
                <a:extLst>
                  <a:ext uri="{91240B29-F687-4F45-9708-019B960494DF}">
                    <a14:hiddenLine xmlns:a14="http://schemas.microsoft.com/office/drawing/2010/main" w="38100">
                      <a:solidFill>
                        <a:schemeClr val="bg1"/>
                      </a:solidFill>
                      <a:round/>
                    </a14:hiddenLine>
                  </a:ext>
                  <a:ext uri="{AF507438-7753-43E0-B8FC-AC1667EBCBE1}">
                    <a14:hiddenEffects xmlns:a14="http://schemas.microsoft.com/office/drawing/2010/main">
                      <a:effectLst>
                        <a:outerShdw dist="109250" dir="3267739" algn="ctr" rotWithShape="0">
                          <a:srgbClr val="808080">
                            <a:alpha val="50000"/>
                          </a:srgbClr>
                        </a:outerShdw>
                      </a:effectLst>
                    </a14:hiddenEffects>
                  </a:ext>
                </a:extLst>
              </p:spPr>
              <p:txBody>
                <a:bodyPr wrap="none" anchor="ctr">
                  <a:spAutoFit/>
                </a:bodyPr>
                <a:lstStyle/>
                <a:p>
                  <a:endParaRPr lang="zh-CN" altLang="en-US"/>
                </a:p>
              </p:txBody>
            </p:sp>
            <p:sp>
              <p:nvSpPr>
                <p:cNvPr id="83" name="Oval 30"/>
                <p:cNvSpPr>
                  <a:spLocks noChangeArrowheads="1"/>
                </p:cNvSpPr>
                <p:nvPr/>
              </p:nvSpPr>
              <p:spPr bwMode="gray">
                <a:xfrm>
                  <a:off x="2337" y="1939"/>
                  <a:ext cx="1096" cy="1098"/>
                </a:xfrm>
                <a:prstGeom prst="ellipse">
                  <a:avLst/>
                </a:prstGeom>
                <a:gradFill rotWithShape="1">
                  <a:gsLst>
                    <a:gs pos="0">
                      <a:schemeClr val="hlink">
                        <a:gamma/>
                        <a:shade val="54118"/>
                        <a:invGamma/>
                      </a:schemeClr>
                    </a:gs>
                    <a:gs pos="50000">
                      <a:schemeClr val="hlink"/>
                    </a:gs>
                    <a:gs pos="100000">
                      <a:schemeClr val="hlink">
                        <a:gamma/>
                        <a:shade val="54118"/>
                        <a:invGamma/>
                      </a:schemeClr>
                    </a:gs>
                  </a:gsLst>
                  <a:lin ang="18900000" scaled="1"/>
                </a:gradFill>
                <a:ln>
                  <a:noFill/>
                </a:ln>
                <a:effectLst/>
                <a:extLst>
                  <a:ext uri="{91240B29-F687-4F45-9708-019B960494DF}">
                    <a14:hiddenLine xmlns:a14="http://schemas.microsoft.com/office/drawing/2010/main" w="38100">
                      <a:solidFill>
                        <a:schemeClr val="bg1"/>
                      </a:solidFill>
                      <a:round/>
                    </a14:hiddenLine>
                  </a:ext>
                  <a:ext uri="{AF507438-7753-43E0-B8FC-AC1667EBCBE1}">
                    <a14:hiddenEffects xmlns:a14="http://schemas.microsoft.com/office/drawing/2010/main">
                      <a:effectLst>
                        <a:outerShdw dist="109250" dir="3267739" algn="ctr" rotWithShape="0">
                          <a:srgbClr val="808080">
                            <a:alpha val="50000"/>
                          </a:srgbClr>
                        </a:outerShdw>
                      </a:effectLst>
                    </a14:hiddenEffects>
                  </a:ext>
                </a:extLst>
              </p:spPr>
              <p:txBody>
                <a:bodyPr anchor="ctr">
                  <a:spAutoFit/>
                </a:bodyPr>
                <a:lstStyle/>
                <a:p>
                  <a:endParaRPr lang="zh-CN" altLang="en-US"/>
                </a:p>
              </p:txBody>
            </p:sp>
            <p:sp>
              <p:nvSpPr>
                <p:cNvPr id="84" name="Oval 31"/>
                <p:cNvSpPr>
                  <a:spLocks noChangeArrowheads="1"/>
                </p:cNvSpPr>
                <p:nvPr/>
              </p:nvSpPr>
              <p:spPr bwMode="gray">
                <a:xfrm>
                  <a:off x="2337" y="1939"/>
                  <a:ext cx="1096" cy="1098"/>
                </a:xfrm>
                <a:prstGeom prst="ellipse">
                  <a:avLst/>
                </a:prstGeom>
                <a:gradFill rotWithShape="1">
                  <a:gsLst>
                    <a:gs pos="0">
                      <a:srgbClr val="21B3E1"/>
                    </a:gs>
                    <a:gs pos="100000">
                      <a:srgbClr val="21B3E1">
                        <a:gamma/>
                        <a:shade val="48627"/>
                        <a:invGamma/>
                      </a:srgbClr>
                    </a:gs>
                  </a:gsLst>
                  <a:lin ang="2700000" scaled="1"/>
                </a:gradFill>
                <a:ln>
                  <a:noFill/>
                </a:ln>
                <a:effectLst/>
                <a:extLst>
                  <a:ext uri="{91240B29-F687-4F45-9708-019B960494DF}">
                    <a14:hiddenLine xmlns:a14="http://schemas.microsoft.com/office/drawing/2010/main" w="38100">
                      <a:solidFill>
                        <a:schemeClr val="bg1"/>
                      </a:solidFill>
                      <a:round/>
                    </a14:hiddenLine>
                  </a:ext>
                  <a:ext uri="{AF507438-7753-43E0-B8FC-AC1667EBCBE1}">
                    <a14:hiddenEffects xmlns:a14="http://schemas.microsoft.com/office/drawing/2010/main">
                      <a:effectLst>
                        <a:outerShdw dist="109250" dir="3267739" algn="ctr" rotWithShape="0">
                          <a:srgbClr val="808080">
                            <a:alpha val="50000"/>
                          </a:srgbClr>
                        </a:outerShdw>
                      </a:effectLst>
                    </a14:hiddenEffects>
                  </a:ext>
                </a:extLst>
              </p:spPr>
              <p:txBody>
                <a:bodyPr anchor="ctr">
                  <a:spAutoFit/>
                </a:bodyPr>
                <a:lstStyle/>
                <a:p>
                  <a:endParaRPr lang="zh-CN" altLang="en-US"/>
                </a:p>
              </p:txBody>
            </p:sp>
          </p:grpSp>
        </p:grpSp>
        <p:grpSp>
          <p:nvGrpSpPr>
            <p:cNvPr id="59" name="Group 50"/>
            <p:cNvGrpSpPr/>
            <p:nvPr/>
          </p:nvGrpSpPr>
          <p:grpSpPr bwMode="auto">
            <a:xfrm>
              <a:off x="1248" y="2787"/>
              <a:ext cx="2996" cy="320"/>
              <a:chOff x="1248" y="2787"/>
              <a:chExt cx="2996" cy="320"/>
            </a:xfrm>
          </p:grpSpPr>
          <p:sp>
            <p:nvSpPr>
              <p:cNvPr id="69" name="AutoShape 7"/>
              <p:cNvSpPr>
                <a:spLocks noChangeArrowheads="1"/>
              </p:cNvSpPr>
              <p:nvPr/>
            </p:nvSpPr>
            <p:spPr bwMode="gray">
              <a:xfrm>
                <a:off x="1460" y="2787"/>
                <a:ext cx="2784" cy="320"/>
              </a:xfrm>
              <a:prstGeom prst="roundRect">
                <a:avLst>
                  <a:gd name="adj" fmla="val 50000"/>
                </a:avLst>
              </a:prstGeom>
              <a:noFill/>
              <a:ln w="28575" algn="ctr">
                <a:solidFill>
                  <a:schemeClr val="bg2"/>
                </a:solidFill>
                <a:round/>
              </a:ln>
              <a:effectLst/>
              <a:extLst>
                <a:ext uri="{909E8E84-426E-40DD-AFC4-6F175D3DCCD1}">
                  <a14:hiddenFill xmlns:a14="http://schemas.microsoft.com/office/drawing/2010/main">
                    <a:gradFill rotWithShape="1">
                      <a:gsLst>
                        <a:gs pos="0">
                          <a:schemeClr val="folHlink">
                            <a:gamma/>
                            <a:tint val="0"/>
                            <a:invGamma/>
                          </a:schemeClr>
                        </a:gs>
                        <a:gs pos="100000">
                          <a:schemeClr val="folHlink"/>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hangingPunct="0"/>
                <a:r>
                  <a:rPr lang="zh-CN" altLang="en-US" sz="2400" b="1" dirty="0">
                    <a:latin typeface="华文新魏" panose="02010800040101010101" pitchFamily="2" charset="-122"/>
                    <a:ea typeface="华文新魏" panose="02010800040101010101" pitchFamily="2" charset="-122"/>
                  </a:rPr>
                  <a:t>课程简介</a:t>
                </a:r>
                <a:endParaRPr lang="en-US" altLang="zh-CN" sz="2400" b="1" dirty="0">
                  <a:latin typeface="华文新魏" panose="02010800040101010101" pitchFamily="2" charset="-122"/>
                  <a:ea typeface="华文新魏" panose="02010800040101010101" pitchFamily="2" charset="-122"/>
                </a:endParaRPr>
              </a:p>
            </p:txBody>
          </p:sp>
          <p:grpSp>
            <p:nvGrpSpPr>
              <p:cNvPr id="70" name="Group 32"/>
              <p:cNvGrpSpPr/>
              <p:nvPr/>
            </p:nvGrpSpPr>
            <p:grpSpPr bwMode="auto">
              <a:xfrm>
                <a:off x="1248" y="2851"/>
                <a:ext cx="240" cy="240"/>
                <a:chOff x="2078" y="1680"/>
                <a:chExt cx="1615" cy="1615"/>
              </a:xfrm>
            </p:grpSpPr>
            <p:sp>
              <p:nvSpPr>
                <p:cNvPr id="71" name="Oval 33"/>
                <p:cNvSpPr>
                  <a:spLocks noChangeArrowheads="1"/>
                </p:cNvSpPr>
                <p:nvPr/>
              </p:nvSpPr>
              <p:spPr bwMode="gray">
                <a:xfrm>
                  <a:off x="2078" y="1680"/>
                  <a:ext cx="1615" cy="1615"/>
                </a:xfrm>
                <a:prstGeom prst="ellipse">
                  <a:avLst/>
                </a:prstGeom>
                <a:gradFill rotWithShape="1">
                  <a:gsLst>
                    <a:gs pos="0">
                      <a:srgbClr val="FFFFFF">
                        <a:gamma/>
                        <a:shade val="46275"/>
                        <a:invGamma/>
                      </a:srgbClr>
                    </a:gs>
                    <a:gs pos="50000">
                      <a:srgbClr val="FFFFFF"/>
                    </a:gs>
                    <a:gs pos="100000">
                      <a:srgbClr val="FFFFFF">
                        <a:gamma/>
                        <a:shade val="46275"/>
                        <a:invGamma/>
                      </a:srgbClr>
                    </a:gs>
                  </a:gsLst>
                  <a:lin ang="5400000" scaled="1"/>
                </a:gradFill>
                <a:ln>
                  <a:noFill/>
                </a:ln>
                <a:effectLst/>
                <a:extLst>
                  <a:ext uri="{91240B29-F687-4F45-9708-019B960494DF}">
                    <a14:hiddenLine xmlns:a14="http://schemas.microsoft.com/office/drawing/2010/main" w="57150">
                      <a:solidFill>
                        <a:schemeClr val="bg1"/>
                      </a:solidFill>
                      <a:round/>
                    </a14:hiddenLine>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endParaRPr lang="zh-CN" altLang="en-US"/>
                </a:p>
              </p:txBody>
            </p:sp>
            <p:sp>
              <p:nvSpPr>
                <p:cNvPr id="72" name="Oval 34"/>
                <p:cNvSpPr>
                  <a:spLocks noChangeArrowheads="1"/>
                </p:cNvSpPr>
                <p:nvPr/>
              </p:nvSpPr>
              <p:spPr bwMode="gray">
                <a:xfrm>
                  <a:off x="2170" y="1771"/>
                  <a:ext cx="1430" cy="1430"/>
                </a:xfrm>
                <a:prstGeom prst="ellipse">
                  <a:avLst/>
                </a:prstGeom>
                <a:gradFill rotWithShape="1">
                  <a:gsLst>
                    <a:gs pos="0">
                      <a:srgbClr val="FFFFFF">
                        <a:gamma/>
                        <a:shade val="63529"/>
                        <a:invGamma/>
                      </a:srgbClr>
                    </a:gs>
                    <a:gs pos="50000">
                      <a:srgbClr val="FFFFFF"/>
                    </a:gs>
                    <a:gs pos="100000">
                      <a:srgbClr val="FFFFFF">
                        <a:gamma/>
                        <a:shade val="63529"/>
                        <a:invGamma/>
                      </a:srgbClr>
                    </a:gs>
                  </a:gsLst>
                  <a:lin ang="0" scaled="1"/>
                </a:gra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endParaRPr lang="zh-CN" altLang="en-US"/>
                </a:p>
              </p:txBody>
            </p:sp>
            <p:sp>
              <p:nvSpPr>
                <p:cNvPr id="73" name="Oval 35"/>
                <p:cNvSpPr>
                  <a:spLocks noChangeArrowheads="1"/>
                </p:cNvSpPr>
                <p:nvPr/>
              </p:nvSpPr>
              <p:spPr bwMode="gray">
                <a:xfrm>
                  <a:off x="2254" y="1856"/>
                  <a:ext cx="1262" cy="1264"/>
                </a:xfrm>
                <a:prstGeom prst="ellipse">
                  <a:avLst/>
                </a:prstGeom>
                <a:gradFill rotWithShape="1">
                  <a:gsLst>
                    <a:gs pos="0">
                      <a:schemeClr val="hlink">
                        <a:gamma/>
                        <a:tint val="0"/>
                        <a:invGamma/>
                      </a:schemeClr>
                    </a:gs>
                    <a:gs pos="50000">
                      <a:schemeClr val="hlink"/>
                    </a:gs>
                    <a:gs pos="100000">
                      <a:schemeClr val="hlink">
                        <a:gamma/>
                        <a:tint val="0"/>
                        <a:invGamma/>
                      </a:schemeClr>
                    </a:gs>
                  </a:gsLst>
                  <a:lin ang="2700000" scaled="1"/>
                </a:gradFill>
                <a:ln>
                  <a:noFill/>
                </a:ln>
                <a:effectLst/>
                <a:extLst>
                  <a:ext uri="{91240B29-F687-4F45-9708-019B960494DF}">
                    <a14:hiddenLine xmlns:a14="http://schemas.microsoft.com/office/drawing/2010/main" w="38100">
                      <a:solidFill>
                        <a:schemeClr val="bg1"/>
                      </a:solidFill>
                      <a:round/>
                    </a14:hiddenLine>
                  </a:ext>
                  <a:ext uri="{AF507438-7753-43E0-B8FC-AC1667EBCBE1}">
                    <a14:hiddenEffects xmlns:a14="http://schemas.microsoft.com/office/drawing/2010/main">
                      <a:effectLst>
                        <a:outerShdw dist="109250" dir="3267739" algn="ctr" rotWithShape="0">
                          <a:srgbClr val="808080">
                            <a:alpha val="50000"/>
                          </a:srgbClr>
                        </a:outerShdw>
                      </a:effectLst>
                    </a14:hiddenEffects>
                  </a:ext>
                </a:extLst>
              </p:spPr>
              <p:txBody>
                <a:bodyPr wrap="none" anchor="ctr">
                  <a:spAutoFit/>
                </a:bodyPr>
                <a:lstStyle/>
                <a:p>
                  <a:endParaRPr lang="zh-CN" altLang="en-US"/>
                </a:p>
              </p:txBody>
            </p:sp>
            <p:sp>
              <p:nvSpPr>
                <p:cNvPr id="74" name="Oval 36"/>
                <p:cNvSpPr>
                  <a:spLocks noChangeArrowheads="1"/>
                </p:cNvSpPr>
                <p:nvPr/>
              </p:nvSpPr>
              <p:spPr bwMode="gray">
                <a:xfrm>
                  <a:off x="2254" y="1856"/>
                  <a:ext cx="1262" cy="1264"/>
                </a:xfrm>
                <a:prstGeom prst="ellipse">
                  <a:avLst/>
                </a:prstGeom>
                <a:gradFill rotWithShape="1">
                  <a:gsLst>
                    <a:gs pos="0">
                      <a:srgbClr val="8D67E1">
                        <a:gamma/>
                        <a:shade val="0"/>
                        <a:invGamma/>
                      </a:srgbClr>
                    </a:gs>
                    <a:gs pos="100000">
                      <a:srgbClr val="8D67E1"/>
                    </a:gs>
                  </a:gsLst>
                  <a:lin ang="2700000" scaled="1"/>
                </a:gradFill>
                <a:ln>
                  <a:noFill/>
                </a:ln>
                <a:effectLst/>
                <a:extLst>
                  <a:ext uri="{91240B29-F687-4F45-9708-019B960494DF}">
                    <a14:hiddenLine xmlns:a14="http://schemas.microsoft.com/office/drawing/2010/main" w="38100">
                      <a:solidFill>
                        <a:schemeClr val="bg1"/>
                      </a:solidFill>
                      <a:round/>
                    </a14:hiddenLine>
                  </a:ext>
                  <a:ext uri="{AF507438-7753-43E0-B8FC-AC1667EBCBE1}">
                    <a14:hiddenEffects xmlns:a14="http://schemas.microsoft.com/office/drawing/2010/main">
                      <a:effectLst>
                        <a:outerShdw dist="109250" dir="3267739" algn="ctr" rotWithShape="0">
                          <a:srgbClr val="808080">
                            <a:alpha val="50000"/>
                          </a:srgbClr>
                        </a:outerShdw>
                      </a:effectLst>
                    </a14:hiddenEffects>
                  </a:ext>
                </a:extLst>
              </p:spPr>
              <p:txBody>
                <a:bodyPr wrap="none" anchor="ctr">
                  <a:spAutoFit/>
                </a:bodyPr>
                <a:lstStyle/>
                <a:p>
                  <a:endParaRPr lang="zh-CN" altLang="en-US"/>
                </a:p>
              </p:txBody>
            </p:sp>
            <p:sp>
              <p:nvSpPr>
                <p:cNvPr id="75" name="Oval 37"/>
                <p:cNvSpPr>
                  <a:spLocks noChangeArrowheads="1"/>
                </p:cNvSpPr>
                <p:nvPr/>
              </p:nvSpPr>
              <p:spPr bwMode="gray">
                <a:xfrm>
                  <a:off x="2337" y="1939"/>
                  <a:ext cx="1096" cy="1098"/>
                </a:xfrm>
                <a:prstGeom prst="ellipse">
                  <a:avLst/>
                </a:prstGeom>
                <a:gradFill rotWithShape="1">
                  <a:gsLst>
                    <a:gs pos="0">
                      <a:schemeClr val="hlink">
                        <a:gamma/>
                        <a:shade val="54118"/>
                        <a:invGamma/>
                      </a:schemeClr>
                    </a:gs>
                    <a:gs pos="50000">
                      <a:schemeClr val="hlink"/>
                    </a:gs>
                    <a:gs pos="100000">
                      <a:schemeClr val="hlink">
                        <a:gamma/>
                        <a:shade val="54118"/>
                        <a:invGamma/>
                      </a:schemeClr>
                    </a:gs>
                  </a:gsLst>
                  <a:lin ang="18900000" scaled="1"/>
                </a:gradFill>
                <a:ln>
                  <a:noFill/>
                </a:ln>
                <a:effectLst/>
                <a:extLst>
                  <a:ext uri="{91240B29-F687-4F45-9708-019B960494DF}">
                    <a14:hiddenLine xmlns:a14="http://schemas.microsoft.com/office/drawing/2010/main" w="38100">
                      <a:solidFill>
                        <a:schemeClr val="bg1"/>
                      </a:solidFill>
                      <a:round/>
                    </a14:hiddenLine>
                  </a:ext>
                  <a:ext uri="{AF507438-7753-43E0-B8FC-AC1667EBCBE1}">
                    <a14:hiddenEffects xmlns:a14="http://schemas.microsoft.com/office/drawing/2010/main">
                      <a:effectLst>
                        <a:outerShdw dist="109250" dir="3267739" algn="ctr" rotWithShape="0">
                          <a:srgbClr val="808080">
                            <a:alpha val="50000"/>
                          </a:srgbClr>
                        </a:outerShdw>
                      </a:effectLst>
                    </a14:hiddenEffects>
                  </a:ext>
                </a:extLst>
              </p:spPr>
              <p:txBody>
                <a:bodyPr anchor="ctr">
                  <a:spAutoFit/>
                </a:bodyPr>
                <a:lstStyle/>
                <a:p>
                  <a:endParaRPr lang="zh-CN" altLang="en-US"/>
                </a:p>
              </p:txBody>
            </p:sp>
            <p:sp>
              <p:nvSpPr>
                <p:cNvPr id="76" name="Oval 38"/>
                <p:cNvSpPr>
                  <a:spLocks noChangeArrowheads="1"/>
                </p:cNvSpPr>
                <p:nvPr/>
              </p:nvSpPr>
              <p:spPr bwMode="gray">
                <a:xfrm>
                  <a:off x="2337" y="1939"/>
                  <a:ext cx="1096" cy="1098"/>
                </a:xfrm>
                <a:prstGeom prst="ellipse">
                  <a:avLst/>
                </a:prstGeom>
                <a:gradFill rotWithShape="1">
                  <a:gsLst>
                    <a:gs pos="0">
                      <a:srgbClr val="8D67E1"/>
                    </a:gs>
                    <a:gs pos="100000">
                      <a:srgbClr val="8D67E1">
                        <a:gamma/>
                        <a:shade val="48627"/>
                        <a:invGamma/>
                      </a:srgbClr>
                    </a:gs>
                  </a:gsLst>
                  <a:lin ang="2700000" scaled="1"/>
                </a:gradFill>
                <a:ln>
                  <a:noFill/>
                </a:ln>
                <a:effectLst/>
                <a:extLst>
                  <a:ext uri="{91240B29-F687-4F45-9708-019B960494DF}">
                    <a14:hiddenLine xmlns:a14="http://schemas.microsoft.com/office/drawing/2010/main" w="38100">
                      <a:solidFill>
                        <a:schemeClr val="bg1"/>
                      </a:solidFill>
                      <a:round/>
                    </a14:hiddenLine>
                  </a:ext>
                  <a:ext uri="{AF507438-7753-43E0-B8FC-AC1667EBCBE1}">
                    <a14:hiddenEffects xmlns:a14="http://schemas.microsoft.com/office/drawing/2010/main">
                      <a:effectLst>
                        <a:outerShdw dist="109250" dir="3267739" algn="ctr" rotWithShape="0">
                          <a:srgbClr val="808080">
                            <a:alpha val="50000"/>
                          </a:srgbClr>
                        </a:outerShdw>
                      </a:effectLst>
                    </a14:hiddenEffects>
                  </a:ext>
                </a:extLst>
              </p:spPr>
              <p:txBody>
                <a:bodyPr anchor="ctr">
                  <a:spAutoFit/>
                </a:bodyPr>
                <a:lstStyle/>
                <a:p>
                  <a:endParaRPr lang="zh-CN" altLang="en-US"/>
                </a:p>
              </p:txBody>
            </p:sp>
          </p:grpSp>
        </p:grpSp>
        <p:grpSp>
          <p:nvGrpSpPr>
            <p:cNvPr id="60" name="Group 51"/>
            <p:cNvGrpSpPr/>
            <p:nvPr/>
          </p:nvGrpSpPr>
          <p:grpSpPr bwMode="auto">
            <a:xfrm>
              <a:off x="960" y="3308"/>
              <a:ext cx="2972" cy="320"/>
              <a:chOff x="960" y="3308"/>
              <a:chExt cx="2972" cy="320"/>
            </a:xfrm>
          </p:grpSpPr>
          <p:sp>
            <p:nvSpPr>
              <p:cNvPr id="61" name="AutoShape 6"/>
              <p:cNvSpPr>
                <a:spLocks noChangeArrowheads="1"/>
              </p:cNvSpPr>
              <p:nvPr/>
            </p:nvSpPr>
            <p:spPr bwMode="gray">
              <a:xfrm>
                <a:off x="1148" y="3308"/>
                <a:ext cx="2784" cy="320"/>
              </a:xfrm>
              <a:prstGeom prst="roundRect">
                <a:avLst>
                  <a:gd name="adj" fmla="val 50000"/>
                </a:avLst>
              </a:prstGeom>
              <a:noFill/>
              <a:ln w="28575" algn="ctr">
                <a:solidFill>
                  <a:schemeClr val="bg2"/>
                </a:solidFill>
                <a:rou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hangingPunct="0"/>
                <a:r>
                  <a:rPr lang="zh-CN" altLang="en-US" sz="2400" b="1" dirty="0">
                    <a:latin typeface="华文新魏" panose="02010800040101010101" pitchFamily="2" charset="-122"/>
                    <a:ea typeface="华文新魏" panose="02010800040101010101" pitchFamily="2" charset="-122"/>
                  </a:rPr>
                  <a:t>数制转换</a:t>
                </a:r>
                <a:endParaRPr lang="en-US" altLang="zh-CN" sz="2400" b="1" dirty="0">
                  <a:latin typeface="华文新魏" panose="02010800040101010101" pitchFamily="2" charset="-122"/>
                  <a:ea typeface="华文新魏" panose="02010800040101010101" pitchFamily="2" charset="-122"/>
                </a:endParaRPr>
              </a:p>
            </p:txBody>
          </p:sp>
          <p:grpSp>
            <p:nvGrpSpPr>
              <p:cNvPr id="62" name="Group 39"/>
              <p:cNvGrpSpPr/>
              <p:nvPr/>
            </p:nvGrpSpPr>
            <p:grpSpPr bwMode="auto">
              <a:xfrm>
                <a:off x="960" y="3339"/>
                <a:ext cx="224" cy="240"/>
                <a:chOff x="2078" y="1680"/>
                <a:chExt cx="1615" cy="1615"/>
              </a:xfrm>
            </p:grpSpPr>
            <p:sp>
              <p:nvSpPr>
                <p:cNvPr id="63" name="Oval 40"/>
                <p:cNvSpPr>
                  <a:spLocks noChangeArrowheads="1"/>
                </p:cNvSpPr>
                <p:nvPr/>
              </p:nvSpPr>
              <p:spPr bwMode="gray">
                <a:xfrm>
                  <a:off x="2078" y="1680"/>
                  <a:ext cx="1615" cy="1615"/>
                </a:xfrm>
                <a:prstGeom prst="ellipse">
                  <a:avLst/>
                </a:prstGeom>
                <a:gradFill rotWithShape="1">
                  <a:gsLst>
                    <a:gs pos="0">
                      <a:srgbClr val="FFFFFF">
                        <a:gamma/>
                        <a:shade val="46275"/>
                        <a:invGamma/>
                      </a:srgbClr>
                    </a:gs>
                    <a:gs pos="50000">
                      <a:srgbClr val="FFFFFF"/>
                    </a:gs>
                    <a:gs pos="100000">
                      <a:srgbClr val="FFFFFF">
                        <a:gamma/>
                        <a:shade val="46275"/>
                        <a:invGamma/>
                      </a:srgbClr>
                    </a:gs>
                  </a:gsLst>
                  <a:lin ang="5400000" scaled="1"/>
                </a:gradFill>
                <a:ln>
                  <a:noFill/>
                </a:ln>
                <a:effectLst/>
                <a:extLst>
                  <a:ext uri="{91240B29-F687-4F45-9708-019B960494DF}">
                    <a14:hiddenLine xmlns:a14="http://schemas.microsoft.com/office/drawing/2010/main" w="57150">
                      <a:solidFill>
                        <a:schemeClr val="bg1"/>
                      </a:solidFill>
                      <a:round/>
                    </a14:hiddenLine>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endParaRPr lang="zh-CN" altLang="en-US"/>
                </a:p>
              </p:txBody>
            </p:sp>
            <p:sp>
              <p:nvSpPr>
                <p:cNvPr id="64" name="Oval 41"/>
                <p:cNvSpPr>
                  <a:spLocks noChangeArrowheads="1"/>
                </p:cNvSpPr>
                <p:nvPr/>
              </p:nvSpPr>
              <p:spPr bwMode="gray">
                <a:xfrm>
                  <a:off x="2170" y="1771"/>
                  <a:ext cx="1430" cy="1430"/>
                </a:xfrm>
                <a:prstGeom prst="ellipse">
                  <a:avLst/>
                </a:prstGeom>
                <a:gradFill rotWithShape="1">
                  <a:gsLst>
                    <a:gs pos="0">
                      <a:srgbClr val="FFFFFF">
                        <a:gamma/>
                        <a:shade val="63529"/>
                        <a:invGamma/>
                      </a:srgbClr>
                    </a:gs>
                    <a:gs pos="50000">
                      <a:srgbClr val="FFFFFF"/>
                    </a:gs>
                    <a:gs pos="100000">
                      <a:srgbClr val="FFFFFF">
                        <a:gamma/>
                        <a:shade val="63529"/>
                        <a:invGamma/>
                      </a:srgbClr>
                    </a:gs>
                  </a:gsLst>
                  <a:lin ang="0" scaled="1"/>
                </a:gra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endParaRPr lang="zh-CN" altLang="en-US"/>
                </a:p>
              </p:txBody>
            </p:sp>
            <p:sp>
              <p:nvSpPr>
                <p:cNvPr id="65" name="Oval 42"/>
                <p:cNvSpPr>
                  <a:spLocks noChangeArrowheads="1"/>
                </p:cNvSpPr>
                <p:nvPr/>
              </p:nvSpPr>
              <p:spPr bwMode="gray">
                <a:xfrm>
                  <a:off x="2254" y="1856"/>
                  <a:ext cx="1262" cy="1264"/>
                </a:xfrm>
                <a:prstGeom prst="ellipse">
                  <a:avLst/>
                </a:prstGeom>
                <a:gradFill rotWithShape="1">
                  <a:gsLst>
                    <a:gs pos="0">
                      <a:schemeClr val="hlink">
                        <a:gamma/>
                        <a:tint val="0"/>
                        <a:invGamma/>
                      </a:schemeClr>
                    </a:gs>
                    <a:gs pos="50000">
                      <a:schemeClr val="hlink"/>
                    </a:gs>
                    <a:gs pos="100000">
                      <a:schemeClr val="hlink">
                        <a:gamma/>
                        <a:tint val="0"/>
                        <a:invGamma/>
                      </a:schemeClr>
                    </a:gs>
                  </a:gsLst>
                  <a:lin ang="2700000" scaled="1"/>
                </a:gradFill>
                <a:ln>
                  <a:noFill/>
                </a:ln>
                <a:effectLst/>
                <a:extLst>
                  <a:ext uri="{91240B29-F687-4F45-9708-019B960494DF}">
                    <a14:hiddenLine xmlns:a14="http://schemas.microsoft.com/office/drawing/2010/main" w="38100">
                      <a:solidFill>
                        <a:schemeClr val="bg1"/>
                      </a:solidFill>
                      <a:round/>
                    </a14:hiddenLine>
                  </a:ext>
                  <a:ext uri="{AF507438-7753-43E0-B8FC-AC1667EBCBE1}">
                    <a14:hiddenEffects xmlns:a14="http://schemas.microsoft.com/office/drawing/2010/main">
                      <a:effectLst>
                        <a:outerShdw dist="109250" dir="3267739" algn="ctr" rotWithShape="0">
                          <a:srgbClr val="808080">
                            <a:alpha val="50000"/>
                          </a:srgbClr>
                        </a:outerShdw>
                      </a:effectLst>
                    </a14:hiddenEffects>
                  </a:ext>
                </a:extLst>
              </p:spPr>
              <p:txBody>
                <a:bodyPr wrap="none" anchor="ctr">
                  <a:spAutoFit/>
                </a:bodyPr>
                <a:lstStyle/>
                <a:p>
                  <a:endParaRPr lang="zh-CN" altLang="en-US"/>
                </a:p>
              </p:txBody>
            </p:sp>
            <p:sp>
              <p:nvSpPr>
                <p:cNvPr id="66" name="Oval 43"/>
                <p:cNvSpPr>
                  <a:spLocks noChangeArrowheads="1"/>
                </p:cNvSpPr>
                <p:nvPr/>
              </p:nvSpPr>
              <p:spPr bwMode="gray">
                <a:xfrm>
                  <a:off x="2254" y="1856"/>
                  <a:ext cx="1262" cy="1264"/>
                </a:xfrm>
                <a:prstGeom prst="ellipse">
                  <a:avLst/>
                </a:prstGeom>
                <a:gradFill rotWithShape="1">
                  <a:gsLst>
                    <a:gs pos="0">
                      <a:srgbClr val="E35E23">
                        <a:gamma/>
                        <a:shade val="0"/>
                        <a:invGamma/>
                      </a:srgbClr>
                    </a:gs>
                    <a:gs pos="100000">
                      <a:srgbClr val="E35E23"/>
                    </a:gs>
                  </a:gsLst>
                  <a:lin ang="2700000" scaled="1"/>
                </a:gradFill>
                <a:ln>
                  <a:noFill/>
                </a:ln>
                <a:effectLst/>
                <a:extLst>
                  <a:ext uri="{91240B29-F687-4F45-9708-019B960494DF}">
                    <a14:hiddenLine xmlns:a14="http://schemas.microsoft.com/office/drawing/2010/main" w="38100">
                      <a:solidFill>
                        <a:schemeClr val="bg1"/>
                      </a:solidFill>
                      <a:round/>
                    </a14:hiddenLine>
                  </a:ext>
                  <a:ext uri="{AF507438-7753-43E0-B8FC-AC1667EBCBE1}">
                    <a14:hiddenEffects xmlns:a14="http://schemas.microsoft.com/office/drawing/2010/main">
                      <a:effectLst>
                        <a:outerShdw dist="109250" dir="3267739" algn="ctr" rotWithShape="0">
                          <a:srgbClr val="808080">
                            <a:alpha val="50000"/>
                          </a:srgbClr>
                        </a:outerShdw>
                      </a:effectLst>
                    </a14:hiddenEffects>
                  </a:ext>
                </a:extLst>
              </p:spPr>
              <p:txBody>
                <a:bodyPr wrap="none" anchor="ctr">
                  <a:spAutoFit/>
                </a:bodyPr>
                <a:lstStyle/>
                <a:p>
                  <a:endParaRPr lang="zh-CN" altLang="en-US"/>
                </a:p>
              </p:txBody>
            </p:sp>
            <p:sp>
              <p:nvSpPr>
                <p:cNvPr id="67" name="Oval 44"/>
                <p:cNvSpPr>
                  <a:spLocks noChangeArrowheads="1"/>
                </p:cNvSpPr>
                <p:nvPr/>
              </p:nvSpPr>
              <p:spPr bwMode="gray">
                <a:xfrm>
                  <a:off x="2337" y="1939"/>
                  <a:ext cx="1096" cy="1098"/>
                </a:xfrm>
                <a:prstGeom prst="ellipse">
                  <a:avLst/>
                </a:prstGeom>
                <a:gradFill rotWithShape="1">
                  <a:gsLst>
                    <a:gs pos="0">
                      <a:schemeClr val="hlink">
                        <a:gamma/>
                        <a:shade val="54118"/>
                        <a:invGamma/>
                      </a:schemeClr>
                    </a:gs>
                    <a:gs pos="50000">
                      <a:schemeClr val="hlink"/>
                    </a:gs>
                    <a:gs pos="100000">
                      <a:schemeClr val="hlink">
                        <a:gamma/>
                        <a:shade val="54118"/>
                        <a:invGamma/>
                      </a:schemeClr>
                    </a:gs>
                  </a:gsLst>
                  <a:lin ang="18900000" scaled="1"/>
                </a:gradFill>
                <a:ln>
                  <a:noFill/>
                </a:ln>
                <a:effectLst/>
                <a:extLst>
                  <a:ext uri="{91240B29-F687-4F45-9708-019B960494DF}">
                    <a14:hiddenLine xmlns:a14="http://schemas.microsoft.com/office/drawing/2010/main" w="38100">
                      <a:solidFill>
                        <a:schemeClr val="bg1"/>
                      </a:solidFill>
                      <a:round/>
                    </a14:hiddenLine>
                  </a:ext>
                  <a:ext uri="{AF507438-7753-43E0-B8FC-AC1667EBCBE1}">
                    <a14:hiddenEffects xmlns:a14="http://schemas.microsoft.com/office/drawing/2010/main">
                      <a:effectLst>
                        <a:outerShdw dist="109250" dir="3267739" algn="ctr" rotWithShape="0">
                          <a:srgbClr val="808080">
                            <a:alpha val="50000"/>
                          </a:srgbClr>
                        </a:outerShdw>
                      </a:effectLst>
                    </a14:hiddenEffects>
                  </a:ext>
                </a:extLst>
              </p:spPr>
              <p:txBody>
                <a:bodyPr anchor="ctr">
                  <a:spAutoFit/>
                </a:bodyPr>
                <a:lstStyle/>
                <a:p>
                  <a:endParaRPr lang="zh-CN" altLang="en-US"/>
                </a:p>
              </p:txBody>
            </p:sp>
            <p:sp>
              <p:nvSpPr>
                <p:cNvPr id="68" name="Oval 45"/>
                <p:cNvSpPr>
                  <a:spLocks noChangeArrowheads="1"/>
                </p:cNvSpPr>
                <p:nvPr/>
              </p:nvSpPr>
              <p:spPr bwMode="gray">
                <a:xfrm>
                  <a:off x="2337" y="1939"/>
                  <a:ext cx="1096" cy="1098"/>
                </a:xfrm>
                <a:prstGeom prst="ellipse">
                  <a:avLst/>
                </a:prstGeom>
                <a:gradFill rotWithShape="1">
                  <a:gsLst>
                    <a:gs pos="0">
                      <a:srgbClr val="E35E23"/>
                    </a:gs>
                    <a:gs pos="100000">
                      <a:srgbClr val="E35E23">
                        <a:gamma/>
                        <a:shade val="48627"/>
                        <a:invGamma/>
                      </a:srgbClr>
                    </a:gs>
                  </a:gsLst>
                  <a:lin ang="2700000" scaled="1"/>
                </a:gradFill>
                <a:ln>
                  <a:noFill/>
                </a:ln>
                <a:effectLst/>
                <a:extLst>
                  <a:ext uri="{91240B29-F687-4F45-9708-019B960494DF}">
                    <a14:hiddenLine xmlns:a14="http://schemas.microsoft.com/office/drawing/2010/main" w="38100">
                      <a:solidFill>
                        <a:schemeClr val="bg1"/>
                      </a:solidFill>
                      <a:round/>
                    </a14:hiddenLine>
                  </a:ext>
                  <a:ext uri="{AF507438-7753-43E0-B8FC-AC1667EBCBE1}">
                    <a14:hiddenEffects xmlns:a14="http://schemas.microsoft.com/office/drawing/2010/main">
                      <a:effectLst>
                        <a:outerShdw dist="109250" dir="3267739" algn="ctr" rotWithShape="0">
                          <a:srgbClr val="808080">
                            <a:alpha val="50000"/>
                          </a:srgbClr>
                        </a:outerShdw>
                      </a:effectLst>
                    </a14:hiddenEffects>
                  </a:ext>
                </a:extLst>
              </p:spPr>
              <p:txBody>
                <a:bodyPr anchor="ctr">
                  <a:spAutoFit/>
                </a:bodyPr>
                <a:lstStyle/>
                <a:p>
                  <a:endParaRPr lang="zh-CN" altLang="en-US"/>
                </a:p>
              </p:txBody>
            </p:sp>
          </p:grpSp>
        </p:grpSp>
      </p:gr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C++</a:t>
            </a:r>
            <a:r>
              <a:rPr lang="zh-CN" altLang="en-US" dirty="0"/>
              <a:t>语言概述</a:t>
            </a:r>
            <a:endParaRPr lang="zh-CN" altLang="en-US" dirty="0"/>
          </a:p>
        </p:txBody>
      </p:sp>
      <p:sp>
        <p:nvSpPr>
          <p:cNvPr id="3" name="内容占位符 2"/>
          <p:cNvSpPr>
            <a:spLocks noGrp="1"/>
          </p:cNvSpPr>
          <p:nvPr>
            <p:ph idx="1"/>
          </p:nvPr>
        </p:nvSpPr>
        <p:spPr/>
        <p:txBody>
          <a:bodyPr/>
          <a:lstStyle/>
          <a:p>
            <a:r>
              <a:rPr lang="zh-CN" altLang="en-US" dirty="0"/>
              <a:t>为什么选择</a:t>
            </a:r>
            <a:r>
              <a:rPr lang="en-US" altLang="zh-CN" dirty="0"/>
              <a:t>C++</a:t>
            </a:r>
            <a:r>
              <a:rPr lang="zh-CN" altLang="en-US" dirty="0"/>
              <a:t>语言</a:t>
            </a:r>
            <a:endParaRPr lang="en-US" altLang="zh-CN" dirty="0"/>
          </a:p>
          <a:p>
            <a:pPr lvl="1"/>
            <a:r>
              <a:rPr lang="zh-CN" altLang="en-US" dirty="0"/>
              <a:t>面向对象程序设计正在逐渐成为主流设计技术</a:t>
            </a:r>
            <a:endParaRPr lang="en-US" altLang="zh-CN" dirty="0"/>
          </a:p>
          <a:p>
            <a:pPr lvl="1"/>
            <a:r>
              <a:rPr lang="en-US" altLang="zh-CN" dirty="0"/>
              <a:t>OOP </a:t>
            </a:r>
            <a:r>
              <a:rPr lang="zh-CN" altLang="en-US" dirty="0"/>
              <a:t>技术并不取代</a:t>
            </a:r>
            <a:r>
              <a:rPr lang="en-US" altLang="zh-CN" dirty="0"/>
              <a:t>SP </a:t>
            </a:r>
            <a:r>
              <a:rPr lang="zh-CN" altLang="en-US" dirty="0"/>
              <a:t>和一般的程序设计的技能技巧</a:t>
            </a:r>
            <a:endParaRPr lang="en-US" altLang="zh-CN" dirty="0"/>
          </a:p>
          <a:p>
            <a:pPr lvl="1"/>
            <a:r>
              <a:rPr lang="zh-CN" altLang="en-US" dirty="0"/>
              <a:t>由于各大公司的竞相开发，</a:t>
            </a:r>
            <a:r>
              <a:rPr lang="en-US" altLang="zh-CN" dirty="0"/>
              <a:t>C++</a:t>
            </a:r>
            <a:r>
              <a:rPr lang="zh-CN" altLang="en-US" dirty="0"/>
              <a:t>语言在各种不同机型上都有优秀的编译系统和相关的环境与工具</a:t>
            </a:r>
            <a:endParaRPr lang="en-US" altLang="zh-CN" dirty="0"/>
          </a:p>
          <a:p>
            <a:pPr lvl="1"/>
            <a:r>
              <a:rPr lang="en-US" altLang="zh-CN" dirty="0"/>
              <a:t>C++</a:t>
            </a:r>
            <a:r>
              <a:rPr lang="zh-CN" altLang="en-US" dirty="0"/>
              <a:t>语言最可能取代</a:t>
            </a:r>
            <a:r>
              <a:rPr lang="en-US" altLang="zh-CN" dirty="0"/>
              <a:t>C </a:t>
            </a:r>
            <a:r>
              <a:rPr lang="zh-CN" altLang="en-US" dirty="0"/>
              <a:t>而成为主流的软件开发语言之一</a:t>
            </a:r>
            <a:endParaRPr lang="en-US" altLang="zh-CN" dirty="0"/>
          </a:p>
          <a:p>
            <a:pPr lvl="1"/>
            <a:r>
              <a:rPr lang="en-US" altLang="zh-CN" dirty="0"/>
              <a:t>C++</a:t>
            </a:r>
            <a:r>
              <a:rPr lang="zh-CN" altLang="en-US" dirty="0"/>
              <a:t>语言已成为计算机专业主要的教学语言 </a:t>
            </a:r>
            <a:endParaRPr lang="en-US" altLang="zh-CN"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C++</a:t>
            </a:r>
            <a:r>
              <a:rPr lang="zh-CN" altLang="en-US" dirty="0"/>
              <a:t>语言概述</a:t>
            </a:r>
            <a:endParaRPr lang="zh-CN" altLang="en-US" dirty="0"/>
          </a:p>
        </p:txBody>
      </p:sp>
      <p:sp>
        <p:nvSpPr>
          <p:cNvPr id="3" name="内容占位符 2"/>
          <p:cNvSpPr>
            <a:spLocks noGrp="1"/>
          </p:cNvSpPr>
          <p:nvPr>
            <p:ph idx="1"/>
          </p:nvPr>
        </p:nvSpPr>
        <p:spPr/>
        <p:txBody>
          <a:bodyPr/>
          <a:lstStyle/>
          <a:p>
            <a:r>
              <a:rPr lang="en-US" altLang="zh-CN" dirty="0"/>
              <a:t>C++</a:t>
            </a:r>
            <a:r>
              <a:rPr lang="zh-CN" altLang="en-US" dirty="0"/>
              <a:t>语言简史</a:t>
            </a:r>
            <a:endParaRPr lang="en-US" altLang="zh-CN" dirty="0"/>
          </a:p>
          <a:p>
            <a:pPr lvl="1"/>
            <a:r>
              <a:rPr lang="en-US" altLang="zh-CN" dirty="0"/>
              <a:t>C++</a:t>
            </a:r>
            <a:r>
              <a:rPr lang="zh-CN" altLang="en-US" dirty="0"/>
              <a:t>语言的作者是美国</a:t>
            </a:r>
            <a:r>
              <a:rPr lang="en-US" altLang="zh-CN" dirty="0"/>
              <a:t>AT&amp;T</a:t>
            </a:r>
            <a:r>
              <a:rPr lang="zh-CN" altLang="en-US" dirty="0"/>
              <a:t>公司</a:t>
            </a:r>
            <a:r>
              <a:rPr lang="en-US" altLang="zh-CN" dirty="0"/>
              <a:t>Bell</a:t>
            </a:r>
            <a:r>
              <a:rPr lang="zh-CN" altLang="en-US" dirty="0"/>
              <a:t>实验室的</a:t>
            </a:r>
            <a:r>
              <a:rPr lang="en-US" altLang="zh-CN" dirty="0" err="1"/>
              <a:t>Bjarne</a:t>
            </a:r>
            <a:r>
              <a:rPr lang="en-US" altLang="zh-CN" dirty="0"/>
              <a:t> </a:t>
            </a:r>
            <a:r>
              <a:rPr lang="en-US" altLang="zh-CN" dirty="0" err="1"/>
              <a:t>Stroustrup</a:t>
            </a:r>
            <a:r>
              <a:rPr lang="en-US" altLang="zh-CN" dirty="0"/>
              <a:t> </a:t>
            </a:r>
            <a:endParaRPr lang="en-US" altLang="zh-CN" dirty="0"/>
          </a:p>
          <a:p>
            <a:pPr lvl="2"/>
            <a:r>
              <a:rPr lang="zh-CN" altLang="en-US" dirty="0"/>
              <a:t>带类的</a:t>
            </a:r>
            <a:r>
              <a:rPr lang="en-US" altLang="zh-CN" dirty="0"/>
              <a:t>C</a:t>
            </a:r>
            <a:endParaRPr lang="en-US" altLang="zh-CN" dirty="0"/>
          </a:p>
          <a:p>
            <a:pPr lvl="2"/>
            <a:r>
              <a:rPr lang="en-US" altLang="zh-CN" dirty="0"/>
              <a:t>C++</a:t>
            </a:r>
            <a:r>
              <a:rPr lang="zh-CN" altLang="en-US" dirty="0"/>
              <a:t>语言的诞生</a:t>
            </a:r>
            <a:endParaRPr lang="en-US" altLang="zh-CN" dirty="0"/>
          </a:p>
          <a:p>
            <a:pPr lvl="3"/>
            <a:r>
              <a:rPr lang="en-US" altLang="zh-CN" dirty="0">
                <a:solidFill>
                  <a:srgbClr val="C00000"/>
                </a:solidFill>
              </a:rPr>
              <a:t>1985</a:t>
            </a:r>
            <a:r>
              <a:rPr lang="zh-CN" altLang="en-US" dirty="0">
                <a:solidFill>
                  <a:srgbClr val="C00000"/>
                </a:solidFill>
              </a:rPr>
              <a:t>年，</a:t>
            </a:r>
            <a:r>
              <a:rPr lang="en-US" altLang="zh-CN" dirty="0">
                <a:solidFill>
                  <a:srgbClr val="C00000"/>
                </a:solidFill>
              </a:rPr>
              <a:t>C++1.0</a:t>
            </a:r>
            <a:r>
              <a:rPr lang="zh-CN" altLang="en-US" dirty="0">
                <a:solidFill>
                  <a:srgbClr val="C00000"/>
                </a:solidFill>
              </a:rPr>
              <a:t>版</a:t>
            </a:r>
            <a:endParaRPr lang="en-US" altLang="zh-CN" dirty="0">
              <a:solidFill>
                <a:srgbClr val="C00000"/>
              </a:solidFill>
            </a:endParaRPr>
          </a:p>
          <a:p>
            <a:pPr lvl="2"/>
            <a:r>
              <a:rPr lang="en-US" altLang="zh-CN" dirty="0"/>
              <a:t>C++</a:t>
            </a:r>
            <a:r>
              <a:rPr lang="zh-CN" altLang="en-US" dirty="0"/>
              <a:t>语言的发展</a:t>
            </a:r>
            <a:endParaRPr lang="en-US" altLang="zh-CN" dirty="0"/>
          </a:p>
          <a:p>
            <a:pPr lvl="3"/>
            <a:r>
              <a:rPr lang="en-US" altLang="zh-CN" dirty="0">
                <a:solidFill>
                  <a:srgbClr val="C00000"/>
                </a:solidFill>
              </a:rPr>
              <a:t>1989</a:t>
            </a:r>
            <a:r>
              <a:rPr lang="zh-CN" altLang="en-US" dirty="0">
                <a:solidFill>
                  <a:srgbClr val="C00000"/>
                </a:solidFill>
              </a:rPr>
              <a:t>年，</a:t>
            </a:r>
            <a:r>
              <a:rPr lang="en-US" altLang="zh-CN" dirty="0">
                <a:solidFill>
                  <a:srgbClr val="C00000"/>
                </a:solidFill>
              </a:rPr>
              <a:t>C++2.0</a:t>
            </a:r>
            <a:r>
              <a:rPr lang="zh-CN" altLang="en-US" dirty="0">
                <a:solidFill>
                  <a:srgbClr val="C00000"/>
                </a:solidFill>
              </a:rPr>
              <a:t>版</a:t>
            </a:r>
            <a:endParaRPr lang="en-US" altLang="zh-CN" dirty="0">
              <a:solidFill>
                <a:srgbClr val="C00000"/>
              </a:solidFill>
            </a:endParaRPr>
          </a:p>
          <a:p>
            <a:pPr lvl="3"/>
            <a:r>
              <a:rPr lang="en-US" altLang="zh-CN" dirty="0">
                <a:solidFill>
                  <a:srgbClr val="C00000"/>
                </a:solidFill>
              </a:rPr>
              <a:t>1993</a:t>
            </a:r>
            <a:r>
              <a:rPr lang="zh-CN" altLang="en-US" dirty="0">
                <a:solidFill>
                  <a:srgbClr val="C00000"/>
                </a:solidFill>
              </a:rPr>
              <a:t>年，</a:t>
            </a:r>
            <a:r>
              <a:rPr lang="en-US" altLang="zh-CN" dirty="0">
                <a:solidFill>
                  <a:srgbClr val="C00000"/>
                </a:solidFill>
              </a:rPr>
              <a:t>C++3.0</a:t>
            </a:r>
            <a:r>
              <a:rPr lang="zh-CN" altLang="en-US" dirty="0">
                <a:solidFill>
                  <a:srgbClr val="C00000"/>
                </a:solidFill>
              </a:rPr>
              <a:t>版</a:t>
            </a:r>
            <a:endParaRPr lang="en-US" altLang="zh-CN" dirty="0">
              <a:solidFill>
                <a:srgbClr val="C00000"/>
              </a:solidFill>
            </a:endParaRPr>
          </a:p>
          <a:p>
            <a:pPr lvl="3"/>
            <a:r>
              <a:rPr lang="en-US" altLang="zh-CN" dirty="0">
                <a:solidFill>
                  <a:srgbClr val="C00000"/>
                </a:solidFill>
              </a:rPr>
              <a:t>1998</a:t>
            </a:r>
            <a:r>
              <a:rPr lang="zh-CN" altLang="en-US" dirty="0">
                <a:solidFill>
                  <a:srgbClr val="C00000"/>
                </a:solidFill>
              </a:rPr>
              <a:t>年，</a:t>
            </a:r>
            <a:r>
              <a:rPr lang="en-US" altLang="zh-CN" dirty="0">
                <a:solidFill>
                  <a:srgbClr val="C00000"/>
                </a:solidFill>
              </a:rPr>
              <a:t>C++</a:t>
            </a:r>
            <a:r>
              <a:rPr lang="zh-CN" altLang="en-US" dirty="0">
                <a:solidFill>
                  <a:srgbClr val="C00000"/>
                </a:solidFill>
              </a:rPr>
              <a:t>标准诞生</a:t>
            </a:r>
            <a:endParaRPr lang="en-US" altLang="zh-CN" dirty="0">
              <a:solidFill>
                <a:srgbClr val="C00000"/>
              </a:solidFill>
            </a:endParaRPr>
          </a:p>
          <a:p>
            <a:pPr lvl="3"/>
            <a:r>
              <a:rPr lang="en-US" altLang="zh-CN" dirty="0">
                <a:solidFill>
                  <a:srgbClr val="C00000"/>
                </a:solidFill>
              </a:rPr>
              <a:t>2011</a:t>
            </a:r>
            <a:r>
              <a:rPr lang="zh-CN" altLang="en-US" dirty="0">
                <a:solidFill>
                  <a:srgbClr val="C00000"/>
                </a:solidFill>
              </a:rPr>
              <a:t>年，</a:t>
            </a:r>
            <a:r>
              <a:rPr lang="en-US" altLang="zh-CN" dirty="0">
                <a:solidFill>
                  <a:srgbClr val="C00000"/>
                </a:solidFill>
              </a:rPr>
              <a:t>C++11</a:t>
            </a:r>
            <a:r>
              <a:rPr lang="zh-CN" altLang="en-US" dirty="0">
                <a:solidFill>
                  <a:srgbClr val="C00000"/>
                </a:solidFill>
              </a:rPr>
              <a:t>标准</a:t>
            </a:r>
            <a:endParaRPr lang="zh-CN" altLang="en-US" dirty="0">
              <a:solidFill>
                <a:srgbClr val="C00000"/>
              </a:solidFill>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C++</a:t>
            </a:r>
            <a:r>
              <a:rPr lang="zh-CN" altLang="en-US" dirty="0"/>
              <a:t>语言概述</a:t>
            </a:r>
            <a:endParaRPr lang="zh-CN" altLang="en-US" dirty="0"/>
          </a:p>
        </p:txBody>
      </p:sp>
      <p:sp>
        <p:nvSpPr>
          <p:cNvPr id="3" name="内容占位符 2"/>
          <p:cNvSpPr>
            <a:spLocks noGrp="1"/>
          </p:cNvSpPr>
          <p:nvPr>
            <p:ph idx="1"/>
          </p:nvPr>
        </p:nvSpPr>
        <p:spPr/>
        <p:txBody>
          <a:bodyPr/>
          <a:lstStyle/>
          <a:p>
            <a:r>
              <a:rPr lang="en-US" altLang="zh-CN" dirty="0"/>
              <a:t>C++</a:t>
            </a:r>
            <a:r>
              <a:rPr lang="zh-CN" altLang="en-US" dirty="0"/>
              <a:t>语言的特点</a:t>
            </a:r>
            <a:endParaRPr lang="en-US" altLang="zh-CN" dirty="0"/>
          </a:p>
          <a:p>
            <a:pPr lvl="1"/>
            <a:r>
              <a:rPr lang="en-US" altLang="zh-CN" dirty="0"/>
              <a:t>C++</a:t>
            </a:r>
            <a:r>
              <a:rPr lang="zh-CN" altLang="en-US" dirty="0"/>
              <a:t>语言是支持面向对象程序设计的最主要的代表语言之一。</a:t>
            </a:r>
            <a:endParaRPr lang="en-US" altLang="zh-CN" dirty="0"/>
          </a:p>
          <a:p>
            <a:pPr lvl="3"/>
            <a:r>
              <a:rPr lang="zh-CN" altLang="en-US" dirty="0"/>
              <a:t>封装和信息隐藏</a:t>
            </a:r>
            <a:endParaRPr lang="en-US" altLang="zh-CN" dirty="0"/>
          </a:p>
          <a:p>
            <a:pPr lvl="3"/>
            <a:r>
              <a:rPr lang="zh-CN" altLang="en-US" dirty="0"/>
              <a:t>抽象数据类型</a:t>
            </a:r>
            <a:endParaRPr lang="en-US" altLang="zh-CN" dirty="0"/>
          </a:p>
          <a:p>
            <a:pPr lvl="3"/>
            <a:r>
              <a:rPr lang="zh-CN" altLang="en-US" dirty="0"/>
              <a:t>继承和派生</a:t>
            </a:r>
            <a:endParaRPr lang="en-US" altLang="zh-CN" dirty="0"/>
          </a:p>
          <a:p>
            <a:pPr lvl="3"/>
            <a:r>
              <a:rPr lang="zh-CN" altLang="en-US" dirty="0"/>
              <a:t>函数与运算符的重载</a:t>
            </a:r>
            <a:endParaRPr lang="en-US" altLang="zh-CN" dirty="0"/>
          </a:p>
          <a:p>
            <a:pPr lvl="3"/>
            <a:r>
              <a:rPr lang="zh-CN" altLang="en-US" dirty="0"/>
              <a:t>模板</a:t>
            </a:r>
            <a:endParaRPr lang="en-US" altLang="zh-CN" dirty="0"/>
          </a:p>
          <a:p>
            <a:pPr lvl="1"/>
            <a:r>
              <a:rPr lang="en-US" altLang="zh-CN" dirty="0"/>
              <a:t>C++</a:t>
            </a:r>
            <a:r>
              <a:rPr lang="zh-CN" altLang="en-US" dirty="0"/>
              <a:t>语言是程序员和软件开发者在实践中的创造，时时处处体现了面向实用，面向软件开发者的思想</a:t>
            </a:r>
            <a:endParaRPr lang="en-US" altLang="zh-CN" dirty="0"/>
          </a:p>
          <a:p>
            <a:pPr lvl="1"/>
            <a:r>
              <a:rPr lang="en-US" altLang="zh-CN" dirty="0"/>
              <a:t>C++</a:t>
            </a:r>
            <a:r>
              <a:rPr lang="zh-CN" altLang="en-US" dirty="0"/>
              <a:t>语言是</a:t>
            </a:r>
            <a:r>
              <a:rPr lang="en-US" altLang="zh-CN" dirty="0"/>
              <a:t>C</a:t>
            </a:r>
            <a:r>
              <a:rPr lang="zh-CN" altLang="en-US" dirty="0"/>
              <a:t>语言的超集</a:t>
            </a:r>
            <a:r>
              <a:rPr lang="zh-CN" altLang="en-US" dirty="0">
                <a:latin typeface="+mn-ea"/>
              </a:rPr>
              <a:t> </a:t>
            </a:r>
            <a:endParaRPr lang="zh-CN" altLang="en-US"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C++</a:t>
            </a:r>
            <a:r>
              <a:rPr lang="zh-CN" altLang="en-US" dirty="0"/>
              <a:t>程序简介</a:t>
            </a:r>
            <a:endParaRPr lang="zh-CN" altLang="en-US" dirty="0"/>
          </a:p>
        </p:txBody>
      </p:sp>
      <p:sp>
        <p:nvSpPr>
          <p:cNvPr id="3" name="内容占位符 2"/>
          <p:cNvSpPr>
            <a:spLocks noGrp="1"/>
          </p:cNvSpPr>
          <p:nvPr>
            <p:ph idx="1"/>
          </p:nvPr>
        </p:nvSpPr>
        <p:spPr/>
        <p:txBody>
          <a:bodyPr/>
          <a:lstStyle/>
          <a:p>
            <a:r>
              <a:rPr lang="en-US" altLang="zh-CN" dirty="0"/>
              <a:t>C++</a:t>
            </a:r>
            <a:r>
              <a:rPr lang="zh-CN" altLang="en-US" dirty="0"/>
              <a:t>程序的结构</a:t>
            </a:r>
            <a:endParaRPr lang="en-US" altLang="zh-CN" dirty="0"/>
          </a:p>
          <a:p>
            <a:pPr lvl="1"/>
            <a:r>
              <a:rPr lang="zh-CN" altLang="en-US" dirty="0">
                <a:hlinkClick r:id="rId1" action="ppaction://hlinksldjump"/>
              </a:rPr>
              <a:t>过程型结构</a:t>
            </a:r>
            <a:endParaRPr lang="en-US" altLang="zh-CN" dirty="0"/>
          </a:p>
          <a:p>
            <a:pPr lvl="2"/>
            <a:r>
              <a:rPr lang="zh-CN" altLang="en-US" dirty="0"/>
              <a:t>根据解决问题的步骤组织程序</a:t>
            </a:r>
            <a:endParaRPr lang="en-US" altLang="zh-CN" dirty="0"/>
          </a:p>
          <a:p>
            <a:pPr lvl="1"/>
            <a:r>
              <a:rPr lang="zh-CN" altLang="en-US" dirty="0">
                <a:hlinkClick r:id="rId2" action="ppaction://hlinksldjump"/>
              </a:rPr>
              <a:t>函数型结构</a:t>
            </a:r>
            <a:endParaRPr lang="en-US" altLang="zh-CN" dirty="0"/>
          </a:p>
          <a:p>
            <a:pPr lvl="2"/>
            <a:r>
              <a:rPr lang="zh-CN" altLang="en-US" dirty="0"/>
              <a:t>将待解决的问题分解为若干子问题，用函数进行组织</a:t>
            </a:r>
            <a:endParaRPr lang="en-US" altLang="zh-CN" dirty="0"/>
          </a:p>
          <a:p>
            <a:pPr lvl="1"/>
            <a:r>
              <a:rPr lang="zh-CN" altLang="en-US" dirty="0">
                <a:hlinkClick r:id="rId3" action="ppaction://hlinksldjump"/>
              </a:rPr>
              <a:t>面向对象型结构</a:t>
            </a:r>
            <a:endParaRPr lang="en-US" altLang="zh-CN" dirty="0"/>
          </a:p>
          <a:p>
            <a:pPr lvl="2"/>
            <a:r>
              <a:rPr lang="zh-CN" altLang="en-US" dirty="0"/>
              <a:t>使用类和对象</a:t>
            </a:r>
            <a:endParaRPr lang="en-US" altLang="zh-CN"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过程型结构</a:t>
            </a:r>
            <a:endParaRPr lang="zh-CN" altLang="en-US" dirty="0"/>
          </a:p>
        </p:txBody>
      </p:sp>
      <p:sp>
        <p:nvSpPr>
          <p:cNvPr id="4" name="矩形 3"/>
          <p:cNvSpPr/>
          <p:nvPr/>
        </p:nvSpPr>
        <p:spPr>
          <a:xfrm>
            <a:off x="1403648" y="1988840"/>
            <a:ext cx="6031002" cy="4524315"/>
          </a:xfrm>
          <a:prstGeom prst="rect">
            <a:avLst/>
          </a:prstGeom>
        </p:spPr>
        <p:txBody>
          <a:bodyPr wrap="square">
            <a:spAutoFit/>
          </a:bodyPr>
          <a:lstStyle/>
          <a:p>
            <a:r>
              <a:rPr lang="en-US" altLang="zh-CN" sz="2400" b="1" dirty="0">
                <a:solidFill>
                  <a:srgbClr val="0000FF"/>
                </a:solidFill>
                <a:latin typeface="Courier New" panose="02070309020205020404" pitchFamily="49" charset="0"/>
                <a:cs typeface="Courier New" panose="02070309020205020404" pitchFamily="49" charset="0"/>
              </a:rPr>
              <a:t>#include</a:t>
            </a:r>
            <a:r>
              <a:rPr lang="en-US" altLang="zh-CN" sz="2400" b="1" dirty="0">
                <a:solidFill>
                  <a:schemeClr val="tx2"/>
                </a:solidFill>
                <a:latin typeface="Courier New" panose="02070309020205020404" pitchFamily="49" charset="0"/>
                <a:cs typeface="Courier New" panose="02070309020205020404" pitchFamily="49" charset="0"/>
              </a:rPr>
              <a:t>&lt;</a:t>
            </a:r>
            <a:r>
              <a:rPr lang="en-US" altLang="zh-CN" sz="2400" b="1" dirty="0" err="1">
                <a:solidFill>
                  <a:schemeClr val="tx2"/>
                </a:solidFill>
                <a:latin typeface="Courier New" panose="02070309020205020404" pitchFamily="49" charset="0"/>
                <a:cs typeface="Courier New" panose="02070309020205020404" pitchFamily="49" charset="0"/>
              </a:rPr>
              <a:t>iostream</a:t>
            </a:r>
            <a:r>
              <a:rPr lang="en-US" altLang="zh-CN" sz="2400" b="1" dirty="0">
                <a:solidFill>
                  <a:schemeClr val="tx2"/>
                </a:solidFill>
                <a:latin typeface="Courier New" panose="02070309020205020404" pitchFamily="49" charset="0"/>
                <a:cs typeface="Courier New" panose="02070309020205020404" pitchFamily="49" charset="0"/>
              </a:rPr>
              <a:t>&gt;</a:t>
            </a:r>
            <a:endParaRPr lang="en-US" altLang="zh-CN" sz="2400" b="1" dirty="0">
              <a:solidFill>
                <a:schemeClr val="tx2"/>
              </a:solidFill>
              <a:latin typeface="Courier New" panose="02070309020205020404" pitchFamily="49" charset="0"/>
              <a:cs typeface="Courier New" panose="02070309020205020404" pitchFamily="49" charset="0"/>
            </a:endParaRPr>
          </a:p>
          <a:p>
            <a:r>
              <a:rPr lang="en-US" altLang="zh-CN" sz="2400" b="1" dirty="0">
                <a:solidFill>
                  <a:srgbClr val="0000FF"/>
                </a:solidFill>
                <a:latin typeface="Courier New" panose="02070309020205020404" pitchFamily="49" charset="0"/>
                <a:cs typeface="Courier New" panose="02070309020205020404" pitchFamily="49" charset="0"/>
              </a:rPr>
              <a:t>using namespace</a:t>
            </a:r>
            <a:r>
              <a:rPr lang="en-US" altLang="zh-CN" sz="2400" b="1" dirty="0">
                <a:solidFill>
                  <a:schemeClr val="tx2"/>
                </a:solidFill>
                <a:latin typeface="Courier New" panose="02070309020205020404" pitchFamily="49" charset="0"/>
                <a:cs typeface="Courier New" panose="02070309020205020404" pitchFamily="49" charset="0"/>
              </a:rPr>
              <a:t> </a:t>
            </a:r>
            <a:r>
              <a:rPr lang="en-US" altLang="zh-CN" sz="2400" b="1" dirty="0" err="1">
                <a:solidFill>
                  <a:schemeClr val="tx2"/>
                </a:solidFill>
                <a:latin typeface="Courier New" panose="02070309020205020404" pitchFamily="49" charset="0"/>
                <a:cs typeface="Courier New" panose="02070309020205020404" pitchFamily="49" charset="0"/>
              </a:rPr>
              <a:t>std</a:t>
            </a:r>
            <a:r>
              <a:rPr lang="en-US" altLang="zh-CN" sz="2400" b="1" dirty="0">
                <a:solidFill>
                  <a:schemeClr val="tx2"/>
                </a:solidFill>
                <a:latin typeface="Courier New" panose="02070309020205020404" pitchFamily="49" charset="0"/>
                <a:cs typeface="Courier New" panose="02070309020205020404" pitchFamily="49" charset="0"/>
              </a:rPr>
              <a:t>;</a:t>
            </a:r>
            <a:endParaRPr lang="en-US" altLang="zh-CN" sz="2400" b="1" dirty="0">
              <a:solidFill>
                <a:schemeClr val="tx2"/>
              </a:solidFill>
              <a:latin typeface="Courier New" panose="02070309020205020404" pitchFamily="49" charset="0"/>
              <a:cs typeface="Courier New" panose="02070309020205020404" pitchFamily="49" charset="0"/>
            </a:endParaRPr>
          </a:p>
          <a:p>
            <a:r>
              <a:rPr lang="en-US" altLang="zh-CN" sz="2400" b="1" dirty="0">
                <a:solidFill>
                  <a:srgbClr val="0000FF"/>
                </a:solidFill>
                <a:latin typeface="Courier New" panose="02070309020205020404" pitchFamily="49" charset="0"/>
                <a:cs typeface="Courier New" panose="02070309020205020404" pitchFamily="49" charset="0"/>
              </a:rPr>
              <a:t>void</a:t>
            </a:r>
            <a:r>
              <a:rPr lang="en-US" altLang="zh-CN" sz="2400" b="1" dirty="0">
                <a:solidFill>
                  <a:schemeClr val="tx2"/>
                </a:solidFill>
                <a:latin typeface="Courier New" panose="02070309020205020404" pitchFamily="49" charset="0"/>
                <a:cs typeface="Courier New" panose="02070309020205020404" pitchFamily="49" charset="0"/>
              </a:rPr>
              <a:t> main()</a:t>
            </a:r>
            <a:endParaRPr lang="en-US" altLang="zh-CN" sz="2400" b="1" dirty="0">
              <a:solidFill>
                <a:schemeClr val="tx2"/>
              </a:solidFill>
              <a:latin typeface="Courier New" panose="02070309020205020404" pitchFamily="49" charset="0"/>
              <a:cs typeface="Courier New" panose="02070309020205020404" pitchFamily="49" charset="0"/>
            </a:endParaRPr>
          </a:p>
          <a:p>
            <a:r>
              <a:rPr lang="en-US" altLang="zh-CN" sz="2400" b="1" dirty="0">
                <a:solidFill>
                  <a:schemeClr val="tx2"/>
                </a:solidFill>
                <a:latin typeface="Courier New" panose="02070309020205020404" pitchFamily="49" charset="0"/>
                <a:cs typeface="Courier New" panose="02070309020205020404" pitchFamily="49" charset="0"/>
              </a:rPr>
              <a:t>{</a:t>
            </a:r>
            <a:endParaRPr lang="en-US" altLang="zh-CN" sz="2400" b="1" dirty="0">
              <a:solidFill>
                <a:schemeClr val="tx2"/>
              </a:solidFill>
              <a:latin typeface="Courier New" panose="02070309020205020404" pitchFamily="49" charset="0"/>
              <a:cs typeface="Courier New" panose="02070309020205020404" pitchFamily="49" charset="0"/>
            </a:endParaRPr>
          </a:p>
          <a:p>
            <a:r>
              <a:rPr lang="en-US" altLang="zh-CN" sz="2400" b="1" dirty="0">
                <a:solidFill>
                  <a:schemeClr val="tx2"/>
                </a:solidFill>
                <a:latin typeface="Courier New" panose="02070309020205020404" pitchFamily="49" charset="0"/>
                <a:cs typeface="Courier New" panose="02070309020205020404" pitchFamily="49" charset="0"/>
              </a:rPr>
              <a:t>	</a:t>
            </a:r>
            <a:r>
              <a:rPr lang="en-US" altLang="zh-CN" sz="2400" b="1" dirty="0" err="1">
                <a:solidFill>
                  <a:srgbClr val="0000FF"/>
                </a:solidFill>
                <a:latin typeface="Courier New" panose="02070309020205020404" pitchFamily="49" charset="0"/>
                <a:cs typeface="Courier New" panose="02070309020205020404" pitchFamily="49" charset="0"/>
              </a:rPr>
              <a:t>int</a:t>
            </a:r>
            <a:r>
              <a:rPr lang="en-US" altLang="zh-CN" sz="2400" b="1" dirty="0">
                <a:solidFill>
                  <a:schemeClr val="tx2"/>
                </a:solidFill>
                <a:latin typeface="Courier New" panose="02070309020205020404" pitchFamily="49" charset="0"/>
                <a:cs typeface="Courier New" panose="02070309020205020404" pitchFamily="49" charset="0"/>
              </a:rPr>
              <a:t> </a:t>
            </a:r>
            <a:r>
              <a:rPr lang="en-US" altLang="zh-CN" sz="2400" b="1" dirty="0" err="1">
                <a:solidFill>
                  <a:schemeClr val="tx2"/>
                </a:solidFill>
                <a:latin typeface="Courier New" panose="02070309020205020404" pitchFamily="49" charset="0"/>
                <a:cs typeface="Courier New" panose="02070309020205020404" pitchFamily="49" charset="0"/>
              </a:rPr>
              <a:t>a,b</a:t>
            </a:r>
            <a:r>
              <a:rPr lang="en-US" altLang="zh-CN" sz="2400" b="1" dirty="0">
                <a:solidFill>
                  <a:schemeClr val="tx2"/>
                </a:solidFill>
                <a:latin typeface="Courier New" panose="02070309020205020404" pitchFamily="49" charset="0"/>
                <a:cs typeface="Courier New" panose="02070309020205020404" pitchFamily="49" charset="0"/>
              </a:rPr>
              <a:t>;</a:t>
            </a:r>
            <a:endParaRPr lang="en-US" altLang="zh-CN" sz="2400" b="1" dirty="0">
              <a:solidFill>
                <a:schemeClr val="tx2"/>
              </a:solidFill>
              <a:latin typeface="Courier New" panose="02070309020205020404" pitchFamily="49" charset="0"/>
              <a:cs typeface="Courier New" panose="02070309020205020404" pitchFamily="49" charset="0"/>
            </a:endParaRPr>
          </a:p>
          <a:p>
            <a:r>
              <a:rPr lang="en-US" altLang="zh-CN" sz="2400" b="1" dirty="0">
                <a:solidFill>
                  <a:schemeClr val="tx2"/>
                </a:solidFill>
                <a:latin typeface="Courier New" panose="02070309020205020404" pitchFamily="49" charset="0"/>
                <a:cs typeface="Courier New" panose="02070309020205020404" pitchFamily="49" charset="0"/>
              </a:rPr>
              <a:t>	</a:t>
            </a:r>
            <a:r>
              <a:rPr lang="en-US" altLang="zh-CN" sz="2400" b="1" dirty="0" err="1">
                <a:solidFill>
                  <a:schemeClr val="tx2"/>
                </a:solidFill>
                <a:latin typeface="Courier New" panose="02070309020205020404" pitchFamily="49" charset="0"/>
                <a:cs typeface="Courier New" panose="02070309020205020404" pitchFamily="49" charset="0"/>
              </a:rPr>
              <a:t>cout</a:t>
            </a:r>
            <a:r>
              <a:rPr lang="en-US" altLang="zh-CN" sz="2400" b="1" dirty="0">
                <a:solidFill>
                  <a:schemeClr val="tx2"/>
                </a:solidFill>
                <a:latin typeface="Courier New" panose="02070309020205020404" pitchFamily="49" charset="0"/>
                <a:cs typeface="Courier New" panose="02070309020205020404" pitchFamily="49" charset="0"/>
              </a:rPr>
              <a:t>&lt;&lt;"a=";</a:t>
            </a:r>
            <a:endParaRPr lang="en-US" altLang="zh-CN" sz="2400" b="1" dirty="0">
              <a:solidFill>
                <a:schemeClr val="tx2"/>
              </a:solidFill>
              <a:latin typeface="Courier New" panose="02070309020205020404" pitchFamily="49" charset="0"/>
              <a:cs typeface="Courier New" panose="02070309020205020404" pitchFamily="49" charset="0"/>
            </a:endParaRPr>
          </a:p>
          <a:p>
            <a:r>
              <a:rPr lang="en-US" altLang="zh-CN" sz="2400" b="1" dirty="0">
                <a:solidFill>
                  <a:schemeClr val="tx2"/>
                </a:solidFill>
                <a:latin typeface="Courier New" panose="02070309020205020404" pitchFamily="49" charset="0"/>
                <a:cs typeface="Courier New" panose="02070309020205020404" pitchFamily="49" charset="0"/>
              </a:rPr>
              <a:t>	</a:t>
            </a:r>
            <a:r>
              <a:rPr lang="en-US" altLang="zh-CN" sz="2400" b="1" dirty="0" err="1">
                <a:solidFill>
                  <a:schemeClr val="tx2"/>
                </a:solidFill>
                <a:latin typeface="Courier New" panose="02070309020205020404" pitchFamily="49" charset="0"/>
                <a:cs typeface="Courier New" panose="02070309020205020404" pitchFamily="49" charset="0"/>
              </a:rPr>
              <a:t>cin</a:t>
            </a:r>
            <a:r>
              <a:rPr lang="en-US" altLang="zh-CN" sz="2400" b="1" dirty="0">
                <a:solidFill>
                  <a:schemeClr val="tx2"/>
                </a:solidFill>
                <a:latin typeface="Courier New" panose="02070309020205020404" pitchFamily="49" charset="0"/>
                <a:cs typeface="Courier New" panose="02070309020205020404" pitchFamily="49" charset="0"/>
              </a:rPr>
              <a:t>&gt;&gt;a;</a:t>
            </a:r>
            <a:endParaRPr lang="en-US" altLang="zh-CN" sz="2400" b="1" dirty="0">
              <a:solidFill>
                <a:schemeClr val="tx2"/>
              </a:solidFill>
              <a:latin typeface="Courier New" panose="02070309020205020404" pitchFamily="49" charset="0"/>
              <a:cs typeface="Courier New" panose="02070309020205020404" pitchFamily="49" charset="0"/>
            </a:endParaRPr>
          </a:p>
          <a:p>
            <a:r>
              <a:rPr lang="en-US" altLang="zh-CN" sz="2400" b="1" dirty="0">
                <a:solidFill>
                  <a:schemeClr val="tx2"/>
                </a:solidFill>
                <a:latin typeface="Courier New" panose="02070309020205020404" pitchFamily="49" charset="0"/>
                <a:cs typeface="Courier New" panose="02070309020205020404" pitchFamily="49" charset="0"/>
              </a:rPr>
              <a:t>	</a:t>
            </a:r>
            <a:r>
              <a:rPr lang="en-US" altLang="zh-CN" sz="2400" b="1" dirty="0" err="1">
                <a:solidFill>
                  <a:schemeClr val="tx2"/>
                </a:solidFill>
                <a:latin typeface="Courier New" panose="02070309020205020404" pitchFamily="49" charset="0"/>
                <a:cs typeface="Courier New" panose="02070309020205020404" pitchFamily="49" charset="0"/>
              </a:rPr>
              <a:t>cout</a:t>
            </a:r>
            <a:r>
              <a:rPr lang="en-US" altLang="zh-CN" sz="2400" b="1" dirty="0">
                <a:solidFill>
                  <a:schemeClr val="tx2"/>
                </a:solidFill>
                <a:latin typeface="Courier New" panose="02070309020205020404" pitchFamily="49" charset="0"/>
                <a:cs typeface="Courier New" panose="02070309020205020404" pitchFamily="49" charset="0"/>
              </a:rPr>
              <a:t>&lt;&lt;"b=";</a:t>
            </a:r>
            <a:endParaRPr lang="en-US" altLang="zh-CN" sz="2400" b="1" dirty="0">
              <a:solidFill>
                <a:schemeClr val="tx2"/>
              </a:solidFill>
              <a:latin typeface="Courier New" panose="02070309020205020404" pitchFamily="49" charset="0"/>
              <a:cs typeface="Courier New" panose="02070309020205020404" pitchFamily="49" charset="0"/>
            </a:endParaRPr>
          </a:p>
          <a:p>
            <a:r>
              <a:rPr lang="en-US" altLang="zh-CN" sz="2400" b="1" dirty="0">
                <a:solidFill>
                  <a:schemeClr val="tx2"/>
                </a:solidFill>
                <a:latin typeface="Courier New" panose="02070309020205020404" pitchFamily="49" charset="0"/>
                <a:cs typeface="Courier New" panose="02070309020205020404" pitchFamily="49" charset="0"/>
              </a:rPr>
              <a:t>	</a:t>
            </a:r>
            <a:r>
              <a:rPr lang="en-US" altLang="zh-CN" sz="2400" b="1" dirty="0" err="1">
                <a:solidFill>
                  <a:schemeClr val="tx2"/>
                </a:solidFill>
                <a:latin typeface="Courier New" panose="02070309020205020404" pitchFamily="49" charset="0"/>
                <a:cs typeface="Courier New" panose="02070309020205020404" pitchFamily="49" charset="0"/>
              </a:rPr>
              <a:t>cin</a:t>
            </a:r>
            <a:r>
              <a:rPr lang="en-US" altLang="zh-CN" sz="2400" b="1" dirty="0">
                <a:solidFill>
                  <a:schemeClr val="tx2"/>
                </a:solidFill>
                <a:latin typeface="Courier New" panose="02070309020205020404" pitchFamily="49" charset="0"/>
                <a:cs typeface="Courier New" panose="02070309020205020404" pitchFamily="49" charset="0"/>
              </a:rPr>
              <a:t>&gt;&gt;b;</a:t>
            </a:r>
            <a:endParaRPr lang="en-US" altLang="zh-CN" sz="2400" b="1" dirty="0">
              <a:solidFill>
                <a:schemeClr val="tx2"/>
              </a:solidFill>
              <a:latin typeface="Courier New" panose="02070309020205020404" pitchFamily="49" charset="0"/>
              <a:cs typeface="Courier New" panose="02070309020205020404" pitchFamily="49" charset="0"/>
            </a:endParaRPr>
          </a:p>
          <a:p>
            <a:r>
              <a:rPr lang="en-US" altLang="zh-CN" sz="2400" b="1" dirty="0">
                <a:solidFill>
                  <a:schemeClr val="tx2"/>
                </a:solidFill>
                <a:latin typeface="Courier New" panose="02070309020205020404" pitchFamily="49" charset="0"/>
                <a:cs typeface="Courier New" panose="02070309020205020404" pitchFamily="49" charset="0"/>
              </a:rPr>
              <a:t>	</a:t>
            </a:r>
            <a:r>
              <a:rPr lang="en-US" altLang="zh-CN" sz="2400" b="1" dirty="0" err="1">
                <a:solidFill>
                  <a:srgbClr val="0000FF"/>
                </a:solidFill>
                <a:latin typeface="Courier New" panose="02070309020205020404" pitchFamily="49" charset="0"/>
                <a:cs typeface="Courier New" panose="02070309020205020404" pitchFamily="49" charset="0"/>
              </a:rPr>
              <a:t>int</a:t>
            </a:r>
            <a:r>
              <a:rPr lang="en-US" altLang="zh-CN" sz="2400" b="1" dirty="0">
                <a:solidFill>
                  <a:schemeClr val="tx2"/>
                </a:solidFill>
                <a:latin typeface="Courier New" panose="02070309020205020404" pitchFamily="49" charset="0"/>
                <a:cs typeface="Courier New" panose="02070309020205020404" pitchFamily="49" charset="0"/>
              </a:rPr>
              <a:t> c = </a:t>
            </a:r>
            <a:r>
              <a:rPr lang="en-US" altLang="zh-CN" sz="2400" b="1" dirty="0" err="1">
                <a:solidFill>
                  <a:schemeClr val="tx2"/>
                </a:solidFill>
                <a:latin typeface="Courier New" panose="02070309020205020404" pitchFamily="49" charset="0"/>
                <a:cs typeface="Courier New" panose="02070309020205020404" pitchFamily="49" charset="0"/>
              </a:rPr>
              <a:t>a+b</a:t>
            </a:r>
            <a:r>
              <a:rPr lang="en-US" altLang="zh-CN" sz="2400" b="1" dirty="0">
                <a:solidFill>
                  <a:schemeClr val="tx2"/>
                </a:solidFill>
                <a:latin typeface="Courier New" panose="02070309020205020404" pitchFamily="49" charset="0"/>
                <a:cs typeface="Courier New" panose="02070309020205020404" pitchFamily="49" charset="0"/>
              </a:rPr>
              <a:t>;</a:t>
            </a:r>
            <a:endParaRPr lang="en-US" altLang="zh-CN" sz="2400" b="1" dirty="0">
              <a:solidFill>
                <a:schemeClr val="tx2"/>
              </a:solidFill>
              <a:latin typeface="Courier New" panose="02070309020205020404" pitchFamily="49" charset="0"/>
              <a:cs typeface="Courier New" panose="02070309020205020404" pitchFamily="49" charset="0"/>
            </a:endParaRPr>
          </a:p>
          <a:p>
            <a:r>
              <a:rPr lang="en-US" altLang="zh-CN" sz="2400" b="1" dirty="0">
                <a:solidFill>
                  <a:schemeClr val="tx2"/>
                </a:solidFill>
                <a:latin typeface="Courier New" panose="02070309020205020404" pitchFamily="49" charset="0"/>
                <a:cs typeface="Courier New" panose="02070309020205020404" pitchFamily="49" charset="0"/>
              </a:rPr>
              <a:t>	</a:t>
            </a:r>
            <a:r>
              <a:rPr lang="en-US" altLang="zh-CN" sz="2400" b="1" dirty="0" err="1">
                <a:solidFill>
                  <a:schemeClr val="tx2"/>
                </a:solidFill>
                <a:latin typeface="Courier New" panose="02070309020205020404" pitchFamily="49" charset="0"/>
                <a:cs typeface="Courier New" panose="02070309020205020404" pitchFamily="49" charset="0"/>
              </a:rPr>
              <a:t>cout</a:t>
            </a:r>
            <a:r>
              <a:rPr lang="en-US" altLang="zh-CN" sz="2400" b="1" dirty="0">
                <a:solidFill>
                  <a:schemeClr val="tx2"/>
                </a:solidFill>
                <a:latin typeface="Courier New" panose="02070309020205020404" pitchFamily="49" charset="0"/>
                <a:cs typeface="Courier New" panose="02070309020205020404" pitchFamily="49" charset="0"/>
              </a:rPr>
              <a:t>&lt;&lt;"</a:t>
            </a:r>
            <a:r>
              <a:rPr lang="en-US" altLang="zh-CN" sz="2400" b="1" dirty="0" err="1">
                <a:solidFill>
                  <a:schemeClr val="tx2"/>
                </a:solidFill>
                <a:latin typeface="Courier New" panose="02070309020205020404" pitchFamily="49" charset="0"/>
                <a:cs typeface="Courier New" panose="02070309020205020404" pitchFamily="49" charset="0"/>
              </a:rPr>
              <a:t>a+b</a:t>
            </a:r>
            <a:r>
              <a:rPr lang="en-US" altLang="zh-CN" sz="2400" b="1" dirty="0">
                <a:solidFill>
                  <a:schemeClr val="tx2"/>
                </a:solidFill>
                <a:latin typeface="Courier New" panose="02070309020205020404" pitchFamily="49" charset="0"/>
                <a:cs typeface="Courier New" panose="02070309020205020404" pitchFamily="49" charset="0"/>
              </a:rPr>
              <a:t>="&lt;&lt;c&lt;&lt;</a:t>
            </a:r>
            <a:r>
              <a:rPr lang="en-US" altLang="zh-CN" sz="2400" b="1" dirty="0" err="1">
                <a:solidFill>
                  <a:schemeClr val="tx2"/>
                </a:solidFill>
                <a:latin typeface="Courier New" panose="02070309020205020404" pitchFamily="49" charset="0"/>
                <a:cs typeface="Courier New" panose="02070309020205020404" pitchFamily="49" charset="0"/>
              </a:rPr>
              <a:t>endl</a:t>
            </a:r>
            <a:r>
              <a:rPr lang="en-US" altLang="zh-CN" sz="2400" b="1" dirty="0">
                <a:solidFill>
                  <a:schemeClr val="tx2"/>
                </a:solidFill>
                <a:latin typeface="Courier New" panose="02070309020205020404" pitchFamily="49" charset="0"/>
                <a:cs typeface="Courier New" panose="02070309020205020404" pitchFamily="49" charset="0"/>
              </a:rPr>
              <a:t>;</a:t>
            </a:r>
            <a:endParaRPr lang="en-US" altLang="zh-CN" sz="2400" b="1" dirty="0">
              <a:solidFill>
                <a:schemeClr val="tx2"/>
              </a:solidFill>
              <a:latin typeface="Courier New" panose="02070309020205020404" pitchFamily="49" charset="0"/>
              <a:cs typeface="Courier New" panose="02070309020205020404" pitchFamily="49" charset="0"/>
            </a:endParaRPr>
          </a:p>
          <a:p>
            <a:r>
              <a:rPr lang="en-US" altLang="zh-CN" sz="2400" b="1" dirty="0">
                <a:solidFill>
                  <a:schemeClr val="tx2"/>
                </a:solidFill>
                <a:latin typeface="Courier New" panose="02070309020205020404" pitchFamily="49" charset="0"/>
                <a:cs typeface="Courier New" panose="02070309020205020404" pitchFamily="49" charset="0"/>
              </a:rPr>
              <a:t>}</a:t>
            </a:r>
            <a:endParaRPr lang="zh-CN" altLang="en-US" sz="2400" b="1" dirty="0">
              <a:solidFill>
                <a:schemeClr val="tx2"/>
              </a:solidFill>
              <a:latin typeface="Courier New" panose="02070309020205020404" pitchFamily="49" charset="0"/>
              <a:cs typeface="Courier New" panose="02070309020205020404" pitchFamily="49" charset="0"/>
            </a:endParaRPr>
          </a:p>
        </p:txBody>
      </p:sp>
      <p:sp>
        <p:nvSpPr>
          <p:cNvPr id="8" name="内容占位符 2"/>
          <p:cNvSpPr>
            <a:spLocks noGrp="1"/>
          </p:cNvSpPr>
          <p:nvPr>
            <p:ph idx="1"/>
          </p:nvPr>
        </p:nvSpPr>
        <p:spPr>
          <a:xfrm>
            <a:off x="457200" y="1295400"/>
            <a:ext cx="8153400" cy="549424"/>
          </a:xfrm>
        </p:spPr>
        <p:txBody>
          <a:bodyPr/>
          <a:lstStyle/>
          <a:p>
            <a:r>
              <a:rPr lang="en-US" altLang="zh-CN" dirty="0">
                <a:solidFill>
                  <a:srgbClr val="C00000"/>
                </a:solidFill>
              </a:rPr>
              <a:t>【</a:t>
            </a:r>
            <a:r>
              <a:rPr lang="zh-CN" altLang="en-US" dirty="0">
                <a:solidFill>
                  <a:srgbClr val="C00000"/>
                </a:solidFill>
              </a:rPr>
              <a:t>例</a:t>
            </a:r>
            <a:r>
              <a:rPr lang="en-US" altLang="zh-CN" dirty="0">
                <a:solidFill>
                  <a:srgbClr val="C00000"/>
                </a:solidFill>
              </a:rPr>
              <a:t>1.1】</a:t>
            </a:r>
            <a:r>
              <a:rPr lang="zh-CN" altLang="en-US" dirty="0">
                <a:solidFill>
                  <a:srgbClr val="C00000"/>
                </a:solidFill>
              </a:rPr>
              <a:t>过程型程序</a:t>
            </a:r>
            <a:endParaRPr lang="zh-CN" altLang="en-US" dirty="0">
              <a:solidFill>
                <a:srgbClr val="C00000"/>
              </a:solidFill>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函数型结构</a:t>
            </a:r>
            <a:endParaRPr lang="zh-CN" altLang="en-US" dirty="0"/>
          </a:p>
        </p:txBody>
      </p:sp>
      <p:sp>
        <p:nvSpPr>
          <p:cNvPr id="4" name="矩形 3"/>
          <p:cNvSpPr/>
          <p:nvPr/>
        </p:nvSpPr>
        <p:spPr>
          <a:xfrm>
            <a:off x="571472" y="1989995"/>
            <a:ext cx="3786214" cy="4524315"/>
          </a:xfrm>
          <a:prstGeom prst="rect">
            <a:avLst/>
          </a:prstGeom>
        </p:spPr>
        <p:txBody>
          <a:bodyPr wrap="square">
            <a:spAutoFit/>
          </a:bodyPr>
          <a:lstStyle/>
          <a:p>
            <a:r>
              <a:rPr lang="en-US" altLang="zh-CN" b="1" dirty="0">
                <a:solidFill>
                  <a:srgbClr val="0000FF"/>
                </a:solidFill>
                <a:latin typeface="Courier New" panose="02070309020205020404" pitchFamily="49" charset="0"/>
                <a:cs typeface="Courier New" panose="02070309020205020404" pitchFamily="49" charset="0"/>
              </a:rPr>
              <a:t>#include</a:t>
            </a:r>
            <a:r>
              <a:rPr lang="en-US" altLang="zh-CN" b="1" dirty="0">
                <a:solidFill>
                  <a:schemeClr val="tx2"/>
                </a:solidFill>
                <a:latin typeface="Courier New" panose="02070309020205020404" pitchFamily="49" charset="0"/>
                <a:cs typeface="Courier New" panose="02070309020205020404" pitchFamily="49" charset="0"/>
              </a:rPr>
              <a:t>&lt;</a:t>
            </a:r>
            <a:r>
              <a:rPr lang="en-US" altLang="zh-CN" b="1" dirty="0" err="1">
                <a:solidFill>
                  <a:schemeClr val="tx2"/>
                </a:solidFill>
                <a:latin typeface="Courier New" panose="02070309020205020404" pitchFamily="49" charset="0"/>
                <a:cs typeface="Courier New" panose="02070309020205020404" pitchFamily="49" charset="0"/>
              </a:rPr>
              <a:t>iostream</a:t>
            </a:r>
            <a:r>
              <a:rPr lang="en-US" altLang="zh-CN" b="1" dirty="0">
                <a:solidFill>
                  <a:schemeClr val="tx2"/>
                </a:solidFill>
                <a:latin typeface="Courier New" panose="02070309020205020404" pitchFamily="49" charset="0"/>
                <a:cs typeface="Courier New" panose="02070309020205020404" pitchFamily="49" charset="0"/>
              </a:rPr>
              <a:t>&gt;</a:t>
            </a:r>
            <a:endParaRPr lang="en-US" altLang="zh-CN" b="1" dirty="0">
              <a:solidFill>
                <a:schemeClr val="tx2"/>
              </a:solidFill>
              <a:latin typeface="Courier New" panose="02070309020205020404" pitchFamily="49" charset="0"/>
              <a:cs typeface="Courier New" panose="02070309020205020404" pitchFamily="49" charset="0"/>
            </a:endParaRPr>
          </a:p>
          <a:p>
            <a:r>
              <a:rPr lang="en-US" altLang="zh-CN" b="1" dirty="0">
                <a:solidFill>
                  <a:srgbClr val="0000FF"/>
                </a:solidFill>
                <a:latin typeface="Courier New" panose="02070309020205020404" pitchFamily="49" charset="0"/>
                <a:cs typeface="Courier New" panose="02070309020205020404" pitchFamily="49" charset="0"/>
              </a:rPr>
              <a:t>using namespace</a:t>
            </a:r>
            <a:r>
              <a:rPr lang="en-US" altLang="zh-CN" b="1" dirty="0">
                <a:solidFill>
                  <a:schemeClr val="tx2"/>
                </a:solidFill>
                <a:latin typeface="Courier New" panose="02070309020205020404" pitchFamily="49" charset="0"/>
                <a:cs typeface="Courier New" panose="02070309020205020404" pitchFamily="49" charset="0"/>
              </a:rPr>
              <a:t> </a:t>
            </a:r>
            <a:r>
              <a:rPr lang="en-US" altLang="zh-CN" b="1" dirty="0" err="1">
                <a:solidFill>
                  <a:schemeClr val="tx2"/>
                </a:solidFill>
                <a:latin typeface="Courier New" panose="02070309020205020404" pitchFamily="49" charset="0"/>
                <a:cs typeface="Courier New" panose="02070309020205020404" pitchFamily="49" charset="0"/>
              </a:rPr>
              <a:t>std</a:t>
            </a:r>
            <a:r>
              <a:rPr lang="en-US" altLang="zh-CN" b="1" dirty="0">
                <a:solidFill>
                  <a:schemeClr val="tx2"/>
                </a:solidFill>
                <a:latin typeface="Courier New" panose="02070309020205020404" pitchFamily="49" charset="0"/>
                <a:cs typeface="Courier New" panose="02070309020205020404" pitchFamily="49" charset="0"/>
              </a:rPr>
              <a:t>;</a:t>
            </a:r>
            <a:endParaRPr lang="en-US" altLang="zh-CN" b="1" dirty="0">
              <a:solidFill>
                <a:schemeClr val="tx2"/>
              </a:solidFill>
              <a:latin typeface="Courier New" panose="02070309020205020404" pitchFamily="49" charset="0"/>
              <a:cs typeface="Courier New" panose="02070309020205020404" pitchFamily="49" charset="0"/>
            </a:endParaRPr>
          </a:p>
          <a:p>
            <a:r>
              <a:rPr lang="en-US" altLang="zh-CN" b="1" dirty="0">
                <a:solidFill>
                  <a:srgbClr val="0000FF"/>
                </a:solidFill>
                <a:latin typeface="Courier New" panose="02070309020205020404" pitchFamily="49" charset="0"/>
                <a:cs typeface="Courier New" panose="02070309020205020404" pitchFamily="49" charset="0"/>
              </a:rPr>
              <a:t>void</a:t>
            </a:r>
            <a:r>
              <a:rPr lang="en-US" altLang="zh-CN" b="1" dirty="0">
                <a:solidFill>
                  <a:schemeClr val="tx2"/>
                </a:solidFill>
                <a:latin typeface="Courier New" panose="02070309020205020404" pitchFamily="49" charset="0"/>
                <a:cs typeface="Courier New" panose="02070309020205020404" pitchFamily="49" charset="0"/>
              </a:rPr>
              <a:t> input(</a:t>
            </a:r>
            <a:r>
              <a:rPr lang="en-US" altLang="zh-CN" b="1" dirty="0" err="1">
                <a:solidFill>
                  <a:srgbClr val="0000FF"/>
                </a:solidFill>
                <a:latin typeface="Courier New" panose="02070309020205020404" pitchFamily="49" charset="0"/>
                <a:cs typeface="Courier New" panose="02070309020205020404" pitchFamily="49" charset="0"/>
              </a:rPr>
              <a:t>int</a:t>
            </a:r>
            <a:r>
              <a:rPr lang="en-US" altLang="zh-CN" b="1" dirty="0">
                <a:solidFill>
                  <a:schemeClr val="tx2"/>
                </a:solidFill>
                <a:latin typeface="Courier New" panose="02070309020205020404" pitchFamily="49" charset="0"/>
                <a:cs typeface="Courier New" panose="02070309020205020404" pitchFamily="49" charset="0"/>
              </a:rPr>
              <a:t>&amp; x, </a:t>
            </a:r>
            <a:r>
              <a:rPr lang="en-US" altLang="zh-CN" b="1" dirty="0" err="1">
                <a:solidFill>
                  <a:srgbClr val="0000FF"/>
                </a:solidFill>
                <a:latin typeface="Courier New" panose="02070309020205020404" pitchFamily="49" charset="0"/>
                <a:cs typeface="Courier New" panose="02070309020205020404" pitchFamily="49" charset="0"/>
              </a:rPr>
              <a:t>int</a:t>
            </a:r>
            <a:r>
              <a:rPr lang="en-US" altLang="zh-CN" b="1" dirty="0">
                <a:solidFill>
                  <a:schemeClr val="tx2"/>
                </a:solidFill>
                <a:latin typeface="Courier New" panose="02070309020205020404" pitchFamily="49" charset="0"/>
                <a:cs typeface="Courier New" panose="02070309020205020404" pitchFamily="49" charset="0"/>
              </a:rPr>
              <a:t>&amp; y)</a:t>
            </a:r>
            <a:endParaRPr lang="en-US" altLang="zh-CN" b="1" dirty="0">
              <a:solidFill>
                <a:schemeClr val="tx2"/>
              </a:solidFill>
              <a:latin typeface="Courier New" panose="02070309020205020404" pitchFamily="49" charset="0"/>
              <a:cs typeface="Courier New" panose="02070309020205020404" pitchFamily="49" charset="0"/>
            </a:endParaRPr>
          </a:p>
          <a:p>
            <a:r>
              <a:rPr lang="en-US" altLang="zh-CN" b="1" dirty="0">
                <a:solidFill>
                  <a:schemeClr val="tx2"/>
                </a:solidFill>
                <a:latin typeface="Courier New" panose="02070309020205020404" pitchFamily="49" charset="0"/>
                <a:cs typeface="Courier New" panose="02070309020205020404" pitchFamily="49" charset="0"/>
              </a:rPr>
              <a:t>{</a:t>
            </a:r>
            <a:endParaRPr lang="en-US" altLang="zh-CN" b="1" dirty="0">
              <a:solidFill>
                <a:schemeClr val="tx2"/>
              </a:solidFill>
              <a:latin typeface="Courier New" panose="02070309020205020404" pitchFamily="49" charset="0"/>
              <a:cs typeface="Courier New" panose="02070309020205020404" pitchFamily="49" charset="0"/>
            </a:endParaRPr>
          </a:p>
          <a:p>
            <a:r>
              <a:rPr lang="en-US" altLang="zh-CN" b="1" dirty="0">
                <a:solidFill>
                  <a:schemeClr val="tx2"/>
                </a:solidFill>
                <a:latin typeface="Courier New" panose="02070309020205020404" pitchFamily="49" charset="0"/>
                <a:cs typeface="Courier New" panose="02070309020205020404" pitchFamily="49" charset="0"/>
              </a:rPr>
              <a:t>	</a:t>
            </a:r>
            <a:r>
              <a:rPr lang="en-US" altLang="zh-CN" b="1" dirty="0" err="1">
                <a:solidFill>
                  <a:srgbClr val="0000FF"/>
                </a:solidFill>
                <a:latin typeface="Courier New" panose="02070309020205020404" pitchFamily="49" charset="0"/>
                <a:cs typeface="Courier New" panose="02070309020205020404" pitchFamily="49" charset="0"/>
              </a:rPr>
              <a:t>int</a:t>
            </a:r>
            <a:r>
              <a:rPr lang="en-US" altLang="zh-CN" b="1" dirty="0">
                <a:solidFill>
                  <a:schemeClr val="tx2"/>
                </a:solidFill>
                <a:latin typeface="Courier New" panose="02070309020205020404" pitchFamily="49" charset="0"/>
                <a:cs typeface="Courier New" panose="02070309020205020404" pitchFamily="49" charset="0"/>
              </a:rPr>
              <a:t> </a:t>
            </a:r>
            <a:r>
              <a:rPr lang="en-US" altLang="zh-CN" b="1" dirty="0" err="1">
                <a:solidFill>
                  <a:schemeClr val="tx2"/>
                </a:solidFill>
                <a:latin typeface="Courier New" panose="02070309020205020404" pitchFamily="49" charset="0"/>
                <a:cs typeface="Courier New" panose="02070309020205020404" pitchFamily="49" charset="0"/>
              </a:rPr>
              <a:t>a,b</a:t>
            </a:r>
            <a:r>
              <a:rPr lang="en-US" altLang="zh-CN" b="1" dirty="0">
                <a:solidFill>
                  <a:schemeClr val="tx2"/>
                </a:solidFill>
                <a:latin typeface="Courier New" panose="02070309020205020404" pitchFamily="49" charset="0"/>
                <a:cs typeface="Courier New" panose="02070309020205020404" pitchFamily="49" charset="0"/>
              </a:rPr>
              <a:t>;</a:t>
            </a:r>
            <a:endParaRPr lang="en-US" altLang="zh-CN" b="1" dirty="0">
              <a:solidFill>
                <a:schemeClr val="tx2"/>
              </a:solidFill>
              <a:latin typeface="Courier New" panose="02070309020205020404" pitchFamily="49" charset="0"/>
              <a:cs typeface="Courier New" panose="02070309020205020404" pitchFamily="49" charset="0"/>
            </a:endParaRPr>
          </a:p>
          <a:p>
            <a:r>
              <a:rPr lang="en-US" altLang="zh-CN" b="1" dirty="0">
                <a:solidFill>
                  <a:schemeClr val="tx2"/>
                </a:solidFill>
                <a:latin typeface="Courier New" panose="02070309020205020404" pitchFamily="49" charset="0"/>
                <a:cs typeface="Courier New" panose="02070309020205020404" pitchFamily="49" charset="0"/>
              </a:rPr>
              <a:t>	</a:t>
            </a:r>
            <a:r>
              <a:rPr lang="en-US" altLang="zh-CN" b="1" dirty="0" err="1">
                <a:solidFill>
                  <a:schemeClr val="tx2"/>
                </a:solidFill>
                <a:latin typeface="Courier New" panose="02070309020205020404" pitchFamily="49" charset="0"/>
                <a:cs typeface="Courier New" panose="02070309020205020404" pitchFamily="49" charset="0"/>
              </a:rPr>
              <a:t>cout</a:t>
            </a:r>
            <a:r>
              <a:rPr lang="en-US" altLang="zh-CN" b="1" dirty="0">
                <a:solidFill>
                  <a:schemeClr val="tx2"/>
                </a:solidFill>
                <a:latin typeface="Courier New" panose="02070309020205020404" pitchFamily="49" charset="0"/>
                <a:cs typeface="Courier New" panose="02070309020205020404" pitchFamily="49" charset="0"/>
              </a:rPr>
              <a:t>&lt;&lt;"a=";</a:t>
            </a:r>
            <a:endParaRPr lang="en-US" altLang="zh-CN" b="1" dirty="0">
              <a:solidFill>
                <a:schemeClr val="tx2"/>
              </a:solidFill>
              <a:latin typeface="Courier New" panose="02070309020205020404" pitchFamily="49" charset="0"/>
              <a:cs typeface="Courier New" panose="02070309020205020404" pitchFamily="49" charset="0"/>
            </a:endParaRPr>
          </a:p>
          <a:p>
            <a:r>
              <a:rPr lang="en-US" altLang="zh-CN" b="1" dirty="0">
                <a:solidFill>
                  <a:schemeClr val="tx2"/>
                </a:solidFill>
                <a:latin typeface="Courier New" panose="02070309020205020404" pitchFamily="49" charset="0"/>
                <a:cs typeface="Courier New" panose="02070309020205020404" pitchFamily="49" charset="0"/>
              </a:rPr>
              <a:t>	</a:t>
            </a:r>
            <a:r>
              <a:rPr lang="en-US" altLang="zh-CN" b="1" dirty="0" err="1">
                <a:solidFill>
                  <a:schemeClr val="tx2"/>
                </a:solidFill>
                <a:latin typeface="Courier New" panose="02070309020205020404" pitchFamily="49" charset="0"/>
                <a:cs typeface="Courier New" panose="02070309020205020404" pitchFamily="49" charset="0"/>
              </a:rPr>
              <a:t>cin</a:t>
            </a:r>
            <a:r>
              <a:rPr lang="en-US" altLang="zh-CN" b="1" dirty="0">
                <a:solidFill>
                  <a:schemeClr val="tx2"/>
                </a:solidFill>
                <a:latin typeface="Courier New" panose="02070309020205020404" pitchFamily="49" charset="0"/>
                <a:cs typeface="Courier New" panose="02070309020205020404" pitchFamily="49" charset="0"/>
              </a:rPr>
              <a:t>&gt;&gt;a;</a:t>
            </a:r>
            <a:endParaRPr lang="en-US" altLang="zh-CN" b="1" dirty="0">
              <a:solidFill>
                <a:schemeClr val="tx2"/>
              </a:solidFill>
              <a:latin typeface="Courier New" panose="02070309020205020404" pitchFamily="49" charset="0"/>
              <a:cs typeface="Courier New" panose="02070309020205020404" pitchFamily="49" charset="0"/>
            </a:endParaRPr>
          </a:p>
          <a:p>
            <a:r>
              <a:rPr lang="en-US" altLang="zh-CN" b="1" dirty="0">
                <a:solidFill>
                  <a:schemeClr val="tx2"/>
                </a:solidFill>
                <a:latin typeface="Courier New" panose="02070309020205020404" pitchFamily="49" charset="0"/>
                <a:cs typeface="Courier New" panose="02070309020205020404" pitchFamily="49" charset="0"/>
              </a:rPr>
              <a:t>	</a:t>
            </a:r>
            <a:r>
              <a:rPr lang="en-US" altLang="zh-CN" b="1" dirty="0" err="1">
                <a:solidFill>
                  <a:schemeClr val="tx2"/>
                </a:solidFill>
                <a:latin typeface="Courier New" panose="02070309020205020404" pitchFamily="49" charset="0"/>
                <a:cs typeface="Courier New" panose="02070309020205020404" pitchFamily="49" charset="0"/>
              </a:rPr>
              <a:t>cout</a:t>
            </a:r>
            <a:r>
              <a:rPr lang="en-US" altLang="zh-CN" b="1" dirty="0">
                <a:solidFill>
                  <a:schemeClr val="tx2"/>
                </a:solidFill>
                <a:latin typeface="Courier New" panose="02070309020205020404" pitchFamily="49" charset="0"/>
                <a:cs typeface="Courier New" panose="02070309020205020404" pitchFamily="49" charset="0"/>
              </a:rPr>
              <a:t>&lt;&lt;"b=";</a:t>
            </a:r>
            <a:endParaRPr lang="en-US" altLang="zh-CN" b="1" dirty="0">
              <a:solidFill>
                <a:schemeClr val="tx2"/>
              </a:solidFill>
              <a:latin typeface="Courier New" panose="02070309020205020404" pitchFamily="49" charset="0"/>
              <a:cs typeface="Courier New" panose="02070309020205020404" pitchFamily="49" charset="0"/>
            </a:endParaRPr>
          </a:p>
          <a:p>
            <a:r>
              <a:rPr lang="en-US" altLang="zh-CN" b="1" dirty="0">
                <a:solidFill>
                  <a:schemeClr val="tx2"/>
                </a:solidFill>
                <a:latin typeface="Courier New" panose="02070309020205020404" pitchFamily="49" charset="0"/>
                <a:cs typeface="Courier New" panose="02070309020205020404" pitchFamily="49" charset="0"/>
              </a:rPr>
              <a:t>	</a:t>
            </a:r>
            <a:r>
              <a:rPr lang="en-US" altLang="zh-CN" b="1" dirty="0" err="1">
                <a:solidFill>
                  <a:schemeClr val="tx2"/>
                </a:solidFill>
                <a:latin typeface="Courier New" panose="02070309020205020404" pitchFamily="49" charset="0"/>
                <a:cs typeface="Courier New" panose="02070309020205020404" pitchFamily="49" charset="0"/>
              </a:rPr>
              <a:t>cin</a:t>
            </a:r>
            <a:r>
              <a:rPr lang="en-US" altLang="zh-CN" b="1" dirty="0">
                <a:solidFill>
                  <a:schemeClr val="tx2"/>
                </a:solidFill>
                <a:latin typeface="Courier New" panose="02070309020205020404" pitchFamily="49" charset="0"/>
                <a:cs typeface="Courier New" panose="02070309020205020404" pitchFamily="49" charset="0"/>
              </a:rPr>
              <a:t>&gt;&gt;b;</a:t>
            </a:r>
            <a:endParaRPr lang="en-US" altLang="zh-CN" b="1" dirty="0">
              <a:solidFill>
                <a:schemeClr val="tx2"/>
              </a:solidFill>
              <a:latin typeface="Courier New" panose="02070309020205020404" pitchFamily="49" charset="0"/>
              <a:cs typeface="Courier New" panose="02070309020205020404" pitchFamily="49" charset="0"/>
            </a:endParaRPr>
          </a:p>
          <a:p>
            <a:r>
              <a:rPr lang="en-US" altLang="zh-CN" b="1" dirty="0">
                <a:solidFill>
                  <a:schemeClr val="tx2"/>
                </a:solidFill>
                <a:latin typeface="Courier New" panose="02070309020205020404" pitchFamily="49" charset="0"/>
                <a:cs typeface="Courier New" panose="02070309020205020404" pitchFamily="49" charset="0"/>
              </a:rPr>
              <a:t>	x=a;</a:t>
            </a:r>
            <a:endParaRPr lang="en-US" altLang="zh-CN" b="1" dirty="0">
              <a:solidFill>
                <a:schemeClr val="tx2"/>
              </a:solidFill>
              <a:latin typeface="Courier New" panose="02070309020205020404" pitchFamily="49" charset="0"/>
              <a:cs typeface="Courier New" panose="02070309020205020404" pitchFamily="49" charset="0"/>
            </a:endParaRPr>
          </a:p>
          <a:p>
            <a:r>
              <a:rPr lang="en-US" altLang="zh-CN" b="1" dirty="0">
                <a:solidFill>
                  <a:schemeClr val="tx2"/>
                </a:solidFill>
                <a:latin typeface="Courier New" panose="02070309020205020404" pitchFamily="49" charset="0"/>
                <a:cs typeface="Courier New" panose="02070309020205020404" pitchFamily="49" charset="0"/>
              </a:rPr>
              <a:t>	y=b;</a:t>
            </a:r>
            <a:endParaRPr lang="en-US" altLang="zh-CN" b="1" dirty="0">
              <a:solidFill>
                <a:schemeClr val="tx2"/>
              </a:solidFill>
              <a:latin typeface="Courier New" panose="02070309020205020404" pitchFamily="49" charset="0"/>
              <a:cs typeface="Courier New" panose="02070309020205020404" pitchFamily="49" charset="0"/>
            </a:endParaRPr>
          </a:p>
          <a:p>
            <a:r>
              <a:rPr lang="en-US" altLang="zh-CN" b="1" dirty="0">
                <a:solidFill>
                  <a:schemeClr val="tx2"/>
                </a:solidFill>
                <a:latin typeface="Courier New" panose="02070309020205020404" pitchFamily="49" charset="0"/>
                <a:cs typeface="Courier New" panose="02070309020205020404" pitchFamily="49" charset="0"/>
              </a:rPr>
              <a:t>}</a:t>
            </a:r>
            <a:endParaRPr lang="en-US" altLang="zh-CN" b="1" dirty="0">
              <a:solidFill>
                <a:schemeClr val="tx2"/>
              </a:solidFill>
              <a:latin typeface="Courier New" panose="02070309020205020404" pitchFamily="49" charset="0"/>
              <a:cs typeface="Courier New" panose="02070309020205020404" pitchFamily="49" charset="0"/>
            </a:endParaRPr>
          </a:p>
          <a:p>
            <a:r>
              <a:rPr lang="en-US" altLang="zh-CN" b="1" dirty="0" err="1">
                <a:solidFill>
                  <a:srgbClr val="0000FF"/>
                </a:solidFill>
                <a:latin typeface="Courier New" panose="02070309020205020404" pitchFamily="49" charset="0"/>
                <a:cs typeface="Courier New" panose="02070309020205020404" pitchFamily="49" charset="0"/>
              </a:rPr>
              <a:t>int</a:t>
            </a:r>
            <a:r>
              <a:rPr lang="en-US" altLang="zh-CN" b="1" dirty="0">
                <a:solidFill>
                  <a:schemeClr val="tx2"/>
                </a:solidFill>
                <a:latin typeface="Courier New" panose="02070309020205020404" pitchFamily="49" charset="0"/>
                <a:cs typeface="Courier New" panose="02070309020205020404" pitchFamily="49" charset="0"/>
              </a:rPr>
              <a:t> add(</a:t>
            </a:r>
            <a:r>
              <a:rPr lang="en-US" altLang="zh-CN" b="1" dirty="0" err="1">
                <a:solidFill>
                  <a:srgbClr val="0000FF"/>
                </a:solidFill>
                <a:latin typeface="Courier New" panose="02070309020205020404" pitchFamily="49" charset="0"/>
                <a:cs typeface="Courier New" panose="02070309020205020404" pitchFamily="49" charset="0"/>
              </a:rPr>
              <a:t>int</a:t>
            </a:r>
            <a:r>
              <a:rPr lang="en-US" altLang="zh-CN" b="1" dirty="0">
                <a:solidFill>
                  <a:schemeClr val="tx2"/>
                </a:solidFill>
                <a:latin typeface="Courier New" panose="02070309020205020404" pitchFamily="49" charset="0"/>
                <a:cs typeface="Courier New" panose="02070309020205020404" pitchFamily="49" charset="0"/>
              </a:rPr>
              <a:t> x, </a:t>
            </a:r>
            <a:r>
              <a:rPr lang="en-US" altLang="zh-CN" b="1" dirty="0" err="1">
                <a:solidFill>
                  <a:srgbClr val="0000FF"/>
                </a:solidFill>
                <a:latin typeface="Courier New" panose="02070309020205020404" pitchFamily="49" charset="0"/>
                <a:cs typeface="Courier New" panose="02070309020205020404" pitchFamily="49" charset="0"/>
              </a:rPr>
              <a:t>int</a:t>
            </a:r>
            <a:r>
              <a:rPr lang="en-US" altLang="zh-CN" b="1" dirty="0">
                <a:solidFill>
                  <a:schemeClr val="tx2"/>
                </a:solidFill>
                <a:latin typeface="Courier New" panose="02070309020205020404" pitchFamily="49" charset="0"/>
                <a:cs typeface="Courier New" panose="02070309020205020404" pitchFamily="49" charset="0"/>
              </a:rPr>
              <a:t> y)</a:t>
            </a:r>
            <a:endParaRPr lang="en-US" altLang="zh-CN" b="1" dirty="0">
              <a:solidFill>
                <a:schemeClr val="tx2"/>
              </a:solidFill>
              <a:latin typeface="Courier New" panose="02070309020205020404" pitchFamily="49" charset="0"/>
              <a:cs typeface="Courier New" panose="02070309020205020404" pitchFamily="49" charset="0"/>
            </a:endParaRPr>
          </a:p>
          <a:p>
            <a:r>
              <a:rPr lang="en-US" altLang="zh-CN" b="1" dirty="0">
                <a:solidFill>
                  <a:schemeClr val="tx2"/>
                </a:solidFill>
                <a:latin typeface="Courier New" panose="02070309020205020404" pitchFamily="49" charset="0"/>
                <a:cs typeface="Courier New" panose="02070309020205020404" pitchFamily="49" charset="0"/>
              </a:rPr>
              <a:t>{</a:t>
            </a:r>
            <a:endParaRPr lang="en-US" altLang="zh-CN" b="1" dirty="0">
              <a:solidFill>
                <a:schemeClr val="tx2"/>
              </a:solidFill>
              <a:latin typeface="Courier New" panose="02070309020205020404" pitchFamily="49" charset="0"/>
              <a:cs typeface="Courier New" panose="02070309020205020404" pitchFamily="49" charset="0"/>
            </a:endParaRPr>
          </a:p>
          <a:p>
            <a:r>
              <a:rPr lang="en-US" altLang="zh-CN" b="1" dirty="0">
                <a:solidFill>
                  <a:schemeClr val="tx2"/>
                </a:solidFill>
                <a:latin typeface="Courier New" panose="02070309020205020404" pitchFamily="49" charset="0"/>
                <a:cs typeface="Courier New" panose="02070309020205020404" pitchFamily="49" charset="0"/>
              </a:rPr>
              <a:t>	</a:t>
            </a:r>
            <a:r>
              <a:rPr lang="en-US" altLang="zh-CN" b="1" dirty="0">
                <a:solidFill>
                  <a:srgbClr val="0000FF"/>
                </a:solidFill>
                <a:latin typeface="Courier New" panose="02070309020205020404" pitchFamily="49" charset="0"/>
                <a:cs typeface="Courier New" panose="02070309020205020404" pitchFamily="49" charset="0"/>
              </a:rPr>
              <a:t>return</a:t>
            </a:r>
            <a:r>
              <a:rPr lang="en-US" altLang="zh-CN" b="1" dirty="0">
                <a:solidFill>
                  <a:schemeClr val="tx2"/>
                </a:solidFill>
                <a:latin typeface="Courier New" panose="02070309020205020404" pitchFamily="49" charset="0"/>
                <a:cs typeface="Courier New" panose="02070309020205020404" pitchFamily="49" charset="0"/>
              </a:rPr>
              <a:t> </a:t>
            </a:r>
            <a:r>
              <a:rPr lang="en-US" altLang="zh-CN" b="1" dirty="0" err="1">
                <a:solidFill>
                  <a:schemeClr val="tx2"/>
                </a:solidFill>
                <a:latin typeface="Courier New" panose="02070309020205020404" pitchFamily="49" charset="0"/>
                <a:cs typeface="Courier New" panose="02070309020205020404" pitchFamily="49" charset="0"/>
              </a:rPr>
              <a:t>x+y</a:t>
            </a:r>
            <a:r>
              <a:rPr lang="en-US" altLang="zh-CN" b="1" dirty="0">
                <a:solidFill>
                  <a:schemeClr val="tx2"/>
                </a:solidFill>
                <a:latin typeface="Courier New" panose="02070309020205020404" pitchFamily="49" charset="0"/>
                <a:cs typeface="Courier New" panose="02070309020205020404" pitchFamily="49" charset="0"/>
              </a:rPr>
              <a:t>;</a:t>
            </a:r>
            <a:endParaRPr lang="en-US" altLang="zh-CN" b="1" dirty="0">
              <a:solidFill>
                <a:schemeClr val="tx2"/>
              </a:solidFill>
              <a:latin typeface="Courier New" panose="02070309020205020404" pitchFamily="49" charset="0"/>
              <a:cs typeface="Courier New" panose="02070309020205020404" pitchFamily="49" charset="0"/>
            </a:endParaRPr>
          </a:p>
          <a:p>
            <a:r>
              <a:rPr lang="en-US" altLang="zh-CN" b="1" dirty="0">
                <a:solidFill>
                  <a:schemeClr val="tx2"/>
                </a:solidFill>
                <a:latin typeface="Courier New" panose="02070309020205020404" pitchFamily="49" charset="0"/>
                <a:cs typeface="Courier New" panose="02070309020205020404" pitchFamily="49" charset="0"/>
              </a:rPr>
              <a:t>}</a:t>
            </a:r>
            <a:endParaRPr lang="en-US" altLang="zh-CN" b="1" dirty="0">
              <a:solidFill>
                <a:schemeClr val="tx2"/>
              </a:solidFill>
              <a:latin typeface="Courier New" panose="02070309020205020404" pitchFamily="49" charset="0"/>
              <a:cs typeface="Courier New" panose="02070309020205020404" pitchFamily="49" charset="0"/>
            </a:endParaRPr>
          </a:p>
        </p:txBody>
      </p:sp>
      <p:sp>
        <p:nvSpPr>
          <p:cNvPr id="5" name="矩形 4"/>
          <p:cNvSpPr/>
          <p:nvPr/>
        </p:nvSpPr>
        <p:spPr>
          <a:xfrm>
            <a:off x="4500562" y="1988840"/>
            <a:ext cx="4463926" cy="3139321"/>
          </a:xfrm>
          <a:prstGeom prst="rect">
            <a:avLst/>
          </a:prstGeom>
        </p:spPr>
        <p:txBody>
          <a:bodyPr wrap="square">
            <a:spAutoFit/>
          </a:bodyPr>
          <a:lstStyle/>
          <a:p>
            <a:r>
              <a:rPr lang="en-US" altLang="zh-CN" b="1" dirty="0">
                <a:solidFill>
                  <a:srgbClr val="0000FF"/>
                </a:solidFill>
                <a:latin typeface="Courier New" panose="02070309020205020404" pitchFamily="49" charset="0"/>
                <a:cs typeface="Courier New" panose="02070309020205020404" pitchFamily="49" charset="0"/>
              </a:rPr>
              <a:t>void</a:t>
            </a:r>
            <a:r>
              <a:rPr lang="en-US" altLang="zh-CN" b="1" dirty="0">
                <a:solidFill>
                  <a:schemeClr val="tx2"/>
                </a:solidFill>
                <a:latin typeface="Courier New" panose="02070309020205020404" pitchFamily="49" charset="0"/>
                <a:cs typeface="Courier New" panose="02070309020205020404" pitchFamily="49" charset="0"/>
              </a:rPr>
              <a:t> output(</a:t>
            </a:r>
            <a:r>
              <a:rPr lang="en-US" altLang="zh-CN" b="1" dirty="0" err="1">
                <a:solidFill>
                  <a:schemeClr val="tx2"/>
                </a:solidFill>
                <a:latin typeface="Courier New" panose="02070309020205020404" pitchFamily="49" charset="0"/>
                <a:cs typeface="Courier New" panose="02070309020205020404" pitchFamily="49" charset="0"/>
              </a:rPr>
              <a:t>int</a:t>
            </a:r>
            <a:r>
              <a:rPr lang="en-US" altLang="zh-CN" b="1" dirty="0">
                <a:solidFill>
                  <a:schemeClr val="tx2"/>
                </a:solidFill>
                <a:latin typeface="Courier New" panose="02070309020205020404" pitchFamily="49" charset="0"/>
                <a:cs typeface="Courier New" panose="02070309020205020404" pitchFamily="49" charset="0"/>
              </a:rPr>
              <a:t> z)</a:t>
            </a:r>
            <a:endParaRPr lang="en-US" altLang="zh-CN" b="1" dirty="0">
              <a:solidFill>
                <a:schemeClr val="tx2"/>
              </a:solidFill>
              <a:latin typeface="Courier New" panose="02070309020205020404" pitchFamily="49" charset="0"/>
              <a:cs typeface="Courier New" panose="02070309020205020404" pitchFamily="49" charset="0"/>
            </a:endParaRPr>
          </a:p>
          <a:p>
            <a:r>
              <a:rPr lang="en-US" altLang="zh-CN" b="1" dirty="0">
                <a:solidFill>
                  <a:schemeClr val="tx2"/>
                </a:solidFill>
                <a:latin typeface="Courier New" panose="02070309020205020404" pitchFamily="49" charset="0"/>
                <a:cs typeface="Courier New" panose="02070309020205020404" pitchFamily="49" charset="0"/>
              </a:rPr>
              <a:t>{</a:t>
            </a:r>
            <a:endParaRPr lang="en-US" altLang="zh-CN" b="1" dirty="0">
              <a:solidFill>
                <a:schemeClr val="tx2"/>
              </a:solidFill>
              <a:latin typeface="Courier New" panose="02070309020205020404" pitchFamily="49" charset="0"/>
              <a:cs typeface="Courier New" panose="02070309020205020404" pitchFamily="49" charset="0"/>
            </a:endParaRPr>
          </a:p>
          <a:p>
            <a:r>
              <a:rPr lang="en-US" altLang="zh-CN" b="1" dirty="0">
                <a:solidFill>
                  <a:schemeClr val="tx2"/>
                </a:solidFill>
                <a:latin typeface="Courier New" panose="02070309020205020404" pitchFamily="49" charset="0"/>
                <a:cs typeface="Courier New" panose="02070309020205020404" pitchFamily="49" charset="0"/>
              </a:rPr>
              <a:t>	</a:t>
            </a:r>
            <a:r>
              <a:rPr lang="en-US" altLang="zh-CN" b="1" dirty="0" err="1">
                <a:solidFill>
                  <a:schemeClr val="tx2"/>
                </a:solidFill>
                <a:latin typeface="Courier New" panose="02070309020205020404" pitchFamily="49" charset="0"/>
                <a:cs typeface="Courier New" panose="02070309020205020404" pitchFamily="49" charset="0"/>
              </a:rPr>
              <a:t>cout</a:t>
            </a:r>
            <a:r>
              <a:rPr lang="en-US" altLang="zh-CN" b="1" dirty="0">
                <a:solidFill>
                  <a:schemeClr val="tx2"/>
                </a:solidFill>
                <a:latin typeface="Courier New" panose="02070309020205020404" pitchFamily="49" charset="0"/>
                <a:cs typeface="Courier New" panose="02070309020205020404" pitchFamily="49" charset="0"/>
              </a:rPr>
              <a:t>&lt;&lt;“</a:t>
            </a:r>
            <a:r>
              <a:rPr lang="en-US" altLang="zh-CN" b="1" dirty="0" err="1">
                <a:solidFill>
                  <a:schemeClr val="tx2"/>
                </a:solidFill>
                <a:latin typeface="Courier New" panose="02070309020205020404" pitchFamily="49" charset="0"/>
                <a:cs typeface="Courier New" panose="02070309020205020404" pitchFamily="49" charset="0"/>
              </a:rPr>
              <a:t>a+b</a:t>
            </a:r>
            <a:r>
              <a:rPr lang="en-US" altLang="zh-CN" b="1" dirty="0">
                <a:solidFill>
                  <a:schemeClr val="tx2"/>
                </a:solidFill>
                <a:latin typeface="Courier New" panose="02070309020205020404" pitchFamily="49" charset="0"/>
                <a:cs typeface="Courier New" panose="02070309020205020404" pitchFamily="49" charset="0"/>
              </a:rPr>
              <a:t>=”&lt;&lt;z&lt;&lt;</a:t>
            </a:r>
            <a:r>
              <a:rPr lang="en-US" altLang="zh-CN" b="1" dirty="0" err="1">
                <a:solidFill>
                  <a:schemeClr val="tx2"/>
                </a:solidFill>
                <a:latin typeface="Courier New" panose="02070309020205020404" pitchFamily="49" charset="0"/>
                <a:cs typeface="Courier New" panose="02070309020205020404" pitchFamily="49" charset="0"/>
              </a:rPr>
              <a:t>endl</a:t>
            </a:r>
            <a:r>
              <a:rPr lang="en-US" altLang="zh-CN" b="1" dirty="0">
                <a:solidFill>
                  <a:schemeClr val="tx2"/>
                </a:solidFill>
                <a:latin typeface="Courier New" panose="02070309020205020404" pitchFamily="49" charset="0"/>
                <a:cs typeface="Courier New" panose="02070309020205020404" pitchFamily="49" charset="0"/>
              </a:rPr>
              <a:t>;</a:t>
            </a:r>
            <a:endParaRPr lang="en-US" altLang="zh-CN" b="1" dirty="0">
              <a:solidFill>
                <a:schemeClr val="tx2"/>
              </a:solidFill>
              <a:latin typeface="Courier New" panose="02070309020205020404" pitchFamily="49" charset="0"/>
              <a:cs typeface="Courier New" panose="02070309020205020404" pitchFamily="49" charset="0"/>
            </a:endParaRPr>
          </a:p>
          <a:p>
            <a:r>
              <a:rPr lang="en-US" altLang="zh-CN" b="1" dirty="0">
                <a:solidFill>
                  <a:schemeClr val="tx2"/>
                </a:solidFill>
                <a:latin typeface="Courier New" panose="02070309020205020404" pitchFamily="49" charset="0"/>
                <a:cs typeface="Courier New" panose="02070309020205020404" pitchFamily="49" charset="0"/>
              </a:rPr>
              <a:t>}</a:t>
            </a:r>
            <a:endParaRPr lang="en-US" altLang="zh-CN" b="1" dirty="0">
              <a:solidFill>
                <a:schemeClr val="tx2"/>
              </a:solidFill>
              <a:latin typeface="Courier New" panose="02070309020205020404" pitchFamily="49" charset="0"/>
              <a:cs typeface="Courier New" panose="02070309020205020404" pitchFamily="49" charset="0"/>
            </a:endParaRPr>
          </a:p>
          <a:p>
            <a:r>
              <a:rPr lang="en-US" altLang="zh-CN" b="1" dirty="0">
                <a:solidFill>
                  <a:srgbClr val="0000FF"/>
                </a:solidFill>
                <a:latin typeface="Courier New" panose="02070309020205020404" pitchFamily="49" charset="0"/>
                <a:cs typeface="Courier New" panose="02070309020205020404" pitchFamily="49" charset="0"/>
              </a:rPr>
              <a:t>void</a:t>
            </a:r>
            <a:r>
              <a:rPr lang="en-US" altLang="zh-CN" b="1" dirty="0">
                <a:solidFill>
                  <a:schemeClr val="tx2"/>
                </a:solidFill>
                <a:latin typeface="Courier New" panose="02070309020205020404" pitchFamily="49" charset="0"/>
                <a:cs typeface="Courier New" panose="02070309020205020404" pitchFamily="49" charset="0"/>
              </a:rPr>
              <a:t> main()</a:t>
            </a:r>
            <a:endParaRPr lang="en-US" altLang="zh-CN" b="1" dirty="0">
              <a:solidFill>
                <a:schemeClr val="tx2"/>
              </a:solidFill>
              <a:latin typeface="Courier New" panose="02070309020205020404" pitchFamily="49" charset="0"/>
              <a:cs typeface="Courier New" panose="02070309020205020404" pitchFamily="49" charset="0"/>
            </a:endParaRPr>
          </a:p>
          <a:p>
            <a:r>
              <a:rPr lang="en-US" altLang="zh-CN" b="1" dirty="0">
                <a:solidFill>
                  <a:schemeClr val="tx2"/>
                </a:solidFill>
                <a:latin typeface="Courier New" panose="02070309020205020404" pitchFamily="49" charset="0"/>
                <a:cs typeface="Courier New" panose="02070309020205020404" pitchFamily="49" charset="0"/>
              </a:rPr>
              <a:t>{</a:t>
            </a:r>
            <a:endParaRPr lang="en-US" altLang="zh-CN" b="1" dirty="0">
              <a:solidFill>
                <a:schemeClr val="tx2"/>
              </a:solidFill>
              <a:latin typeface="Courier New" panose="02070309020205020404" pitchFamily="49" charset="0"/>
              <a:cs typeface="Courier New" panose="02070309020205020404" pitchFamily="49" charset="0"/>
            </a:endParaRPr>
          </a:p>
          <a:p>
            <a:r>
              <a:rPr lang="en-US" altLang="zh-CN" b="1" dirty="0">
                <a:solidFill>
                  <a:schemeClr val="tx2"/>
                </a:solidFill>
                <a:latin typeface="Courier New" panose="02070309020205020404" pitchFamily="49" charset="0"/>
                <a:cs typeface="Courier New" panose="02070309020205020404" pitchFamily="49" charset="0"/>
              </a:rPr>
              <a:t>	</a:t>
            </a:r>
            <a:r>
              <a:rPr lang="en-US" altLang="zh-CN" b="1" dirty="0" err="1">
                <a:solidFill>
                  <a:srgbClr val="0000FF"/>
                </a:solidFill>
                <a:latin typeface="Courier New" panose="02070309020205020404" pitchFamily="49" charset="0"/>
                <a:cs typeface="Courier New" panose="02070309020205020404" pitchFamily="49" charset="0"/>
              </a:rPr>
              <a:t>int</a:t>
            </a:r>
            <a:r>
              <a:rPr lang="en-US" altLang="zh-CN" b="1" dirty="0">
                <a:solidFill>
                  <a:schemeClr val="tx2"/>
                </a:solidFill>
                <a:latin typeface="Courier New" panose="02070309020205020404" pitchFamily="49" charset="0"/>
                <a:cs typeface="Courier New" panose="02070309020205020404" pitchFamily="49" charset="0"/>
              </a:rPr>
              <a:t> </a:t>
            </a:r>
            <a:r>
              <a:rPr lang="en-US" altLang="zh-CN" b="1" dirty="0" err="1">
                <a:solidFill>
                  <a:schemeClr val="tx2"/>
                </a:solidFill>
                <a:latin typeface="Courier New" panose="02070309020205020404" pitchFamily="49" charset="0"/>
                <a:cs typeface="Courier New" panose="02070309020205020404" pitchFamily="49" charset="0"/>
              </a:rPr>
              <a:t>a,b</a:t>
            </a:r>
            <a:r>
              <a:rPr lang="en-US" altLang="zh-CN" b="1" dirty="0">
                <a:solidFill>
                  <a:schemeClr val="tx2"/>
                </a:solidFill>
                <a:latin typeface="Courier New" panose="02070309020205020404" pitchFamily="49" charset="0"/>
                <a:cs typeface="Courier New" panose="02070309020205020404" pitchFamily="49" charset="0"/>
              </a:rPr>
              <a:t>;</a:t>
            </a:r>
            <a:endParaRPr lang="en-US" altLang="zh-CN" b="1" dirty="0">
              <a:solidFill>
                <a:schemeClr val="tx2"/>
              </a:solidFill>
              <a:latin typeface="Courier New" panose="02070309020205020404" pitchFamily="49" charset="0"/>
              <a:cs typeface="Courier New" panose="02070309020205020404" pitchFamily="49" charset="0"/>
            </a:endParaRPr>
          </a:p>
          <a:p>
            <a:r>
              <a:rPr lang="en-US" altLang="zh-CN" b="1" dirty="0">
                <a:solidFill>
                  <a:schemeClr val="tx2"/>
                </a:solidFill>
                <a:latin typeface="Courier New" panose="02070309020205020404" pitchFamily="49" charset="0"/>
                <a:cs typeface="Courier New" panose="02070309020205020404" pitchFamily="49" charset="0"/>
              </a:rPr>
              <a:t>	input(</a:t>
            </a:r>
            <a:r>
              <a:rPr lang="en-US" altLang="zh-CN" b="1" dirty="0" err="1">
                <a:solidFill>
                  <a:schemeClr val="tx2"/>
                </a:solidFill>
                <a:latin typeface="Courier New" panose="02070309020205020404" pitchFamily="49" charset="0"/>
                <a:cs typeface="Courier New" panose="02070309020205020404" pitchFamily="49" charset="0"/>
              </a:rPr>
              <a:t>a,b</a:t>
            </a:r>
            <a:r>
              <a:rPr lang="en-US" altLang="zh-CN" b="1" dirty="0">
                <a:solidFill>
                  <a:schemeClr val="tx2"/>
                </a:solidFill>
                <a:latin typeface="Courier New" panose="02070309020205020404" pitchFamily="49" charset="0"/>
                <a:cs typeface="Courier New" panose="02070309020205020404" pitchFamily="49" charset="0"/>
              </a:rPr>
              <a:t>);</a:t>
            </a:r>
            <a:endParaRPr lang="en-US" altLang="zh-CN" b="1" dirty="0">
              <a:solidFill>
                <a:schemeClr val="tx2"/>
              </a:solidFill>
              <a:latin typeface="Courier New" panose="02070309020205020404" pitchFamily="49" charset="0"/>
              <a:cs typeface="Courier New" panose="02070309020205020404" pitchFamily="49" charset="0"/>
            </a:endParaRPr>
          </a:p>
          <a:p>
            <a:r>
              <a:rPr lang="en-US" altLang="zh-CN" b="1" dirty="0">
                <a:solidFill>
                  <a:schemeClr val="tx2"/>
                </a:solidFill>
                <a:latin typeface="Courier New" panose="02070309020205020404" pitchFamily="49" charset="0"/>
                <a:cs typeface="Courier New" panose="02070309020205020404" pitchFamily="49" charset="0"/>
              </a:rPr>
              <a:t>	</a:t>
            </a:r>
            <a:r>
              <a:rPr lang="en-US" altLang="zh-CN" b="1" dirty="0" err="1">
                <a:solidFill>
                  <a:srgbClr val="0000FF"/>
                </a:solidFill>
                <a:latin typeface="Courier New" panose="02070309020205020404" pitchFamily="49" charset="0"/>
                <a:cs typeface="Courier New" panose="02070309020205020404" pitchFamily="49" charset="0"/>
              </a:rPr>
              <a:t>int</a:t>
            </a:r>
            <a:r>
              <a:rPr lang="en-US" altLang="zh-CN" b="1" dirty="0">
                <a:solidFill>
                  <a:schemeClr val="tx2"/>
                </a:solidFill>
                <a:latin typeface="Courier New" panose="02070309020205020404" pitchFamily="49" charset="0"/>
                <a:cs typeface="Courier New" panose="02070309020205020404" pitchFamily="49" charset="0"/>
              </a:rPr>
              <a:t> c = add(</a:t>
            </a:r>
            <a:r>
              <a:rPr lang="en-US" altLang="zh-CN" b="1" dirty="0" err="1">
                <a:solidFill>
                  <a:schemeClr val="tx2"/>
                </a:solidFill>
                <a:latin typeface="Courier New" panose="02070309020205020404" pitchFamily="49" charset="0"/>
                <a:cs typeface="Courier New" panose="02070309020205020404" pitchFamily="49" charset="0"/>
              </a:rPr>
              <a:t>a,b</a:t>
            </a:r>
            <a:r>
              <a:rPr lang="en-US" altLang="zh-CN" b="1" dirty="0">
                <a:solidFill>
                  <a:schemeClr val="tx2"/>
                </a:solidFill>
                <a:latin typeface="Courier New" panose="02070309020205020404" pitchFamily="49" charset="0"/>
                <a:cs typeface="Courier New" panose="02070309020205020404" pitchFamily="49" charset="0"/>
              </a:rPr>
              <a:t>);</a:t>
            </a:r>
            <a:endParaRPr lang="en-US" altLang="zh-CN" b="1" dirty="0">
              <a:solidFill>
                <a:schemeClr val="tx2"/>
              </a:solidFill>
              <a:latin typeface="Courier New" panose="02070309020205020404" pitchFamily="49" charset="0"/>
              <a:cs typeface="Courier New" panose="02070309020205020404" pitchFamily="49" charset="0"/>
            </a:endParaRPr>
          </a:p>
          <a:p>
            <a:r>
              <a:rPr lang="en-US" altLang="zh-CN" b="1" dirty="0">
                <a:solidFill>
                  <a:schemeClr val="tx2"/>
                </a:solidFill>
                <a:latin typeface="Courier New" panose="02070309020205020404" pitchFamily="49" charset="0"/>
                <a:cs typeface="Courier New" panose="02070309020205020404" pitchFamily="49" charset="0"/>
              </a:rPr>
              <a:t>	output(c);	</a:t>
            </a:r>
            <a:endParaRPr lang="en-US" altLang="zh-CN" b="1" dirty="0">
              <a:solidFill>
                <a:schemeClr val="tx2"/>
              </a:solidFill>
              <a:latin typeface="Courier New" panose="02070309020205020404" pitchFamily="49" charset="0"/>
              <a:cs typeface="Courier New" panose="02070309020205020404" pitchFamily="49" charset="0"/>
            </a:endParaRPr>
          </a:p>
          <a:p>
            <a:r>
              <a:rPr lang="en-US" altLang="zh-CN" b="1" dirty="0">
                <a:solidFill>
                  <a:schemeClr val="tx2"/>
                </a:solidFill>
                <a:latin typeface="Courier New" panose="02070309020205020404" pitchFamily="49" charset="0"/>
                <a:cs typeface="Courier New" panose="02070309020205020404" pitchFamily="49" charset="0"/>
              </a:rPr>
              <a:t>}</a:t>
            </a:r>
            <a:endParaRPr lang="zh-CN" altLang="en-US" b="1" dirty="0">
              <a:solidFill>
                <a:schemeClr val="tx2"/>
              </a:solidFill>
              <a:latin typeface="Courier New" panose="02070309020205020404" pitchFamily="49" charset="0"/>
              <a:cs typeface="Courier New" panose="02070309020205020404" pitchFamily="49" charset="0"/>
            </a:endParaRPr>
          </a:p>
        </p:txBody>
      </p:sp>
      <p:sp>
        <p:nvSpPr>
          <p:cNvPr id="9" name="内容占位符 2"/>
          <p:cNvSpPr>
            <a:spLocks noGrp="1"/>
          </p:cNvSpPr>
          <p:nvPr>
            <p:ph idx="1"/>
          </p:nvPr>
        </p:nvSpPr>
        <p:spPr>
          <a:xfrm>
            <a:off x="457200" y="1295400"/>
            <a:ext cx="8153400" cy="549424"/>
          </a:xfrm>
        </p:spPr>
        <p:txBody>
          <a:bodyPr/>
          <a:lstStyle/>
          <a:p>
            <a:r>
              <a:rPr lang="en-US" altLang="zh-CN" dirty="0">
                <a:solidFill>
                  <a:srgbClr val="C00000"/>
                </a:solidFill>
              </a:rPr>
              <a:t>【</a:t>
            </a:r>
            <a:r>
              <a:rPr lang="zh-CN" altLang="en-US" dirty="0">
                <a:solidFill>
                  <a:srgbClr val="C00000"/>
                </a:solidFill>
              </a:rPr>
              <a:t>例</a:t>
            </a:r>
            <a:r>
              <a:rPr lang="en-US" altLang="zh-CN" dirty="0">
                <a:solidFill>
                  <a:srgbClr val="C00000"/>
                </a:solidFill>
              </a:rPr>
              <a:t>1.2】</a:t>
            </a:r>
            <a:r>
              <a:rPr lang="zh-CN" altLang="en-US" dirty="0">
                <a:solidFill>
                  <a:srgbClr val="C00000"/>
                </a:solidFill>
              </a:rPr>
              <a:t>函数型程序</a:t>
            </a:r>
            <a:endParaRPr lang="zh-CN" altLang="en-US" dirty="0">
              <a:solidFill>
                <a:srgbClr val="C00000"/>
              </a:solidFill>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面向对象型结构</a:t>
            </a:r>
            <a:endParaRPr lang="zh-CN" altLang="en-US" dirty="0"/>
          </a:p>
        </p:txBody>
      </p:sp>
      <p:sp>
        <p:nvSpPr>
          <p:cNvPr id="4" name="矩形 3"/>
          <p:cNvSpPr/>
          <p:nvPr/>
        </p:nvSpPr>
        <p:spPr>
          <a:xfrm>
            <a:off x="428596" y="1844824"/>
            <a:ext cx="3429024" cy="4524315"/>
          </a:xfrm>
          <a:prstGeom prst="rect">
            <a:avLst/>
          </a:prstGeom>
        </p:spPr>
        <p:txBody>
          <a:bodyPr wrap="square">
            <a:spAutoFit/>
          </a:bodyPr>
          <a:lstStyle/>
          <a:p>
            <a:r>
              <a:rPr lang="en-US" altLang="zh-CN" b="1" dirty="0">
                <a:solidFill>
                  <a:srgbClr val="0000FF"/>
                </a:solidFill>
                <a:latin typeface="Courier New" panose="02070309020205020404" pitchFamily="49" charset="0"/>
                <a:cs typeface="Courier New" panose="02070309020205020404" pitchFamily="49" charset="0"/>
              </a:rPr>
              <a:t>#include</a:t>
            </a:r>
            <a:r>
              <a:rPr lang="en-US" altLang="zh-CN" b="1" dirty="0">
                <a:solidFill>
                  <a:schemeClr val="tx2"/>
                </a:solidFill>
                <a:latin typeface="Courier New" panose="02070309020205020404" pitchFamily="49" charset="0"/>
                <a:cs typeface="Courier New" panose="02070309020205020404" pitchFamily="49" charset="0"/>
              </a:rPr>
              <a:t>&lt;</a:t>
            </a:r>
            <a:r>
              <a:rPr lang="en-US" altLang="zh-CN" b="1" dirty="0" err="1">
                <a:solidFill>
                  <a:schemeClr val="tx2"/>
                </a:solidFill>
                <a:latin typeface="Courier New" panose="02070309020205020404" pitchFamily="49" charset="0"/>
                <a:cs typeface="Courier New" panose="02070309020205020404" pitchFamily="49" charset="0"/>
              </a:rPr>
              <a:t>iostream</a:t>
            </a:r>
            <a:r>
              <a:rPr lang="en-US" altLang="zh-CN" b="1" dirty="0">
                <a:solidFill>
                  <a:schemeClr val="tx2"/>
                </a:solidFill>
                <a:latin typeface="Courier New" panose="02070309020205020404" pitchFamily="49" charset="0"/>
                <a:cs typeface="Courier New" panose="02070309020205020404" pitchFamily="49" charset="0"/>
              </a:rPr>
              <a:t>&gt;</a:t>
            </a:r>
            <a:endParaRPr lang="en-US" altLang="zh-CN" b="1" dirty="0">
              <a:solidFill>
                <a:schemeClr val="tx2"/>
              </a:solidFill>
              <a:latin typeface="Courier New" panose="02070309020205020404" pitchFamily="49" charset="0"/>
              <a:cs typeface="Courier New" panose="02070309020205020404" pitchFamily="49" charset="0"/>
            </a:endParaRPr>
          </a:p>
          <a:p>
            <a:r>
              <a:rPr lang="en-US" altLang="zh-CN" b="1" dirty="0">
                <a:solidFill>
                  <a:srgbClr val="0000FF"/>
                </a:solidFill>
                <a:latin typeface="Courier New" panose="02070309020205020404" pitchFamily="49" charset="0"/>
                <a:cs typeface="Courier New" panose="02070309020205020404" pitchFamily="49" charset="0"/>
              </a:rPr>
              <a:t>using namespace </a:t>
            </a:r>
            <a:r>
              <a:rPr lang="en-US" altLang="zh-CN" b="1" dirty="0" err="1">
                <a:solidFill>
                  <a:schemeClr val="tx2"/>
                </a:solidFill>
                <a:latin typeface="Courier New" panose="02070309020205020404" pitchFamily="49" charset="0"/>
                <a:cs typeface="Courier New" panose="02070309020205020404" pitchFamily="49" charset="0"/>
              </a:rPr>
              <a:t>std</a:t>
            </a:r>
            <a:r>
              <a:rPr lang="en-US" altLang="zh-CN" b="1" dirty="0">
                <a:solidFill>
                  <a:schemeClr val="tx2"/>
                </a:solidFill>
                <a:latin typeface="Courier New" panose="02070309020205020404" pitchFamily="49" charset="0"/>
                <a:cs typeface="Courier New" panose="02070309020205020404" pitchFamily="49" charset="0"/>
              </a:rPr>
              <a:t>;</a:t>
            </a:r>
            <a:endParaRPr lang="en-US" altLang="zh-CN" b="1" dirty="0">
              <a:solidFill>
                <a:schemeClr val="tx2"/>
              </a:solidFill>
              <a:latin typeface="Courier New" panose="02070309020205020404" pitchFamily="49" charset="0"/>
              <a:cs typeface="Courier New" panose="02070309020205020404" pitchFamily="49" charset="0"/>
            </a:endParaRPr>
          </a:p>
          <a:p>
            <a:r>
              <a:rPr lang="en-US" altLang="zh-CN" b="1" dirty="0">
                <a:solidFill>
                  <a:srgbClr val="0000FF"/>
                </a:solidFill>
                <a:latin typeface="Courier New" panose="02070309020205020404" pitchFamily="49" charset="0"/>
                <a:cs typeface="Courier New" panose="02070309020205020404" pitchFamily="49" charset="0"/>
              </a:rPr>
              <a:t>class</a:t>
            </a:r>
            <a:r>
              <a:rPr lang="en-US" altLang="zh-CN" b="1" dirty="0">
                <a:solidFill>
                  <a:schemeClr val="tx2"/>
                </a:solidFill>
                <a:latin typeface="Courier New" panose="02070309020205020404" pitchFamily="49" charset="0"/>
                <a:cs typeface="Courier New" panose="02070309020205020404" pitchFamily="49" charset="0"/>
              </a:rPr>
              <a:t> Calculator</a:t>
            </a:r>
            <a:endParaRPr lang="en-US" altLang="zh-CN" b="1" dirty="0">
              <a:solidFill>
                <a:schemeClr val="tx2"/>
              </a:solidFill>
              <a:latin typeface="Courier New" panose="02070309020205020404" pitchFamily="49" charset="0"/>
              <a:cs typeface="Courier New" panose="02070309020205020404" pitchFamily="49" charset="0"/>
            </a:endParaRPr>
          </a:p>
          <a:p>
            <a:r>
              <a:rPr lang="en-US" altLang="zh-CN" b="1" dirty="0">
                <a:solidFill>
                  <a:schemeClr val="tx2"/>
                </a:solidFill>
                <a:latin typeface="Courier New" panose="02070309020205020404" pitchFamily="49" charset="0"/>
                <a:cs typeface="Courier New" panose="02070309020205020404" pitchFamily="49" charset="0"/>
              </a:rPr>
              <a:t>{</a:t>
            </a:r>
            <a:endParaRPr lang="en-US" altLang="zh-CN" b="1" dirty="0">
              <a:solidFill>
                <a:schemeClr val="tx2"/>
              </a:solidFill>
              <a:latin typeface="Courier New" panose="02070309020205020404" pitchFamily="49" charset="0"/>
              <a:cs typeface="Courier New" panose="02070309020205020404" pitchFamily="49" charset="0"/>
            </a:endParaRPr>
          </a:p>
          <a:p>
            <a:r>
              <a:rPr lang="en-US" altLang="zh-CN" b="1" dirty="0">
                <a:solidFill>
                  <a:schemeClr val="tx2"/>
                </a:solidFill>
                <a:latin typeface="Courier New" panose="02070309020205020404" pitchFamily="49" charset="0"/>
                <a:cs typeface="Courier New" panose="02070309020205020404" pitchFamily="49" charset="0"/>
              </a:rPr>
              <a:t>	</a:t>
            </a:r>
            <a:r>
              <a:rPr lang="en-US" altLang="zh-CN" b="1" dirty="0" err="1">
                <a:solidFill>
                  <a:srgbClr val="0000FF"/>
                </a:solidFill>
                <a:latin typeface="Courier New" panose="02070309020205020404" pitchFamily="49" charset="0"/>
                <a:cs typeface="Courier New" panose="02070309020205020404" pitchFamily="49" charset="0"/>
              </a:rPr>
              <a:t>int</a:t>
            </a:r>
            <a:r>
              <a:rPr lang="en-US" altLang="zh-CN" b="1" dirty="0">
                <a:solidFill>
                  <a:schemeClr val="tx2"/>
                </a:solidFill>
                <a:latin typeface="Courier New" panose="02070309020205020404" pitchFamily="49" charset="0"/>
                <a:cs typeface="Courier New" panose="02070309020205020404" pitchFamily="49" charset="0"/>
              </a:rPr>
              <a:t> a;</a:t>
            </a:r>
            <a:endParaRPr lang="en-US" altLang="zh-CN" b="1" dirty="0">
              <a:solidFill>
                <a:schemeClr val="tx2"/>
              </a:solidFill>
              <a:latin typeface="Courier New" panose="02070309020205020404" pitchFamily="49" charset="0"/>
              <a:cs typeface="Courier New" panose="02070309020205020404" pitchFamily="49" charset="0"/>
            </a:endParaRPr>
          </a:p>
          <a:p>
            <a:r>
              <a:rPr lang="en-US" altLang="zh-CN" b="1" dirty="0">
                <a:solidFill>
                  <a:schemeClr val="tx2"/>
                </a:solidFill>
                <a:latin typeface="Courier New" panose="02070309020205020404" pitchFamily="49" charset="0"/>
                <a:cs typeface="Courier New" panose="02070309020205020404" pitchFamily="49" charset="0"/>
              </a:rPr>
              <a:t>	</a:t>
            </a:r>
            <a:r>
              <a:rPr lang="en-US" altLang="zh-CN" b="1" dirty="0" err="1">
                <a:solidFill>
                  <a:srgbClr val="0000FF"/>
                </a:solidFill>
                <a:latin typeface="Courier New" panose="02070309020205020404" pitchFamily="49" charset="0"/>
                <a:cs typeface="Courier New" panose="02070309020205020404" pitchFamily="49" charset="0"/>
              </a:rPr>
              <a:t>int</a:t>
            </a:r>
            <a:r>
              <a:rPr lang="en-US" altLang="zh-CN" b="1" dirty="0">
                <a:solidFill>
                  <a:schemeClr val="tx2"/>
                </a:solidFill>
                <a:latin typeface="Courier New" panose="02070309020205020404" pitchFamily="49" charset="0"/>
                <a:cs typeface="Courier New" panose="02070309020205020404" pitchFamily="49" charset="0"/>
              </a:rPr>
              <a:t> b;</a:t>
            </a:r>
            <a:endParaRPr lang="en-US" altLang="zh-CN" b="1" dirty="0">
              <a:solidFill>
                <a:schemeClr val="tx2"/>
              </a:solidFill>
              <a:latin typeface="Courier New" panose="02070309020205020404" pitchFamily="49" charset="0"/>
              <a:cs typeface="Courier New" panose="02070309020205020404" pitchFamily="49" charset="0"/>
            </a:endParaRPr>
          </a:p>
          <a:p>
            <a:r>
              <a:rPr lang="en-US" altLang="zh-CN" b="1" dirty="0">
                <a:solidFill>
                  <a:srgbClr val="0000FF"/>
                </a:solidFill>
                <a:latin typeface="Courier New" panose="02070309020205020404" pitchFamily="49" charset="0"/>
                <a:cs typeface="Courier New" panose="02070309020205020404" pitchFamily="49" charset="0"/>
              </a:rPr>
              <a:t>public</a:t>
            </a:r>
            <a:r>
              <a:rPr lang="en-US" altLang="zh-CN" b="1" dirty="0">
                <a:solidFill>
                  <a:schemeClr val="tx2"/>
                </a:solidFill>
                <a:latin typeface="Courier New" panose="02070309020205020404" pitchFamily="49" charset="0"/>
                <a:cs typeface="Courier New" panose="02070309020205020404" pitchFamily="49" charset="0"/>
              </a:rPr>
              <a:t>:</a:t>
            </a:r>
            <a:endParaRPr lang="en-US" altLang="zh-CN" b="1" dirty="0">
              <a:solidFill>
                <a:schemeClr val="tx2"/>
              </a:solidFill>
              <a:latin typeface="Courier New" panose="02070309020205020404" pitchFamily="49" charset="0"/>
              <a:cs typeface="Courier New" panose="02070309020205020404" pitchFamily="49" charset="0"/>
            </a:endParaRPr>
          </a:p>
          <a:p>
            <a:r>
              <a:rPr lang="en-US" altLang="zh-CN" b="1" dirty="0">
                <a:solidFill>
                  <a:schemeClr val="tx2"/>
                </a:solidFill>
                <a:latin typeface="Courier New" panose="02070309020205020404" pitchFamily="49" charset="0"/>
                <a:cs typeface="Courier New" panose="02070309020205020404" pitchFamily="49" charset="0"/>
              </a:rPr>
              <a:t>	Calculator();</a:t>
            </a:r>
            <a:endParaRPr lang="en-US" altLang="zh-CN" b="1" dirty="0">
              <a:solidFill>
                <a:schemeClr val="tx2"/>
              </a:solidFill>
              <a:latin typeface="Courier New" panose="02070309020205020404" pitchFamily="49" charset="0"/>
              <a:cs typeface="Courier New" panose="02070309020205020404" pitchFamily="49" charset="0"/>
            </a:endParaRPr>
          </a:p>
          <a:p>
            <a:r>
              <a:rPr lang="en-US" altLang="zh-CN" b="1" dirty="0">
                <a:solidFill>
                  <a:schemeClr val="tx2"/>
                </a:solidFill>
                <a:latin typeface="Courier New" panose="02070309020205020404" pitchFamily="49" charset="0"/>
                <a:cs typeface="Courier New" panose="02070309020205020404" pitchFamily="49" charset="0"/>
              </a:rPr>
              <a:t>	</a:t>
            </a:r>
            <a:r>
              <a:rPr lang="en-US" altLang="zh-CN" b="1" dirty="0" err="1">
                <a:solidFill>
                  <a:srgbClr val="0000FF"/>
                </a:solidFill>
                <a:latin typeface="Courier New" panose="02070309020205020404" pitchFamily="49" charset="0"/>
                <a:cs typeface="Courier New" panose="02070309020205020404" pitchFamily="49" charset="0"/>
              </a:rPr>
              <a:t>int</a:t>
            </a:r>
            <a:r>
              <a:rPr lang="en-US" altLang="zh-CN" b="1" dirty="0">
                <a:solidFill>
                  <a:schemeClr val="tx2"/>
                </a:solidFill>
                <a:latin typeface="Courier New" panose="02070309020205020404" pitchFamily="49" charset="0"/>
                <a:cs typeface="Courier New" panose="02070309020205020404" pitchFamily="49" charset="0"/>
              </a:rPr>
              <a:t> Add(</a:t>
            </a:r>
            <a:r>
              <a:rPr lang="en-US" altLang="zh-CN" b="1" dirty="0" err="1">
                <a:solidFill>
                  <a:srgbClr val="0000FF"/>
                </a:solidFill>
                <a:latin typeface="Courier New" panose="02070309020205020404" pitchFamily="49" charset="0"/>
                <a:cs typeface="Courier New" panose="02070309020205020404" pitchFamily="49" charset="0"/>
              </a:rPr>
              <a:t>int</a:t>
            </a:r>
            <a:r>
              <a:rPr lang="en-US" altLang="zh-CN" b="1" dirty="0" err="1">
                <a:solidFill>
                  <a:schemeClr val="tx2"/>
                </a:solidFill>
                <a:latin typeface="Courier New" panose="02070309020205020404" pitchFamily="49" charset="0"/>
                <a:cs typeface="Courier New" panose="02070309020205020404" pitchFamily="49" charset="0"/>
              </a:rPr>
              <a:t>,</a:t>
            </a:r>
            <a:r>
              <a:rPr lang="en-US" altLang="zh-CN" b="1" dirty="0" err="1">
                <a:solidFill>
                  <a:srgbClr val="0000FF"/>
                </a:solidFill>
                <a:latin typeface="Courier New" panose="02070309020205020404" pitchFamily="49" charset="0"/>
                <a:cs typeface="Courier New" panose="02070309020205020404" pitchFamily="49" charset="0"/>
              </a:rPr>
              <a:t>int</a:t>
            </a:r>
            <a:r>
              <a:rPr lang="en-US" altLang="zh-CN" b="1" dirty="0">
                <a:solidFill>
                  <a:schemeClr val="tx2"/>
                </a:solidFill>
                <a:latin typeface="Courier New" panose="02070309020205020404" pitchFamily="49" charset="0"/>
                <a:cs typeface="Courier New" panose="02070309020205020404" pitchFamily="49" charset="0"/>
              </a:rPr>
              <a:t>);</a:t>
            </a:r>
            <a:endParaRPr lang="en-US" altLang="zh-CN" b="1" dirty="0">
              <a:solidFill>
                <a:schemeClr val="tx2"/>
              </a:solidFill>
              <a:latin typeface="Courier New" panose="02070309020205020404" pitchFamily="49" charset="0"/>
              <a:cs typeface="Courier New" panose="02070309020205020404" pitchFamily="49" charset="0"/>
            </a:endParaRPr>
          </a:p>
          <a:p>
            <a:r>
              <a:rPr lang="en-US" altLang="zh-CN" b="1" dirty="0">
                <a:solidFill>
                  <a:schemeClr val="tx2"/>
                </a:solidFill>
                <a:latin typeface="Courier New" panose="02070309020205020404" pitchFamily="49" charset="0"/>
                <a:cs typeface="Courier New" panose="02070309020205020404" pitchFamily="49" charset="0"/>
              </a:rPr>
              <a:t>	</a:t>
            </a:r>
            <a:r>
              <a:rPr lang="en-US" altLang="zh-CN" b="1" dirty="0" err="1">
                <a:solidFill>
                  <a:srgbClr val="0000FF"/>
                </a:solidFill>
                <a:latin typeface="Courier New" panose="02070309020205020404" pitchFamily="49" charset="0"/>
                <a:cs typeface="Courier New" panose="02070309020205020404" pitchFamily="49" charset="0"/>
              </a:rPr>
              <a:t>int</a:t>
            </a:r>
            <a:r>
              <a:rPr lang="en-US" altLang="zh-CN" b="1" dirty="0">
                <a:solidFill>
                  <a:schemeClr val="tx2"/>
                </a:solidFill>
                <a:latin typeface="Courier New" panose="02070309020205020404" pitchFamily="49" charset="0"/>
                <a:cs typeface="Courier New" panose="02070309020205020404" pitchFamily="49" charset="0"/>
              </a:rPr>
              <a:t> Sub(</a:t>
            </a:r>
            <a:r>
              <a:rPr lang="en-US" altLang="zh-CN" b="1" dirty="0" err="1">
                <a:solidFill>
                  <a:srgbClr val="0000FF"/>
                </a:solidFill>
                <a:latin typeface="Courier New" panose="02070309020205020404" pitchFamily="49" charset="0"/>
                <a:cs typeface="Courier New" panose="02070309020205020404" pitchFamily="49" charset="0"/>
              </a:rPr>
              <a:t>int</a:t>
            </a:r>
            <a:r>
              <a:rPr lang="en-US" altLang="zh-CN" b="1" dirty="0" err="1">
                <a:solidFill>
                  <a:schemeClr val="tx2"/>
                </a:solidFill>
                <a:latin typeface="Courier New" panose="02070309020205020404" pitchFamily="49" charset="0"/>
                <a:cs typeface="Courier New" panose="02070309020205020404" pitchFamily="49" charset="0"/>
              </a:rPr>
              <a:t>,</a:t>
            </a:r>
            <a:r>
              <a:rPr lang="en-US" altLang="zh-CN" b="1" dirty="0" err="1">
                <a:solidFill>
                  <a:srgbClr val="0000FF"/>
                </a:solidFill>
                <a:latin typeface="Courier New" panose="02070309020205020404" pitchFamily="49" charset="0"/>
                <a:cs typeface="Courier New" panose="02070309020205020404" pitchFamily="49" charset="0"/>
              </a:rPr>
              <a:t>int</a:t>
            </a:r>
            <a:r>
              <a:rPr lang="en-US" altLang="zh-CN" b="1" dirty="0">
                <a:solidFill>
                  <a:schemeClr val="tx2"/>
                </a:solidFill>
                <a:latin typeface="Courier New" panose="02070309020205020404" pitchFamily="49" charset="0"/>
                <a:cs typeface="Courier New" panose="02070309020205020404" pitchFamily="49" charset="0"/>
              </a:rPr>
              <a:t>);</a:t>
            </a:r>
            <a:endParaRPr lang="en-US" altLang="zh-CN" b="1" dirty="0">
              <a:solidFill>
                <a:schemeClr val="tx2"/>
              </a:solidFill>
              <a:latin typeface="Courier New" panose="02070309020205020404" pitchFamily="49" charset="0"/>
              <a:cs typeface="Courier New" panose="02070309020205020404" pitchFamily="49" charset="0"/>
            </a:endParaRPr>
          </a:p>
          <a:p>
            <a:r>
              <a:rPr lang="en-US" altLang="zh-CN" b="1" dirty="0">
                <a:solidFill>
                  <a:schemeClr val="tx2"/>
                </a:solidFill>
                <a:latin typeface="Courier New" panose="02070309020205020404" pitchFamily="49" charset="0"/>
                <a:cs typeface="Courier New" panose="02070309020205020404" pitchFamily="49" charset="0"/>
              </a:rPr>
              <a:t>};</a:t>
            </a:r>
            <a:endParaRPr lang="en-US" altLang="zh-CN" b="1" dirty="0">
              <a:solidFill>
                <a:schemeClr val="tx2"/>
              </a:solidFill>
              <a:latin typeface="Courier New" panose="02070309020205020404" pitchFamily="49" charset="0"/>
              <a:cs typeface="Courier New" panose="02070309020205020404" pitchFamily="49" charset="0"/>
            </a:endParaRPr>
          </a:p>
          <a:p>
            <a:r>
              <a:rPr lang="en-US" altLang="zh-CN" b="1" dirty="0">
                <a:solidFill>
                  <a:schemeClr val="tx2"/>
                </a:solidFill>
                <a:latin typeface="Courier New" panose="02070309020205020404" pitchFamily="49" charset="0"/>
                <a:cs typeface="Courier New" panose="02070309020205020404" pitchFamily="49" charset="0"/>
              </a:rPr>
              <a:t>Calculator::Calculator()</a:t>
            </a:r>
            <a:endParaRPr lang="en-US" altLang="zh-CN" b="1" dirty="0">
              <a:solidFill>
                <a:schemeClr val="tx2"/>
              </a:solidFill>
              <a:latin typeface="Courier New" panose="02070309020205020404" pitchFamily="49" charset="0"/>
              <a:cs typeface="Courier New" panose="02070309020205020404" pitchFamily="49" charset="0"/>
            </a:endParaRPr>
          </a:p>
          <a:p>
            <a:r>
              <a:rPr lang="en-US" altLang="zh-CN" b="1" dirty="0">
                <a:solidFill>
                  <a:schemeClr val="tx2"/>
                </a:solidFill>
                <a:latin typeface="Courier New" panose="02070309020205020404" pitchFamily="49" charset="0"/>
                <a:cs typeface="Courier New" panose="02070309020205020404" pitchFamily="49" charset="0"/>
              </a:rPr>
              <a:t>{</a:t>
            </a:r>
            <a:endParaRPr lang="en-US" altLang="zh-CN" b="1" dirty="0">
              <a:solidFill>
                <a:schemeClr val="tx2"/>
              </a:solidFill>
              <a:latin typeface="Courier New" panose="02070309020205020404" pitchFamily="49" charset="0"/>
              <a:cs typeface="Courier New" panose="02070309020205020404" pitchFamily="49" charset="0"/>
            </a:endParaRPr>
          </a:p>
          <a:p>
            <a:r>
              <a:rPr lang="en-US" altLang="zh-CN" b="1" dirty="0">
                <a:solidFill>
                  <a:schemeClr val="tx2"/>
                </a:solidFill>
                <a:latin typeface="Courier New" panose="02070309020205020404" pitchFamily="49" charset="0"/>
                <a:cs typeface="Courier New" panose="02070309020205020404" pitchFamily="49" charset="0"/>
              </a:rPr>
              <a:t>	a=0;</a:t>
            </a:r>
            <a:endParaRPr lang="en-US" altLang="zh-CN" b="1" dirty="0">
              <a:solidFill>
                <a:schemeClr val="tx2"/>
              </a:solidFill>
              <a:latin typeface="Courier New" panose="02070309020205020404" pitchFamily="49" charset="0"/>
              <a:cs typeface="Courier New" panose="02070309020205020404" pitchFamily="49" charset="0"/>
            </a:endParaRPr>
          </a:p>
          <a:p>
            <a:r>
              <a:rPr lang="en-US" altLang="zh-CN" b="1" dirty="0">
                <a:solidFill>
                  <a:schemeClr val="tx2"/>
                </a:solidFill>
                <a:latin typeface="Courier New" panose="02070309020205020404" pitchFamily="49" charset="0"/>
                <a:cs typeface="Courier New" panose="02070309020205020404" pitchFamily="49" charset="0"/>
              </a:rPr>
              <a:t>	b=0;</a:t>
            </a:r>
            <a:endParaRPr lang="en-US" altLang="zh-CN" b="1" dirty="0">
              <a:solidFill>
                <a:schemeClr val="tx2"/>
              </a:solidFill>
              <a:latin typeface="Courier New" panose="02070309020205020404" pitchFamily="49" charset="0"/>
              <a:cs typeface="Courier New" panose="02070309020205020404" pitchFamily="49" charset="0"/>
            </a:endParaRPr>
          </a:p>
          <a:p>
            <a:r>
              <a:rPr lang="en-US" altLang="zh-CN" b="1" dirty="0">
                <a:solidFill>
                  <a:schemeClr val="tx2"/>
                </a:solidFill>
                <a:latin typeface="Courier New" panose="02070309020205020404" pitchFamily="49" charset="0"/>
                <a:cs typeface="Courier New" panose="02070309020205020404" pitchFamily="49" charset="0"/>
              </a:rPr>
              <a:t>}</a:t>
            </a:r>
            <a:endParaRPr lang="en-US" altLang="zh-CN" b="1" dirty="0">
              <a:solidFill>
                <a:schemeClr val="tx2"/>
              </a:solidFill>
              <a:latin typeface="Courier New" panose="02070309020205020404" pitchFamily="49" charset="0"/>
              <a:cs typeface="Courier New" panose="02070309020205020404" pitchFamily="49" charset="0"/>
            </a:endParaRPr>
          </a:p>
        </p:txBody>
      </p:sp>
      <p:sp>
        <p:nvSpPr>
          <p:cNvPr id="5" name="矩形 4"/>
          <p:cNvSpPr/>
          <p:nvPr/>
        </p:nvSpPr>
        <p:spPr>
          <a:xfrm>
            <a:off x="3851920" y="1916832"/>
            <a:ext cx="5292080" cy="4524315"/>
          </a:xfrm>
          <a:prstGeom prst="rect">
            <a:avLst/>
          </a:prstGeom>
        </p:spPr>
        <p:txBody>
          <a:bodyPr wrap="square">
            <a:spAutoFit/>
          </a:bodyPr>
          <a:lstStyle/>
          <a:p>
            <a:r>
              <a:rPr lang="en-US" altLang="zh-CN" b="1" dirty="0" err="1">
                <a:solidFill>
                  <a:srgbClr val="0000FF"/>
                </a:solidFill>
                <a:latin typeface="Courier New" panose="02070309020205020404" pitchFamily="49" charset="0"/>
                <a:cs typeface="Courier New" panose="02070309020205020404" pitchFamily="49" charset="0"/>
              </a:rPr>
              <a:t>int</a:t>
            </a:r>
            <a:r>
              <a:rPr lang="en-US" altLang="zh-CN" b="1" dirty="0">
                <a:solidFill>
                  <a:schemeClr val="tx2"/>
                </a:solidFill>
                <a:latin typeface="Courier New" panose="02070309020205020404" pitchFamily="49" charset="0"/>
                <a:cs typeface="Courier New" panose="02070309020205020404" pitchFamily="49" charset="0"/>
              </a:rPr>
              <a:t> Calculator::Add(</a:t>
            </a:r>
            <a:r>
              <a:rPr lang="en-US" altLang="zh-CN" b="1" dirty="0" err="1">
                <a:solidFill>
                  <a:srgbClr val="0000FF"/>
                </a:solidFill>
                <a:latin typeface="Courier New" panose="02070309020205020404" pitchFamily="49" charset="0"/>
                <a:cs typeface="Courier New" panose="02070309020205020404" pitchFamily="49" charset="0"/>
              </a:rPr>
              <a:t>int</a:t>
            </a:r>
            <a:r>
              <a:rPr lang="en-US" altLang="zh-CN" b="1" dirty="0">
                <a:solidFill>
                  <a:schemeClr val="tx2"/>
                </a:solidFill>
                <a:latin typeface="Courier New" panose="02070309020205020404" pitchFamily="49" charset="0"/>
                <a:cs typeface="Courier New" panose="02070309020205020404" pitchFamily="49" charset="0"/>
              </a:rPr>
              <a:t> </a:t>
            </a:r>
            <a:r>
              <a:rPr lang="en-US" altLang="zh-CN" b="1" dirty="0" err="1">
                <a:solidFill>
                  <a:schemeClr val="tx2"/>
                </a:solidFill>
                <a:latin typeface="Courier New" panose="02070309020205020404" pitchFamily="49" charset="0"/>
                <a:cs typeface="Courier New" panose="02070309020205020404" pitchFamily="49" charset="0"/>
              </a:rPr>
              <a:t>x,</a:t>
            </a:r>
            <a:r>
              <a:rPr lang="en-US" altLang="zh-CN" b="1" dirty="0" err="1">
                <a:solidFill>
                  <a:srgbClr val="0000FF"/>
                </a:solidFill>
                <a:latin typeface="Courier New" panose="02070309020205020404" pitchFamily="49" charset="0"/>
                <a:cs typeface="Courier New" panose="02070309020205020404" pitchFamily="49" charset="0"/>
              </a:rPr>
              <a:t>int</a:t>
            </a:r>
            <a:r>
              <a:rPr lang="en-US" altLang="zh-CN" b="1" dirty="0">
                <a:solidFill>
                  <a:schemeClr val="tx2"/>
                </a:solidFill>
                <a:latin typeface="Courier New" panose="02070309020205020404" pitchFamily="49" charset="0"/>
                <a:cs typeface="Courier New" panose="02070309020205020404" pitchFamily="49" charset="0"/>
              </a:rPr>
              <a:t> y){</a:t>
            </a:r>
            <a:endParaRPr lang="en-US" altLang="zh-CN" b="1" dirty="0">
              <a:solidFill>
                <a:schemeClr val="tx2"/>
              </a:solidFill>
              <a:latin typeface="Courier New" panose="02070309020205020404" pitchFamily="49" charset="0"/>
              <a:cs typeface="Courier New" panose="02070309020205020404" pitchFamily="49" charset="0"/>
            </a:endParaRPr>
          </a:p>
          <a:p>
            <a:r>
              <a:rPr lang="en-US" altLang="zh-CN" b="1" dirty="0">
                <a:solidFill>
                  <a:schemeClr val="tx2"/>
                </a:solidFill>
                <a:latin typeface="Courier New" panose="02070309020205020404" pitchFamily="49" charset="0"/>
                <a:cs typeface="Courier New" panose="02070309020205020404" pitchFamily="49" charset="0"/>
              </a:rPr>
              <a:t>	</a:t>
            </a:r>
            <a:r>
              <a:rPr lang="en-US" altLang="zh-CN" b="1" dirty="0">
                <a:solidFill>
                  <a:srgbClr val="0000FF"/>
                </a:solidFill>
                <a:latin typeface="Courier New" panose="02070309020205020404" pitchFamily="49" charset="0"/>
                <a:cs typeface="Courier New" panose="02070309020205020404" pitchFamily="49" charset="0"/>
              </a:rPr>
              <a:t>return</a:t>
            </a:r>
            <a:r>
              <a:rPr lang="en-US" altLang="zh-CN" b="1" dirty="0">
                <a:solidFill>
                  <a:schemeClr val="tx2"/>
                </a:solidFill>
                <a:latin typeface="Courier New" panose="02070309020205020404" pitchFamily="49" charset="0"/>
                <a:cs typeface="Courier New" panose="02070309020205020404" pitchFamily="49" charset="0"/>
              </a:rPr>
              <a:t> </a:t>
            </a:r>
            <a:r>
              <a:rPr lang="en-US" altLang="zh-CN" b="1" dirty="0" err="1">
                <a:solidFill>
                  <a:schemeClr val="tx2"/>
                </a:solidFill>
                <a:latin typeface="Courier New" panose="02070309020205020404" pitchFamily="49" charset="0"/>
                <a:cs typeface="Courier New" panose="02070309020205020404" pitchFamily="49" charset="0"/>
              </a:rPr>
              <a:t>x+y</a:t>
            </a:r>
            <a:r>
              <a:rPr lang="en-US" altLang="zh-CN" b="1" dirty="0">
                <a:solidFill>
                  <a:schemeClr val="tx2"/>
                </a:solidFill>
                <a:latin typeface="Courier New" panose="02070309020205020404" pitchFamily="49" charset="0"/>
                <a:cs typeface="Courier New" panose="02070309020205020404" pitchFamily="49" charset="0"/>
              </a:rPr>
              <a:t>;</a:t>
            </a:r>
            <a:endParaRPr lang="en-US" altLang="zh-CN" b="1" dirty="0">
              <a:solidFill>
                <a:schemeClr val="tx2"/>
              </a:solidFill>
              <a:latin typeface="Courier New" panose="02070309020205020404" pitchFamily="49" charset="0"/>
              <a:cs typeface="Courier New" panose="02070309020205020404" pitchFamily="49" charset="0"/>
            </a:endParaRPr>
          </a:p>
          <a:p>
            <a:r>
              <a:rPr lang="en-US" altLang="zh-CN" b="1" dirty="0">
                <a:solidFill>
                  <a:schemeClr val="tx2"/>
                </a:solidFill>
                <a:latin typeface="Courier New" panose="02070309020205020404" pitchFamily="49" charset="0"/>
                <a:cs typeface="Courier New" panose="02070309020205020404" pitchFamily="49" charset="0"/>
              </a:rPr>
              <a:t>}</a:t>
            </a:r>
            <a:endParaRPr lang="zh-CN" altLang="en-US" b="1" dirty="0">
              <a:solidFill>
                <a:schemeClr val="tx2"/>
              </a:solidFill>
              <a:latin typeface="Courier New" panose="02070309020205020404" pitchFamily="49" charset="0"/>
              <a:cs typeface="Courier New" panose="02070309020205020404" pitchFamily="49" charset="0"/>
            </a:endParaRPr>
          </a:p>
          <a:p>
            <a:r>
              <a:rPr lang="en-US" altLang="zh-CN" b="1" dirty="0" err="1">
                <a:solidFill>
                  <a:srgbClr val="0000FF"/>
                </a:solidFill>
                <a:latin typeface="Courier New" panose="02070309020205020404" pitchFamily="49" charset="0"/>
                <a:cs typeface="Courier New" panose="02070309020205020404" pitchFamily="49" charset="0"/>
              </a:rPr>
              <a:t>int</a:t>
            </a:r>
            <a:r>
              <a:rPr lang="en-US" altLang="zh-CN" b="1" dirty="0">
                <a:solidFill>
                  <a:schemeClr val="tx2"/>
                </a:solidFill>
                <a:latin typeface="Courier New" panose="02070309020205020404" pitchFamily="49" charset="0"/>
                <a:cs typeface="Courier New" panose="02070309020205020404" pitchFamily="49" charset="0"/>
              </a:rPr>
              <a:t> Calculator::Sub(</a:t>
            </a:r>
            <a:r>
              <a:rPr lang="en-US" altLang="zh-CN" b="1" dirty="0" err="1">
                <a:solidFill>
                  <a:srgbClr val="0000FF"/>
                </a:solidFill>
                <a:latin typeface="Courier New" panose="02070309020205020404" pitchFamily="49" charset="0"/>
                <a:cs typeface="Courier New" panose="02070309020205020404" pitchFamily="49" charset="0"/>
              </a:rPr>
              <a:t>int</a:t>
            </a:r>
            <a:r>
              <a:rPr lang="en-US" altLang="zh-CN" b="1" dirty="0">
                <a:solidFill>
                  <a:schemeClr val="tx2"/>
                </a:solidFill>
                <a:latin typeface="Courier New" panose="02070309020205020404" pitchFamily="49" charset="0"/>
                <a:cs typeface="Courier New" panose="02070309020205020404" pitchFamily="49" charset="0"/>
              </a:rPr>
              <a:t> </a:t>
            </a:r>
            <a:r>
              <a:rPr lang="en-US" altLang="zh-CN" b="1" dirty="0" err="1">
                <a:solidFill>
                  <a:schemeClr val="tx2"/>
                </a:solidFill>
                <a:latin typeface="Courier New" panose="02070309020205020404" pitchFamily="49" charset="0"/>
                <a:cs typeface="Courier New" panose="02070309020205020404" pitchFamily="49" charset="0"/>
              </a:rPr>
              <a:t>x,</a:t>
            </a:r>
            <a:r>
              <a:rPr lang="en-US" altLang="zh-CN" b="1" dirty="0" err="1">
                <a:solidFill>
                  <a:srgbClr val="0000FF"/>
                </a:solidFill>
                <a:latin typeface="Courier New" panose="02070309020205020404" pitchFamily="49" charset="0"/>
                <a:cs typeface="Courier New" panose="02070309020205020404" pitchFamily="49" charset="0"/>
              </a:rPr>
              <a:t>int</a:t>
            </a:r>
            <a:r>
              <a:rPr lang="en-US" altLang="zh-CN" b="1" dirty="0">
                <a:solidFill>
                  <a:schemeClr val="tx2"/>
                </a:solidFill>
                <a:latin typeface="Courier New" panose="02070309020205020404" pitchFamily="49" charset="0"/>
                <a:cs typeface="Courier New" panose="02070309020205020404" pitchFamily="49" charset="0"/>
              </a:rPr>
              <a:t> y){</a:t>
            </a:r>
            <a:endParaRPr lang="en-US" altLang="zh-CN" b="1" dirty="0">
              <a:solidFill>
                <a:schemeClr val="tx2"/>
              </a:solidFill>
              <a:latin typeface="Courier New" panose="02070309020205020404" pitchFamily="49" charset="0"/>
              <a:cs typeface="Courier New" panose="02070309020205020404" pitchFamily="49" charset="0"/>
            </a:endParaRPr>
          </a:p>
          <a:p>
            <a:r>
              <a:rPr lang="en-US" altLang="zh-CN" b="1" dirty="0">
                <a:solidFill>
                  <a:schemeClr val="tx2"/>
                </a:solidFill>
                <a:latin typeface="Courier New" panose="02070309020205020404" pitchFamily="49" charset="0"/>
                <a:cs typeface="Courier New" panose="02070309020205020404" pitchFamily="49" charset="0"/>
              </a:rPr>
              <a:t>	</a:t>
            </a:r>
            <a:r>
              <a:rPr lang="en-US" altLang="zh-CN" b="1" dirty="0">
                <a:solidFill>
                  <a:srgbClr val="0000FF"/>
                </a:solidFill>
                <a:latin typeface="Courier New" panose="02070309020205020404" pitchFamily="49" charset="0"/>
                <a:cs typeface="Courier New" panose="02070309020205020404" pitchFamily="49" charset="0"/>
              </a:rPr>
              <a:t>return</a:t>
            </a:r>
            <a:r>
              <a:rPr lang="en-US" altLang="zh-CN" b="1" dirty="0">
                <a:solidFill>
                  <a:schemeClr val="tx2"/>
                </a:solidFill>
                <a:latin typeface="Courier New" panose="02070309020205020404" pitchFamily="49" charset="0"/>
                <a:cs typeface="Courier New" panose="02070309020205020404" pitchFamily="49" charset="0"/>
              </a:rPr>
              <a:t> x-y;</a:t>
            </a:r>
            <a:endParaRPr lang="en-US" altLang="zh-CN" b="1" dirty="0">
              <a:solidFill>
                <a:schemeClr val="tx2"/>
              </a:solidFill>
              <a:latin typeface="Courier New" panose="02070309020205020404" pitchFamily="49" charset="0"/>
              <a:cs typeface="Courier New" panose="02070309020205020404" pitchFamily="49" charset="0"/>
            </a:endParaRPr>
          </a:p>
          <a:p>
            <a:r>
              <a:rPr lang="en-US" altLang="zh-CN" b="1" dirty="0">
                <a:solidFill>
                  <a:schemeClr val="tx2"/>
                </a:solidFill>
                <a:latin typeface="Courier New" panose="02070309020205020404" pitchFamily="49" charset="0"/>
                <a:cs typeface="Courier New" panose="02070309020205020404" pitchFamily="49" charset="0"/>
              </a:rPr>
              <a:t>}</a:t>
            </a:r>
            <a:endParaRPr lang="en-US" altLang="zh-CN" b="1" dirty="0">
              <a:solidFill>
                <a:schemeClr val="tx2"/>
              </a:solidFill>
              <a:latin typeface="Courier New" panose="02070309020205020404" pitchFamily="49" charset="0"/>
              <a:cs typeface="Courier New" panose="02070309020205020404" pitchFamily="49" charset="0"/>
            </a:endParaRPr>
          </a:p>
          <a:p>
            <a:r>
              <a:rPr lang="en-US" altLang="zh-CN" b="1" dirty="0">
                <a:solidFill>
                  <a:srgbClr val="0000FF"/>
                </a:solidFill>
                <a:latin typeface="Courier New" panose="02070309020205020404" pitchFamily="49" charset="0"/>
                <a:cs typeface="Courier New" panose="02070309020205020404" pitchFamily="49" charset="0"/>
              </a:rPr>
              <a:t>void</a:t>
            </a:r>
            <a:r>
              <a:rPr lang="en-US" altLang="zh-CN" b="1" dirty="0">
                <a:solidFill>
                  <a:schemeClr val="tx2"/>
                </a:solidFill>
                <a:latin typeface="Courier New" panose="02070309020205020404" pitchFamily="49" charset="0"/>
                <a:cs typeface="Courier New" panose="02070309020205020404" pitchFamily="49" charset="0"/>
              </a:rPr>
              <a:t> main(){</a:t>
            </a:r>
            <a:endParaRPr lang="en-US" altLang="zh-CN" b="1" dirty="0">
              <a:solidFill>
                <a:schemeClr val="tx2"/>
              </a:solidFill>
              <a:latin typeface="Courier New" panose="02070309020205020404" pitchFamily="49" charset="0"/>
              <a:cs typeface="Courier New" panose="02070309020205020404" pitchFamily="49" charset="0"/>
            </a:endParaRPr>
          </a:p>
          <a:p>
            <a:r>
              <a:rPr lang="en-US" altLang="zh-CN" b="1" dirty="0">
                <a:solidFill>
                  <a:schemeClr val="tx2"/>
                </a:solidFill>
                <a:latin typeface="Courier New" panose="02070309020205020404" pitchFamily="49" charset="0"/>
                <a:cs typeface="Courier New" panose="02070309020205020404" pitchFamily="49" charset="0"/>
              </a:rPr>
              <a:t>  Calculator cal;</a:t>
            </a:r>
            <a:endParaRPr lang="en-US" altLang="zh-CN" b="1" dirty="0">
              <a:solidFill>
                <a:schemeClr val="tx2"/>
              </a:solidFill>
              <a:latin typeface="Courier New" panose="02070309020205020404" pitchFamily="49" charset="0"/>
              <a:cs typeface="Courier New" panose="02070309020205020404" pitchFamily="49" charset="0"/>
            </a:endParaRPr>
          </a:p>
          <a:p>
            <a:r>
              <a:rPr lang="en-US" altLang="zh-CN" b="1" dirty="0">
                <a:solidFill>
                  <a:schemeClr val="tx2"/>
                </a:solidFill>
                <a:latin typeface="Courier New" panose="02070309020205020404" pitchFamily="49" charset="0"/>
                <a:cs typeface="Courier New" panose="02070309020205020404" pitchFamily="49" charset="0"/>
              </a:rPr>
              <a:t>  </a:t>
            </a:r>
            <a:r>
              <a:rPr lang="en-US" altLang="zh-CN" b="1" dirty="0" err="1">
                <a:solidFill>
                  <a:srgbClr val="0000FF"/>
                </a:solidFill>
                <a:latin typeface="Courier New" panose="02070309020205020404" pitchFamily="49" charset="0"/>
                <a:cs typeface="Courier New" panose="02070309020205020404" pitchFamily="49" charset="0"/>
              </a:rPr>
              <a:t>int</a:t>
            </a:r>
            <a:r>
              <a:rPr lang="en-US" altLang="zh-CN" b="1" dirty="0">
                <a:solidFill>
                  <a:schemeClr val="tx2"/>
                </a:solidFill>
                <a:latin typeface="Courier New" panose="02070309020205020404" pitchFamily="49" charset="0"/>
                <a:cs typeface="Courier New" panose="02070309020205020404" pitchFamily="49" charset="0"/>
              </a:rPr>
              <a:t> </a:t>
            </a:r>
            <a:r>
              <a:rPr lang="en-US" altLang="zh-CN" b="1" dirty="0" err="1">
                <a:solidFill>
                  <a:schemeClr val="tx2"/>
                </a:solidFill>
                <a:latin typeface="Courier New" panose="02070309020205020404" pitchFamily="49" charset="0"/>
                <a:cs typeface="Courier New" panose="02070309020205020404" pitchFamily="49" charset="0"/>
              </a:rPr>
              <a:t>m,n</a:t>
            </a:r>
            <a:r>
              <a:rPr lang="en-US" altLang="zh-CN" b="1" dirty="0">
                <a:solidFill>
                  <a:schemeClr val="tx2"/>
                </a:solidFill>
                <a:latin typeface="Courier New" panose="02070309020205020404" pitchFamily="49" charset="0"/>
                <a:cs typeface="Courier New" panose="02070309020205020404" pitchFamily="49" charset="0"/>
              </a:rPr>
              <a:t>;</a:t>
            </a:r>
            <a:endParaRPr lang="en-US" altLang="zh-CN" b="1" dirty="0">
              <a:solidFill>
                <a:schemeClr val="tx2"/>
              </a:solidFill>
              <a:latin typeface="Courier New" panose="02070309020205020404" pitchFamily="49" charset="0"/>
              <a:cs typeface="Courier New" panose="02070309020205020404" pitchFamily="49" charset="0"/>
            </a:endParaRPr>
          </a:p>
          <a:p>
            <a:r>
              <a:rPr lang="en-US" altLang="zh-CN" b="1" dirty="0">
                <a:solidFill>
                  <a:schemeClr val="tx2"/>
                </a:solidFill>
                <a:latin typeface="Courier New" panose="02070309020205020404" pitchFamily="49" charset="0"/>
                <a:cs typeface="Courier New" panose="02070309020205020404" pitchFamily="49" charset="0"/>
              </a:rPr>
              <a:t>  </a:t>
            </a:r>
            <a:r>
              <a:rPr lang="en-US" altLang="zh-CN" b="1" dirty="0" err="1">
                <a:solidFill>
                  <a:schemeClr val="tx2"/>
                </a:solidFill>
                <a:latin typeface="Courier New" panose="02070309020205020404" pitchFamily="49" charset="0"/>
                <a:cs typeface="Courier New" panose="02070309020205020404" pitchFamily="49" charset="0"/>
              </a:rPr>
              <a:t>cout</a:t>
            </a:r>
            <a:r>
              <a:rPr lang="en-US" altLang="zh-CN" b="1" dirty="0">
                <a:solidFill>
                  <a:schemeClr val="tx2"/>
                </a:solidFill>
                <a:latin typeface="Courier New" panose="02070309020205020404" pitchFamily="49" charset="0"/>
                <a:cs typeface="Courier New" panose="02070309020205020404" pitchFamily="49" charset="0"/>
              </a:rPr>
              <a:t>&lt;&lt;"m=";</a:t>
            </a:r>
            <a:endParaRPr lang="en-US" altLang="zh-CN" b="1" dirty="0">
              <a:solidFill>
                <a:schemeClr val="tx2"/>
              </a:solidFill>
              <a:latin typeface="Courier New" panose="02070309020205020404" pitchFamily="49" charset="0"/>
              <a:cs typeface="Courier New" panose="02070309020205020404" pitchFamily="49" charset="0"/>
            </a:endParaRPr>
          </a:p>
          <a:p>
            <a:r>
              <a:rPr lang="en-US" altLang="zh-CN" b="1" dirty="0">
                <a:solidFill>
                  <a:schemeClr val="tx2"/>
                </a:solidFill>
                <a:latin typeface="Courier New" panose="02070309020205020404" pitchFamily="49" charset="0"/>
                <a:cs typeface="Courier New" panose="02070309020205020404" pitchFamily="49" charset="0"/>
              </a:rPr>
              <a:t>  </a:t>
            </a:r>
            <a:r>
              <a:rPr lang="en-US" altLang="zh-CN" b="1" dirty="0" err="1">
                <a:solidFill>
                  <a:schemeClr val="tx2"/>
                </a:solidFill>
                <a:latin typeface="Courier New" panose="02070309020205020404" pitchFamily="49" charset="0"/>
                <a:cs typeface="Courier New" panose="02070309020205020404" pitchFamily="49" charset="0"/>
              </a:rPr>
              <a:t>cin</a:t>
            </a:r>
            <a:r>
              <a:rPr lang="en-US" altLang="zh-CN" b="1" dirty="0">
                <a:solidFill>
                  <a:schemeClr val="tx2"/>
                </a:solidFill>
                <a:latin typeface="Courier New" panose="02070309020205020404" pitchFamily="49" charset="0"/>
                <a:cs typeface="Courier New" panose="02070309020205020404" pitchFamily="49" charset="0"/>
              </a:rPr>
              <a:t>&gt;&gt;m;</a:t>
            </a:r>
            <a:endParaRPr lang="en-US" altLang="zh-CN" b="1" dirty="0">
              <a:solidFill>
                <a:schemeClr val="tx2"/>
              </a:solidFill>
              <a:latin typeface="Courier New" panose="02070309020205020404" pitchFamily="49" charset="0"/>
              <a:cs typeface="Courier New" panose="02070309020205020404" pitchFamily="49" charset="0"/>
            </a:endParaRPr>
          </a:p>
          <a:p>
            <a:r>
              <a:rPr lang="en-US" altLang="zh-CN" b="1" dirty="0">
                <a:solidFill>
                  <a:schemeClr val="tx2"/>
                </a:solidFill>
                <a:latin typeface="Courier New" panose="02070309020205020404" pitchFamily="49" charset="0"/>
                <a:cs typeface="Courier New" panose="02070309020205020404" pitchFamily="49" charset="0"/>
              </a:rPr>
              <a:t>  </a:t>
            </a:r>
            <a:r>
              <a:rPr lang="en-US" altLang="zh-CN" b="1" dirty="0" err="1">
                <a:solidFill>
                  <a:schemeClr val="tx2"/>
                </a:solidFill>
                <a:latin typeface="Courier New" panose="02070309020205020404" pitchFamily="49" charset="0"/>
                <a:cs typeface="Courier New" panose="02070309020205020404" pitchFamily="49" charset="0"/>
              </a:rPr>
              <a:t>cout</a:t>
            </a:r>
            <a:r>
              <a:rPr lang="en-US" altLang="zh-CN" b="1" dirty="0">
                <a:solidFill>
                  <a:schemeClr val="tx2"/>
                </a:solidFill>
                <a:latin typeface="Courier New" panose="02070309020205020404" pitchFamily="49" charset="0"/>
                <a:cs typeface="Courier New" panose="02070309020205020404" pitchFamily="49" charset="0"/>
              </a:rPr>
              <a:t>&lt;&lt;"n=";</a:t>
            </a:r>
            <a:endParaRPr lang="en-US" altLang="zh-CN" b="1" dirty="0">
              <a:solidFill>
                <a:schemeClr val="tx2"/>
              </a:solidFill>
              <a:latin typeface="Courier New" panose="02070309020205020404" pitchFamily="49" charset="0"/>
              <a:cs typeface="Courier New" panose="02070309020205020404" pitchFamily="49" charset="0"/>
            </a:endParaRPr>
          </a:p>
          <a:p>
            <a:r>
              <a:rPr lang="en-US" altLang="zh-CN" b="1" dirty="0">
                <a:solidFill>
                  <a:schemeClr val="tx2"/>
                </a:solidFill>
                <a:latin typeface="Courier New" panose="02070309020205020404" pitchFamily="49" charset="0"/>
                <a:cs typeface="Courier New" panose="02070309020205020404" pitchFamily="49" charset="0"/>
              </a:rPr>
              <a:t>  </a:t>
            </a:r>
            <a:r>
              <a:rPr lang="en-US" altLang="zh-CN" b="1" dirty="0" err="1">
                <a:solidFill>
                  <a:schemeClr val="tx2"/>
                </a:solidFill>
                <a:latin typeface="Courier New" panose="02070309020205020404" pitchFamily="49" charset="0"/>
                <a:cs typeface="Courier New" panose="02070309020205020404" pitchFamily="49" charset="0"/>
              </a:rPr>
              <a:t>cin</a:t>
            </a:r>
            <a:r>
              <a:rPr lang="en-US" altLang="zh-CN" b="1" dirty="0">
                <a:solidFill>
                  <a:schemeClr val="tx2"/>
                </a:solidFill>
                <a:latin typeface="Courier New" panose="02070309020205020404" pitchFamily="49" charset="0"/>
                <a:cs typeface="Courier New" panose="02070309020205020404" pitchFamily="49" charset="0"/>
              </a:rPr>
              <a:t>&gt;&gt;n;</a:t>
            </a:r>
            <a:endParaRPr lang="en-US" altLang="zh-CN" b="1" dirty="0">
              <a:solidFill>
                <a:schemeClr val="tx2"/>
              </a:solidFill>
              <a:latin typeface="Courier New" panose="02070309020205020404" pitchFamily="49" charset="0"/>
              <a:cs typeface="Courier New" panose="02070309020205020404" pitchFamily="49" charset="0"/>
            </a:endParaRPr>
          </a:p>
          <a:p>
            <a:r>
              <a:rPr lang="en-US" altLang="zh-CN" b="1" dirty="0">
                <a:solidFill>
                  <a:schemeClr val="tx2"/>
                </a:solidFill>
                <a:latin typeface="Courier New" panose="02070309020205020404" pitchFamily="49" charset="0"/>
                <a:cs typeface="Courier New" panose="02070309020205020404" pitchFamily="49" charset="0"/>
              </a:rPr>
              <a:t>  </a:t>
            </a:r>
            <a:r>
              <a:rPr lang="en-US" altLang="zh-CN" b="1" dirty="0" err="1">
                <a:solidFill>
                  <a:schemeClr val="tx2"/>
                </a:solidFill>
                <a:latin typeface="Courier New" panose="02070309020205020404" pitchFamily="49" charset="0"/>
                <a:cs typeface="Courier New" panose="02070309020205020404" pitchFamily="49" charset="0"/>
              </a:rPr>
              <a:t>cout</a:t>
            </a:r>
            <a:r>
              <a:rPr lang="en-US" altLang="zh-CN" b="1" dirty="0">
                <a:solidFill>
                  <a:schemeClr val="tx2"/>
                </a:solidFill>
                <a:latin typeface="Courier New" panose="02070309020205020404" pitchFamily="49" charset="0"/>
                <a:cs typeface="Courier New" panose="02070309020205020404" pitchFamily="49" charset="0"/>
              </a:rPr>
              <a:t>&lt;&lt;"</a:t>
            </a:r>
            <a:r>
              <a:rPr lang="en-US" altLang="zh-CN" b="1" dirty="0" err="1">
                <a:solidFill>
                  <a:schemeClr val="tx2"/>
                </a:solidFill>
                <a:latin typeface="Courier New" panose="02070309020205020404" pitchFamily="49" charset="0"/>
                <a:cs typeface="Courier New" panose="02070309020205020404" pitchFamily="49" charset="0"/>
              </a:rPr>
              <a:t>m+n</a:t>
            </a:r>
            <a:r>
              <a:rPr lang="en-US" altLang="zh-CN" b="1" dirty="0">
                <a:solidFill>
                  <a:schemeClr val="tx2"/>
                </a:solidFill>
                <a:latin typeface="Courier New" panose="02070309020205020404" pitchFamily="49" charset="0"/>
                <a:cs typeface="Courier New" panose="02070309020205020404" pitchFamily="49" charset="0"/>
              </a:rPr>
              <a:t>="&lt;&lt;</a:t>
            </a:r>
            <a:r>
              <a:rPr lang="en-US" altLang="zh-CN" b="1" dirty="0" err="1">
                <a:solidFill>
                  <a:schemeClr val="tx2"/>
                </a:solidFill>
                <a:latin typeface="Courier New" panose="02070309020205020404" pitchFamily="49" charset="0"/>
                <a:cs typeface="Courier New" panose="02070309020205020404" pitchFamily="49" charset="0"/>
              </a:rPr>
              <a:t>cal.Add</a:t>
            </a:r>
            <a:r>
              <a:rPr lang="en-US" altLang="zh-CN" b="1" dirty="0">
                <a:solidFill>
                  <a:schemeClr val="tx2"/>
                </a:solidFill>
                <a:latin typeface="Courier New" panose="02070309020205020404" pitchFamily="49" charset="0"/>
                <a:cs typeface="Courier New" panose="02070309020205020404" pitchFamily="49" charset="0"/>
              </a:rPr>
              <a:t>(</a:t>
            </a:r>
            <a:r>
              <a:rPr lang="en-US" altLang="zh-CN" b="1" dirty="0" err="1">
                <a:solidFill>
                  <a:schemeClr val="tx2"/>
                </a:solidFill>
                <a:latin typeface="Courier New" panose="02070309020205020404" pitchFamily="49" charset="0"/>
                <a:cs typeface="Courier New" panose="02070309020205020404" pitchFamily="49" charset="0"/>
              </a:rPr>
              <a:t>m,n</a:t>
            </a:r>
            <a:r>
              <a:rPr lang="en-US" altLang="zh-CN" b="1" dirty="0">
                <a:solidFill>
                  <a:schemeClr val="tx2"/>
                </a:solidFill>
                <a:latin typeface="Courier New" panose="02070309020205020404" pitchFamily="49" charset="0"/>
                <a:cs typeface="Courier New" panose="02070309020205020404" pitchFamily="49" charset="0"/>
              </a:rPr>
              <a:t>)&lt;&lt;</a:t>
            </a:r>
            <a:r>
              <a:rPr lang="en-US" altLang="zh-CN" b="1" dirty="0" err="1">
                <a:solidFill>
                  <a:schemeClr val="tx2"/>
                </a:solidFill>
                <a:latin typeface="Courier New" panose="02070309020205020404" pitchFamily="49" charset="0"/>
                <a:cs typeface="Courier New" panose="02070309020205020404" pitchFamily="49" charset="0"/>
              </a:rPr>
              <a:t>endl</a:t>
            </a:r>
            <a:r>
              <a:rPr lang="en-US" altLang="zh-CN" b="1" dirty="0">
                <a:solidFill>
                  <a:schemeClr val="tx2"/>
                </a:solidFill>
                <a:latin typeface="Courier New" panose="02070309020205020404" pitchFamily="49" charset="0"/>
                <a:cs typeface="Courier New" panose="02070309020205020404" pitchFamily="49" charset="0"/>
              </a:rPr>
              <a:t>;</a:t>
            </a:r>
            <a:endParaRPr lang="en-US" altLang="zh-CN" b="1" dirty="0">
              <a:solidFill>
                <a:schemeClr val="tx2"/>
              </a:solidFill>
              <a:latin typeface="Courier New" panose="02070309020205020404" pitchFamily="49" charset="0"/>
              <a:cs typeface="Courier New" panose="02070309020205020404" pitchFamily="49" charset="0"/>
            </a:endParaRPr>
          </a:p>
          <a:p>
            <a:r>
              <a:rPr lang="en-US" altLang="zh-CN" b="1" dirty="0">
                <a:solidFill>
                  <a:schemeClr val="tx2"/>
                </a:solidFill>
                <a:latin typeface="Courier New" panose="02070309020205020404" pitchFamily="49" charset="0"/>
                <a:cs typeface="Courier New" panose="02070309020205020404" pitchFamily="49" charset="0"/>
              </a:rPr>
              <a:t>  </a:t>
            </a:r>
            <a:r>
              <a:rPr lang="en-US" altLang="zh-CN" b="1" dirty="0" err="1">
                <a:solidFill>
                  <a:schemeClr val="tx2"/>
                </a:solidFill>
                <a:latin typeface="Courier New" panose="02070309020205020404" pitchFamily="49" charset="0"/>
                <a:cs typeface="Courier New" panose="02070309020205020404" pitchFamily="49" charset="0"/>
              </a:rPr>
              <a:t>cout</a:t>
            </a:r>
            <a:r>
              <a:rPr lang="en-US" altLang="zh-CN" b="1" dirty="0">
                <a:solidFill>
                  <a:schemeClr val="tx2"/>
                </a:solidFill>
                <a:latin typeface="Courier New" panose="02070309020205020404" pitchFamily="49" charset="0"/>
                <a:cs typeface="Courier New" panose="02070309020205020404" pitchFamily="49" charset="0"/>
              </a:rPr>
              <a:t>&lt;&lt;"m-n="&lt;&lt;</a:t>
            </a:r>
            <a:r>
              <a:rPr lang="en-US" altLang="zh-CN" b="1" dirty="0" err="1">
                <a:solidFill>
                  <a:schemeClr val="tx2"/>
                </a:solidFill>
                <a:latin typeface="Courier New" panose="02070309020205020404" pitchFamily="49" charset="0"/>
                <a:cs typeface="Courier New" panose="02070309020205020404" pitchFamily="49" charset="0"/>
              </a:rPr>
              <a:t>cal.Sub</a:t>
            </a:r>
            <a:r>
              <a:rPr lang="en-US" altLang="zh-CN" b="1" dirty="0">
                <a:solidFill>
                  <a:schemeClr val="tx2"/>
                </a:solidFill>
                <a:latin typeface="Courier New" panose="02070309020205020404" pitchFamily="49" charset="0"/>
                <a:cs typeface="Courier New" panose="02070309020205020404" pitchFamily="49" charset="0"/>
              </a:rPr>
              <a:t>(</a:t>
            </a:r>
            <a:r>
              <a:rPr lang="en-US" altLang="zh-CN" b="1" dirty="0" err="1">
                <a:solidFill>
                  <a:schemeClr val="tx2"/>
                </a:solidFill>
                <a:latin typeface="Courier New" panose="02070309020205020404" pitchFamily="49" charset="0"/>
                <a:cs typeface="Courier New" panose="02070309020205020404" pitchFamily="49" charset="0"/>
              </a:rPr>
              <a:t>m,n</a:t>
            </a:r>
            <a:r>
              <a:rPr lang="en-US" altLang="zh-CN" b="1" dirty="0">
                <a:solidFill>
                  <a:schemeClr val="tx2"/>
                </a:solidFill>
                <a:latin typeface="Courier New" panose="02070309020205020404" pitchFamily="49" charset="0"/>
                <a:cs typeface="Courier New" panose="02070309020205020404" pitchFamily="49" charset="0"/>
              </a:rPr>
              <a:t>)&lt;&lt;</a:t>
            </a:r>
            <a:r>
              <a:rPr lang="en-US" altLang="zh-CN" b="1" dirty="0" err="1">
                <a:solidFill>
                  <a:schemeClr val="tx2"/>
                </a:solidFill>
                <a:latin typeface="Courier New" panose="02070309020205020404" pitchFamily="49" charset="0"/>
                <a:cs typeface="Courier New" panose="02070309020205020404" pitchFamily="49" charset="0"/>
              </a:rPr>
              <a:t>endl</a:t>
            </a:r>
            <a:r>
              <a:rPr lang="en-US" altLang="zh-CN" b="1" dirty="0">
                <a:solidFill>
                  <a:schemeClr val="tx2"/>
                </a:solidFill>
                <a:latin typeface="Courier New" panose="02070309020205020404" pitchFamily="49" charset="0"/>
                <a:cs typeface="Courier New" panose="02070309020205020404" pitchFamily="49" charset="0"/>
              </a:rPr>
              <a:t>;</a:t>
            </a:r>
            <a:endParaRPr lang="en-US" altLang="zh-CN" b="1" dirty="0">
              <a:solidFill>
                <a:schemeClr val="tx2"/>
              </a:solidFill>
              <a:latin typeface="Courier New" panose="02070309020205020404" pitchFamily="49" charset="0"/>
              <a:cs typeface="Courier New" panose="02070309020205020404" pitchFamily="49" charset="0"/>
            </a:endParaRPr>
          </a:p>
          <a:p>
            <a:r>
              <a:rPr lang="en-US" altLang="zh-CN" b="1" dirty="0">
                <a:solidFill>
                  <a:schemeClr val="tx2"/>
                </a:solidFill>
                <a:latin typeface="Courier New" panose="02070309020205020404" pitchFamily="49" charset="0"/>
                <a:cs typeface="Courier New" panose="02070309020205020404" pitchFamily="49" charset="0"/>
              </a:rPr>
              <a:t>}</a:t>
            </a:r>
            <a:endParaRPr lang="zh-CN" altLang="en-US" b="1" dirty="0">
              <a:solidFill>
                <a:schemeClr val="tx2"/>
              </a:solidFill>
              <a:latin typeface="Courier New" panose="02070309020205020404" pitchFamily="49" charset="0"/>
              <a:cs typeface="Courier New" panose="02070309020205020404" pitchFamily="49" charset="0"/>
            </a:endParaRPr>
          </a:p>
        </p:txBody>
      </p:sp>
      <p:sp>
        <p:nvSpPr>
          <p:cNvPr id="8" name="内容占位符 2"/>
          <p:cNvSpPr>
            <a:spLocks noGrp="1"/>
          </p:cNvSpPr>
          <p:nvPr>
            <p:ph idx="1"/>
          </p:nvPr>
        </p:nvSpPr>
        <p:spPr>
          <a:xfrm>
            <a:off x="457200" y="1295400"/>
            <a:ext cx="8153400" cy="549424"/>
          </a:xfrm>
        </p:spPr>
        <p:txBody>
          <a:bodyPr/>
          <a:lstStyle/>
          <a:p>
            <a:r>
              <a:rPr lang="en-US" altLang="zh-CN" dirty="0">
                <a:solidFill>
                  <a:srgbClr val="C00000"/>
                </a:solidFill>
              </a:rPr>
              <a:t>【</a:t>
            </a:r>
            <a:r>
              <a:rPr lang="zh-CN" altLang="en-US" dirty="0">
                <a:solidFill>
                  <a:srgbClr val="C00000"/>
                </a:solidFill>
              </a:rPr>
              <a:t>例</a:t>
            </a:r>
            <a:r>
              <a:rPr lang="en-US" altLang="zh-CN" dirty="0">
                <a:solidFill>
                  <a:srgbClr val="C00000"/>
                </a:solidFill>
              </a:rPr>
              <a:t>1.3】</a:t>
            </a:r>
            <a:r>
              <a:rPr lang="zh-CN" altLang="en-US" dirty="0">
                <a:solidFill>
                  <a:srgbClr val="C00000"/>
                </a:solidFill>
              </a:rPr>
              <a:t>面向对象型程序</a:t>
            </a:r>
            <a:endParaRPr lang="zh-CN" altLang="en-US" dirty="0">
              <a:solidFill>
                <a:srgbClr val="C00000"/>
              </a:solidFill>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C++</a:t>
            </a:r>
            <a:r>
              <a:rPr lang="zh-CN" altLang="en-US" dirty="0"/>
              <a:t>程序设计的一般步骤</a:t>
            </a:r>
            <a:endParaRPr lang="zh-CN" altLang="en-US" dirty="0"/>
          </a:p>
        </p:txBody>
      </p:sp>
      <p:sp>
        <p:nvSpPr>
          <p:cNvPr id="3" name="内容占位符 2"/>
          <p:cNvSpPr>
            <a:spLocks noGrp="1"/>
          </p:cNvSpPr>
          <p:nvPr>
            <p:ph idx="1"/>
          </p:nvPr>
        </p:nvSpPr>
        <p:spPr/>
        <p:txBody>
          <a:bodyPr/>
          <a:lstStyle/>
          <a:p>
            <a:r>
              <a:rPr lang="zh-CN" altLang="en-US" dirty="0"/>
              <a:t>过程型程序设计</a:t>
            </a:r>
            <a:endParaRPr lang="en-US" altLang="zh-CN" dirty="0"/>
          </a:p>
          <a:p>
            <a:pPr lvl="1"/>
            <a:r>
              <a:rPr lang="zh-CN" altLang="en-US" dirty="0"/>
              <a:t>确定已知条件和输出结果</a:t>
            </a:r>
            <a:endParaRPr lang="en-US" altLang="zh-CN" dirty="0"/>
          </a:p>
          <a:p>
            <a:pPr lvl="1"/>
            <a:r>
              <a:rPr lang="zh-CN" altLang="en-US" dirty="0"/>
              <a:t>确定解决问题的过程，包括算法、公式推导等等</a:t>
            </a:r>
            <a:endParaRPr lang="en-US" altLang="zh-CN" dirty="0"/>
          </a:p>
          <a:p>
            <a:pPr lvl="2"/>
            <a:r>
              <a:rPr lang="zh-CN" altLang="en-US" dirty="0"/>
              <a:t>用流程图或伪代码描述解决问题过程</a:t>
            </a:r>
            <a:endParaRPr lang="en-US" altLang="zh-CN" dirty="0"/>
          </a:p>
          <a:p>
            <a:pPr lvl="1"/>
            <a:r>
              <a:rPr lang="zh-CN" altLang="en-US" dirty="0"/>
              <a:t>将过程用</a:t>
            </a:r>
            <a:r>
              <a:rPr lang="en-US" altLang="zh-CN" dirty="0"/>
              <a:t>C++</a:t>
            </a:r>
            <a:r>
              <a:rPr lang="zh-CN" altLang="en-US" dirty="0"/>
              <a:t>语言描述</a:t>
            </a:r>
            <a:endParaRPr lang="en-US" altLang="zh-CN" dirty="0"/>
          </a:p>
          <a:p>
            <a:pPr lvl="2"/>
            <a:r>
              <a:rPr lang="zh-CN" altLang="en-US" dirty="0"/>
              <a:t>通过调试程序保证语法的正确</a:t>
            </a:r>
            <a:endParaRPr lang="en-US" altLang="zh-CN" dirty="0"/>
          </a:p>
          <a:p>
            <a:pPr lvl="2"/>
            <a:r>
              <a:rPr lang="zh-CN" altLang="en-US" dirty="0"/>
              <a:t>通过输出结果验证程序功能的正确性</a:t>
            </a:r>
            <a:endParaRPr lang="zh-CN" altLang="en-US"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C++</a:t>
            </a:r>
            <a:r>
              <a:rPr lang="zh-CN" altLang="en-US" dirty="0"/>
              <a:t>程序设计的一般步骤</a:t>
            </a:r>
            <a:endParaRPr lang="zh-CN" altLang="en-US" dirty="0"/>
          </a:p>
        </p:txBody>
      </p:sp>
      <p:sp>
        <p:nvSpPr>
          <p:cNvPr id="3" name="内容占位符 2"/>
          <p:cNvSpPr>
            <a:spLocks noGrp="1"/>
          </p:cNvSpPr>
          <p:nvPr>
            <p:ph idx="1"/>
          </p:nvPr>
        </p:nvSpPr>
        <p:spPr/>
        <p:txBody>
          <a:bodyPr/>
          <a:lstStyle/>
          <a:p>
            <a:r>
              <a:rPr lang="zh-CN" altLang="en-US" dirty="0"/>
              <a:t>函数型程序设计</a:t>
            </a:r>
            <a:endParaRPr lang="en-US" altLang="zh-CN" dirty="0"/>
          </a:p>
          <a:p>
            <a:pPr lvl="1"/>
            <a:r>
              <a:rPr lang="zh-CN" altLang="en-US" dirty="0"/>
              <a:t>将解决问题过程划分为若干独立的功能模块</a:t>
            </a:r>
            <a:endParaRPr lang="en-US" altLang="zh-CN" dirty="0"/>
          </a:p>
          <a:p>
            <a:pPr lvl="2"/>
            <a:r>
              <a:rPr lang="zh-CN" altLang="en-US" dirty="0"/>
              <a:t>功能明确</a:t>
            </a:r>
            <a:endParaRPr lang="en-US" altLang="zh-CN" dirty="0"/>
          </a:p>
          <a:p>
            <a:pPr marL="1371600" lvl="3" indent="0">
              <a:buNone/>
            </a:pPr>
            <a:r>
              <a:rPr lang="zh-CN" altLang="en-US" dirty="0"/>
              <a:t>一个或几个独立功能</a:t>
            </a:r>
            <a:endParaRPr lang="en-US" altLang="zh-CN" dirty="0"/>
          </a:p>
          <a:p>
            <a:pPr lvl="2"/>
            <a:r>
              <a:rPr lang="zh-CN" altLang="en-US" dirty="0"/>
              <a:t>条件明确</a:t>
            </a:r>
            <a:endParaRPr lang="en-US" altLang="zh-CN" dirty="0"/>
          </a:p>
          <a:p>
            <a:pPr lvl="2"/>
            <a:r>
              <a:rPr lang="zh-CN" altLang="en-US" dirty="0"/>
              <a:t>结果明确</a:t>
            </a:r>
            <a:endParaRPr lang="en-US" altLang="zh-CN" dirty="0"/>
          </a:p>
          <a:p>
            <a:pPr lvl="1"/>
            <a:r>
              <a:rPr lang="zh-CN" altLang="en-US" dirty="0"/>
              <a:t>将各功能模块进行整合</a:t>
            </a:r>
            <a:endParaRPr lang="en-US" altLang="zh-CN" dirty="0"/>
          </a:p>
          <a:p>
            <a:pPr lvl="2"/>
            <a:r>
              <a:rPr lang="zh-CN" altLang="en-US" dirty="0"/>
              <a:t>调用顺序正确</a:t>
            </a:r>
            <a:endParaRPr lang="zh-CN" altLang="en-US"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C++</a:t>
            </a:r>
            <a:r>
              <a:rPr lang="zh-CN" altLang="en-US" dirty="0"/>
              <a:t>程序设计的一般步骤</a:t>
            </a:r>
            <a:endParaRPr lang="zh-CN" altLang="en-US" dirty="0"/>
          </a:p>
        </p:txBody>
      </p:sp>
      <p:sp>
        <p:nvSpPr>
          <p:cNvPr id="3" name="内容占位符 2"/>
          <p:cNvSpPr>
            <a:spLocks noGrp="1"/>
          </p:cNvSpPr>
          <p:nvPr>
            <p:ph idx="1"/>
          </p:nvPr>
        </p:nvSpPr>
        <p:spPr/>
        <p:txBody>
          <a:bodyPr/>
          <a:lstStyle/>
          <a:p>
            <a:r>
              <a:rPr lang="zh-CN" altLang="en-US" dirty="0"/>
              <a:t>面向对象型程序设计</a:t>
            </a:r>
            <a:endParaRPr lang="en-US" altLang="zh-CN" dirty="0"/>
          </a:p>
          <a:p>
            <a:pPr lvl="1"/>
            <a:r>
              <a:rPr lang="zh-CN" altLang="en-US" dirty="0"/>
              <a:t>与面向过程和面向函数型程序设计方法结合使用</a:t>
            </a:r>
            <a:endParaRPr lang="en-US" altLang="zh-CN" dirty="0"/>
          </a:p>
          <a:p>
            <a:pPr lvl="2"/>
            <a:r>
              <a:rPr lang="zh-CN" altLang="en-US" dirty="0"/>
              <a:t>将待解决问题进行抽象</a:t>
            </a:r>
            <a:endParaRPr lang="en-US" altLang="zh-CN" dirty="0"/>
          </a:p>
          <a:p>
            <a:pPr lvl="2"/>
            <a:r>
              <a:rPr lang="zh-CN" altLang="en-US" dirty="0"/>
              <a:t>确定解决问题过程</a:t>
            </a:r>
            <a:endParaRPr lang="en-US" altLang="zh-CN" dirty="0"/>
          </a:p>
          <a:p>
            <a:pPr lvl="2"/>
            <a:r>
              <a:rPr lang="zh-CN" altLang="en-US" dirty="0"/>
              <a:t>确定解决问题所需的各功能模块</a:t>
            </a:r>
            <a:endParaRPr lang="en-US" altLang="zh-CN" dirty="0"/>
          </a:p>
          <a:p>
            <a:pPr lvl="2"/>
            <a:r>
              <a:rPr lang="zh-CN" altLang="en-US" dirty="0"/>
              <a:t>将三者正确组合</a:t>
            </a:r>
            <a:endParaRPr lang="zh-CN" altLang="en-US"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2"/>
          <p:cNvSpPr>
            <a:spLocks noGrp="1" noChangeArrowheads="1"/>
          </p:cNvSpPr>
          <p:nvPr>
            <p:ph type="title"/>
          </p:nvPr>
        </p:nvSpPr>
        <p:spPr/>
        <p:txBody>
          <a:bodyPr/>
          <a:lstStyle/>
          <a:p>
            <a:r>
              <a:rPr lang="zh-CN" altLang="en-US" dirty="0"/>
              <a:t>程序设计的四个层次</a:t>
            </a:r>
            <a:endParaRPr lang="en-US" altLang="zh-CN" sz="2400" dirty="0">
              <a:ea typeface="宋体" panose="02010600030101010101" pitchFamily="2" charset="-122"/>
            </a:endParaRPr>
          </a:p>
        </p:txBody>
      </p:sp>
      <p:grpSp>
        <p:nvGrpSpPr>
          <p:cNvPr id="2" name="Group 3"/>
          <p:cNvGrpSpPr/>
          <p:nvPr/>
        </p:nvGrpSpPr>
        <p:grpSpPr bwMode="auto">
          <a:xfrm>
            <a:off x="914400" y="1752600"/>
            <a:ext cx="7467600" cy="3886200"/>
            <a:chOff x="168" y="960"/>
            <a:chExt cx="5367" cy="2792"/>
          </a:xfrm>
        </p:grpSpPr>
        <p:sp>
          <p:nvSpPr>
            <p:cNvPr id="47108" name="Freeform 4"/>
            <p:cNvSpPr/>
            <p:nvPr/>
          </p:nvSpPr>
          <p:spPr bwMode="gray">
            <a:xfrm>
              <a:off x="5089" y="960"/>
              <a:ext cx="441" cy="705"/>
            </a:xfrm>
            <a:custGeom>
              <a:avLst/>
              <a:gdLst/>
              <a:ahLst/>
              <a:cxnLst>
                <a:cxn ang="0">
                  <a:pos x="308" y="120"/>
                </a:cxn>
                <a:cxn ang="0">
                  <a:pos x="0" y="444"/>
                </a:cxn>
                <a:cxn ang="0">
                  <a:pos x="0" y="286"/>
                </a:cxn>
                <a:cxn ang="0">
                  <a:pos x="308" y="0"/>
                </a:cxn>
                <a:cxn ang="0">
                  <a:pos x="308" y="120"/>
                </a:cxn>
              </a:cxnLst>
              <a:rect l="0" t="0" r="r" b="b"/>
              <a:pathLst>
                <a:path w="308" h="444">
                  <a:moveTo>
                    <a:pt x="308" y="120"/>
                  </a:moveTo>
                  <a:lnTo>
                    <a:pt x="0" y="444"/>
                  </a:lnTo>
                  <a:lnTo>
                    <a:pt x="0" y="286"/>
                  </a:lnTo>
                  <a:lnTo>
                    <a:pt x="308" y="0"/>
                  </a:lnTo>
                  <a:lnTo>
                    <a:pt x="308" y="120"/>
                  </a:lnTo>
                  <a:close/>
                </a:path>
              </a:pathLst>
            </a:custGeom>
            <a:gradFill rotWithShape="1">
              <a:gsLst>
                <a:gs pos="0">
                  <a:srgbClr val="00563F">
                    <a:gamma/>
                    <a:shade val="46275"/>
                    <a:invGamma/>
                  </a:srgbClr>
                </a:gs>
                <a:gs pos="50000">
                  <a:srgbClr val="00563F"/>
                </a:gs>
                <a:gs pos="100000">
                  <a:srgbClr val="00563F">
                    <a:gamma/>
                    <a:shade val="46275"/>
                    <a:invGamma/>
                  </a:srgbClr>
                </a:gs>
              </a:gsLst>
              <a:lin ang="2700000" scaled="1"/>
            </a:gradFill>
            <a:ln w="0">
              <a:noFill/>
              <a:prstDash val="solid"/>
              <a:round/>
            </a:ln>
          </p:spPr>
          <p:txBody>
            <a:bodyPr/>
            <a:lstStyle/>
            <a:p>
              <a:endParaRPr lang="zh-CN" altLang="en-US"/>
            </a:p>
          </p:txBody>
        </p:sp>
        <p:sp>
          <p:nvSpPr>
            <p:cNvPr id="47109" name="Freeform 5"/>
            <p:cNvSpPr/>
            <p:nvPr/>
          </p:nvSpPr>
          <p:spPr bwMode="gray">
            <a:xfrm>
              <a:off x="2976" y="960"/>
              <a:ext cx="2559" cy="451"/>
            </a:xfrm>
            <a:custGeom>
              <a:avLst/>
              <a:gdLst/>
              <a:ahLst/>
              <a:cxnLst>
                <a:cxn ang="0">
                  <a:pos x="1478" y="284"/>
                </a:cxn>
                <a:cxn ang="0">
                  <a:pos x="0" y="284"/>
                </a:cxn>
                <a:cxn ang="0">
                  <a:pos x="446" y="0"/>
                </a:cxn>
                <a:cxn ang="0">
                  <a:pos x="1786" y="0"/>
                </a:cxn>
                <a:cxn ang="0">
                  <a:pos x="1478" y="284"/>
                </a:cxn>
              </a:cxnLst>
              <a:rect l="0" t="0" r="r" b="b"/>
              <a:pathLst>
                <a:path w="1786" h="284">
                  <a:moveTo>
                    <a:pt x="1478" y="284"/>
                  </a:moveTo>
                  <a:lnTo>
                    <a:pt x="0" y="284"/>
                  </a:lnTo>
                  <a:lnTo>
                    <a:pt x="446" y="0"/>
                  </a:lnTo>
                  <a:lnTo>
                    <a:pt x="1786" y="0"/>
                  </a:lnTo>
                  <a:lnTo>
                    <a:pt x="1478" y="284"/>
                  </a:lnTo>
                  <a:close/>
                </a:path>
              </a:pathLst>
            </a:custGeom>
            <a:solidFill>
              <a:srgbClr val="00CC99"/>
            </a:solidFill>
            <a:ln w="0">
              <a:noFill/>
              <a:prstDash val="solid"/>
              <a:round/>
            </a:ln>
          </p:spPr>
          <p:txBody>
            <a:bodyPr/>
            <a:lstStyle/>
            <a:p>
              <a:endParaRPr lang="zh-CN" altLang="en-US"/>
            </a:p>
          </p:txBody>
        </p:sp>
        <p:sp>
          <p:nvSpPr>
            <p:cNvPr id="47110" name="Freeform 6"/>
            <p:cNvSpPr/>
            <p:nvPr/>
          </p:nvSpPr>
          <p:spPr bwMode="gray">
            <a:xfrm>
              <a:off x="4645" y="1660"/>
              <a:ext cx="441" cy="701"/>
            </a:xfrm>
            <a:custGeom>
              <a:avLst/>
              <a:gdLst/>
              <a:ahLst/>
              <a:cxnLst>
                <a:cxn ang="0">
                  <a:pos x="308" y="120"/>
                </a:cxn>
                <a:cxn ang="0">
                  <a:pos x="0" y="442"/>
                </a:cxn>
                <a:cxn ang="0">
                  <a:pos x="0" y="286"/>
                </a:cxn>
                <a:cxn ang="0">
                  <a:pos x="308" y="0"/>
                </a:cxn>
                <a:cxn ang="0">
                  <a:pos x="308" y="120"/>
                </a:cxn>
              </a:cxnLst>
              <a:rect l="0" t="0" r="r" b="b"/>
              <a:pathLst>
                <a:path w="308" h="442">
                  <a:moveTo>
                    <a:pt x="308" y="120"/>
                  </a:moveTo>
                  <a:lnTo>
                    <a:pt x="0" y="442"/>
                  </a:lnTo>
                  <a:lnTo>
                    <a:pt x="0" y="286"/>
                  </a:lnTo>
                  <a:lnTo>
                    <a:pt x="308" y="0"/>
                  </a:lnTo>
                  <a:lnTo>
                    <a:pt x="308" y="120"/>
                  </a:lnTo>
                  <a:close/>
                </a:path>
              </a:pathLst>
            </a:custGeom>
            <a:gradFill rotWithShape="1">
              <a:gsLst>
                <a:gs pos="0">
                  <a:srgbClr val="4B1092">
                    <a:gamma/>
                    <a:shade val="46275"/>
                    <a:invGamma/>
                  </a:srgbClr>
                </a:gs>
                <a:gs pos="50000">
                  <a:srgbClr val="4B1092"/>
                </a:gs>
                <a:gs pos="100000">
                  <a:srgbClr val="4B1092">
                    <a:gamma/>
                    <a:shade val="46275"/>
                    <a:invGamma/>
                  </a:srgbClr>
                </a:gs>
              </a:gsLst>
              <a:lin ang="2700000" scaled="1"/>
            </a:gradFill>
            <a:ln w="0">
              <a:noFill/>
              <a:prstDash val="solid"/>
              <a:round/>
            </a:ln>
          </p:spPr>
          <p:txBody>
            <a:bodyPr/>
            <a:lstStyle/>
            <a:p>
              <a:endParaRPr lang="zh-CN" altLang="en-US"/>
            </a:p>
          </p:txBody>
        </p:sp>
        <p:sp>
          <p:nvSpPr>
            <p:cNvPr id="47111" name="Freeform 7"/>
            <p:cNvSpPr/>
            <p:nvPr/>
          </p:nvSpPr>
          <p:spPr bwMode="gray">
            <a:xfrm>
              <a:off x="2340" y="1660"/>
              <a:ext cx="2751" cy="450"/>
            </a:xfrm>
            <a:custGeom>
              <a:avLst/>
              <a:gdLst/>
              <a:ahLst/>
              <a:cxnLst>
                <a:cxn ang="0">
                  <a:pos x="1612" y="284"/>
                </a:cxn>
                <a:cxn ang="0">
                  <a:pos x="0" y="284"/>
                </a:cxn>
                <a:cxn ang="0">
                  <a:pos x="446" y="0"/>
                </a:cxn>
                <a:cxn ang="0">
                  <a:pos x="1920" y="0"/>
                </a:cxn>
                <a:cxn ang="0">
                  <a:pos x="1612" y="284"/>
                </a:cxn>
              </a:cxnLst>
              <a:rect l="0" t="0" r="r" b="b"/>
              <a:pathLst>
                <a:path w="1920" h="284">
                  <a:moveTo>
                    <a:pt x="1612" y="284"/>
                  </a:moveTo>
                  <a:lnTo>
                    <a:pt x="0" y="284"/>
                  </a:lnTo>
                  <a:lnTo>
                    <a:pt x="446" y="0"/>
                  </a:lnTo>
                  <a:lnTo>
                    <a:pt x="1920" y="0"/>
                  </a:lnTo>
                  <a:lnTo>
                    <a:pt x="1612" y="284"/>
                  </a:lnTo>
                  <a:close/>
                </a:path>
              </a:pathLst>
            </a:custGeom>
            <a:solidFill>
              <a:srgbClr val="A77BFF"/>
            </a:solidFill>
            <a:ln w="0">
              <a:noFill/>
              <a:prstDash val="solid"/>
              <a:round/>
            </a:ln>
          </p:spPr>
          <p:txBody>
            <a:bodyPr/>
            <a:lstStyle/>
            <a:p>
              <a:endParaRPr lang="zh-CN" altLang="en-US"/>
            </a:p>
          </p:txBody>
        </p:sp>
        <p:sp>
          <p:nvSpPr>
            <p:cNvPr id="47112" name="Freeform 8"/>
            <p:cNvSpPr/>
            <p:nvPr/>
          </p:nvSpPr>
          <p:spPr bwMode="gray">
            <a:xfrm>
              <a:off x="4200" y="2353"/>
              <a:ext cx="439" cy="704"/>
            </a:xfrm>
            <a:custGeom>
              <a:avLst/>
              <a:gdLst/>
              <a:ahLst/>
              <a:cxnLst>
                <a:cxn ang="0">
                  <a:pos x="306" y="122"/>
                </a:cxn>
                <a:cxn ang="0">
                  <a:pos x="0" y="444"/>
                </a:cxn>
                <a:cxn ang="0">
                  <a:pos x="0" y="286"/>
                </a:cxn>
                <a:cxn ang="0">
                  <a:pos x="306" y="0"/>
                </a:cxn>
                <a:cxn ang="0">
                  <a:pos x="306" y="122"/>
                </a:cxn>
              </a:cxnLst>
              <a:rect l="0" t="0" r="r" b="b"/>
              <a:pathLst>
                <a:path w="306" h="444">
                  <a:moveTo>
                    <a:pt x="306" y="122"/>
                  </a:moveTo>
                  <a:lnTo>
                    <a:pt x="0" y="444"/>
                  </a:lnTo>
                  <a:lnTo>
                    <a:pt x="0" y="286"/>
                  </a:lnTo>
                  <a:lnTo>
                    <a:pt x="306" y="0"/>
                  </a:lnTo>
                  <a:lnTo>
                    <a:pt x="306" y="122"/>
                  </a:lnTo>
                  <a:close/>
                </a:path>
              </a:pathLst>
            </a:custGeom>
            <a:gradFill rotWithShape="1">
              <a:gsLst>
                <a:gs pos="0">
                  <a:srgbClr val="90330A">
                    <a:gamma/>
                    <a:shade val="46275"/>
                    <a:invGamma/>
                  </a:srgbClr>
                </a:gs>
                <a:gs pos="50000">
                  <a:srgbClr val="90330A"/>
                </a:gs>
                <a:gs pos="100000">
                  <a:srgbClr val="90330A">
                    <a:gamma/>
                    <a:shade val="46275"/>
                    <a:invGamma/>
                  </a:srgbClr>
                </a:gs>
              </a:gsLst>
              <a:lin ang="2700000" scaled="1"/>
            </a:gradFill>
            <a:ln w="0">
              <a:noFill/>
              <a:prstDash val="solid"/>
              <a:round/>
            </a:ln>
          </p:spPr>
          <p:txBody>
            <a:bodyPr/>
            <a:lstStyle/>
            <a:p>
              <a:endParaRPr lang="zh-CN" altLang="en-US"/>
            </a:p>
          </p:txBody>
        </p:sp>
        <p:sp>
          <p:nvSpPr>
            <p:cNvPr id="47113" name="Freeform 9"/>
            <p:cNvSpPr/>
            <p:nvPr/>
          </p:nvSpPr>
          <p:spPr bwMode="gray">
            <a:xfrm>
              <a:off x="3758" y="3047"/>
              <a:ext cx="442" cy="705"/>
            </a:xfrm>
            <a:custGeom>
              <a:avLst/>
              <a:gdLst/>
              <a:ahLst/>
              <a:cxnLst>
                <a:cxn ang="0">
                  <a:pos x="308" y="122"/>
                </a:cxn>
                <a:cxn ang="0">
                  <a:pos x="0" y="444"/>
                </a:cxn>
                <a:cxn ang="0">
                  <a:pos x="0" y="286"/>
                </a:cxn>
                <a:cxn ang="0">
                  <a:pos x="308" y="0"/>
                </a:cxn>
                <a:cxn ang="0">
                  <a:pos x="308" y="122"/>
                </a:cxn>
              </a:cxnLst>
              <a:rect l="0" t="0" r="r" b="b"/>
              <a:pathLst>
                <a:path w="308" h="444">
                  <a:moveTo>
                    <a:pt x="308" y="122"/>
                  </a:moveTo>
                  <a:lnTo>
                    <a:pt x="0" y="444"/>
                  </a:lnTo>
                  <a:lnTo>
                    <a:pt x="0" y="286"/>
                  </a:lnTo>
                  <a:lnTo>
                    <a:pt x="308" y="0"/>
                  </a:lnTo>
                  <a:lnTo>
                    <a:pt x="308" y="122"/>
                  </a:lnTo>
                  <a:close/>
                </a:path>
              </a:pathLst>
            </a:custGeom>
            <a:gradFill rotWithShape="1">
              <a:gsLst>
                <a:gs pos="0">
                  <a:srgbClr val="906B0E">
                    <a:gamma/>
                    <a:shade val="46275"/>
                    <a:invGamma/>
                  </a:srgbClr>
                </a:gs>
                <a:gs pos="50000">
                  <a:srgbClr val="906B0E"/>
                </a:gs>
                <a:gs pos="100000">
                  <a:srgbClr val="906B0E">
                    <a:gamma/>
                    <a:shade val="46275"/>
                    <a:invGamma/>
                  </a:srgbClr>
                </a:gs>
              </a:gsLst>
              <a:lin ang="2700000" scaled="1"/>
            </a:gradFill>
            <a:ln w="0">
              <a:noFill/>
              <a:prstDash val="solid"/>
              <a:round/>
            </a:ln>
          </p:spPr>
          <p:txBody>
            <a:bodyPr/>
            <a:lstStyle/>
            <a:p>
              <a:endParaRPr lang="zh-CN" altLang="en-US"/>
            </a:p>
          </p:txBody>
        </p:sp>
        <p:sp>
          <p:nvSpPr>
            <p:cNvPr id="47114" name="Freeform 10"/>
            <p:cNvSpPr/>
            <p:nvPr/>
          </p:nvSpPr>
          <p:spPr bwMode="gray">
            <a:xfrm>
              <a:off x="1076" y="3051"/>
              <a:ext cx="3124" cy="450"/>
            </a:xfrm>
            <a:custGeom>
              <a:avLst/>
              <a:gdLst/>
              <a:ahLst/>
              <a:cxnLst>
                <a:cxn ang="0">
                  <a:pos x="1872" y="284"/>
                </a:cxn>
                <a:cxn ang="0">
                  <a:pos x="0" y="284"/>
                </a:cxn>
                <a:cxn ang="0">
                  <a:pos x="446" y="0"/>
                </a:cxn>
                <a:cxn ang="0">
                  <a:pos x="2180" y="0"/>
                </a:cxn>
                <a:cxn ang="0">
                  <a:pos x="1872" y="284"/>
                </a:cxn>
              </a:cxnLst>
              <a:rect l="0" t="0" r="r" b="b"/>
              <a:pathLst>
                <a:path w="2180" h="284">
                  <a:moveTo>
                    <a:pt x="1872" y="284"/>
                  </a:moveTo>
                  <a:lnTo>
                    <a:pt x="0" y="284"/>
                  </a:lnTo>
                  <a:lnTo>
                    <a:pt x="446" y="0"/>
                  </a:lnTo>
                  <a:lnTo>
                    <a:pt x="2180" y="0"/>
                  </a:lnTo>
                  <a:lnTo>
                    <a:pt x="1872" y="284"/>
                  </a:lnTo>
                  <a:close/>
                </a:path>
              </a:pathLst>
            </a:custGeom>
            <a:solidFill>
              <a:srgbClr val="F2E160"/>
            </a:solidFill>
            <a:ln w="0">
              <a:noFill/>
              <a:prstDash val="solid"/>
              <a:round/>
            </a:ln>
          </p:spPr>
          <p:txBody>
            <a:bodyPr/>
            <a:lstStyle/>
            <a:p>
              <a:endParaRPr lang="zh-CN" altLang="en-US"/>
            </a:p>
          </p:txBody>
        </p:sp>
        <p:sp>
          <p:nvSpPr>
            <p:cNvPr id="47115" name="Line 11"/>
            <p:cNvSpPr>
              <a:spLocks noChangeShapeType="1"/>
            </p:cNvSpPr>
            <p:nvPr/>
          </p:nvSpPr>
          <p:spPr bwMode="gray">
            <a:xfrm flipH="1">
              <a:off x="168" y="3747"/>
              <a:ext cx="908" cy="0"/>
            </a:xfrm>
            <a:prstGeom prst="line">
              <a:avLst/>
            </a:prstGeom>
            <a:noFill/>
            <a:ln w="9525">
              <a:solidFill>
                <a:schemeClr val="tx1"/>
              </a:solidFill>
              <a:round/>
            </a:ln>
            <a:effectLst/>
          </p:spPr>
          <p:txBody>
            <a:bodyPr wrap="none" anchor="ctr"/>
            <a:lstStyle/>
            <a:p>
              <a:endParaRPr lang="zh-CN" altLang="en-US"/>
            </a:p>
          </p:txBody>
        </p:sp>
        <p:sp>
          <p:nvSpPr>
            <p:cNvPr id="47116" name="Line 12"/>
            <p:cNvSpPr>
              <a:spLocks noChangeShapeType="1"/>
            </p:cNvSpPr>
            <p:nvPr/>
          </p:nvSpPr>
          <p:spPr bwMode="gray">
            <a:xfrm flipH="1">
              <a:off x="168" y="3047"/>
              <a:ext cx="1543" cy="0"/>
            </a:xfrm>
            <a:prstGeom prst="line">
              <a:avLst/>
            </a:prstGeom>
            <a:noFill/>
            <a:ln w="9525">
              <a:solidFill>
                <a:schemeClr val="tx1"/>
              </a:solidFill>
              <a:round/>
            </a:ln>
            <a:effectLst/>
          </p:spPr>
          <p:txBody>
            <a:bodyPr wrap="none" anchor="ctr"/>
            <a:lstStyle/>
            <a:p>
              <a:endParaRPr lang="zh-CN" altLang="en-US"/>
            </a:p>
          </p:txBody>
        </p:sp>
        <p:sp>
          <p:nvSpPr>
            <p:cNvPr id="47117" name="Line 13"/>
            <p:cNvSpPr>
              <a:spLocks noChangeShapeType="1"/>
            </p:cNvSpPr>
            <p:nvPr/>
          </p:nvSpPr>
          <p:spPr bwMode="gray">
            <a:xfrm flipH="1">
              <a:off x="168" y="2356"/>
              <a:ext cx="2178" cy="0"/>
            </a:xfrm>
            <a:prstGeom prst="line">
              <a:avLst/>
            </a:prstGeom>
            <a:noFill/>
            <a:ln w="9525">
              <a:solidFill>
                <a:schemeClr val="tx1"/>
              </a:solidFill>
              <a:round/>
            </a:ln>
            <a:effectLst/>
          </p:spPr>
          <p:txBody>
            <a:bodyPr wrap="none" anchor="ctr"/>
            <a:lstStyle/>
            <a:p>
              <a:endParaRPr lang="zh-CN" altLang="en-US"/>
            </a:p>
          </p:txBody>
        </p:sp>
        <p:sp>
          <p:nvSpPr>
            <p:cNvPr id="47118" name="Line 14"/>
            <p:cNvSpPr>
              <a:spLocks noChangeShapeType="1"/>
            </p:cNvSpPr>
            <p:nvPr/>
          </p:nvSpPr>
          <p:spPr bwMode="gray">
            <a:xfrm flipH="1">
              <a:off x="168" y="1666"/>
              <a:ext cx="2813" cy="0"/>
            </a:xfrm>
            <a:prstGeom prst="line">
              <a:avLst/>
            </a:prstGeom>
            <a:noFill/>
            <a:ln w="9525">
              <a:solidFill>
                <a:schemeClr val="tx1"/>
              </a:solidFill>
              <a:round/>
            </a:ln>
            <a:effectLst/>
          </p:spPr>
          <p:txBody>
            <a:bodyPr wrap="none" anchor="ctr"/>
            <a:lstStyle/>
            <a:p>
              <a:endParaRPr lang="zh-CN" altLang="en-US"/>
            </a:p>
          </p:txBody>
        </p:sp>
        <p:sp>
          <p:nvSpPr>
            <p:cNvPr id="47119" name="Line 15"/>
            <p:cNvSpPr>
              <a:spLocks noChangeShapeType="1"/>
            </p:cNvSpPr>
            <p:nvPr/>
          </p:nvSpPr>
          <p:spPr bwMode="gray">
            <a:xfrm flipH="1">
              <a:off x="168" y="965"/>
              <a:ext cx="3448" cy="0"/>
            </a:xfrm>
            <a:prstGeom prst="line">
              <a:avLst/>
            </a:prstGeom>
            <a:noFill/>
            <a:ln w="9525">
              <a:solidFill>
                <a:schemeClr val="tx1"/>
              </a:solidFill>
              <a:round/>
            </a:ln>
            <a:effectLst/>
          </p:spPr>
          <p:txBody>
            <a:bodyPr wrap="none" anchor="ctr"/>
            <a:lstStyle/>
            <a:p>
              <a:endParaRPr lang="zh-CN" altLang="en-US"/>
            </a:p>
          </p:txBody>
        </p:sp>
        <p:sp>
          <p:nvSpPr>
            <p:cNvPr id="47120" name="Line 16"/>
            <p:cNvSpPr>
              <a:spLocks noChangeShapeType="1"/>
            </p:cNvSpPr>
            <p:nvPr/>
          </p:nvSpPr>
          <p:spPr bwMode="gray">
            <a:xfrm>
              <a:off x="305" y="960"/>
              <a:ext cx="0" cy="726"/>
            </a:xfrm>
            <a:prstGeom prst="line">
              <a:avLst/>
            </a:prstGeom>
            <a:noFill/>
            <a:ln w="9525">
              <a:solidFill>
                <a:schemeClr val="tx1"/>
              </a:solidFill>
              <a:round/>
              <a:headEnd type="triangle" w="med" len="med"/>
              <a:tailEnd type="triangle" w="med" len="med"/>
            </a:ln>
            <a:effectLst/>
          </p:spPr>
          <p:txBody>
            <a:bodyPr wrap="none" anchor="ctr"/>
            <a:lstStyle/>
            <a:p>
              <a:endParaRPr lang="zh-CN" altLang="en-US"/>
            </a:p>
          </p:txBody>
        </p:sp>
        <p:sp>
          <p:nvSpPr>
            <p:cNvPr id="47121" name="Line 17"/>
            <p:cNvSpPr>
              <a:spLocks noChangeShapeType="1"/>
            </p:cNvSpPr>
            <p:nvPr/>
          </p:nvSpPr>
          <p:spPr bwMode="gray">
            <a:xfrm>
              <a:off x="305" y="1686"/>
              <a:ext cx="0" cy="680"/>
            </a:xfrm>
            <a:prstGeom prst="line">
              <a:avLst/>
            </a:prstGeom>
            <a:noFill/>
            <a:ln w="9525">
              <a:solidFill>
                <a:schemeClr val="tx1"/>
              </a:solidFill>
              <a:round/>
              <a:headEnd type="triangle" w="med" len="med"/>
              <a:tailEnd type="triangle" w="med" len="med"/>
            </a:ln>
            <a:effectLst/>
          </p:spPr>
          <p:txBody>
            <a:bodyPr wrap="none" anchor="ctr"/>
            <a:lstStyle/>
            <a:p>
              <a:endParaRPr lang="zh-CN" altLang="en-US"/>
            </a:p>
          </p:txBody>
        </p:sp>
        <p:sp>
          <p:nvSpPr>
            <p:cNvPr id="47122" name="Line 18"/>
            <p:cNvSpPr>
              <a:spLocks noChangeShapeType="1"/>
            </p:cNvSpPr>
            <p:nvPr/>
          </p:nvSpPr>
          <p:spPr bwMode="gray">
            <a:xfrm>
              <a:off x="305" y="2366"/>
              <a:ext cx="0" cy="680"/>
            </a:xfrm>
            <a:prstGeom prst="line">
              <a:avLst/>
            </a:prstGeom>
            <a:noFill/>
            <a:ln w="9525">
              <a:solidFill>
                <a:schemeClr val="tx1"/>
              </a:solidFill>
              <a:round/>
              <a:headEnd type="triangle" w="med" len="med"/>
              <a:tailEnd type="triangle" w="med" len="med"/>
            </a:ln>
            <a:effectLst/>
          </p:spPr>
          <p:txBody>
            <a:bodyPr wrap="none" anchor="ctr"/>
            <a:lstStyle/>
            <a:p>
              <a:endParaRPr lang="zh-CN" altLang="en-US"/>
            </a:p>
          </p:txBody>
        </p:sp>
        <p:sp>
          <p:nvSpPr>
            <p:cNvPr id="47123" name="Line 19"/>
            <p:cNvSpPr>
              <a:spLocks noChangeShapeType="1"/>
            </p:cNvSpPr>
            <p:nvPr/>
          </p:nvSpPr>
          <p:spPr bwMode="gray">
            <a:xfrm>
              <a:off x="305" y="3047"/>
              <a:ext cx="0" cy="680"/>
            </a:xfrm>
            <a:prstGeom prst="line">
              <a:avLst/>
            </a:prstGeom>
            <a:noFill/>
            <a:ln w="9525">
              <a:solidFill>
                <a:schemeClr val="tx1"/>
              </a:solidFill>
              <a:round/>
              <a:headEnd type="triangle" w="med" len="med"/>
              <a:tailEnd type="triangle" w="med" len="med"/>
            </a:ln>
            <a:effectLst/>
          </p:spPr>
          <p:txBody>
            <a:bodyPr wrap="none" anchor="ctr"/>
            <a:lstStyle/>
            <a:p>
              <a:endParaRPr lang="zh-CN" altLang="en-US"/>
            </a:p>
          </p:txBody>
        </p:sp>
        <p:sp>
          <p:nvSpPr>
            <p:cNvPr id="47124" name="Freeform 20"/>
            <p:cNvSpPr/>
            <p:nvPr/>
          </p:nvSpPr>
          <p:spPr bwMode="gray">
            <a:xfrm>
              <a:off x="1529" y="1096"/>
              <a:ext cx="1407" cy="2268"/>
            </a:xfrm>
            <a:custGeom>
              <a:avLst/>
              <a:gdLst/>
              <a:ahLst/>
              <a:cxnLst>
                <a:cxn ang="0">
                  <a:pos x="12" y="2464"/>
                </a:cxn>
                <a:cxn ang="0">
                  <a:pos x="56" y="2120"/>
                </a:cxn>
                <a:cxn ang="0">
                  <a:pos x="124" y="1808"/>
                </a:cxn>
                <a:cxn ang="0">
                  <a:pos x="212" y="1524"/>
                </a:cxn>
                <a:cxn ang="0">
                  <a:pos x="316" y="1270"/>
                </a:cxn>
                <a:cxn ang="0">
                  <a:pos x="430" y="1044"/>
                </a:cxn>
                <a:cxn ang="0">
                  <a:pos x="550" y="846"/>
                </a:cxn>
                <a:cxn ang="0">
                  <a:pos x="672" y="674"/>
                </a:cxn>
                <a:cxn ang="0">
                  <a:pos x="792" y="528"/>
                </a:cxn>
                <a:cxn ang="0">
                  <a:pos x="906" y="408"/>
                </a:cxn>
                <a:cxn ang="0">
                  <a:pos x="1010" y="310"/>
                </a:cxn>
                <a:cxn ang="0">
                  <a:pos x="1096" y="236"/>
                </a:cxn>
                <a:cxn ang="0">
                  <a:pos x="1164" y="184"/>
                </a:cxn>
                <a:cxn ang="0">
                  <a:pos x="1208" y="154"/>
                </a:cxn>
                <a:cxn ang="0">
                  <a:pos x="1224" y="144"/>
                </a:cxn>
                <a:cxn ang="0">
                  <a:pos x="1728" y="56"/>
                </a:cxn>
                <a:cxn ang="0">
                  <a:pos x="1568" y="328"/>
                </a:cxn>
                <a:cxn ang="0">
                  <a:pos x="1554" y="332"/>
                </a:cxn>
                <a:cxn ang="0">
                  <a:pos x="1514" y="346"/>
                </a:cxn>
                <a:cxn ang="0">
                  <a:pos x="1452" y="370"/>
                </a:cxn>
                <a:cxn ang="0">
                  <a:pos x="1370" y="410"/>
                </a:cxn>
                <a:cxn ang="0">
                  <a:pos x="1270" y="466"/>
                </a:cxn>
                <a:cxn ang="0">
                  <a:pos x="1158" y="540"/>
                </a:cxn>
                <a:cxn ang="0">
                  <a:pos x="1034" y="636"/>
                </a:cxn>
                <a:cxn ang="0">
                  <a:pos x="904" y="756"/>
                </a:cxn>
                <a:cxn ang="0">
                  <a:pos x="770" y="900"/>
                </a:cxn>
                <a:cxn ang="0">
                  <a:pos x="632" y="1076"/>
                </a:cxn>
                <a:cxn ang="0">
                  <a:pos x="498" y="1280"/>
                </a:cxn>
                <a:cxn ang="0">
                  <a:pos x="370" y="1518"/>
                </a:cxn>
                <a:cxn ang="0">
                  <a:pos x="248" y="1792"/>
                </a:cxn>
                <a:cxn ang="0">
                  <a:pos x="138" y="2104"/>
                </a:cxn>
                <a:cxn ang="0">
                  <a:pos x="42" y="2456"/>
                </a:cxn>
              </a:cxnLst>
              <a:rect l="0" t="0" r="r" b="b"/>
              <a:pathLst>
                <a:path w="1824" h="2648">
                  <a:moveTo>
                    <a:pt x="0" y="2648"/>
                  </a:moveTo>
                  <a:lnTo>
                    <a:pt x="12" y="2464"/>
                  </a:lnTo>
                  <a:lnTo>
                    <a:pt x="32" y="2288"/>
                  </a:lnTo>
                  <a:lnTo>
                    <a:pt x="56" y="2120"/>
                  </a:lnTo>
                  <a:lnTo>
                    <a:pt x="88" y="1960"/>
                  </a:lnTo>
                  <a:lnTo>
                    <a:pt x="124" y="1808"/>
                  </a:lnTo>
                  <a:lnTo>
                    <a:pt x="166" y="1662"/>
                  </a:lnTo>
                  <a:lnTo>
                    <a:pt x="212" y="1524"/>
                  </a:lnTo>
                  <a:lnTo>
                    <a:pt x="262" y="1394"/>
                  </a:lnTo>
                  <a:lnTo>
                    <a:pt x="316" y="1270"/>
                  </a:lnTo>
                  <a:lnTo>
                    <a:pt x="372" y="1154"/>
                  </a:lnTo>
                  <a:lnTo>
                    <a:pt x="430" y="1044"/>
                  </a:lnTo>
                  <a:lnTo>
                    <a:pt x="490" y="942"/>
                  </a:lnTo>
                  <a:lnTo>
                    <a:pt x="550" y="846"/>
                  </a:lnTo>
                  <a:lnTo>
                    <a:pt x="612" y="758"/>
                  </a:lnTo>
                  <a:lnTo>
                    <a:pt x="672" y="674"/>
                  </a:lnTo>
                  <a:lnTo>
                    <a:pt x="734" y="598"/>
                  </a:lnTo>
                  <a:lnTo>
                    <a:pt x="792" y="528"/>
                  </a:lnTo>
                  <a:lnTo>
                    <a:pt x="850" y="464"/>
                  </a:lnTo>
                  <a:lnTo>
                    <a:pt x="906" y="408"/>
                  </a:lnTo>
                  <a:lnTo>
                    <a:pt x="960" y="356"/>
                  </a:lnTo>
                  <a:lnTo>
                    <a:pt x="1010" y="310"/>
                  </a:lnTo>
                  <a:lnTo>
                    <a:pt x="1056" y="270"/>
                  </a:lnTo>
                  <a:lnTo>
                    <a:pt x="1096" y="236"/>
                  </a:lnTo>
                  <a:lnTo>
                    <a:pt x="1134" y="208"/>
                  </a:lnTo>
                  <a:lnTo>
                    <a:pt x="1164" y="184"/>
                  </a:lnTo>
                  <a:lnTo>
                    <a:pt x="1190" y="166"/>
                  </a:lnTo>
                  <a:lnTo>
                    <a:pt x="1208" y="154"/>
                  </a:lnTo>
                  <a:lnTo>
                    <a:pt x="1220" y="146"/>
                  </a:lnTo>
                  <a:lnTo>
                    <a:pt x="1224" y="144"/>
                  </a:lnTo>
                  <a:lnTo>
                    <a:pt x="848" y="0"/>
                  </a:lnTo>
                  <a:lnTo>
                    <a:pt x="1728" y="56"/>
                  </a:lnTo>
                  <a:lnTo>
                    <a:pt x="1824" y="480"/>
                  </a:lnTo>
                  <a:lnTo>
                    <a:pt x="1568" y="328"/>
                  </a:lnTo>
                  <a:lnTo>
                    <a:pt x="1564" y="328"/>
                  </a:lnTo>
                  <a:lnTo>
                    <a:pt x="1554" y="332"/>
                  </a:lnTo>
                  <a:lnTo>
                    <a:pt x="1538" y="338"/>
                  </a:lnTo>
                  <a:lnTo>
                    <a:pt x="1514" y="346"/>
                  </a:lnTo>
                  <a:lnTo>
                    <a:pt x="1486" y="356"/>
                  </a:lnTo>
                  <a:lnTo>
                    <a:pt x="1452" y="370"/>
                  </a:lnTo>
                  <a:lnTo>
                    <a:pt x="1412" y="388"/>
                  </a:lnTo>
                  <a:lnTo>
                    <a:pt x="1370" y="410"/>
                  </a:lnTo>
                  <a:lnTo>
                    <a:pt x="1322" y="436"/>
                  </a:lnTo>
                  <a:lnTo>
                    <a:pt x="1270" y="466"/>
                  </a:lnTo>
                  <a:lnTo>
                    <a:pt x="1216" y="500"/>
                  </a:lnTo>
                  <a:lnTo>
                    <a:pt x="1158" y="540"/>
                  </a:lnTo>
                  <a:lnTo>
                    <a:pt x="1098" y="584"/>
                  </a:lnTo>
                  <a:lnTo>
                    <a:pt x="1034" y="636"/>
                  </a:lnTo>
                  <a:lnTo>
                    <a:pt x="970" y="692"/>
                  </a:lnTo>
                  <a:lnTo>
                    <a:pt x="904" y="756"/>
                  </a:lnTo>
                  <a:lnTo>
                    <a:pt x="836" y="824"/>
                  </a:lnTo>
                  <a:lnTo>
                    <a:pt x="770" y="900"/>
                  </a:lnTo>
                  <a:lnTo>
                    <a:pt x="700" y="984"/>
                  </a:lnTo>
                  <a:lnTo>
                    <a:pt x="632" y="1076"/>
                  </a:lnTo>
                  <a:lnTo>
                    <a:pt x="566" y="1174"/>
                  </a:lnTo>
                  <a:lnTo>
                    <a:pt x="498" y="1280"/>
                  </a:lnTo>
                  <a:lnTo>
                    <a:pt x="434" y="1394"/>
                  </a:lnTo>
                  <a:lnTo>
                    <a:pt x="370" y="1518"/>
                  </a:lnTo>
                  <a:lnTo>
                    <a:pt x="308" y="1650"/>
                  </a:lnTo>
                  <a:lnTo>
                    <a:pt x="248" y="1792"/>
                  </a:lnTo>
                  <a:lnTo>
                    <a:pt x="192" y="1944"/>
                  </a:lnTo>
                  <a:lnTo>
                    <a:pt x="138" y="2104"/>
                  </a:lnTo>
                  <a:lnTo>
                    <a:pt x="88" y="2274"/>
                  </a:lnTo>
                  <a:lnTo>
                    <a:pt x="42" y="2456"/>
                  </a:lnTo>
                  <a:lnTo>
                    <a:pt x="0" y="2648"/>
                  </a:lnTo>
                  <a:close/>
                </a:path>
              </a:pathLst>
            </a:custGeom>
            <a:gradFill rotWithShape="1">
              <a:gsLst>
                <a:gs pos="0">
                  <a:srgbClr val="D11364"/>
                </a:gs>
                <a:gs pos="100000">
                  <a:srgbClr val="D11364">
                    <a:gamma/>
                    <a:shade val="46275"/>
                    <a:invGamma/>
                  </a:srgbClr>
                </a:gs>
              </a:gsLst>
              <a:lin ang="5400000" scaled="1"/>
            </a:gradFill>
            <a:ln w="0">
              <a:noFill/>
              <a:prstDash val="solid"/>
              <a:round/>
            </a:ln>
          </p:spPr>
          <p:txBody>
            <a:bodyPr/>
            <a:lstStyle/>
            <a:p>
              <a:endParaRPr lang="zh-CN" altLang="en-US"/>
            </a:p>
          </p:txBody>
        </p:sp>
        <p:sp>
          <p:nvSpPr>
            <p:cNvPr id="47125" name="Rectangle 21"/>
            <p:cNvSpPr>
              <a:spLocks noChangeArrowheads="1"/>
            </p:cNvSpPr>
            <p:nvPr/>
          </p:nvSpPr>
          <p:spPr bwMode="gray">
            <a:xfrm>
              <a:off x="2980" y="1411"/>
              <a:ext cx="2119" cy="253"/>
            </a:xfrm>
            <a:prstGeom prst="rect">
              <a:avLst/>
            </a:prstGeom>
            <a:gradFill rotWithShape="1">
              <a:gsLst>
                <a:gs pos="0">
                  <a:srgbClr val="00906A">
                    <a:gamma/>
                    <a:shade val="72549"/>
                    <a:invGamma/>
                  </a:srgbClr>
                </a:gs>
                <a:gs pos="50000">
                  <a:srgbClr val="00906A"/>
                </a:gs>
                <a:gs pos="100000">
                  <a:srgbClr val="00906A">
                    <a:gamma/>
                    <a:shade val="72549"/>
                    <a:invGamma/>
                  </a:srgbClr>
                </a:gs>
              </a:gsLst>
              <a:lin ang="2700000" scaled="1"/>
            </a:gradFill>
            <a:ln w="9525">
              <a:noFill/>
              <a:miter lim="800000"/>
            </a:ln>
            <a:effectLst/>
          </p:spPr>
          <p:txBody>
            <a:bodyPr wrap="none" anchor="ctr"/>
            <a:lstStyle/>
            <a:p>
              <a:pPr algn="ctr" eaLnBrk="0" hangingPunct="0"/>
              <a:r>
                <a:rPr lang="zh-CN" altLang="en-US" dirty="0">
                  <a:solidFill>
                    <a:schemeClr val="bg1"/>
                  </a:solidFill>
                  <a:latin typeface="黑体" panose="02010609060101010101" pitchFamily="49" charset="-122"/>
                  <a:ea typeface="黑体" panose="02010609060101010101" pitchFamily="49" charset="-122"/>
                </a:rPr>
                <a:t>程序设计环境与工具</a:t>
              </a:r>
              <a:endParaRPr lang="en-US" altLang="zh-CN" dirty="0">
                <a:solidFill>
                  <a:schemeClr val="bg1"/>
                </a:solidFill>
                <a:latin typeface="黑体" panose="02010609060101010101" pitchFamily="49" charset="-122"/>
                <a:ea typeface="黑体" panose="02010609060101010101" pitchFamily="49" charset="-122"/>
              </a:endParaRPr>
            </a:p>
          </p:txBody>
        </p:sp>
        <p:sp>
          <p:nvSpPr>
            <p:cNvPr id="47126" name="Rectangle 22"/>
            <p:cNvSpPr>
              <a:spLocks noChangeArrowheads="1"/>
            </p:cNvSpPr>
            <p:nvPr/>
          </p:nvSpPr>
          <p:spPr bwMode="gray">
            <a:xfrm>
              <a:off x="2341" y="2110"/>
              <a:ext cx="2309" cy="248"/>
            </a:xfrm>
            <a:prstGeom prst="rect">
              <a:avLst/>
            </a:prstGeom>
            <a:gradFill rotWithShape="1">
              <a:gsLst>
                <a:gs pos="0">
                  <a:srgbClr val="8041FF">
                    <a:gamma/>
                    <a:shade val="72549"/>
                    <a:invGamma/>
                  </a:srgbClr>
                </a:gs>
                <a:gs pos="50000">
                  <a:srgbClr val="8041FF"/>
                </a:gs>
                <a:gs pos="100000">
                  <a:srgbClr val="8041FF">
                    <a:gamma/>
                    <a:shade val="72549"/>
                    <a:invGamma/>
                  </a:srgbClr>
                </a:gs>
              </a:gsLst>
              <a:lin ang="2700000" scaled="1"/>
            </a:gradFill>
            <a:ln w="9525">
              <a:noFill/>
              <a:miter lim="800000"/>
            </a:ln>
            <a:effectLst/>
          </p:spPr>
          <p:txBody>
            <a:bodyPr wrap="none" anchor="ctr"/>
            <a:lstStyle/>
            <a:p>
              <a:pPr algn="ctr" eaLnBrk="0" hangingPunct="0"/>
              <a:r>
                <a:rPr lang="zh-CN" altLang="en-US" dirty="0">
                  <a:solidFill>
                    <a:schemeClr val="bg1"/>
                  </a:solidFill>
                  <a:latin typeface="黑体" panose="02010609060101010101" pitchFamily="49" charset="-122"/>
                  <a:ea typeface="黑体" panose="02010609060101010101" pitchFamily="49" charset="-122"/>
                </a:rPr>
                <a:t>程序设计语言</a:t>
              </a:r>
              <a:endParaRPr lang="en-US" altLang="zh-CN" dirty="0">
                <a:solidFill>
                  <a:schemeClr val="bg1"/>
                </a:solidFill>
                <a:latin typeface="黑体" panose="02010609060101010101" pitchFamily="49" charset="-122"/>
                <a:ea typeface="黑体" panose="02010609060101010101" pitchFamily="49" charset="-122"/>
              </a:endParaRPr>
            </a:p>
          </p:txBody>
        </p:sp>
        <p:sp>
          <p:nvSpPr>
            <p:cNvPr id="47127" name="Freeform 23"/>
            <p:cNvSpPr/>
            <p:nvPr/>
          </p:nvSpPr>
          <p:spPr bwMode="gray">
            <a:xfrm>
              <a:off x="1709" y="2353"/>
              <a:ext cx="2935" cy="454"/>
            </a:xfrm>
            <a:custGeom>
              <a:avLst/>
              <a:gdLst/>
              <a:ahLst/>
              <a:cxnLst>
                <a:cxn ang="0">
                  <a:pos x="1742" y="286"/>
                </a:cxn>
                <a:cxn ang="0">
                  <a:pos x="0" y="286"/>
                </a:cxn>
                <a:cxn ang="0">
                  <a:pos x="446" y="0"/>
                </a:cxn>
                <a:cxn ang="0">
                  <a:pos x="2048" y="0"/>
                </a:cxn>
                <a:cxn ang="0">
                  <a:pos x="1742" y="286"/>
                </a:cxn>
              </a:cxnLst>
              <a:rect l="0" t="0" r="r" b="b"/>
              <a:pathLst>
                <a:path w="2048" h="286">
                  <a:moveTo>
                    <a:pt x="1742" y="286"/>
                  </a:moveTo>
                  <a:lnTo>
                    <a:pt x="0" y="286"/>
                  </a:lnTo>
                  <a:lnTo>
                    <a:pt x="446" y="0"/>
                  </a:lnTo>
                  <a:lnTo>
                    <a:pt x="2048" y="0"/>
                  </a:lnTo>
                  <a:lnTo>
                    <a:pt x="1742" y="286"/>
                  </a:lnTo>
                  <a:close/>
                </a:path>
              </a:pathLst>
            </a:custGeom>
            <a:solidFill>
              <a:srgbClr val="FF9966"/>
            </a:solidFill>
            <a:ln w="0">
              <a:noFill/>
              <a:prstDash val="solid"/>
              <a:round/>
            </a:ln>
          </p:spPr>
          <p:txBody>
            <a:bodyPr/>
            <a:lstStyle/>
            <a:p>
              <a:endParaRPr lang="zh-CN" altLang="en-US"/>
            </a:p>
          </p:txBody>
        </p:sp>
        <p:sp>
          <p:nvSpPr>
            <p:cNvPr id="47128" name="Rectangle 24"/>
            <p:cNvSpPr>
              <a:spLocks noChangeArrowheads="1"/>
            </p:cNvSpPr>
            <p:nvPr/>
          </p:nvSpPr>
          <p:spPr bwMode="gray">
            <a:xfrm>
              <a:off x="1711" y="2806"/>
              <a:ext cx="2499" cy="248"/>
            </a:xfrm>
            <a:prstGeom prst="rect">
              <a:avLst/>
            </a:prstGeom>
            <a:gradFill rotWithShape="1">
              <a:gsLst>
                <a:gs pos="0">
                  <a:srgbClr val="DC7150">
                    <a:gamma/>
                    <a:shade val="72549"/>
                    <a:invGamma/>
                  </a:srgbClr>
                </a:gs>
                <a:gs pos="50000">
                  <a:srgbClr val="DC7150"/>
                </a:gs>
                <a:gs pos="100000">
                  <a:srgbClr val="DC7150">
                    <a:gamma/>
                    <a:shade val="72549"/>
                    <a:invGamma/>
                  </a:srgbClr>
                </a:gs>
              </a:gsLst>
              <a:lin ang="2700000" scaled="1"/>
            </a:gradFill>
            <a:ln w="9525">
              <a:noFill/>
              <a:miter lim="800000"/>
            </a:ln>
            <a:effectLst/>
          </p:spPr>
          <p:txBody>
            <a:bodyPr wrap="none" anchor="ctr"/>
            <a:lstStyle/>
            <a:p>
              <a:pPr algn="ctr" eaLnBrk="0" hangingPunct="0"/>
              <a:r>
                <a:rPr lang="zh-CN" altLang="en-US" dirty="0">
                  <a:solidFill>
                    <a:schemeClr val="bg1"/>
                  </a:solidFill>
                  <a:latin typeface="黑体" panose="02010609060101010101" pitchFamily="49" charset="-122"/>
                  <a:ea typeface="黑体" panose="02010609060101010101" pitchFamily="49" charset="-122"/>
                </a:rPr>
                <a:t>程序设计方法学</a:t>
              </a:r>
              <a:endParaRPr lang="en-US" altLang="zh-CN" dirty="0">
                <a:solidFill>
                  <a:schemeClr val="bg1"/>
                </a:solidFill>
                <a:latin typeface="黑体" panose="02010609060101010101" pitchFamily="49" charset="-122"/>
                <a:ea typeface="黑体" panose="02010609060101010101" pitchFamily="49" charset="-122"/>
              </a:endParaRPr>
            </a:p>
          </p:txBody>
        </p:sp>
        <p:sp>
          <p:nvSpPr>
            <p:cNvPr id="47129" name="Rectangle 25"/>
            <p:cNvSpPr>
              <a:spLocks noChangeArrowheads="1"/>
            </p:cNvSpPr>
            <p:nvPr/>
          </p:nvSpPr>
          <p:spPr bwMode="gray">
            <a:xfrm>
              <a:off x="1075" y="3502"/>
              <a:ext cx="2689" cy="248"/>
            </a:xfrm>
            <a:prstGeom prst="rect">
              <a:avLst/>
            </a:prstGeom>
            <a:gradFill rotWithShape="1">
              <a:gsLst>
                <a:gs pos="0">
                  <a:srgbClr val="D0A11C">
                    <a:gamma/>
                    <a:shade val="72549"/>
                    <a:invGamma/>
                  </a:srgbClr>
                </a:gs>
                <a:gs pos="50000">
                  <a:srgbClr val="D0A11C"/>
                </a:gs>
                <a:gs pos="100000">
                  <a:srgbClr val="D0A11C">
                    <a:gamma/>
                    <a:shade val="72549"/>
                    <a:invGamma/>
                  </a:srgbClr>
                </a:gs>
              </a:gsLst>
              <a:lin ang="2700000" scaled="1"/>
            </a:gradFill>
            <a:ln w="9525">
              <a:noFill/>
              <a:miter lim="800000"/>
            </a:ln>
            <a:effectLst/>
          </p:spPr>
          <p:txBody>
            <a:bodyPr wrap="none" anchor="ctr"/>
            <a:lstStyle/>
            <a:p>
              <a:pPr algn="ctr"/>
              <a:r>
                <a:rPr lang="zh-CN" altLang="en-US" dirty="0">
                  <a:solidFill>
                    <a:schemeClr val="bg1"/>
                  </a:solidFill>
                  <a:latin typeface="黑体" panose="02010609060101010101" pitchFamily="49" charset="-122"/>
                  <a:ea typeface="黑体" panose="02010609060101010101" pitchFamily="49" charset="-122"/>
                </a:rPr>
                <a:t>算法的设计与分析</a:t>
              </a:r>
              <a:endParaRPr lang="en-US" altLang="zh-CN" dirty="0">
                <a:solidFill>
                  <a:schemeClr val="bg1"/>
                </a:solidFill>
                <a:latin typeface="黑体" panose="02010609060101010101" pitchFamily="49" charset="-122"/>
                <a:ea typeface="黑体" panose="02010609060101010101" pitchFamily="49" charset="-122"/>
              </a:endParaRPr>
            </a:p>
          </p:txBody>
        </p:sp>
        <p:sp>
          <p:nvSpPr>
            <p:cNvPr id="47130" name="Text Box 26"/>
            <p:cNvSpPr txBox="1">
              <a:spLocks noChangeArrowheads="1"/>
            </p:cNvSpPr>
            <p:nvPr/>
          </p:nvSpPr>
          <p:spPr bwMode="gray">
            <a:xfrm>
              <a:off x="298" y="1035"/>
              <a:ext cx="907" cy="531"/>
            </a:xfrm>
            <a:prstGeom prst="rect">
              <a:avLst/>
            </a:prstGeom>
            <a:noFill/>
            <a:ln w="9525">
              <a:noFill/>
              <a:miter lim="800000"/>
            </a:ln>
            <a:effectLst/>
          </p:spPr>
          <p:txBody>
            <a:bodyPr wrap="square">
              <a:spAutoFit/>
            </a:bodyPr>
            <a:lstStyle/>
            <a:p>
              <a:pPr eaLnBrk="0" hangingPunct="0"/>
              <a:r>
                <a:rPr lang="zh-CN" altLang="en-US" sz="1400" b="1" dirty="0">
                  <a:latin typeface="Verdana" panose="020B0604030504040204" pitchFamily="34" charset="0"/>
                  <a:ea typeface="宋体" panose="02010600030101010101" pitchFamily="2" charset="-122"/>
                </a:rPr>
                <a:t>有利于快速、高效地完成程序设计</a:t>
              </a:r>
              <a:endParaRPr lang="en-US" altLang="zh-CN" sz="1400" b="1" dirty="0">
                <a:latin typeface="Verdana" panose="020B0604030504040204" pitchFamily="34" charset="0"/>
                <a:ea typeface="宋体" panose="02010600030101010101" pitchFamily="2" charset="-122"/>
              </a:endParaRPr>
            </a:p>
          </p:txBody>
        </p:sp>
        <p:sp>
          <p:nvSpPr>
            <p:cNvPr id="47131" name="Text Box 27"/>
            <p:cNvSpPr txBox="1">
              <a:spLocks noChangeArrowheads="1"/>
            </p:cNvSpPr>
            <p:nvPr/>
          </p:nvSpPr>
          <p:spPr bwMode="gray">
            <a:xfrm>
              <a:off x="298" y="1918"/>
              <a:ext cx="1036" cy="221"/>
            </a:xfrm>
            <a:prstGeom prst="rect">
              <a:avLst/>
            </a:prstGeom>
            <a:noFill/>
            <a:ln w="9525">
              <a:noFill/>
              <a:miter lim="800000"/>
            </a:ln>
            <a:effectLst/>
          </p:spPr>
          <p:txBody>
            <a:bodyPr wrap="none">
              <a:spAutoFit/>
            </a:bodyPr>
            <a:lstStyle/>
            <a:p>
              <a:pPr eaLnBrk="0" hangingPunct="0"/>
              <a:r>
                <a:rPr lang="zh-CN" altLang="en-US" sz="1400" b="1" dirty="0">
                  <a:latin typeface="Verdana" panose="020B0604030504040204" pitchFamily="34" charset="0"/>
                  <a:ea typeface="宋体" panose="02010600030101010101" pitchFamily="2" charset="-122"/>
                </a:rPr>
                <a:t>程序设计的基础</a:t>
              </a:r>
              <a:endParaRPr lang="en-US" altLang="zh-CN" sz="1400" b="1" dirty="0">
                <a:latin typeface="Verdana" panose="020B0604030504040204" pitchFamily="34" charset="0"/>
                <a:ea typeface="宋体" panose="02010600030101010101" pitchFamily="2" charset="-122"/>
              </a:endParaRPr>
            </a:p>
          </p:txBody>
        </p:sp>
        <p:sp>
          <p:nvSpPr>
            <p:cNvPr id="47132" name="Text Box 28"/>
            <p:cNvSpPr txBox="1">
              <a:spLocks noChangeArrowheads="1"/>
            </p:cNvSpPr>
            <p:nvPr/>
          </p:nvSpPr>
          <p:spPr bwMode="gray">
            <a:xfrm>
              <a:off x="298" y="2370"/>
              <a:ext cx="1061" cy="685"/>
            </a:xfrm>
            <a:prstGeom prst="rect">
              <a:avLst/>
            </a:prstGeom>
            <a:noFill/>
            <a:ln w="9525">
              <a:noFill/>
              <a:miter lim="800000"/>
            </a:ln>
            <a:effectLst/>
          </p:spPr>
          <p:txBody>
            <a:bodyPr wrap="square">
              <a:spAutoFit/>
            </a:bodyPr>
            <a:lstStyle/>
            <a:p>
              <a:pPr eaLnBrk="0" hangingPunct="0"/>
              <a:r>
                <a:rPr lang="zh-CN" altLang="en-US" sz="1400" b="1" dirty="0">
                  <a:latin typeface="Verdana" panose="020B0604030504040204" pitchFamily="34" charset="0"/>
                  <a:ea typeface="宋体" panose="02010600030101010101" pitchFamily="2" charset="-122"/>
                </a:rPr>
                <a:t>程序可读性、可测试性、可维护性、可扩充性和可重用性</a:t>
              </a:r>
              <a:endParaRPr lang="en-US" altLang="zh-CN" sz="1400" b="1" dirty="0">
                <a:latin typeface="Verdana" panose="020B0604030504040204" pitchFamily="34" charset="0"/>
                <a:ea typeface="宋体" panose="02010600030101010101" pitchFamily="2" charset="-122"/>
              </a:endParaRPr>
            </a:p>
          </p:txBody>
        </p:sp>
        <p:sp>
          <p:nvSpPr>
            <p:cNvPr id="47133" name="Text Box 29"/>
            <p:cNvSpPr txBox="1">
              <a:spLocks noChangeArrowheads="1"/>
            </p:cNvSpPr>
            <p:nvPr/>
          </p:nvSpPr>
          <p:spPr bwMode="gray">
            <a:xfrm>
              <a:off x="298" y="3088"/>
              <a:ext cx="702" cy="531"/>
            </a:xfrm>
            <a:prstGeom prst="rect">
              <a:avLst/>
            </a:prstGeom>
            <a:noFill/>
            <a:ln w="9525">
              <a:noFill/>
              <a:miter lim="800000"/>
            </a:ln>
            <a:effectLst/>
          </p:spPr>
          <p:txBody>
            <a:bodyPr wrap="square">
              <a:spAutoFit/>
            </a:bodyPr>
            <a:lstStyle/>
            <a:p>
              <a:pPr eaLnBrk="0" hangingPunct="0"/>
              <a:r>
                <a:rPr lang="zh-CN" altLang="en-US" sz="1400" b="1" dirty="0">
                  <a:latin typeface="Verdana" panose="020B0604030504040204" pitchFamily="34" charset="0"/>
                  <a:ea typeface="宋体" panose="02010600030101010101" pitchFamily="2" charset="-122"/>
                </a:rPr>
                <a:t>如何准确且高效地解决问题</a:t>
              </a:r>
              <a:endParaRPr lang="en-US" altLang="zh-CN" sz="1400" b="1" dirty="0">
                <a:latin typeface="Verdana" panose="020B0604030504040204" pitchFamily="34" charset="0"/>
                <a:ea typeface="宋体" panose="02010600030101010101" pitchFamily="2" charset="-122"/>
              </a:endParaRPr>
            </a:p>
          </p:txBody>
        </p:sp>
      </p:gr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绪论</a:t>
            </a:r>
            <a:endParaRPr lang="zh-CN" altLang="en-US" dirty="0"/>
          </a:p>
        </p:txBody>
      </p:sp>
      <p:grpSp>
        <p:nvGrpSpPr>
          <p:cNvPr id="53" name="Group 52"/>
          <p:cNvGrpSpPr/>
          <p:nvPr/>
        </p:nvGrpSpPr>
        <p:grpSpPr bwMode="auto">
          <a:xfrm>
            <a:off x="-2395538" y="1600200"/>
            <a:ext cx="9253538" cy="4824413"/>
            <a:chOff x="-1509" y="1008"/>
            <a:chExt cx="5829" cy="3039"/>
          </a:xfrm>
        </p:grpSpPr>
        <p:sp>
          <p:nvSpPr>
            <p:cNvPr id="54" name="AutoShape 4"/>
            <p:cNvSpPr>
              <a:spLocks noChangeArrowheads="1"/>
            </p:cNvSpPr>
            <p:nvPr/>
          </p:nvSpPr>
          <p:spPr bwMode="ltGray">
            <a:xfrm rot="5400000">
              <a:off x="-1526" y="1025"/>
              <a:ext cx="3039" cy="3005"/>
            </a:xfrm>
            <a:custGeom>
              <a:avLst/>
              <a:gdLst>
                <a:gd name="G0" fmla="+- 10478 0 0"/>
                <a:gd name="G1" fmla="+- -11739500 0 0"/>
                <a:gd name="G2" fmla="+- 0 0 -11739500"/>
                <a:gd name="T0" fmla="*/ 0 256 1"/>
                <a:gd name="T1" fmla="*/ 180 256 1"/>
                <a:gd name="G3" fmla="+- -11739500 T0 T1"/>
                <a:gd name="T2" fmla="*/ 0 256 1"/>
                <a:gd name="T3" fmla="*/ 90 256 1"/>
                <a:gd name="G4" fmla="+- -11739500 T2 T3"/>
                <a:gd name="G5" fmla="*/ G4 2 1"/>
                <a:gd name="T4" fmla="*/ 90 256 1"/>
                <a:gd name="T5" fmla="*/ 0 256 1"/>
                <a:gd name="G6" fmla="+- -11739500 T4 T5"/>
                <a:gd name="G7" fmla="*/ G6 2 1"/>
                <a:gd name="G8" fmla="abs -11739500"/>
                <a:gd name="T6" fmla="*/ 0 256 1"/>
                <a:gd name="T7" fmla="*/ 90 256 1"/>
                <a:gd name="G9" fmla="+- G8 T6 T7"/>
                <a:gd name="G10" fmla="?: G9 G7 G5"/>
                <a:gd name="T8" fmla="*/ 0 256 1"/>
                <a:gd name="T9" fmla="*/ 360 256 1"/>
                <a:gd name="G11" fmla="+- G10 T8 T9"/>
                <a:gd name="G12" fmla="?: G10 G11 G10"/>
                <a:gd name="T10" fmla="*/ 0 256 1"/>
                <a:gd name="T11" fmla="*/ 360 256 1"/>
                <a:gd name="G13" fmla="+- G12 T10 T11"/>
                <a:gd name="G14" fmla="?: G12 G13 G12"/>
                <a:gd name="G15" fmla="+- 0 0 G14"/>
                <a:gd name="G16" fmla="+- 10800 0 0"/>
                <a:gd name="G17" fmla="+- 10800 0 10478"/>
                <a:gd name="G18" fmla="*/ 10478 1 2"/>
                <a:gd name="G19" fmla="+- G18 5400 0"/>
                <a:gd name="G20" fmla="cos G19 -11739500"/>
                <a:gd name="G21" fmla="sin G19 -11739500"/>
                <a:gd name="G22" fmla="+- G20 10800 0"/>
                <a:gd name="G23" fmla="+- G21 10800 0"/>
                <a:gd name="G24" fmla="+- 10800 0 G20"/>
                <a:gd name="G25" fmla="+- 10478 10800 0"/>
                <a:gd name="G26" fmla="?: G9 G17 G25"/>
                <a:gd name="G27" fmla="?: G9 0 21600"/>
                <a:gd name="G28" fmla="cos 10800 -11739500"/>
                <a:gd name="G29" fmla="sin 10800 -11739500"/>
                <a:gd name="G30" fmla="sin 10478 -11739500"/>
                <a:gd name="G31" fmla="+- G28 10800 0"/>
                <a:gd name="G32" fmla="+- G29 10800 0"/>
                <a:gd name="G33" fmla="+- G30 10800 0"/>
                <a:gd name="G34" fmla="?: G4 0 G31"/>
                <a:gd name="G35" fmla="?: -11739500 G34 0"/>
                <a:gd name="G36" fmla="?: G6 G35 G31"/>
                <a:gd name="G37" fmla="+- 21600 0 G36"/>
                <a:gd name="G38" fmla="?: G4 0 G33"/>
                <a:gd name="G39" fmla="?: -11739500 G38 G32"/>
                <a:gd name="G40" fmla="?: G6 G39 0"/>
                <a:gd name="G41" fmla="?: G4 G32 21600"/>
                <a:gd name="G42" fmla="?: G6 G41 G33"/>
                <a:gd name="T12" fmla="*/ 10800 w 21600"/>
                <a:gd name="T13" fmla="*/ 0 h 21600"/>
                <a:gd name="T14" fmla="*/ 162 w 21600"/>
                <a:gd name="T15" fmla="*/ 10638 h 21600"/>
                <a:gd name="T16" fmla="*/ 10800 w 21600"/>
                <a:gd name="T17" fmla="*/ 322 h 21600"/>
                <a:gd name="T18" fmla="*/ 21438 w 21600"/>
                <a:gd name="T19" fmla="*/ 10638 h 21600"/>
                <a:gd name="T20" fmla="*/ G36 w 21600"/>
                <a:gd name="T21" fmla="*/ G40 h 21600"/>
                <a:gd name="T22" fmla="*/ G37 w 21600"/>
                <a:gd name="T23" fmla="*/ G42 h 21600"/>
              </a:gdLst>
              <a:ahLst/>
              <a:cxnLst>
                <a:cxn ang="0">
                  <a:pos x="T12" y="T13"/>
                </a:cxn>
                <a:cxn ang="0">
                  <a:pos x="T14" y="T15"/>
                </a:cxn>
                <a:cxn ang="0">
                  <a:pos x="T16" y="T17"/>
                </a:cxn>
                <a:cxn ang="0">
                  <a:pos x="T18" y="T19"/>
                </a:cxn>
              </a:cxnLst>
              <a:rect l="T20" t="T21" r="T22" b="T23"/>
              <a:pathLst>
                <a:path w="21600" h="21600">
                  <a:moveTo>
                    <a:pt x="323" y="10641"/>
                  </a:moveTo>
                  <a:cubicBezTo>
                    <a:pt x="410" y="4916"/>
                    <a:pt x="5075" y="321"/>
                    <a:pt x="10800" y="322"/>
                  </a:cubicBezTo>
                  <a:cubicBezTo>
                    <a:pt x="16524" y="322"/>
                    <a:pt x="21189" y="4916"/>
                    <a:pt x="21276" y="10641"/>
                  </a:cubicBezTo>
                  <a:lnTo>
                    <a:pt x="21598" y="10636"/>
                  </a:lnTo>
                  <a:cubicBezTo>
                    <a:pt x="21509" y="4736"/>
                    <a:pt x="16700" y="-1"/>
                    <a:pt x="10799" y="0"/>
                  </a:cubicBezTo>
                  <a:cubicBezTo>
                    <a:pt x="4899" y="0"/>
                    <a:pt x="90" y="4736"/>
                    <a:pt x="1" y="10636"/>
                  </a:cubicBezTo>
                  <a:close/>
                </a:path>
              </a:pathLst>
            </a:custGeom>
            <a:gradFill rotWithShape="1">
              <a:gsLst>
                <a:gs pos="0">
                  <a:schemeClr val="bg2">
                    <a:gamma/>
                    <a:tint val="45490"/>
                    <a:invGamma/>
                  </a:schemeClr>
                </a:gs>
                <a:gs pos="50000">
                  <a:schemeClr val="bg2"/>
                </a:gs>
                <a:gs pos="100000">
                  <a:schemeClr val="bg2">
                    <a:gamma/>
                    <a:tint val="45490"/>
                    <a:invGamma/>
                  </a:schemeClr>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endParaRPr lang="zh-CN" altLang="en-US"/>
            </a:p>
          </p:txBody>
        </p:sp>
        <p:sp>
          <p:nvSpPr>
            <p:cNvPr id="55" name="AutoShape 5"/>
            <p:cNvSpPr>
              <a:spLocks noChangeArrowheads="1"/>
            </p:cNvSpPr>
            <p:nvPr/>
          </p:nvSpPr>
          <p:spPr bwMode="ltGray">
            <a:xfrm rot="5400000" flipH="1">
              <a:off x="-1270" y="1299"/>
              <a:ext cx="2540" cy="2475"/>
            </a:xfrm>
            <a:custGeom>
              <a:avLst/>
              <a:gdLst>
                <a:gd name="G0" fmla="+- 56 0 0"/>
                <a:gd name="G1" fmla="+- 11796480 0 0"/>
                <a:gd name="G2" fmla="+- 0 0 11796480"/>
                <a:gd name="T0" fmla="*/ 0 256 1"/>
                <a:gd name="T1" fmla="*/ 180 256 1"/>
                <a:gd name="G3" fmla="+- 11796480 T0 T1"/>
                <a:gd name="T2" fmla="*/ 0 256 1"/>
                <a:gd name="T3" fmla="*/ 90 256 1"/>
                <a:gd name="G4" fmla="+- 11796480 T2 T3"/>
                <a:gd name="G5" fmla="*/ G4 2 1"/>
                <a:gd name="T4" fmla="*/ 90 256 1"/>
                <a:gd name="T5" fmla="*/ 0 256 1"/>
                <a:gd name="G6" fmla="+- 11796480 T4 T5"/>
                <a:gd name="G7" fmla="*/ G6 2 1"/>
                <a:gd name="G8" fmla="abs 11796480"/>
                <a:gd name="T6" fmla="*/ 0 256 1"/>
                <a:gd name="T7" fmla="*/ 90 256 1"/>
                <a:gd name="G9" fmla="+- G8 T6 T7"/>
                <a:gd name="G10" fmla="?: G9 G7 G5"/>
                <a:gd name="T8" fmla="*/ 0 256 1"/>
                <a:gd name="T9" fmla="*/ 360 256 1"/>
                <a:gd name="G11" fmla="+- G10 T8 T9"/>
                <a:gd name="G12" fmla="?: G10 G11 G10"/>
                <a:gd name="T10" fmla="*/ 0 256 1"/>
                <a:gd name="T11" fmla="*/ 360 256 1"/>
                <a:gd name="G13" fmla="+- G12 T10 T11"/>
                <a:gd name="G14" fmla="?: G12 G13 G12"/>
                <a:gd name="G15" fmla="+- 0 0 G14"/>
                <a:gd name="G16" fmla="+- 10800 0 0"/>
                <a:gd name="G17" fmla="+- 10800 0 56"/>
                <a:gd name="G18" fmla="*/ 56 1 2"/>
                <a:gd name="G19" fmla="+- G18 5400 0"/>
                <a:gd name="G20" fmla="cos G19 11796480"/>
                <a:gd name="G21" fmla="sin G19 11796480"/>
                <a:gd name="G22" fmla="+- G20 10800 0"/>
                <a:gd name="G23" fmla="+- G21 10800 0"/>
                <a:gd name="G24" fmla="+- 10800 0 G20"/>
                <a:gd name="G25" fmla="+- 56 10800 0"/>
                <a:gd name="G26" fmla="?: G9 G17 G25"/>
                <a:gd name="G27" fmla="?: G9 0 21600"/>
                <a:gd name="G28" fmla="cos 10800 11796480"/>
                <a:gd name="G29" fmla="sin 10800 11796480"/>
                <a:gd name="G30" fmla="sin 56 11796480"/>
                <a:gd name="G31" fmla="+- G28 10800 0"/>
                <a:gd name="G32" fmla="+- G29 10800 0"/>
                <a:gd name="G33" fmla="+- G30 10800 0"/>
                <a:gd name="G34" fmla="?: G4 0 G31"/>
                <a:gd name="G35" fmla="?: 11796480 G34 0"/>
                <a:gd name="G36" fmla="?: G6 G35 G31"/>
                <a:gd name="G37" fmla="+- 21600 0 G36"/>
                <a:gd name="G38" fmla="?: G4 0 G33"/>
                <a:gd name="G39" fmla="?: 11796480 G38 G32"/>
                <a:gd name="G40" fmla="?: G6 G39 0"/>
                <a:gd name="G41" fmla="?: G4 G32 21600"/>
                <a:gd name="G42" fmla="?: G6 G41 G33"/>
                <a:gd name="T12" fmla="*/ 10800 w 21600"/>
                <a:gd name="T13" fmla="*/ 0 h 21600"/>
                <a:gd name="T14" fmla="*/ 5372 w 21600"/>
                <a:gd name="T15" fmla="*/ 10800 h 21600"/>
                <a:gd name="T16" fmla="*/ 10800 w 21600"/>
                <a:gd name="T17" fmla="*/ 10744 h 21600"/>
                <a:gd name="T18" fmla="*/ 16228 w 21600"/>
                <a:gd name="T19" fmla="*/ 10800 h 21600"/>
                <a:gd name="T20" fmla="*/ G36 w 21600"/>
                <a:gd name="T21" fmla="*/ G40 h 21600"/>
                <a:gd name="T22" fmla="*/ G37 w 21600"/>
                <a:gd name="T23" fmla="*/ G42 h 21600"/>
              </a:gdLst>
              <a:ahLst/>
              <a:cxnLst>
                <a:cxn ang="0">
                  <a:pos x="T12" y="T13"/>
                </a:cxn>
                <a:cxn ang="0">
                  <a:pos x="T14" y="T15"/>
                </a:cxn>
                <a:cxn ang="0">
                  <a:pos x="T16" y="T17"/>
                </a:cxn>
                <a:cxn ang="0">
                  <a:pos x="T18" y="T19"/>
                </a:cxn>
              </a:cxnLst>
              <a:rect l="T20" t="T21" r="T22" b="T23"/>
              <a:pathLst>
                <a:path w="21600" h="21600">
                  <a:moveTo>
                    <a:pt x="10744" y="10800"/>
                  </a:moveTo>
                  <a:cubicBezTo>
                    <a:pt x="10744" y="10769"/>
                    <a:pt x="10769" y="10744"/>
                    <a:pt x="10800" y="10744"/>
                  </a:cubicBezTo>
                  <a:cubicBezTo>
                    <a:pt x="10830" y="10743"/>
                    <a:pt x="10855" y="10769"/>
                    <a:pt x="10856" y="10799"/>
                  </a:cubicBezTo>
                  <a:lnTo>
                    <a:pt x="21600" y="10800"/>
                  </a:lnTo>
                  <a:cubicBezTo>
                    <a:pt x="21600" y="4835"/>
                    <a:pt x="16764" y="0"/>
                    <a:pt x="10800" y="0"/>
                  </a:cubicBezTo>
                  <a:cubicBezTo>
                    <a:pt x="4835" y="0"/>
                    <a:pt x="0" y="4835"/>
                    <a:pt x="0" y="10800"/>
                  </a:cubicBezTo>
                  <a:close/>
                </a:path>
              </a:pathLst>
            </a:custGeom>
            <a:solidFill>
              <a:srgbClr val="BBE0E3"/>
            </a:solidFill>
            <a:ln>
              <a:noFill/>
            </a:ln>
            <a:effectLst/>
            <a:extLst>
              <a:ext uri="{91240B29-F687-4F45-9708-019B960494DF}">
                <a14:hiddenLine xmlns:a14="http://schemas.microsoft.com/office/drawing/2010/main" w="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grpSp>
          <p:nvGrpSpPr>
            <p:cNvPr id="56" name="Group 47"/>
            <p:cNvGrpSpPr/>
            <p:nvPr/>
          </p:nvGrpSpPr>
          <p:grpSpPr bwMode="auto">
            <a:xfrm>
              <a:off x="912" y="1243"/>
              <a:ext cx="2984" cy="320"/>
              <a:chOff x="912" y="1243"/>
              <a:chExt cx="2984" cy="320"/>
            </a:xfrm>
          </p:grpSpPr>
          <p:sp>
            <p:nvSpPr>
              <p:cNvPr id="93" name="AutoShape 10"/>
              <p:cNvSpPr>
                <a:spLocks noChangeArrowheads="1"/>
              </p:cNvSpPr>
              <p:nvPr/>
            </p:nvSpPr>
            <p:spPr bwMode="gray">
              <a:xfrm>
                <a:off x="1112" y="1243"/>
                <a:ext cx="2784" cy="320"/>
              </a:xfrm>
              <a:prstGeom prst="roundRect">
                <a:avLst>
                  <a:gd name="adj" fmla="val 50000"/>
                </a:avLst>
              </a:prstGeom>
              <a:noFill/>
              <a:ln w="28575" algn="ctr">
                <a:solidFill>
                  <a:schemeClr val="bg2"/>
                </a:solidFill>
                <a:rou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hangingPunct="0"/>
                <a:r>
                  <a:rPr lang="zh-CN" altLang="en-US" sz="2400" b="1" dirty="0">
                    <a:latin typeface="华文新魏" panose="02010800040101010101" pitchFamily="2" charset="-122"/>
                    <a:ea typeface="华文新魏" panose="02010800040101010101" pitchFamily="2" charset="-122"/>
                  </a:rPr>
                  <a:t>计算机与程序设计</a:t>
                </a:r>
                <a:endParaRPr lang="en-US" altLang="zh-CN" sz="2400" b="1" dirty="0">
                  <a:latin typeface="华文新魏" panose="02010800040101010101" pitchFamily="2" charset="-122"/>
                  <a:ea typeface="华文新魏" panose="02010800040101010101" pitchFamily="2" charset="-122"/>
                </a:endParaRPr>
              </a:p>
            </p:txBody>
          </p:sp>
          <p:grpSp>
            <p:nvGrpSpPr>
              <p:cNvPr id="94" name="Group 11"/>
              <p:cNvGrpSpPr/>
              <p:nvPr/>
            </p:nvGrpSpPr>
            <p:grpSpPr bwMode="auto">
              <a:xfrm>
                <a:off x="912" y="1299"/>
                <a:ext cx="240" cy="240"/>
                <a:chOff x="2078" y="1680"/>
                <a:chExt cx="1615" cy="1615"/>
              </a:xfrm>
            </p:grpSpPr>
            <p:sp>
              <p:nvSpPr>
                <p:cNvPr id="95" name="Oval 12"/>
                <p:cNvSpPr>
                  <a:spLocks noChangeArrowheads="1"/>
                </p:cNvSpPr>
                <p:nvPr/>
              </p:nvSpPr>
              <p:spPr bwMode="gray">
                <a:xfrm>
                  <a:off x="2078" y="1680"/>
                  <a:ext cx="1615" cy="1615"/>
                </a:xfrm>
                <a:prstGeom prst="ellipse">
                  <a:avLst/>
                </a:prstGeom>
                <a:gradFill rotWithShape="1">
                  <a:gsLst>
                    <a:gs pos="0">
                      <a:srgbClr val="FFFFFF">
                        <a:gamma/>
                        <a:shade val="46275"/>
                        <a:invGamma/>
                      </a:srgbClr>
                    </a:gs>
                    <a:gs pos="50000">
                      <a:srgbClr val="FFFFFF"/>
                    </a:gs>
                    <a:gs pos="100000">
                      <a:srgbClr val="FFFFFF">
                        <a:gamma/>
                        <a:shade val="46275"/>
                        <a:invGamma/>
                      </a:srgbClr>
                    </a:gs>
                  </a:gsLst>
                  <a:lin ang="5400000" scaled="1"/>
                </a:gradFill>
                <a:ln>
                  <a:noFill/>
                </a:ln>
                <a:effectLst/>
                <a:extLst>
                  <a:ext uri="{91240B29-F687-4F45-9708-019B960494DF}">
                    <a14:hiddenLine xmlns:a14="http://schemas.microsoft.com/office/drawing/2010/main" w="57150">
                      <a:solidFill>
                        <a:schemeClr val="bg1"/>
                      </a:solidFill>
                      <a:round/>
                    </a14:hiddenLine>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endParaRPr lang="zh-CN" altLang="en-US"/>
                </a:p>
              </p:txBody>
            </p:sp>
            <p:sp>
              <p:nvSpPr>
                <p:cNvPr id="96" name="Oval 13"/>
                <p:cNvSpPr>
                  <a:spLocks noChangeArrowheads="1"/>
                </p:cNvSpPr>
                <p:nvPr/>
              </p:nvSpPr>
              <p:spPr bwMode="gray">
                <a:xfrm>
                  <a:off x="2170" y="1771"/>
                  <a:ext cx="1430" cy="1430"/>
                </a:xfrm>
                <a:prstGeom prst="ellipse">
                  <a:avLst/>
                </a:prstGeom>
                <a:gradFill rotWithShape="1">
                  <a:gsLst>
                    <a:gs pos="0">
                      <a:srgbClr val="FFFFFF">
                        <a:gamma/>
                        <a:shade val="63529"/>
                        <a:invGamma/>
                      </a:srgbClr>
                    </a:gs>
                    <a:gs pos="50000">
                      <a:srgbClr val="FFFFFF"/>
                    </a:gs>
                    <a:gs pos="100000">
                      <a:srgbClr val="FFFFFF">
                        <a:gamma/>
                        <a:shade val="63529"/>
                        <a:invGamma/>
                      </a:srgbClr>
                    </a:gs>
                  </a:gsLst>
                  <a:lin ang="0" scaled="1"/>
                </a:gra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endParaRPr lang="zh-CN" altLang="en-US"/>
                </a:p>
              </p:txBody>
            </p:sp>
            <p:sp>
              <p:nvSpPr>
                <p:cNvPr id="97" name="Oval 14"/>
                <p:cNvSpPr>
                  <a:spLocks noChangeArrowheads="1"/>
                </p:cNvSpPr>
                <p:nvPr/>
              </p:nvSpPr>
              <p:spPr bwMode="gray">
                <a:xfrm>
                  <a:off x="2254" y="1856"/>
                  <a:ext cx="1262" cy="1264"/>
                </a:xfrm>
                <a:prstGeom prst="ellipse">
                  <a:avLst/>
                </a:prstGeom>
                <a:gradFill rotWithShape="1">
                  <a:gsLst>
                    <a:gs pos="0">
                      <a:schemeClr val="hlink">
                        <a:gamma/>
                        <a:tint val="0"/>
                        <a:invGamma/>
                      </a:schemeClr>
                    </a:gs>
                    <a:gs pos="50000">
                      <a:schemeClr val="hlink"/>
                    </a:gs>
                    <a:gs pos="100000">
                      <a:schemeClr val="hlink">
                        <a:gamma/>
                        <a:tint val="0"/>
                        <a:invGamma/>
                      </a:schemeClr>
                    </a:gs>
                  </a:gsLst>
                  <a:lin ang="2700000" scaled="1"/>
                </a:gradFill>
                <a:ln>
                  <a:noFill/>
                </a:ln>
                <a:effectLst/>
                <a:extLst>
                  <a:ext uri="{91240B29-F687-4F45-9708-019B960494DF}">
                    <a14:hiddenLine xmlns:a14="http://schemas.microsoft.com/office/drawing/2010/main" w="38100">
                      <a:solidFill>
                        <a:schemeClr val="bg1"/>
                      </a:solidFill>
                      <a:round/>
                    </a14:hiddenLine>
                  </a:ext>
                  <a:ext uri="{AF507438-7753-43E0-B8FC-AC1667EBCBE1}">
                    <a14:hiddenEffects xmlns:a14="http://schemas.microsoft.com/office/drawing/2010/main">
                      <a:effectLst>
                        <a:outerShdw dist="109250" dir="3267739" algn="ctr" rotWithShape="0">
                          <a:srgbClr val="808080">
                            <a:alpha val="50000"/>
                          </a:srgbClr>
                        </a:outerShdw>
                      </a:effectLst>
                    </a14:hiddenEffects>
                  </a:ext>
                </a:extLst>
              </p:spPr>
              <p:txBody>
                <a:bodyPr wrap="none" anchor="ctr">
                  <a:spAutoFit/>
                </a:bodyPr>
                <a:lstStyle/>
                <a:p>
                  <a:endParaRPr lang="zh-CN" altLang="en-US"/>
                </a:p>
              </p:txBody>
            </p:sp>
            <p:sp>
              <p:nvSpPr>
                <p:cNvPr id="98" name="Oval 15"/>
                <p:cNvSpPr>
                  <a:spLocks noChangeArrowheads="1"/>
                </p:cNvSpPr>
                <p:nvPr/>
              </p:nvSpPr>
              <p:spPr bwMode="gray">
                <a:xfrm>
                  <a:off x="2254" y="1856"/>
                  <a:ext cx="1262" cy="1264"/>
                </a:xfrm>
                <a:prstGeom prst="ellipse">
                  <a:avLst/>
                </a:prstGeom>
                <a:gradFill rotWithShape="1">
                  <a:gsLst>
                    <a:gs pos="0">
                      <a:srgbClr val="FFCC00">
                        <a:gamma/>
                        <a:shade val="0"/>
                        <a:invGamma/>
                      </a:srgbClr>
                    </a:gs>
                    <a:gs pos="100000">
                      <a:srgbClr val="FFCC00"/>
                    </a:gs>
                  </a:gsLst>
                  <a:lin ang="2700000" scaled="1"/>
                </a:gradFill>
                <a:ln>
                  <a:noFill/>
                </a:ln>
                <a:effectLst/>
                <a:extLst>
                  <a:ext uri="{91240B29-F687-4F45-9708-019B960494DF}">
                    <a14:hiddenLine xmlns:a14="http://schemas.microsoft.com/office/drawing/2010/main" w="38100">
                      <a:solidFill>
                        <a:schemeClr val="bg1"/>
                      </a:solidFill>
                      <a:round/>
                    </a14:hiddenLine>
                  </a:ext>
                  <a:ext uri="{AF507438-7753-43E0-B8FC-AC1667EBCBE1}">
                    <a14:hiddenEffects xmlns:a14="http://schemas.microsoft.com/office/drawing/2010/main">
                      <a:effectLst>
                        <a:outerShdw dist="109250" dir="3267739" algn="ctr" rotWithShape="0">
                          <a:srgbClr val="808080">
                            <a:alpha val="50000"/>
                          </a:srgbClr>
                        </a:outerShdw>
                      </a:effectLst>
                    </a14:hiddenEffects>
                  </a:ext>
                </a:extLst>
              </p:spPr>
              <p:txBody>
                <a:bodyPr wrap="none" anchor="ctr">
                  <a:spAutoFit/>
                </a:bodyPr>
                <a:lstStyle/>
                <a:p>
                  <a:endParaRPr lang="zh-CN" altLang="en-US"/>
                </a:p>
              </p:txBody>
            </p:sp>
            <p:sp>
              <p:nvSpPr>
                <p:cNvPr id="99" name="Oval 16"/>
                <p:cNvSpPr>
                  <a:spLocks noChangeArrowheads="1"/>
                </p:cNvSpPr>
                <p:nvPr/>
              </p:nvSpPr>
              <p:spPr bwMode="gray">
                <a:xfrm>
                  <a:off x="2337" y="1939"/>
                  <a:ext cx="1096" cy="1098"/>
                </a:xfrm>
                <a:prstGeom prst="ellipse">
                  <a:avLst/>
                </a:prstGeom>
                <a:gradFill rotWithShape="1">
                  <a:gsLst>
                    <a:gs pos="0">
                      <a:schemeClr val="hlink">
                        <a:gamma/>
                        <a:shade val="54118"/>
                        <a:invGamma/>
                      </a:schemeClr>
                    </a:gs>
                    <a:gs pos="50000">
                      <a:schemeClr val="hlink"/>
                    </a:gs>
                    <a:gs pos="100000">
                      <a:schemeClr val="hlink">
                        <a:gamma/>
                        <a:shade val="54118"/>
                        <a:invGamma/>
                      </a:schemeClr>
                    </a:gs>
                  </a:gsLst>
                  <a:lin ang="18900000" scaled="1"/>
                </a:gradFill>
                <a:ln>
                  <a:noFill/>
                </a:ln>
                <a:effectLst/>
                <a:extLst>
                  <a:ext uri="{91240B29-F687-4F45-9708-019B960494DF}">
                    <a14:hiddenLine xmlns:a14="http://schemas.microsoft.com/office/drawing/2010/main" w="38100">
                      <a:solidFill>
                        <a:schemeClr val="bg1"/>
                      </a:solidFill>
                      <a:round/>
                    </a14:hiddenLine>
                  </a:ext>
                  <a:ext uri="{AF507438-7753-43E0-B8FC-AC1667EBCBE1}">
                    <a14:hiddenEffects xmlns:a14="http://schemas.microsoft.com/office/drawing/2010/main">
                      <a:effectLst>
                        <a:outerShdw dist="109250" dir="3267739" algn="ctr" rotWithShape="0">
                          <a:srgbClr val="808080">
                            <a:alpha val="50000"/>
                          </a:srgbClr>
                        </a:outerShdw>
                      </a:effectLst>
                    </a14:hiddenEffects>
                  </a:ext>
                </a:extLst>
              </p:spPr>
              <p:txBody>
                <a:bodyPr anchor="ctr">
                  <a:spAutoFit/>
                </a:bodyPr>
                <a:lstStyle/>
                <a:p>
                  <a:endParaRPr lang="zh-CN" altLang="en-US"/>
                </a:p>
              </p:txBody>
            </p:sp>
            <p:sp>
              <p:nvSpPr>
                <p:cNvPr id="100" name="Oval 17"/>
                <p:cNvSpPr>
                  <a:spLocks noChangeArrowheads="1"/>
                </p:cNvSpPr>
                <p:nvPr/>
              </p:nvSpPr>
              <p:spPr bwMode="gray">
                <a:xfrm>
                  <a:off x="2337" y="1939"/>
                  <a:ext cx="1096" cy="1098"/>
                </a:xfrm>
                <a:prstGeom prst="ellipse">
                  <a:avLst/>
                </a:prstGeom>
                <a:gradFill rotWithShape="1">
                  <a:gsLst>
                    <a:gs pos="0">
                      <a:srgbClr val="FFCC00"/>
                    </a:gs>
                    <a:gs pos="100000">
                      <a:srgbClr val="FFCC00">
                        <a:gamma/>
                        <a:shade val="48627"/>
                        <a:invGamma/>
                      </a:srgbClr>
                    </a:gs>
                  </a:gsLst>
                  <a:lin ang="2700000" scaled="1"/>
                </a:gradFill>
                <a:ln>
                  <a:noFill/>
                </a:ln>
                <a:effectLst/>
                <a:extLst>
                  <a:ext uri="{91240B29-F687-4F45-9708-019B960494DF}">
                    <a14:hiddenLine xmlns:a14="http://schemas.microsoft.com/office/drawing/2010/main" w="38100">
                      <a:solidFill>
                        <a:schemeClr val="bg1"/>
                      </a:solidFill>
                      <a:round/>
                    </a14:hiddenLine>
                  </a:ext>
                  <a:ext uri="{AF507438-7753-43E0-B8FC-AC1667EBCBE1}">
                    <a14:hiddenEffects xmlns:a14="http://schemas.microsoft.com/office/drawing/2010/main">
                      <a:effectLst>
                        <a:outerShdw dist="109250" dir="3267739" algn="ctr" rotWithShape="0">
                          <a:srgbClr val="808080">
                            <a:alpha val="50000"/>
                          </a:srgbClr>
                        </a:outerShdw>
                      </a:effectLst>
                    </a14:hiddenEffects>
                  </a:ext>
                </a:extLst>
              </p:spPr>
              <p:txBody>
                <a:bodyPr anchor="ctr">
                  <a:spAutoFit/>
                </a:bodyPr>
                <a:lstStyle/>
                <a:p>
                  <a:endParaRPr lang="zh-CN" altLang="en-US"/>
                </a:p>
              </p:txBody>
            </p:sp>
          </p:grpSp>
        </p:grpSp>
        <p:grpSp>
          <p:nvGrpSpPr>
            <p:cNvPr id="57" name="Group 48"/>
            <p:cNvGrpSpPr/>
            <p:nvPr/>
          </p:nvGrpSpPr>
          <p:grpSpPr bwMode="auto">
            <a:xfrm>
              <a:off x="1248" y="1728"/>
              <a:ext cx="2976" cy="320"/>
              <a:chOff x="1248" y="1728"/>
              <a:chExt cx="2976" cy="320"/>
            </a:xfrm>
          </p:grpSpPr>
          <p:sp>
            <p:nvSpPr>
              <p:cNvPr id="85" name="AutoShape 9"/>
              <p:cNvSpPr>
                <a:spLocks noChangeArrowheads="1"/>
              </p:cNvSpPr>
              <p:nvPr/>
            </p:nvSpPr>
            <p:spPr bwMode="gray">
              <a:xfrm>
                <a:off x="1440" y="1728"/>
                <a:ext cx="2784" cy="320"/>
              </a:xfrm>
              <a:prstGeom prst="roundRect">
                <a:avLst>
                  <a:gd name="adj" fmla="val 50000"/>
                </a:avLst>
              </a:prstGeom>
              <a:noFill/>
              <a:ln w="28575" algn="ctr">
                <a:solidFill>
                  <a:schemeClr val="bg2"/>
                </a:solidFill>
                <a:round/>
              </a:ln>
              <a:effectLst/>
              <a:extLst>
                <a:ext uri="{909E8E84-426E-40DD-AFC4-6F175D3DCCD1}">
                  <a14:hiddenFill xmlns:a14="http://schemas.microsoft.com/office/drawing/2010/main">
                    <a:gradFill rotWithShape="1">
                      <a:gsLst>
                        <a:gs pos="0">
                          <a:schemeClr val="folHlink">
                            <a:gamma/>
                            <a:tint val="0"/>
                            <a:invGamma/>
                          </a:schemeClr>
                        </a:gs>
                        <a:gs pos="100000">
                          <a:schemeClr val="folHlink"/>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hangingPunct="0"/>
                <a:r>
                  <a:rPr lang="zh-CN" altLang="en-US" sz="2400" b="1" dirty="0">
                    <a:latin typeface="华文新魏" panose="02010800040101010101" pitchFamily="2" charset="-122"/>
                    <a:ea typeface="华文新魏" panose="02010800040101010101" pitchFamily="2" charset="-122"/>
                  </a:rPr>
                  <a:t>程序设计语言和方法学的发展</a:t>
                </a:r>
                <a:endParaRPr lang="en-US" altLang="zh-CN" sz="2400" b="1" dirty="0">
                  <a:latin typeface="华文新魏" panose="02010800040101010101" pitchFamily="2" charset="-122"/>
                  <a:ea typeface="华文新魏" panose="02010800040101010101" pitchFamily="2" charset="-122"/>
                </a:endParaRPr>
              </a:p>
            </p:txBody>
          </p:sp>
          <p:grpSp>
            <p:nvGrpSpPr>
              <p:cNvPr id="86" name="Group 18"/>
              <p:cNvGrpSpPr/>
              <p:nvPr/>
            </p:nvGrpSpPr>
            <p:grpSpPr bwMode="auto">
              <a:xfrm>
                <a:off x="1248" y="1795"/>
                <a:ext cx="240" cy="240"/>
                <a:chOff x="2078" y="1680"/>
                <a:chExt cx="1615" cy="1615"/>
              </a:xfrm>
            </p:grpSpPr>
            <p:sp>
              <p:nvSpPr>
                <p:cNvPr id="87" name="Oval 19"/>
                <p:cNvSpPr>
                  <a:spLocks noChangeArrowheads="1"/>
                </p:cNvSpPr>
                <p:nvPr/>
              </p:nvSpPr>
              <p:spPr bwMode="gray">
                <a:xfrm>
                  <a:off x="2078" y="1680"/>
                  <a:ext cx="1615" cy="1615"/>
                </a:xfrm>
                <a:prstGeom prst="ellipse">
                  <a:avLst/>
                </a:prstGeom>
                <a:gradFill rotWithShape="1">
                  <a:gsLst>
                    <a:gs pos="0">
                      <a:srgbClr val="FFFFFF">
                        <a:gamma/>
                        <a:shade val="46275"/>
                        <a:invGamma/>
                      </a:srgbClr>
                    </a:gs>
                    <a:gs pos="50000">
                      <a:srgbClr val="FFFFFF"/>
                    </a:gs>
                    <a:gs pos="100000">
                      <a:srgbClr val="FFFFFF">
                        <a:gamma/>
                        <a:shade val="46275"/>
                        <a:invGamma/>
                      </a:srgbClr>
                    </a:gs>
                  </a:gsLst>
                  <a:lin ang="5400000" scaled="1"/>
                </a:gradFill>
                <a:ln>
                  <a:noFill/>
                </a:ln>
                <a:effectLst/>
                <a:extLst>
                  <a:ext uri="{91240B29-F687-4F45-9708-019B960494DF}">
                    <a14:hiddenLine xmlns:a14="http://schemas.microsoft.com/office/drawing/2010/main" w="57150">
                      <a:solidFill>
                        <a:schemeClr val="bg1"/>
                      </a:solidFill>
                      <a:round/>
                    </a14:hiddenLine>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endParaRPr lang="zh-CN" altLang="en-US"/>
                </a:p>
              </p:txBody>
            </p:sp>
            <p:sp>
              <p:nvSpPr>
                <p:cNvPr id="88" name="Oval 20"/>
                <p:cNvSpPr>
                  <a:spLocks noChangeArrowheads="1"/>
                </p:cNvSpPr>
                <p:nvPr/>
              </p:nvSpPr>
              <p:spPr bwMode="gray">
                <a:xfrm>
                  <a:off x="2170" y="1771"/>
                  <a:ext cx="1430" cy="1430"/>
                </a:xfrm>
                <a:prstGeom prst="ellipse">
                  <a:avLst/>
                </a:prstGeom>
                <a:gradFill rotWithShape="1">
                  <a:gsLst>
                    <a:gs pos="0">
                      <a:srgbClr val="FFFFFF">
                        <a:gamma/>
                        <a:shade val="63529"/>
                        <a:invGamma/>
                      </a:srgbClr>
                    </a:gs>
                    <a:gs pos="50000">
                      <a:srgbClr val="FFFFFF"/>
                    </a:gs>
                    <a:gs pos="100000">
                      <a:srgbClr val="FFFFFF">
                        <a:gamma/>
                        <a:shade val="63529"/>
                        <a:invGamma/>
                      </a:srgbClr>
                    </a:gs>
                  </a:gsLst>
                  <a:lin ang="0" scaled="1"/>
                </a:gra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endParaRPr lang="zh-CN" altLang="en-US"/>
                </a:p>
              </p:txBody>
            </p:sp>
            <p:sp>
              <p:nvSpPr>
                <p:cNvPr id="89" name="Oval 21"/>
                <p:cNvSpPr>
                  <a:spLocks noChangeArrowheads="1"/>
                </p:cNvSpPr>
                <p:nvPr/>
              </p:nvSpPr>
              <p:spPr bwMode="gray">
                <a:xfrm>
                  <a:off x="2254" y="1856"/>
                  <a:ext cx="1262" cy="1264"/>
                </a:xfrm>
                <a:prstGeom prst="ellipse">
                  <a:avLst/>
                </a:prstGeom>
                <a:gradFill rotWithShape="1">
                  <a:gsLst>
                    <a:gs pos="0">
                      <a:schemeClr val="hlink">
                        <a:gamma/>
                        <a:tint val="0"/>
                        <a:invGamma/>
                      </a:schemeClr>
                    </a:gs>
                    <a:gs pos="50000">
                      <a:schemeClr val="hlink"/>
                    </a:gs>
                    <a:gs pos="100000">
                      <a:schemeClr val="hlink">
                        <a:gamma/>
                        <a:tint val="0"/>
                        <a:invGamma/>
                      </a:schemeClr>
                    </a:gs>
                  </a:gsLst>
                  <a:lin ang="2700000" scaled="1"/>
                </a:gradFill>
                <a:ln>
                  <a:noFill/>
                </a:ln>
                <a:effectLst/>
                <a:extLst>
                  <a:ext uri="{91240B29-F687-4F45-9708-019B960494DF}">
                    <a14:hiddenLine xmlns:a14="http://schemas.microsoft.com/office/drawing/2010/main" w="38100">
                      <a:solidFill>
                        <a:schemeClr val="bg1"/>
                      </a:solidFill>
                      <a:round/>
                    </a14:hiddenLine>
                  </a:ext>
                  <a:ext uri="{AF507438-7753-43E0-B8FC-AC1667EBCBE1}">
                    <a14:hiddenEffects xmlns:a14="http://schemas.microsoft.com/office/drawing/2010/main">
                      <a:effectLst>
                        <a:outerShdw dist="109250" dir="3267739" algn="ctr" rotWithShape="0">
                          <a:srgbClr val="808080">
                            <a:alpha val="50000"/>
                          </a:srgbClr>
                        </a:outerShdw>
                      </a:effectLst>
                    </a14:hiddenEffects>
                  </a:ext>
                </a:extLst>
              </p:spPr>
              <p:txBody>
                <a:bodyPr wrap="none" anchor="ctr">
                  <a:spAutoFit/>
                </a:bodyPr>
                <a:lstStyle/>
                <a:p>
                  <a:endParaRPr lang="zh-CN" altLang="en-US"/>
                </a:p>
              </p:txBody>
            </p:sp>
            <p:sp>
              <p:nvSpPr>
                <p:cNvPr id="90" name="Oval 22"/>
                <p:cNvSpPr>
                  <a:spLocks noChangeArrowheads="1"/>
                </p:cNvSpPr>
                <p:nvPr/>
              </p:nvSpPr>
              <p:spPr bwMode="gray">
                <a:xfrm>
                  <a:off x="2254" y="1856"/>
                  <a:ext cx="1262" cy="1264"/>
                </a:xfrm>
                <a:prstGeom prst="ellipse">
                  <a:avLst/>
                </a:prstGeom>
                <a:gradFill rotWithShape="1">
                  <a:gsLst>
                    <a:gs pos="0">
                      <a:srgbClr val="48BE67">
                        <a:gamma/>
                        <a:shade val="0"/>
                        <a:invGamma/>
                      </a:srgbClr>
                    </a:gs>
                    <a:gs pos="100000">
                      <a:srgbClr val="48BE67"/>
                    </a:gs>
                  </a:gsLst>
                  <a:lin ang="2700000" scaled="1"/>
                </a:gradFill>
                <a:ln>
                  <a:noFill/>
                </a:ln>
                <a:effectLst/>
                <a:extLst>
                  <a:ext uri="{91240B29-F687-4F45-9708-019B960494DF}">
                    <a14:hiddenLine xmlns:a14="http://schemas.microsoft.com/office/drawing/2010/main" w="38100">
                      <a:solidFill>
                        <a:schemeClr val="bg1"/>
                      </a:solidFill>
                      <a:round/>
                    </a14:hiddenLine>
                  </a:ext>
                  <a:ext uri="{AF507438-7753-43E0-B8FC-AC1667EBCBE1}">
                    <a14:hiddenEffects xmlns:a14="http://schemas.microsoft.com/office/drawing/2010/main">
                      <a:effectLst>
                        <a:outerShdw dist="109250" dir="3267739" algn="ctr" rotWithShape="0">
                          <a:srgbClr val="808080">
                            <a:alpha val="50000"/>
                          </a:srgbClr>
                        </a:outerShdw>
                      </a:effectLst>
                    </a14:hiddenEffects>
                  </a:ext>
                </a:extLst>
              </p:spPr>
              <p:txBody>
                <a:bodyPr wrap="none" anchor="ctr">
                  <a:spAutoFit/>
                </a:bodyPr>
                <a:lstStyle/>
                <a:p>
                  <a:endParaRPr lang="zh-CN" altLang="en-US"/>
                </a:p>
              </p:txBody>
            </p:sp>
            <p:sp>
              <p:nvSpPr>
                <p:cNvPr id="91" name="Oval 23"/>
                <p:cNvSpPr>
                  <a:spLocks noChangeArrowheads="1"/>
                </p:cNvSpPr>
                <p:nvPr/>
              </p:nvSpPr>
              <p:spPr bwMode="gray">
                <a:xfrm>
                  <a:off x="2337" y="1939"/>
                  <a:ext cx="1096" cy="1098"/>
                </a:xfrm>
                <a:prstGeom prst="ellipse">
                  <a:avLst/>
                </a:prstGeom>
                <a:gradFill rotWithShape="1">
                  <a:gsLst>
                    <a:gs pos="0">
                      <a:schemeClr val="hlink">
                        <a:gamma/>
                        <a:shade val="54118"/>
                        <a:invGamma/>
                      </a:schemeClr>
                    </a:gs>
                    <a:gs pos="50000">
                      <a:schemeClr val="hlink"/>
                    </a:gs>
                    <a:gs pos="100000">
                      <a:schemeClr val="hlink">
                        <a:gamma/>
                        <a:shade val="54118"/>
                        <a:invGamma/>
                      </a:schemeClr>
                    </a:gs>
                  </a:gsLst>
                  <a:lin ang="18900000" scaled="1"/>
                </a:gradFill>
                <a:ln>
                  <a:noFill/>
                </a:ln>
                <a:effectLst/>
                <a:extLst>
                  <a:ext uri="{91240B29-F687-4F45-9708-019B960494DF}">
                    <a14:hiddenLine xmlns:a14="http://schemas.microsoft.com/office/drawing/2010/main" w="38100">
                      <a:solidFill>
                        <a:schemeClr val="bg1"/>
                      </a:solidFill>
                      <a:round/>
                    </a14:hiddenLine>
                  </a:ext>
                  <a:ext uri="{AF507438-7753-43E0-B8FC-AC1667EBCBE1}">
                    <a14:hiddenEffects xmlns:a14="http://schemas.microsoft.com/office/drawing/2010/main">
                      <a:effectLst>
                        <a:outerShdw dist="109250" dir="3267739" algn="ctr" rotWithShape="0">
                          <a:srgbClr val="808080">
                            <a:alpha val="50000"/>
                          </a:srgbClr>
                        </a:outerShdw>
                      </a:effectLst>
                    </a14:hiddenEffects>
                  </a:ext>
                </a:extLst>
              </p:spPr>
              <p:txBody>
                <a:bodyPr anchor="ctr">
                  <a:spAutoFit/>
                </a:bodyPr>
                <a:lstStyle/>
                <a:p>
                  <a:endParaRPr lang="zh-CN" altLang="en-US"/>
                </a:p>
              </p:txBody>
            </p:sp>
            <p:sp>
              <p:nvSpPr>
                <p:cNvPr id="92" name="Oval 24"/>
                <p:cNvSpPr>
                  <a:spLocks noChangeArrowheads="1"/>
                </p:cNvSpPr>
                <p:nvPr/>
              </p:nvSpPr>
              <p:spPr bwMode="gray">
                <a:xfrm>
                  <a:off x="2337" y="1939"/>
                  <a:ext cx="1096" cy="1098"/>
                </a:xfrm>
                <a:prstGeom prst="ellipse">
                  <a:avLst/>
                </a:prstGeom>
                <a:gradFill rotWithShape="1">
                  <a:gsLst>
                    <a:gs pos="0">
                      <a:srgbClr val="48BE67"/>
                    </a:gs>
                    <a:gs pos="100000">
                      <a:srgbClr val="48BE67">
                        <a:gamma/>
                        <a:shade val="48627"/>
                        <a:invGamma/>
                      </a:srgbClr>
                    </a:gs>
                  </a:gsLst>
                  <a:lin ang="2700000" scaled="1"/>
                </a:gradFill>
                <a:ln>
                  <a:noFill/>
                </a:ln>
                <a:effectLst/>
                <a:extLst>
                  <a:ext uri="{91240B29-F687-4F45-9708-019B960494DF}">
                    <a14:hiddenLine xmlns:a14="http://schemas.microsoft.com/office/drawing/2010/main" w="38100">
                      <a:solidFill>
                        <a:schemeClr val="bg1"/>
                      </a:solidFill>
                      <a:round/>
                    </a14:hiddenLine>
                  </a:ext>
                  <a:ext uri="{AF507438-7753-43E0-B8FC-AC1667EBCBE1}">
                    <a14:hiddenEffects xmlns:a14="http://schemas.microsoft.com/office/drawing/2010/main">
                      <a:effectLst>
                        <a:outerShdw dist="109250" dir="3267739" algn="ctr" rotWithShape="0">
                          <a:srgbClr val="808080">
                            <a:alpha val="50000"/>
                          </a:srgbClr>
                        </a:outerShdw>
                      </a:effectLst>
                    </a14:hiddenEffects>
                  </a:ext>
                </a:extLst>
              </p:spPr>
              <p:txBody>
                <a:bodyPr anchor="ctr">
                  <a:spAutoFit/>
                </a:bodyPr>
                <a:lstStyle/>
                <a:p>
                  <a:endParaRPr lang="zh-CN" altLang="en-US"/>
                </a:p>
              </p:txBody>
            </p:sp>
          </p:grpSp>
        </p:grpSp>
        <p:grpSp>
          <p:nvGrpSpPr>
            <p:cNvPr id="58" name="Group 49"/>
            <p:cNvGrpSpPr/>
            <p:nvPr/>
          </p:nvGrpSpPr>
          <p:grpSpPr bwMode="auto">
            <a:xfrm>
              <a:off x="1344" y="2275"/>
              <a:ext cx="2976" cy="320"/>
              <a:chOff x="1344" y="2275"/>
              <a:chExt cx="2976" cy="320"/>
            </a:xfrm>
          </p:grpSpPr>
          <p:sp>
            <p:nvSpPr>
              <p:cNvPr id="77" name="AutoShape 8"/>
              <p:cNvSpPr>
                <a:spLocks noChangeArrowheads="1"/>
              </p:cNvSpPr>
              <p:nvPr/>
            </p:nvSpPr>
            <p:spPr bwMode="gray">
              <a:xfrm>
                <a:off x="1536" y="2275"/>
                <a:ext cx="2784" cy="320"/>
              </a:xfrm>
              <a:prstGeom prst="roundRect">
                <a:avLst>
                  <a:gd name="adj" fmla="val 50000"/>
                </a:avLst>
              </a:prstGeom>
              <a:noFill/>
              <a:ln w="28575" algn="ctr">
                <a:solidFill>
                  <a:schemeClr val="bg2"/>
                </a:solidFill>
                <a:rou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hangingPunct="0"/>
                <a:r>
                  <a:rPr lang="en-US" altLang="zh-CN" sz="2400" b="1" dirty="0">
                    <a:latin typeface="华文新魏" panose="02010800040101010101" pitchFamily="2" charset="-122"/>
                    <a:ea typeface="华文新魏" panose="02010800040101010101" pitchFamily="2" charset="-122"/>
                  </a:rPr>
                  <a:t>C++</a:t>
                </a:r>
                <a:r>
                  <a:rPr lang="zh-CN" altLang="en-US" sz="2400" b="1" dirty="0">
                    <a:latin typeface="华文新魏" panose="02010800040101010101" pitchFamily="2" charset="-122"/>
                    <a:ea typeface="华文新魏" panose="02010800040101010101" pitchFamily="2" charset="-122"/>
                  </a:rPr>
                  <a:t>语言概述</a:t>
                </a:r>
                <a:endParaRPr lang="en-US" altLang="zh-CN" sz="2400" b="1" dirty="0">
                  <a:latin typeface="华文新魏" panose="02010800040101010101" pitchFamily="2" charset="-122"/>
                  <a:ea typeface="华文新魏" panose="02010800040101010101" pitchFamily="2" charset="-122"/>
                </a:endParaRPr>
              </a:p>
            </p:txBody>
          </p:sp>
          <p:grpSp>
            <p:nvGrpSpPr>
              <p:cNvPr id="78" name="Group 25"/>
              <p:cNvGrpSpPr/>
              <p:nvPr/>
            </p:nvGrpSpPr>
            <p:grpSpPr bwMode="auto">
              <a:xfrm>
                <a:off x="1344" y="2323"/>
                <a:ext cx="240" cy="240"/>
                <a:chOff x="2078" y="1680"/>
                <a:chExt cx="1615" cy="1615"/>
              </a:xfrm>
            </p:grpSpPr>
            <p:sp>
              <p:nvSpPr>
                <p:cNvPr id="79" name="Oval 26"/>
                <p:cNvSpPr>
                  <a:spLocks noChangeArrowheads="1"/>
                </p:cNvSpPr>
                <p:nvPr/>
              </p:nvSpPr>
              <p:spPr bwMode="gray">
                <a:xfrm>
                  <a:off x="2078" y="1680"/>
                  <a:ext cx="1615" cy="1615"/>
                </a:xfrm>
                <a:prstGeom prst="ellipse">
                  <a:avLst/>
                </a:prstGeom>
                <a:gradFill rotWithShape="1">
                  <a:gsLst>
                    <a:gs pos="0">
                      <a:srgbClr val="FFFFFF">
                        <a:gamma/>
                        <a:shade val="46275"/>
                        <a:invGamma/>
                      </a:srgbClr>
                    </a:gs>
                    <a:gs pos="50000">
                      <a:srgbClr val="FFFFFF"/>
                    </a:gs>
                    <a:gs pos="100000">
                      <a:srgbClr val="FFFFFF">
                        <a:gamma/>
                        <a:shade val="46275"/>
                        <a:invGamma/>
                      </a:srgbClr>
                    </a:gs>
                  </a:gsLst>
                  <a:lin ang="5400000" scaled="1"/>
                </a:gradFill>
                <a:ln>
                  <a:noFill/>
                </a:ln>
                <a:effectLst/>
                <a:extLst>
                  <a:ext uri="{91240B29-F687-4F45-9708-019B960494DF}">
                    <a14:hiddenLine xmlns:a14="http://schemas.microsoft.com/office/drawing/2010/main" w="57150">
                      <a:solidFill>
                        <a:schemeClr val="bg1"/>
                      </a:solidFill>
                      <a:round/>
                    </a14:hiddenLine>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endParaRPr lang="zh-CN" altLang="en-US"/>
                </a:p>
              </p:txBody>
            </p:sp>
            <p:sp>
              <p:nvSpPr>
                <p:cNvPr id="80" name="Oval 27"/>
                <p:cNvSpPr>
                  <a:spLocks noChangeArrowheads="1"/>
                </p:cNvSpPr>
                <p:nvPr/>
              </p:nvSpPr>
              <p:spPr bwMode="gray">
                <a:xfrm>
                  <a:off x="2170" y="1771"/>
                  <a:ext cx="1430" cy="1430"/>
                </a:xfrm>
                <a:prstGeom prst="ellipse">
                  <a:avLst/>
                </a:prstGeom>
                <a:gradFill rotWithShape="1">
                  <a:gsLst>
                    <a:gs pos="0">
                      <a:srgbClr val="FFFFFF">
                        <a:gamma/>
                        <a:shade val="63529"/>
                        <a:invGamma/>
                      </a:srgbClr>
                    </a:gs>
                    <a:gs pos="50000">
                      <a:srgbClr val="FFFFFF"/>
                    </a:gs>
                    <a:gs pos="100000">
                      <a:srgbClr val="FFFFFF">
                        <a:gamma/>
                        <a:shade val="63529"/>
                        <a:invGamma/>
                      </a:srgbClr>
                    </a:gs>
                  </a:gsLst>
                  <a:lin ang="0" scaled="1"/>
                </a:gra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endParaRPr lang="zh-CN" altLang="en-US"/>
                </a:p>
              </p:txBody>
            </p:sp>
            <p:sp>
              <p:nvSpPr>
                <p:cNvPr id="81" name="Oval 28"/>
                <p:cNvSpPr>
                  <a:spLocks noChangeArrowheads="1"/>
                </p:cNvSpPr>
                <p:nvPr/>
              </p:nvSpPr>
              <p:spPr bwMode="gray">
                <a:xfrm>
                  <a:off x="2254" y="1856"/>
                  <a:ext cx="1262" cy="1264"/>
                </a:xfrm>
                <a:prstGeom prst="ellipse">
                  <a:avLst/>
                </a:prstGeom>
                <a:gradFill rotWithShape="1">
                  <a:gsLst>
                    <a:gs pos="0">
                      <a:schemeClr val="hlink">
                        <a:gamma/>
                        <a:tint val="0"/>
                        <a:invGamma/>
                      </a:schemeClr>
                    </a:gs>
                    <a:gs pos="50000">
                      <a:schemeClr val="hlink"/>
                    </a:gs>
                    <a:gs pos="100000">
                      <a:schemeClr val="hlink">
                        <a:gamma/>
                        <a:tint val="0"/>
                        <a:invGamma/>
                      </a:schemeClr>
                    </a:gs>
                  </a:gsLst>
                  <a:lin ang="2700000" scaled="1"/>
                </a:gradFill>
                <a:ln>
                  <a:noFill/>
                </a:ln>
                <a:effectLst/>
                <a:extLst>
                  <a:ext uri="{91240B29-F687-4F45-9708-019B960494DF}">
                    <a14:hiddenLine xmlns:a14="http://schemas.microsoft.com/office/drawing/2010/main" w="38100">
                      <a:solidFill>
                        <a:schemeClr val="bg1"/>
                      </a:solidFill>
                      <a:round/>
                    </a14:hiddenLine>
                  </a:ext>
                  <a:ext uri="{AF507438-7753-43E0-B8FC-AC1667EBCBE1}">
                    <a14:hiddenEffects xmlns:a14="http://schemas.microsoft.com/office/drawing/2010/main">
                      <a:effectLst>
                        <a:outerShdw dist="109250" dir="3267739" algn="ctr" rotWithShape="0">
                          <a:srgbClr val="808080">
                            <a:alpha val="50000"/>
                          </a:srgbClr>
                        </a:outerShdw>
                      </a:effectLst>
                    </a14:hiddenEffects>
                  </a:ext>
                </a:extLst>
              </p:spPr>
              <p:txBody>
                <a:bodyPr wrap="none" anchor="ctr">
                  <a:spAutoFit/>
                </a:bodyPr>
                <a:lstStyle/>
                <a:p>
                  <a:endParaRPr lang="zh-CN" altLang="en-US"/>
                </a:p>
              </p:txBody>
            </p:sp>
            <p:sp>
              <p:nvSpPr>
                <p:cNvPr id="82" name="Oval 29"/>
                <p:cNvSpPr>
                  <a:spLocks noChangeArrowheads="1"/>
                </p:cNvSpPr>
                <p:nvPr/>
              </p:nvSpPr>
              <p:spPr bwMode="gray">
                <a:xfrm>
                  <a:off x="2254" y="1856"/>
                  <a:ext cx="1262" cy="1264"/>
                </a:xfrm>
                <a:prstGeom prst="ellipse">
                  <a:avLst/>
                </a:prstGeom>
                <a:gradFill rotWithShape="1">
                  <a:gsLst>
                    <a:gs pos="0">
                      <a:srgbClr val="21B3E1"/>
                    </a:gs>
                    <a:gs pos="100000">
                      <a:srgbClr val="21B3E1">
                        <a:gamma/>
                        <a:shade val="46275"/>
                        <a:invGamma/>
                      </a:srgbClr>
                    </a:gs>
                  </a:gsLst>
                  <a:lin ang="5400000" scaled="1"/>
                </a:gradFill>
                <a:ln>
                  <a:noFill/>
                </a:ln>
                <a:effectLst/>
                <a:extLst>
                  <a:ext uri="{91240B29-F687-4F45-9708-019B960494DF}">
                    <a14:hiddenLine xmlns:a14="http://schemas.microsoft.com/office/drawing/2010/main" w="38100">
                      <a:solidFill>
                        <a:schemeClr val="bg1"/>
                      </a:solidFill>
                      <a:round/>
                    </a14:hiddenLine>
                  </a:ext>
                  <a:ext uri="{AF507438-7753-43E0-B8FC-AC1667EBCBE1}">
                    <a14:hiddenEffects xmlns:a14="http://schemas.microsoft.com/office/drawing/2010/main">
                      <a:effectLst>
                        <a:outerShdw dist="109250" dir="3267739" algn="ctr" rotWithShape="0">
                          <a:srgbClr val="808080">
                            <a:alpha val="50000"/>
                          </a:srgbClr>
                        </a:outerShdw>
                      </a:effectLst>
                    </a14:hiddenEffects>
                  </a:ext>
                </a:extLst>
              </p:spPr>
              <p:txBody>
                <a:bodyPr wrap="none" anchor="ctr">
                  <a:spAutoFit/>
                </a:bodyPr>
                <a:lstStyle/>
                <a:p>
                  <a:endParaRPr lang="zh-CN" altLang="en-US"/>
                </a:p>
              </p:txBody>
            </p:sp>
            <p:sp>
              <p:nvSpPr>
                <p:cNvPr id="83" name="Oval 30"/>
                <p:cNvSpPr>
                  <a:spLocks noChangeArrowheads="1"/>
                </p:cNvSpPr>
                <p:nvPr/>
              </p:nvSpPr>
              <p:spPr bwMode="gray">
                <a:xfrm>
                  <a:off x="2337" y="1939"/>
                  <a:ext cx="1096" cy="1098"/>
                </a:xfrm>
                <a:prstGeom prst="ellipse">
                  <a:avLst/>
                </a:prstGeom>
                <a:gradFill rotWithShape="1">
                  <a:gsLst>
                    <a:gs pos="0">
                      <a:schemeClr val="hlink">
                        <a:gamma/>
                        <a:shade val="54118"/>
                        <a:invGamma/>
                      </a:schemeClr>
                    </a:gs>
                    <a:gs pos="50000">
                      <a:schemeClr val="hlink"/>
                    </a:gs>
                    <a:gs pos="100000">
                      <a:schemeClr val="hlink">
                        <a:gamma/>
                        <a:shade val="54118"/>
                        <a:invGamma/>
                      </a:schemeClr>
                    </a:gs>
                  </a:gsLst>
                  <a:lin ang="18900000" scaled="1"/>
                </a:gradFill>
                <a:ln>
                  <a:noFill/>
                </a:ln>
                <a:effectLst/>
                <a:extLst>
                  <a:ext uri="{91240B29-F687-4F45-9708-019B960494DF}">
                    <a14:hiddenLine xmlns:a14="http://schemas.microsoft.com/office/drawing/2010/main" w="38100">
                      <a:solidFill>
                        <a:schemeClr val="bg1"/>
                      </a:solidFill>
                      <a:round/>
                    </a14:hiddenLine>
                  </a:ext>
                  <a:ext uri="{AF507438-7753-43E0-B8FC-AC1667EBCBE1}">
                    <a14:hiddenEffects xmlns:a14="http://schemas.microsoft.com/office/drawing/2010/main">
                      <a:effectLst>
                        <a:outerShdw dist="109250" dir="3267739" algn="ctr" rotWithShape="0">
                          <a:srgbClr val="808080">
                            <a:alpha val="50000"/>
                          </a:srgbClr>
                        </a:outerShdw>
                      </a:effectLst>
                    </a14:hiddenEffects>
                  </a:ext>
                </a:extLst>
              </p:spPr>
              <p:txBody>
                <a:bodyPr anchor="ctr">
                  <a:spAutoFit/>
                </a:bodyPr>
                <a:lstStyle/>
                <a:p>
                  <a:endParaRPr lang="zh-CN" altLang="en-US"/>
                </a:p>
              </p:txBody>
            </p:sp>
            <p:sp>
              <p:nvSpPr>
                <p:cNvPr id="84" name="Oval 31"/>
                <p:cNvSpPr>
                  <a:spLocks noChangeArrowheads="1"/>
                </p:cNvSpPr>
                <p:nvPr/>
              </p:nvSpPr>
              <p:spPr bwMode="gray">
                <a:xfrm>
                  <a:off x="2337" y="1939"/>
                  <a:ext cx="1096" cy="1098"/>
                </a:xfrm>
                <a:prstGeom prst="ellipse">
                  <a:avLst/>
                </a:prstGeom>
                <a:gradFill rotWithShape="1">
                  <a:gsLst>
                    <a:gs pos="0">
                      <a:srgbClr val="21B3E1"/>
                    </a:gs>
                    <a:gs pos="100000">
                      <a:srgbClr val="21B3E1">
                        <a:gamma/>
                        <a:shade val="48627"/>
                        <a:invGamma/>
                      </a:srgbClr>
                    </a:gs>
                  </a:gsLst>
                  <a:lin ang="2700000" scaled="1"/>
                </a:gradFill>
                <a:ln>
                  <a:noFill/>
                </a:ln>
                <a:effectLst/>
                <a:extLst>
                  <a:ext uri="{91240B29-F687-4F45-9708-019B960494DF}">
                    <a14:hiddenLine xmlns:a14="http://schemas.microsoft.com/office/drawing/2010/main" w="38100">
                      <a:solidFill>
                        <a:schemeClr val="bg1"/>
                      </a:solidFill>
                      <a:round/>
                    </a14:hiddenLine>
                  </a:ext>
                  <a:ext uri="{AF507438-7753-43E0-B8FC-AC1667EBCBE1}">
                    <a14:hiddenEffects xmlns:a14="http://schemas.microsoft.com/office/drawing/2010/main">
                      <a:effectLst>
                        <a:outerShdw dist="109250" dir="3267739" algn="ctr" rotWithShape="0">
                          <a:srgbClr val="808080">
                            <a:alpha val="50000"/>
                          </a:srgbClr>
                        </a:outerShdw>
                      </a:effectLst>
                    </a14:hiddenEffects>
                  </a:ext>
                </a:extLst>
              </p:spPr>
              <p:txBody>
                <a:bodyPr anchor="ctr">
                  <a:spAutoFit/>
                </a:bodyPr>
                <a:lstStyle/>
                <a:p>
                  <a:endParaRPr lang="zh-CN" altLang="en-US"/>
                </a:p>
              </p:txBody>
            </p:sp>
          </p:grpSp>
        </p:grpSp>
        <p:grpSp>
          <p:nvGrpSpPr>
            <p:cNvPr id="59" name="Group 50"/>
            <p:cNvGrpSpPr/>
            <p:nvPr/>
          </p:nvGrpSpPr>
          <p:grpSpPr bwMode="auto">
            <a:xfrm>
              <a:off x="1248" y="2787"/>
              <a:ext cx="2996" cy="320"/>
              <a:chOff x="1248" y="2787"/>
              <a:chExt cx="2996" cy="320"/>
            </a:xfrm>
          </p:grpSpPr>
          <p:sp>
            <p:nvSpPr>
              <p:cNvPr id="69" name="AutoShape 7"/>
              <p:cNvSpPr>
                <a:spLocks noChangeArrowheads="1"/>
              </p:cNvSpPr>
              <p:nvPr/>
            </p:nvSpPr>
            <p:spPr bwMode="gray">
              <a:xfrm>
                <a:off x="1460" y="2787"/>
                <a:ext cx="2784" cy="320"/>
              </a:xfrm>
              <a:prstGeom prst="roundRect">
                <a:avLst>
                  <a:gd name="adj" fmla="val 50000"/>
                </a:avLst>
              </a:prstGeom>
              <a:noFill/>
              <a:ln w="28575" algn="ctr">
                <a:solidFill>
                  <a:schemeClr val="bg2"/>
                </a:solidFill>
                <a:round/>
              </a:ln>
              <a:effectLst/>
              <a:extLst>
                <a:ext uri="{909E8E84-426E-40DD-AFC4-6F175D3DCCD1}">
                  <a14:hiddenFill xmlns:a14="http://schemas.microsoft.com/office/drawing/2010/main">
                    <a:gradFill rotWithShape="1">
                      <a:gsLst>
                        <a:gs pos="0">
                          <a:schemeClr val="folHlink">
                            <a:gamma/>
                            <a:tint val="0"/>
                            <a:invGamma/>
                          </a:schemeClr>
                        </a:gs>
                        <a:gs pos="100000">
                          <a:schemeClr val="folHlink"/>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hangingPunct="0"/>
                <a:r>
                  <a:rPr lang="zh-CN" altLang="en-US" sz="2400" b="1" dirty="0">
                    <a:solidFill>
                      <a:srgbClr val="800000"/>
                    </a:solidFill>
                    <a:latin typeface="华文新魏" panose="02010800040101010101" pitchFamily="2" charset="-122"/>
                    <a:ea typeface="华文新魏" panose="02010800040101010101" pitchFamily="2" charset="-122"/>
                  </a:rPr>
                  <a:t>课程简介</a:t>
                </a:r>
                <a:endParaRPr lang="en-US" altLang="zh-CN" sz="2400" b="1" dirty="0">
                  <a:solidFill>
                    <a:srgbClr val="800000"/>
                  </a:solidFill>
                  <a:latin typeface="华文新魏" panose="02010800040101010101" pitchFamily="2" charset="-122"/>
                  <a:ea typeface="华文新魏" panose="02010800040101010101" pitchFamily="2" charset="-122"/>
                </a:endParaRPr>
              </a:p>
            </p:txBody>
          </p:sp>
          <p:grpSp>
            <p:nvGrpSpPr>
              <p:cNvPr id="70" name="Group 32"/>
              <p:cNvGrpSpPr/>
              <p:nvPr/>
            </p:nvGrpSpPr>
            <p:grpSpPr bwMode="auto">
              <a:xfrm>
                <a:off x="1248" y="2851"/>
                <a:ext cx="240" cy="240"/>
                <a:chOff x="2078" y="1680"/>
                <a:chExt cx="1615" cy="1615"/>
              </a:xfrm>
            </p:grpSpPr>
            <p:sp>
              <p:nvSpPr>
                <p:cNvPr id="71" name="Oval 33"/>
                <p:cNvSpPr>
                  <a:spLocks noChangeArrowheads="1"/>
                </p:cNvSpPr>
                <p:nvPr/>
              </p:nvSpPr>
              <p:spPr bwMode="gray">
                <a:xfrm>
                  <a:off x="2078" y="1680"/>
                  <a:ext cx="1615" cy="1615"/>
                </a:xfrm>
                <a:prstGeom prst="ellipse">
                  <a:avLst/>
                </a:prstGeom>
                <a:gradFill rotWithShape="1">
                  <a:gsLst>
                    <a:gs pos="0">
                      <a:srgbClr val="FFFFFF">
                        <a:gamma/>
                        <a:shade val="46275"/>
                        <a:invGamma/>
                      </a:srgbClr>
                    </a:gs>
                    <a:gs pos="50000">
                      <a:srgbClr val="FFFFFF"/>
                    </a:gs>
                    <a:gs pos="100000">
                      <a:srgbClr val="FFFFFF">
                        <a:gamma/>
                        <a:shade val="46275"/>
                        <a:invGamma/>
                      </a:srgbClr>
                    </a:gs>
                  </a:gsLst>
                  <a:lin ang="5400000" scaled="1"/>
                </a:gradFill>
                <a:ln>
                  <a:noFill/>
                </a:ln>
                <a:effectLst/>
                <a:extLst>
                  <a:ext uri="{91240B29-F687-4F45-9708-019B960494DF}">
                    <a14:hiddenLine xmlns:a14="http://schemas.microsoft.com/office/drawing/2010/main" w="57150">
                      <a:solidFill>
                        <a:schemeClr val="bg1"/>
                      </a:solidFill>
                      <a:round/>
                    </a14:hiddenLine>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endParaRPr lang="zh-CN" altLang="en-US"/>
                </a:p>
              </p:txBody>
            </p:sp>
            <p:sp>
              <p:nvSpPr>
                <p:cNvPr id="72" name="Oval 34"/>
                <p:cNvSpPr>
                  <a:spLocks noChangeArrowheads="1"/>
                </p:cNvSpPr>
                <p:nvPr/>
              </p:nvSpPr>
              <p:spPr bwMode="gray">
                <a:xfrm>
                  <a:off x="2170" y="1771"/>
                  <a:ext cx="1430" cy="1430"/>
                </a:xfrm>
                <a:prstGeom prst="ellipse">
                  <a:avLst/>
                </a:prstGeom>
                <a:gradFill rotWithShape="1">
                  <a:gsLst>
                    <a:gs pos="0">
                      <a:srgbClr val="FFFFFF">
                        <a:gamma/>
                        <a:shade val="63529"/>
                        <a:invGamma/>
                      </a:srgbClr>
                    </a:gs>
                    <a:gs pos="50000">
                      <a:srgbClr val="FFFFFF"/>
                    </a:gs>
                    <a:gs pos="100000">
                      <a:srgbClr val="FFFFFF">
                        <a:gamma/>
                        <a:shade val="63529"/>
                        <a:invGamma/>
                      </a:srgbClr>
                    </a:gs>
                  </a:gsLst>
                  <a:lin ang="0" scaled="1"/>
                </a:gra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endParaRPr lang="zh-CN" altLang="en-US"/>
                </a:p>
              </p:txBody>
            </p:sp>
            <p:sp>
              <p:nvSpPr>
                <p:cNvPr id="73" name="Oval 35"/>
                <p:cNvSpPr>
                  <a:spLocks noChangeArrowheads="1"/>
                </p:cNvSpPr>
                <p:nvPr/>
              </p:nvSpPr>
              <p:spPr bwMode="gray">
                <a:xfrm>
                  <a:off x="2254" y="1856"/>
                  <a:ext cx="1262" cy="1264"/>
                </a:xfrm>
                <a:prstGeom prst="ellipse">
                  <a:avLst/>
                </a:prstGeom>
                <a:gradFill rotWithShape="1">
                  <a:gsLst>
                    <a:gs pos="0">
                      <a:schemeClr val="hlink">
                        <a:gamma/>
                        <a:tint val="0"/>
                        <a:invGamma/>
                      </a:schemeClr>
                    </a:gs>
                    <a:gs pos="50000">
                      <a:schemeClr val="hlink"/>
                    </a:gs>
                    <a:gs pos="100000">
                      <a:schemeClr val="hlink">
                        <a:gamma/>
                        <a:tint val="0"/>
                        <a:invGamma/>
                      </a:schemeClr>
                    </a:gs>
                  </a:gsLst>
                  <a:lin ang="2700000" scaled="1"/>
                </a:gradFill>
                <a:ln>
                  <a:noFill/>
                </a:ln>
                <a:effectLst/>
                <a:extLst>
                  <a:ext uri="{91240B29-F687-4F45-9708-019B960494DF}">
                    <a14:hiddenLine xmlns:a14="http://schemas.microsoft.com/office/drawing/2010/main" w="38100">
                      <a:solidFill>
                        <a:schemeClr val="bg1"/>
                      </a:solidFill>
                      <a:round/>
                    </a14:hiddenLine>
                  </a:ext>
                  <a:ext uri="{AF507438-7753-43E0-B8FC-AC1667EBCBE1}">
                    <a14:hiddenEffects xmlns:a14="http://schemas.microsoft.com/office/drawing/2010/main">
                      <a:effectLst>
                        <a:outerShdw dist="109250" dir="3267739" algn="ctr" rotWithShape="0">
                          <a:srgbClr val="808080">
                            <a:alpha val="50000"/>
                          </a:srgbClr>
                        </a:outerShdw>
                      </a:effectLst>
                    </a14:hiddenEffects>
                  </a:ext>
                </a:extLst>
              </p:spPr>
              <p:txBody>
                <a:bodyPr wrap="none" anchor="ctr">
                  <a:spAutoFit/>
                </a:bodyPr>
                <a:lstStyle/>
                <a:p>
                  <a:endParaRPr lang="zh-CN" altLang="en-US"/>
                </a:p>
              </p:txBody>
            </p:sp>
            <p:sp>
              <p:nvSpPr>
                <p:cNvPr id="74" name="Oval 36"/>
                <p:cNvSpPr>
                  <a:spLocks noChangeArrowheads="1"/>
                </p:cNvSpPr>
                <p:nvPr/>
              </p:nvSpPr>
              <p:spPr bwMode="gray">
                <a:xfrm>
                  <a:off x="2254" y="1856"/>
                  <a:ext cx="1262" cy="1264"/>
                </a:xfrm>
                <a:prstGeom prst="ellipse">
                  <a:avLst/>
                </a:prstGeom>
                <a:gradFill rotWithShape="1">
                  <a:gsLst>
                    <a:gs pos="0">
                      <a:srgbClr val="8D67E1">
                        <a:gamma/>
                        <a:shade val="0"/>
                        <a:invGamma/>
                      </a:srgbClr>
                    </a:gs>
                    <a:gs pos="100000">
                      <a:srgbClr val="8D67E1"/>
                    </a:gs>
                  </a:gsLst>
                  <a:lin ang="2700000" scaled="1"/>
                </a:gradFill>
                <a:ln>
                  <a:noFill/>
                </a:ln>
                <a:effectLst/>
                <a:extLst>
                  <a:ext uri="{91240B29-F687-4F45-9708-019B960494DF}">
                    <a14:hiddenLine xmlns:a14="http://schemas.microsoft.com/office/drawing/2010/main" w="38100">
                      <a:solidFill>
                        <a:schemeClr val="bg1"/>
                      </a:solidFill>
                      <a:round/>
                    </a14:hiddenLine>
                  </a:ext>
                  <a:ext uri="{AF507438-7753-43E0-B8FC-AC1667EBCBE1}">
                    <a14:hiddenEffects xmlns:a14="http://schemas.microsoft.com/office/drawing/2010/main">
                      <a:effectLst>
                        <a:outerShdw dist="109250" dir="3267739" algn="ctr" rotWithShape="0">
                          <a:srgbClr val="808080">
                            <a:alpha val="50000"/>
                          </a:srgbClr>
                        </a:outerShdw>
                      </a:effectLst>
                    </a14:hiddenEffects>
                  </a:ext>
                </a:extLst>
              </p:spPr>
              <p:txBody>
                <a:bodyPr wrap="none" anchor="ctr">
                  <a:spAutoFit/>
                </a:bodyPr>
                <a:lstStyle/>
                <a:p>
                  <a:endParaRPr lang="zh-CN" altLang="en-US"/>
                </a:p>
              </p:txBody>
            </p:sp>
            <p:sp>
              <p:nvSpPr>
                <p:cNvPr id="75" name="Oval 37"/>
                <p:cNvSpPr>
                  <a:spLocks noChangeArrowheads="1"/>
                </p:cNvSpPr>
                <p:nvPr/>
              </p:nvSpPr>
              <p:spPr bwMode="gray">
                <a:xfrm>
                  <a:off x="2337" y="1939"/>
                  <a:ext cx="1096" cy="1098"/>
                </a:xfrm>
                <a:prstGeom prst="ellipse">
                  <a:avLst/>
                </a:prstGeom>
                <a:gradFill rotWithShape="1">
                  <a:gsLst>
                    <a:gs pos="0">
                      <a:schemeClr val="hlink">
                        <a:gamma/>
                        <a:shade val="54118"/>
                        <a:invGamma/>
                      </a:schemeClr>
                    </a:gs>
                    <a:gs pos="50000">
                      <a:schemeClr val="hlink"/>
                    </a:gs>
                    <a:gs pos="100000">
                      <a:schemeClr val="hlink">
                        <a:gamma/>
                        <a:shade val="54118"/>
                        <a:invGamma/>
                      </a:schemeClr>
                    </a:gs>
                  </a:gsLst>
                  <a:lin ang="18900000" scaled="1"/>
                </a:gradFill>
                <a:ln>
                  <a:noFill/>
                </a:ln>
                <a:effectLst/>
                <a:extLst>
                  <a:ext uri="{91240B29-F687-4F45-9708-019B960494DF}">
                    <a14:hiddenLine xmlns:a14="http://schemas.microsoft.com/office/drawing/2010/main" w="38100">
                      <a:solidFill>
                        <a:schemeClr val="bg1"/>
                      </a:solidFill>
                      <a:round/>
                    </a14:hiddenLine>
                  </a:ext>
                  <a:ext uri="{AF507438-7753-43E0-B8FC-AC1667EBCBE1}">
                    <a14:hiddenEffects xmlns:a14="http://schemas.microsoft.com/office/drawing/2010/main">
                      <a:effectLst>
                        <a:outerShdw dist="109250" dir="3267739" algn="ctr" rotWithShape="0">
                          <a:srgbClr val="808080">
                            <a:alpha val="50000"/>
                          </a:srgbClr>
                        </a:outerShdw>
                      </a:effectLst>
                    </a14:hiddenEffects>
                  </a:ext>
                </a:extLst>
              </p:spPr>
              <p:txBody>
                <a:bodyPr anchor="ctr">
                  <a:spAutoFit/>
                </a:bodyPr>
                <a:lstStyle/>
                <a:p>
                  <a:endParaRPr lang="zh-CN" altLang="en-US"/>
                </a:p>
              </p:txBody>
            </p:sp>
            <p:sp>
              <p:nvSpPr>
                <p:cNvPr id="76" name="Oval 38"/>
                <p:cNvSpPr>
                  <a:spLocks noChangeArrowheads="1"/>
                </p:cNvSpPr>
                <p:nvPr/>
              </p:nvSpPr>
              <p:spPr bwMode="gray">
                <a:xfrm>
                  <a:off x="2337" y="1939"/>
                  <a:ext cx="1096" cy="1098"/>
                </a:xfrm>
                <a:prstGeom prst="ellipse">
                  <a:avLst/>
                </a:prstGeom>
                <a:gradFill rotWithShape="1">
                  <a:gsLst>
                    <a:gs pos="0">
                      <a:srgbClr val="8D67E1"/>
                    </a:gs>
                    <a:gs pos="100000">
                      <a:srgbClr val="8D67E1">
                        <a:gamma/>
                        <a:shade val="48627"/>
                        <a:invGamma/>
                      </a:srgbClr>
                    </a:gs>
                  </a:gsLst>
                  <a:lin ang="2700000" scaled="1"/>
                </a:gradFill>
                <a:ln>
                  <a:noFill/>
                </a:ln>
                <a:effectLst/>
                <a:extLst>
                  <a:ext uri="{91240B29-F687-4F45-9708-019B960494DF}">
                    <a14:hiddenLine xmlns:a14="http://schemas.microsoft.com/office/drawing/2010/main" w="38100">
                      <a:solidFill>
                        <a:schemeClr val="bg1"/>
                      </a:solidFill>
                      <a:round/>
                    </a14:hiddenLine>
                  </a:ext>
                  <a:ext uri="{AF507438-7753-43E0-B8FC-AC1667EBCBE1}">
                    <a14:hiddenEffects xmlns:a14="http://schemas.microsoft.com/office/drawing/2010/main">
                      <a:effectLst>
                        <a:outerShdw dist="109250" dir="3267739" algn="ctr" rotWithShape="0">
                          <a:srgbClr val="808080">
                            <a:alpha val="50000"/>
                          </a:srgbClr>
                        </a:outerShdw>
                      </a:effectLst>
                    </a14:hiddenEffects>
                  </a:ext>
                </a:extLst>
              </p:spPr>
              <p:txBody>
                <a:bodyPr anchor="ctr">
                  <a:spAutoFit/>
                </a:bodyPr>
                <a:lstStyle/>
                <a:p>
                  <a:endParaRPr lang="zh-CN" altLang="en-US"/>
                </a:p>
              </p:txBody>
            </p:sp>
          </p:grpSp>
        </p:grpSp>
        <p:grpSp>
          <p:nvGrpSpPr>
            <p:cNvPr id="60" name="Group 51"/>
            <p:cNvGrpSpPr/>
            <p:nvPr/>
          </p:nvGrpSpPr>
          <p:grpSpPr bwMode="auto">
            <a:xfrm>
              <a:off x="960" y="3308"/>
              <a:ext cx="2972" cy="320"/>
              <a:chOff x="960" y="3308"/>
              <a:chExt cx="2972" cy="320"/>
            </a:xfrm>
          </p:grpSpPr>
          <p:sp>
            <p:nvSpPr>
              <p:cNvPr id="61" name="AutoShape 6"/>
              <p:cNvSpPr>
                <a:spLocks noChangeArrowheads="1"/>
              </p:cNvSpPr>
              <p:nvPr/>
            </p:nvSpPr>
            <p:spPr bwMode="gray">
              <a:xfrm>
                <a:off x="1148" y="3308"/>
                <a:ext cx="2784" cy="320"/>
              </a:xfrm>
              <a:prstGeom prst="roundRect">
                <a:avLst>
                  <a:gd name="adj" fmla="val 50000"/>
                </a:avLst>
              </a:prstGeom>
              <a:noFill/>
              <a:ln w="28575" algn="ctr">
                <a:solidFill>
                  <a:schemeClr val="bg2"/>
                </a:solidFill>
                <a:rou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hangingPunct="0"/>
                <a:r>
                  <a:rPr lang="zh-CN" altLang="en-US" sz="2400" b="1" dirty="0">
                    <a:latin typeface="华文新魏" panose="02010800040101010101" pitchFamily="2" charset="-122"/>
                    <a:ea typeface="华文新魏" panose="02010800040101010101" pitchFamily="2" charset="-122"/>
                  </a:rPr>
                  <a:t>数制转换</a:t>
                </a:r>
                <a:endParaRPr lang="en-US" altLang="zh-CN" sz="2400" b="1" dirty="0">
                  <a:latin typeface="华文新魏" panose="02010800040101010101" pitchFamily="2" charset="-122"/>
                  <a:ea typeface="华文新魏" panose="02010800040101010101" pitchFamily="2" charset="-122"/>
                </a:endParaRPr>
              </a:p>
            </p:txBody>
          </p:sp>
          <p:grpSp>
            <p:nvGrpSpPr>
              <p:cNvPr id="62" name="Group 39"/>
              <p:cNvGrpSpPr/>
              <p:nvPr/>
            </p:nvGrpSpPr>
            <p:grpSpPr bwMode="auto">
              <a:xfrm>
                <a:off x="960" y="3339"/>
                <a:ext cx="224" cy="240"/>
                <a:chOff x="2078" y="1680"/>
                <a:chExt cx="1615" cy="1615"/>
              </a:xfrm>
            </p:grpSpPr>
            <p:sp>
              <p:nvSpPr>
                <p:cNvPr id="63" name="Oval 40"/>
                <p:cNvSpPr>
                  <a:spLocks noChangeArrowheads="1"/>
                </p:cNvSpPr>
                <p:nvPr/>
              </p:nvSpPr>
              <p:spPr bwMode="gray">
                <a:xfrm>
                  <a:off x="2078" y="1680"/>
                  <a:ext cx="1615" cy="1615"/>
                </a:xfrm>
                <a:prstGeom prst="ellipse">
                  <a:avLst/>
                </a:prstGeom>
                <a:gradFill rotWithShape="1">
                  <a:gsLst>
                    <a:gs pos="0">
                      <a:srgbClr val="FFFFFF">
                        <a:gamma/>
                        <a:shade val="46275"/>
                        <a:invGamma/>
                      </a:srgbClr>
                    </a:gs>
                    <a:gs pos="50000">
                      <a:srgbClr val="FFFFFF"/>
                    </a:gs>
                    <a:gs pos="100000">
                      <a:srgbClr val="FFFFFF">
                        <a:gamma/>
                        <a:shade val="46275"/>
                        <a:invGamma/>
                      </a:srgbClr>
                    </a:gs>
                  </a:gsLst>
                  <a:lin ang="5400000" scaled="1"/>
                </a:gradFill>
                <a:ln>
                  <a:noFill/>
                </a:ln>
                <a:effectLst/>
                <a:extLst>
                  <a:ext uri="{91240B29-F687-4F45-9708-019B960494DF}">
                    <a14:hiddenLine xmlns:a14="http://schemas.microsoft.com/office/drawing/2010/main" w="57150">
                      <a:solidFill>
                        <a:schemeClr val="bg1"/>
                      </a:solidFill>
                      <a:round/>
                    </a14:hiddenLine>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endParaRPr lang="zh-CN" altLang="en-US"/>
                </a:p>
              </p:txBody>
            </p:sp>
            <p:sp>
              <p:nvSpPr>
                <p:cNvPr id="64" name="Oval 41"/>
                <p:cNvSpPr>
                  <a:spLocks noChangeArrowheads="1"/>
                </p:cNvSpPr>
                <p:nvPr/>
              </p:nvSpPr>
              <p:spPr bwMode="gray">
                <a:xfrm>
                  <a:off x="2170" y="1771"/>
                  <a:ext cx="1430" cy="1430"/>
                </a:xfrm>
                <a:prstGeom prst="ellipse">
                  <a:avLst/>
                </a:prstGeom>
                <a:gradFill rotWithShape="1">
                  <a:gsLst>
                    <a:gs pos="0">
                      <a:srgbClr val="FFFFFF">
                        <a:gamma/>
                        <a:shade val="63529"/>
                        <a:invGamma/>
                      </a:srgbClr>
                    </a:gs>
                    <a:gs pos="50000">
                      <a:srgbClr val="FFFFFF"/>
                    </a:gs>
                    <a:gs pos="100000">
                      <a:srgbClr val="FFFFFF">
                        <a:gamma/>
                        <a:shade val="63529"/>
                        <a:invGamma/>
                      </a:srgbClr>
                    </a:gs>
                  </a:gsLst>
                  <a:lin ang="0" scaled="1"/>
                </a:gra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endParaRPr lang="zh-CN" altLang="en-US"/>
                </a:p>
              </p:txBody>
            </p:sp>
            <p:sp>
              <p:nvSpPr>
                <p:cNvPr id="65" name="Oval 42"/>
                <p:cNvSpPr>
                  <a:spLocks noChangeArrowheads="1"/>
                </p:cNvSpPr>
                <p:nvPr/>
              </p:nvSpPr>
              <p:spPr bwMode="gray">
                <a:xfrm>
                  <a:off x="2254" y="1856"/>
                  <a:ext cx="1262" cy="1264"/>
                </a:xfrm>
                <a:prstGeom prst="ellipse">
                  <a:avLst/>
                </a:prstGeom>
                <a:gradFill rotWithShape="1">
                  <a:gsLst>
                    <a:gs pos="0">
                      <a:schemeClr val="hlink">
                        <a:gamma/>
                        <a:tint val="0"/>
                        <a:invGamma/>
                      </a:schemeClr>
                    </a:gs>
                    <a:gs pos="50000">
                      <a:schemeClr val="hlink"/>
                    </a:gs>
                    <a:gs pos="100000">
                      <a:schemeClr val="hlink">
                        <a:gamma/>
                        <a:tint val="0"/>
                        <a:invGamma/>
                      </a:schemeClr>
                    </a:gs>
                  </a:gsLst>
                  <a:lin ang="2700000" scaled="1"/>
                </a:gradFill>
                <a:ln>
                  <a:noFill/>
                </a:ln>
                <a:effectLst/>
                <a:extLst>
                  <a:ext uri="{91240B29-F687-4F45-9708-019B960494DF}">
                    <a14:hiddenLine xmlns:a14="http://schemas.microsoft.com/office/drawing/2010/main" w="38100">
                      <a:solidFill>
                        <a:schemeClr val="bg1"/>
                      </a:solidFill>
                      <a:round/>
                    </a14:hiddenLine>
                  </a:ext>
                  <a:ext uri="{AF507438-7753-43E0-B8FC-AC1667EBCBE1}">
                    <a14:hiddenEffects xmlns:a14="http://schemas.microsoft.com/office/drawing/2010/main">
                      <a:effectLst>
                        <a:outerShdw dist="109250" dir="3267739" algn="ctr" rotWithShape="0">
                          <a:srgbClr val="808080">
                            <a:alpha val="50000"/>
                          </a:srgbClr>
                        </a:outerShdw>
                      </a:effectLst>
                    </a14:hiddenEffects>
                  </a:ext>
                </a:extLst>
              </p:spPr>
              <p:txBody>
                <a:bodyPr wrap="none" anchor="ctr">
                  <a:spAutoFit/>
                </a:bodyPr>
                <a:lstStyle/>
                <a:p>
                  <a:endParaRPr lang="zh-CN" altLang="en-US"/>
                </a:p>
              </p:txBody>
            </p:sp>
            <p:sp>
              <p:nvSpPr>
                <p:cNvPr id="66" name="Oval 43"/>
                <p:cNvSpPr>
                  <a:spLocks noChangeArrowheads="1"/>
                </p:cNvSpPr>
                <p:nvPr/>
              </p:nvSpPr>
              <p:spPr bwMode="gray">
                <a:xfrm>
                  <a:off x="2254" y="1856"/>
                  <a:ext cx="1262" cy="1264"/>
                </a:xfrm>
                <a:prstGeom prst="ellipse">
                  <a:avLst/>
                </a:prstGeom>
                <a:gradFill rotWithShape="1">
                  <a:gsLst>
                    <a:gs pos="0">
                      <a:srgbClr val="E35E23">
                        <a:gamma/>
                        <a:shade val="0"/>
                        <a:invGamma/>
                      </a:srgbClr>
                    </a:gs>
                    <a:gs pos="100000">
                      <a:srgbClr val="E35E23"/>
                    </a:gs>
                  </a:gsLst>
                  <a:lin ang="2700000" scaled="1"/>
                </a:gradFill>
                <a:ln>
                  <a:noFill/>
                </a:ln>
                <a:effectLst/>
                <a:extLst>
                  <a:ext uri="{91240B29-F687-4F45-9708-019B960494DF}">
                    <a14:hiddenLine xmlns:a14="http://schemas.microsoft.com/office/drawing/2010/main" w="38100">
                      <a:solidFill>
                        <a:schemeClr val="bg1"/>
                      </a:solidFill>
                      <a:round/>
                    </a14:hiddenLine>
                  </a:ext>
                  <a:ext uri="{AF507438-7753-43E0-B8FC-AC1667EBCBE1}">
                    <a14:hiddenEffects xmlns:a14="http://schemas.microsoft.com/office/drawing/2010/main">
                      <a:effectLst>
                        <a:outerShdw dist="109250" dir="3267739" algn="ctr" rotWithShape="0">
                          <a:srgbClr val="808080">
                            <a:alpha val="50000"/>
                          </a:srgbClr>
                        </a:outerShdw>
                      </a:effectLst>
                    </a14:hiddenEffects>
                  </a:ext>
                </a:extLst>
              </p:spPr>
              <p:txBody>
                <a:bodyPr wrap="none" anchor="ctr">
                  <a:spAutoFit/>
                </a:bodyPr>
                <a:lstStyle/>
                <a:p>
                  <a:endParaRPr lang="zh-CN" altLang="en-US"/>
                </a:p>
              </p:txBody>
            </p:sp>
            <p:sp>
              <p:nvSpPr>
                <p:cNvPr id="67" name="Oval 44"/>
                <p:cNvSpPr>
                  <a:spLocks noChangeArrowheads="1"/>
                </p:cNvSpPr>
                <p:nvPr/>
              </p:nvSpPr>
              <p:spPr bwMode="gray">
                <a:xfrm>
                  <a:off x="2337" y="1939"/>
                  <a:ext cx="1096" cy="1098"/>
                </a:xfrm>
                <a:prstGeom prst="ellipse">
                  <a:avLst/>
                </a:prstGeom>
                <a:gradFill rotWithShape="1">
                  <a:gsLst>
                    <a:gs pos="0">
                      <a:schemeClr val="hlink">
                        <a:gamma/>
                        <a:shade val="54118"/>
                        <a:invGamma/>
                      </a:schemeClr>
                    </a:gs>
                    <a:gs pos="50000">
                      <a:schemeClr val="hlink"/>
                    </a:gs>
                    <a:gs pos="100000">
                      <a:schemeClr val="hlink">
                        <a:gamma/>
                        <a:shade val="54118"/>
                        <a:invGamma/>
                      </a:schemeClr>
                    </a:gs>
                  </a:gsLst>
                  <a:lin ang="18900000" scaled="1"/>
                </a:gradFill>
                <a:ln>
                  <a:noFill/>
                </a:ln>
                <a:effectLst/>
                <a:extLst>
                  <a:ext uri="{91240B29-F687-4F45-9708-019B960494DF}">
                    <a14:hiddenLine xmlns:a14="http://schemas.microsoft.com/office/drawing/2010/main" w="38100">
                      <a:solidFill>
                        <a:schemeClr val="bg1"/>
                      </a:solidFill>
                      <a:round/>
                    </a14:hiddenLine>
                  </a:ext>
                  <a:ext uri="{AF507438-7753-43E0-B8FC-AC1667EBCBE1}">
                    <a14:hiddenEffects xmlns:a14="http://schemas.microsoft.com/office/drawing/2010/main">
                      <a:effectLst>
                        <a:outerShdw dist="109250" dir="3267739" algn="ctr" rotWithShape="0">
                          <a:srgbClr val="808080">
                            <a:alpha val="50000"/>
                          </a:srgbClr>
                        </a:outerShdw>
                      </a:effectLst>
                    </a14:hiddenEffects>
                  </a:ext>
                </a:extLst>
              </p:spPr>
              <p:txBody>
                <a:bodyPr anchor="ctr">
                  <a:spAutoFit/>
                </a:bodyPr>
                <a:lstStyle/>
                <a:p>
                  <a:endParaRPr lang="zh-CN" altLang="en-US"/>
                </a:p>
              </p:txBody>
            </p:sp>
            <p:sp>
              <p:nvSpPr>
                <p:cNvPr id="68" name="Oval 45"/>
                <p:cNvSpPr>
                  <a:spLocks noChangeArrowheads="1"/>
                </p:cNvSpPr>
                <p:nvPr/>
              </p:nvSpPr>
              <p:spPr bwMode="gray">
                <a:xfrm>
                  <a:off x="2337" y="1939"/>
                  <a:ext cx="1096" cy="1098"/>
                </a:xfrm>
                <a:prstGeom prst="ellipse">
                  <a:avLst/>
                </a:prstGeom>
                <a:gradFill rotWithShape="1">
                  <a:gsLst>
                    <a:gs pos="0">
                      <a:srgbClr val="E35E23"/>
                    </a:gs>
                    <a:gs pos="100000">
                      <a:srgbClr val="E35E23">
                        <a:gamma/>
                        <a:shade val="48627"/>
                        <a:invGamma/>
                      </a:srgbClr>
                    </a:gs>
                  </a:gsLst>
                  <a:lin ang="2700000" scaled="1"/>
                </a:gradFill>
                <a:ln>
                  <a:noFill/>
                </a:ln>
                <a:effectLst/>
                <a:extLst>
                  <a:ext uri="{91240B29-F687-4F45-9708-019B960494DF}">
                    <a14:hiddenLine xmlns:a14="http://schemas.microsoft.com/office/drawing/2010/main" w="38100">
                      <a:solidFill>
                        <a:schemeClr val="bg1"/>
                      </a:solidFill>
                      <a:round/>
                    </a14:hiddenLine>
                  </a:ext>
                  <a:ext uri="{AF507438-7753-43E0-B8FC-AC1667EBCBE1}">
                    <a14:hiddenEffects xmlns:a14="http://schemas.microsoft.com/office/drawing/2010/main">
                      <a:effectLst>
                        <a:outerShdw dist="109250" dir="3267739" algn="ctr" rotWithShape="0">
                          <a:srgbClr val="808080">
                            <a:alpha val="50000"/>
                          </a:srgbClr>
                        </a:outerShdw>
                      </a:effectLst>
                    </a14:hiddenEffects>
                  </a:ext>
                </a:extLst>
              </p:spPr>
              <p:txBody>
                <a:bodyPr anchor="ctr">
                  <a:spAutoFit/>
                </a:bodyPr>
                <a:lstStyle/>
                <a:p>
                  <a:endParaRPr lang="zh-CN" altLang="en-US"/>
                </a:p>
              </p:txBody>
            </p:sp>
          </p:grpSp>
        </p:grpSp>
      </p:gr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dirty="0"/>
              <a:t>教学重点</a:t>
            </a:r>
            <a:endParaRPr kumimoji="1" lang="zh-CN" altLang="en-US" dirty="0"/>
          </a:p>
        </p:txBody>
      </p:sp>
      <p:sp>
        <p:nvSpPr>
          <p:cNvPr id="5" name="内容占位符 4"/>
          <p:cNvSpPr>
            <a:spLocks noGrp="1"/>
          </p:cNvSpPr>
          <p:nvPr>
            <p:ph idx="1"/>
          </p:nvPr>
        </p:nvSpPr>
        <p:spPr>
          <a:xfrm>
            <a:off x="457200" y="1772816"/>
            <a:ext cx="8229600" cy="4716884"/>
          </a:xfrm>
        </p:spPr>
        <p:txBody>
          <a:bodyPr/>
          <a:lstStyle/>
          <a:p>
            <a:r>
              <a:rPr kumimoji="1" lang="zh-CN" altLang="en-US" sz="3200" dirty="0"/>
              <a:t>掌握程序设计的基本概念、基本方法</a:t>
            </a:r>
            <a:endParaRPr kumimoji="1" lang="en-US" altLang="zh-CN" sz="3200" dirty="0"/>
          </a:p>
          <a:p>
            <a:r>
              <a:rPr kumimoji="1" lang="zh-CN" altLang="en-US" sz="3200" dirty="0"/>
              <a:t>在</a:t>
            </a:r>
            <a:r>
              <a:rPr kumimoji="1" lang="en-US" altLang="zh-CN" sz="3200" dirty="0"/>
              <a:t>C/C++</a:t>
            </a:r>
            <a:r>
              <a:rPr kumimoji="1" lang="zh-CN" altLang="en-US" sz="3200" dirty="0"/>
              <a:t>语言的环境下，学会如何针对问题进行分析、寻找算法并编程实现</a:t>
            </a:r>
            <a:endParaRPr kumimoji="1" lang="en-US" altLang="zh-CN" sz="3200" dirty="0"/>
          </a:p>
          <a:p>
            <a:r>
              <a:rPr kumimoji="1" lang="zh-CN" altLang="en-US" sz="3200" dirty="0"/>
              <a:t>有条有理、有根有据的编程实践</a:t>
            </a:r>
            <a:endParaRPr kumimoji="1" lang="en-US" altLang="zh-CN" sz="3200" dirty="0"/>
          </a:p>
          <a:p>
            <a:r>
              <a:rPr kumimoji="1" lang="zh-CN" altLang="en-US" sz="3200" dirty="0"/>
              <a:t>养成良好的编程风格与习惯</a:t>
            </a:r>
            <a:endParaRPr kumimoji="1" lang="en-US" altLang="zh-CN" sz="3200" dirty="0"/>
          </a:p>
          <a:p>
            <a:r>
              <a:rPr kumimoji="1" lang="zh-CN" altLang="en-US" sz="3200" dirty="0"/>
              <a:t>重在思维方法的学习，鼓励创新</a:t>
            </a:r>
            <a:endParaRPr kumimoji="1" lang="zh-CN" altLang="en-US" sz="32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dirty="0"/>
              <a:t>教学内容安排</a:t>
            </a:r>
            <a:r>
              <a:rPr kumimoji="1" lang="en-US" altLang="zh-CN" dirty="0"/>
              <a:t> 2-1</a:t>
            </a:r>
            <a:endParaRPr kumimoji="1" lang="zh-CN" altLang="en-US" dirty="0"/>
          </a:p>
        </p:txBody>
      </p:sp>
      <p:sp>
        <p:nvSpPr>
          <p:cNvPr id="3" name="内容占位符 2"/>
          <p:cNvSpPr>
            <a:spLocks noGrp="1"/>
          </p:cNvSpPr>
          <p:nvPr>
            <p:ph idx="1"/>
          </p:nvPr>
        </p:nvSpPr>
        <p:spPr>
          <a:xfrm>
            <a:off x="457200" y="1241425"/>
            <a:ext cx="8229600" cy="5427935"/>
          </a:xfrm>
        </p:spPr>
        <p:txBody>
          <a:bodyPr>
            <a:normAutofit fontScale="92500" lnSpcReduction="20000"/>
          </a:bodyPr>
          <a:lstStyle/>
          <a:p>
            <a:r>
              <a:rPr kumimoji="1" lang="zh-CN" altLang="en-US" dirty="0"/>
              <a:t>第一章</a:t>
            </a:r>
            <a:r>
              <a:rPr kumimoji="1" lang="en-US" altLang="zh-CN" dirty="0"/>
              <a:t> </a:t>
            </a:r>
            <a:r>
              <a:rPr kumimoji="1" lang="zh-CN" altLang="en-US" dirty="0"/>
              <a:t>程序设计与程序设计语言</a:t>
            </a:r>
            <a:endParaRPr kumimoji="1" lang="en-US" altLang="zh-CN" dirty="0"/>
          </a:p>
          <a:p>
            <a:pPr lvl="1"/>
            <a:r>
              <a:rPr kumimoji="1" lang="zh-CN" altLang="en-US" sz="2400" dirty="0"/>
              <a:t>计算机与程序设计</a:t>
            </a:r>
            <a:endParaRPr kumimoji="1" lang="en-US" altLang="zh-CN" sz="2400" dirty="0"/>
          </a:p>
          <a:p>
            <a:pPr lvl="1"/>
            <a:r>
              <a:rPr kumimoji="1" lang="zh-CN" altLang="en-US" sz="2400" dirty="0"/>
              <a:t>程序设计语言</a:t>
            </a:r>
            <a:endParaRPr kumimoji="1" lang="en-US" altLang="zh-CN" sz="2400" dirty="0"/>
          </a:p>
          <a:p>
            <a:pPr lvl="1"/>
            <a:r>
              <a:rPr kumimoji="1" lang="zh-CN" altLang="en-US" sz="2400" dirty="0"/>
              <a:t>程序设计任务</a:t>
            </a:r>
            <a:endParaRPr kumimoji="1" lang="en-US" altLang="zh-CN" sz="2400" dirty="0"/>
          </a:p>
          <a:p>
            <a:pPr lvl="1"/>
            <a:r>
              <a:rPr kumimoji="1" lang="zh-CN" altLang="en-US" sz="2400" dirty="0"/>
              <a:t>程序设计方法</a:t>
            </a:r>
            <a:endParaRPr kumimoji="1" lang="en-US" altLang="zh-CN" sz="2400" dirty="0"/>
          </a:p>
          <a:p>
            <a:r>
              <a:rPr kumimoji="1" lang="zh-CN" altLang="en-US" dirty="0"/>
              <a:t>第二章</a:t>
            </a:r>
            <a:r>
              <a:rPr kumimoji="1" lang="en-US" altLang="zh-CN" dirty="0"/>
              <a:t> </a:t>
            </a:r>
            <a:r>
              <a:rPr kumimoji="1" lang="zh-CN" altLang="en-US" dirty="0"/>
              <a:t>初识程序设计及程序设计基础</a:t>
            </a:r>
            <a:endParaRPr kumimoji="1" lang="en-US" altLang="zh-CN" dirty="0"/>
          </a:p>
          <a:p>
            <a:pPr lvl="1"/>
            <a:r>
              <a:rPr kumimoji="1" lang="zh-CN" altLang="en-US" sz="2400" dirty="0"/>
              <a:t>初识</a:t>
            </a:r>
            <a:r>
              <a:rPr kumimoji="1" lang="en-US" altLang="zh-CN" sz="2400" dirty="0"/>
              <a:t>C++</a:t>
            </a:r>
            <a:r>
              <a:rPr kumimoji="1" lang="zh-CN" altLang="en-US" sz="2400" dirty="0"/>
              <a:t>程序</a:t>
            </a:r>
            <a:endParaRPr kumimoji="1" lang="en-US" altLang="zh-CN" sz="2400" dirty="0"/>
          </a:p>
          <a:p>
            <a:pPr lvl="1"/>
            <a:r>
              <a:rPr kumimoji="1" lang="en-US" altLang="zh-CN" sz="2400" dirty="0"/>
              <a:t>C++</a:t>
            </a:r>
            <a:r>
              <a:rPr kumimoji="1" lang="zh-CN" altLang="en-US" sz="2400" dirty="0"/>
              <a:t>语言的基本符号与词汇</a:t>
            </a:r>
            <a:endParaRPr kumimoji="1" lang="en-US" altLang="zh-CN" sz="2400" dirty="0"/>
          </a:p>
          <a:p>
            <a:pPr lvl="1"/>
            <a:r>
              <a:rPr kumimoji="1" lang="en-US" altLang="zh-CN" sz="2400" dirty="0"/>
              <a:t>C++</a:t>
            </a:r>
            <a:r>
              <a:rPr kumimoji="1" lang="zh-CN" altLang="en-US" sz="2400" dirty="0"/>
              <a:t>程序的整体结构</a:t>
            </a:r>
            <a:endParaRPr kumimoji="1" lang="en-US" altLang="zh-CN" sz="2400" dirty="0"/>
          </a:p>
          <a:p>
            <a:pPr lvl="1"/>
            <a:r>
              <a:rPr kumimoji="1" lang="zh-CN" altLang="en-US" sz="2400" dirty="0"/>
              <a:t>运行</a:t>
            </a:r>
            <a:r>
              <a:rPr kumimoji="1" lang="en-US" altLang="zh-CN" sz="2400" dirty="0"/>
              <a:t>C++</a:t>
            </a:r>
            <a:r>
              <a:rPr kumimoji="1" lang="zh-CN" altLang="en-US" sz="2400" dirty="0"/>
              <a:t>程序</a:t>
            </a:r>
            <a:endParaRPr kumimoji="1" lang="en-US" altLang="zh-CN" sz="2400" dirty="0"/>
          </a:p>
          <a:p>
            <a:r>
              <a:rPr kumimoji="1" lang="zh-CN" altLang="en-US" dirty="0"/>
              <a:t>第三章</a:t>
            </a:r>
            <a:r>
              <a:rPr kumimoji="1" lang="en-US" altLang="zh-CN" dirty="0"/>
              <a:t> </a:t>
            </a:r>
            <a:r>
              <a:rPr kumimoji="1" lang="zh-CN" altLang="en-US" dirty="0"/>
              <a:t>数据的表现形式及其运算</a:t>
            </a:r>
            <a:endParaRPr kumimoji="1" lang="en-US" altLang="zh-CN" dirty="0"/>
          </a:p>
          <a:p>
            <a:pPr lvl="1"/>
            <a:r>
              <a:rPr kumimoji="1" lang="zh-CN" altLang="en-US" sz="2500" dirty="0"/>
              <a:t>基本数据类型及其派生类型</a:t>
            </a:r>
            <a:endParaRPr kumimoji="1" lang="en-US" altLang="zh-CN" sz="2500" dirty="0"/>
          </a:p>
          <a:p>
            <a:pPr lvl="1"/>
            <a:r>
              <a:rPr kumimoji="1" lang="zh-CN" altLang="en-US" sz="2500" dirty="0"/>
              <a:t>说明语句</a:t>
            </a:r>
            <a:endParaRPr kumimoji="1" lang="en-US" altLang="zh-CN" sz="2500" dirty="0"/>
          </a:p>
          <a:p>
            <a:pPr lvl="1"/>
            <a:r>
              <a:rPr kumimoji="1" lang="zh-CN" altLang="en-US" sz="2500" dirty="0"/>
              <a:t>基本运算</a:t>
            </a:r>
            <a:endParaRPr kumimoji="1" lang="en-US" altLang="zh-CN" sz="25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dirty="0"/>
              <a:t>教学内容安排</a:t>
            </a:r>
            <a:r>
              <a:rPr kumimoji="1" lang="en-US" altLang="zh-CN" dirty="0"/>
              <a:t> 2-1</a:t>
            </a:r>
            <a:endParaRPr kumimoji="1" lang="zh-CN" altLang="en-US" dirty="0"/>
          </a:p>
        </p:txBody>
      </p:sp>
      <p:sp>
        <p:nvSpPr>
          <p:cNvPr id="3" name="内容占位符 2"/>
          <p:cNvSpPr>
            <a:spLocks noGrp="1"/>
          </p:cNvSpPr>
          <p:nvPr>
            <p:ph idx="1"/>
          </p:nvPr>
        </p:nvSpPr>
        <p:spPr>
          <a:xfrm>
            <a:off x="457200" y="1313433"/>
            <a:ext cx="8229600" cy="5427935"/>
          </a:xfrm>
        </p:spPr>
        <p:txBody>
          <a:bodyPr>
            <a:normAutofit fontScale="92500" lnSpcReduction="20000"/>
          </a:bodyPr>
          <a:lstStyle/>
          <a:p>
            <a:r>
              <a:rPr kumimoji="1" lang="zh-CN" altLang="en-US" dirty="0"/>
              <a:t>第四章</a:t>
            </a:r>
            <a:r>
              <a:rPr kumimoji="1" lang="en-US" altLang="zh-CN" dirty="0"/>
              <a:t> </a:t>
            </a:r>
            <a:r>
              <a:rPr kumimoji="1" lang="zh-CN" altLang="en-US" dirty="0"/>
              <a:t>基本控制结构程序设计</a:t>
            </a:r>
            <a:endParaRPr kumimoji="1" lang="en-US" altLang="zh-CN" dirty="0"/>
          </a:p>
          <a:p>
            <a:pPr lvl="1"/>
            <a:r>
              <a:rPr kumimoji="1" lang="zh-CN" altLang="en-US" sz="2400" dirty="0"/>
              <a:t>分支结构程序设计</a:t>
            </a:r>
            <a:endParaRPr kumimoji="1" lang="en-US" altLang="zh-CN" sz="2400" dirty="0"/>
          </a:p>
          <a:p>
            <a:pPr lvl="1"/>
            <a:r>
              <a:rPr kumimoji="1" lang="zh-CN" altLang="en-US" sz="2400" dirty="0"/>
              <a:t>循环结构程序设计</a:t>
            </a:r>
            <a:endParaRPr kumimoji="1" lang="en-US" altLang="zh-CN" sz="2400" dirty="0"/>
          </a:p>
          <a:p>
            <a:pPr lvl="1"/>
            <a:r>
              <a:rPr kumimoji="1" lang="zh-CN" altLang="en-US" sz="2400" dirty="0"/>
              <a:t>无条件控制程序设计</a:t>
            </a:r>
            <a:endParaRPr kumimoji="1" lang="zh-CN" altLang="en-US" sz="2400" dirty="0"/>
          </a:p>
          <a:p>
            <a:r>
              <a:rPr kumimoji="1" lang="zh-CN" altLang="en-US" dirty="0"/>
              <a:t>第五章</a:t>
            </a:r>
            <a:r>
              <a:rPr kumimoji="1" lang="en-US" altLang="zh-CN" dirty="0"/>
              <a:t> </a:t>
            </a:r>
            <a:r>
              <a:rPr kumimoji="1" lang="zh-CN" altLang="en-US" dirty="0"/>
              <a:t>导出数据类型</a:t>
            </a:r>
            <a:endParaRPr kumimoji="1" lang="en-US" altLang="zh-CN" dirty="0"/>
          </a:p>
          <a:p>
            <a:pPr lvl="1"/>
            <a:r>
              <a:rPr kumimoji="1" lang="zh-CN" altLang="en-US" sz="2400" dirty="0"/>
              <a:t>数组类型</a:t>
            </a:r>
            <a:endParaRPr kumimoji="1" lang="en-US" altLang="zh-CN" sz="2400" dirty="0"/>
          </a:p>
          <a:p>
            <a:pPr lvl="1"/>
            <a:r>
              <a:rPr kumimoji="1" lang="zh-CN" altLang="en-US" sz="2400" dirty="0"/>
              <a:t>结构类型</a:t>
            </a:r>
            <a:endParaRPr kumimoji="1" lang="en-US" altLang="zh-CN" sz="2400" dirty="0"/>
          </a:p>
          <a:p>
            <a:r>
              <a:rPr kumimoji="1" lang="zh-CN" altLang="en-US" dirty="0"/>
              <a:t>第六章</a:t>
            </a:r>
            <a:r>
              <a:rPr kumimoji="1" lang="en-US" altLang="zh-CN" dirty="0"/>
              <a:t> </a:t>
            </a:r>
            <a:r>
              <a:rPr kumimoji="1" lang="zh-CN" altLang="en-US" dirty="0"/>
              <a:t>用函数实现模块化程序设计</a:t>
            </a:r>
            <a:endParaRPr kumimoji="1" lang="en-US" altLang="zh-CN" dirty="0"/>
          </a:p>
          <a:p>
            <a:pPr lvl="1"/>
            <a:r>
              <a:rPr kumimoji="1" lang="zh-CN" altLang="en-US" sz="2400" dirty="0"/>
              <a:t>函数的说明与调用</a:t>
            </a:r>
            <a:endParaRPr kumimoji="1" lang="en-US" altLang="zh-CN" sz="2400" dirty="0"/>
          </a:p>
          <a:p>
            <a:pPr lvl="1"/>
            <a:r>
              <a:rPr kumimoji="1" lang="zh-CN" altLang="en-US" sz="2400" dirty="0"/>
              <a:t>函数的嵌套与递归</a:t>
            </a:r>
            <a:endParaRPr kumimoji="1" lang="en-US" altLang="zh-CN" sz="2400" dirty="0"/>
          </a:p>
          <a:p>
            <a:pPr lvl="1"/>
            <a:r>
              <a:rPr kumimoji="1" lang="zh-CN" altLang="en-US" sz="2400" dirty="0"/>
              <a:t>函数与运算符重载</a:t>
            </a:r>
            <a:endParaRPr kumimoji="1" lang="en-US" altLang="zh-CN" sz="2400" dirty="0"/>
          </a:p>
          <a:p>
            <a:r>
              <a:rPr kumimoji="1" lang="zh-CN" altLang="en-US" dirty="0"/>
              <a:t>第七章</a:t>
            </a:r>
            <a:r>
              <a:rPr kumimoji="1" lang="en-US" altLang="zh-CN" dirty="0"/>
              <a:t> </a:t>
            </a:r>
            <a:r>
              <a:rPr kumimoji="1" lang="zh-CN" altLang="en-US" dirty="0"/>
              <a:t>指针和引用类型及动态内存分配</a:t>
            </a:r>
            <a:endParaRPr kumimoji="1" lang="en-US" altLang="zh-CN" dirty="0"/>
          </a:p>
          <a:p>
            <a:pPr lvl="1"/>
            <a:r>
              <a:rPr kumimoji="1" lang="zh-CN" altLang="en-US" sz="2400" dirty="0"/>
              <a:t>指针类型</a:t>
            </a:r>
            <a:endParaRPr kumimoji="1" lang="en-US" altLang="zh-CN" sz="2400" dirty="0"/>
          </a:p>
          <a:p>
            <a:pPr lvl="1"/>
            <a:r>
              <a:rPr kumimoji="1" lang="zh-CN" altLang="en-US" sz="2400" dirty="0"/>
              <a:t>引用类型</a:t>
            </a:r>
            <a:endParaRPr kumimoji="1" lang="zh-CN" altLang="en-US" sz="24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dirty="0"/>
              <a:t>教学内容安排</a:t>
            </a:r>
            <a:r>
              <a:rPr kumimoji="1" lang="en-US" altLang="zh-CN" dirty="0"/>
              <a:t> 2-2</a:t>
            </a:r>
            <a:endParaRPr kumimoji="1" lang="zh-CN" altLang="en-US" dirty="0"/>
          </a:p>
        </p:txBody>
      </p:sp>
      <p:sp>
        <p:nvSpPr>
          <p:cNvPr id="3" name="内容占位符 2"/>
          <p:cNvSpPr>
            <a:spLocks noGrp="1"/>
          </p:cNvSpPr>
          <p:nvPr>
            <p:ph idx="1"/>
          </p:nvPr>
        </p:nvSpPr>
        <p:spPr>
          <a:xfrm>
            <a:off x="457200" y="1313433"/>
            <a:ext cx="8229600" cy="5427935"/>
          </a:xfrm>
        </p:spPr>
        <p:txBody>
          <a:bodyPr>
            <a:normAutofit lnSpcReduction="10000"/>
          </a:bodyPr>
          <a:lstStyle/>
          <a:p>
            <a:r>
              <a:rPr kumimoji="1" lang="zh-CN" altLang="en-US" dirty="0"/>
              <a:t>第八章</a:t>
            </a:r>
            <a:r>
              <a:rPr kumimoji="1" lang="en-US" altLang="zh-CN" dirty="0"/>
              <a:t> </a:t>
            </a:r>
            <a:r>
              <a:rPr kumimoji="1" lang="zh-CN" altLang="en-US" dirty="0"/>
              <a:t>类与对象</a:t>
            </a:r>
            <a:endParaRPr kumimoji="1" lang="en-US" altLang="zh-CN" dirty="0"/>
          </a:p>
          <a:p>
            <a:pPr lvl="1"/>
            <a:r>
              <a:rPr kumimoji="1" lang="en-US" altLang="en-US" sz="2400" dirty="0"/>
              <a:t>类和对象的说明</a:t>
            </a:r>
            <a:endParaRPr kumimoji="1" lang="en-US" altLang="zh-CN" sz="2400" dirty="0"/>
          </a:p>
          <a:p>
            <a:pPr lvl="1"/>
            <a:r>
              <a:rPr kumimoji="1" lang="zh-CN" altLang="en-US" sz="2400" dirty="0"/>
              <a:t>构造函数与析构函数</a:t>
            </a:r>
            <a:endParaRPr kumimoji="1" lang="en-US" altLang="zh-CN" sz="2400" dirty="0"/>
          </a:p>
          <a:p>
            <a:pPr lvl="1"/>
            <a:r>
              <a:rPr kumimoji="1" lang="en-US" altLang="en-US" sz="2400" dirty="0"/>
              <a:t>友元与类之间的关系</a:t>
            </a:r>
            <a:endParaRPr kumimoji="1" lang="en-US" altLang="en-US" sz="2400" dirty="0"/>
          </a:p>
          <a:p>
            <a:pPr lvl="1"/>
            <a:r>
              <a:rPr kumimoji="1" lang="en-US" altLang="en-US" sz="2400" dirty="0"/>
              <a:t>运算符重载用于用户定义类型</a:t>
            </a:r>
            <a:endParaRPr kumimoji="1" lang="zh-CN" altLang="en-US" sz="2400" dirty="0"/>
          </a:p>
          <a:p>
            <a:r>
              <a:rPr kumimoji="1" lang="zh-CN" altLang="en-US" dirty="0"/>
              <a:t>第九章</a:t>
            </a:r>
            <a:r>
              <a:rPr kumimoji="1" lang="en-US" altLang="zh-CN" dirty="0"/>
              <a:t> </a:t>
            </a:r>
            <a:r>
              <a:rPr kumimoji="1" lang="zh-CN" altLang="en-US" dirty="0"/>
              <a:t>继承与派生</a:t>
            </a:r>
            <a:endParaRPr kumimoji="1" lang="en-US" altLang="zh-CN" dirty="0"/>
          </a:p>
          <a:p>
            <a:pPr lvl="1"/>
            <a:r>
              <a:rPr kumimoji="1" lang="zh-CN" altLang="en-US" sz="2400" dirty="0"/>
              <a:t>继承与派生</a:t>
            </a:r>
            <a:endParaRPr kumimoji="1" lang="en-US" altLang="zh-CN" sz="2400" dirty="0"/>
          </a:p>
          <a:p>
            <a:pPr lvl="1"/>
            <a:r>
              <a:rPr kumimoji="1" lang="zh-CN" altLang="en-US" sz="2400" dirty="0"/>
              <a:t>派生关系中的二义性处理</a:t>
            </a:r>
            <a:endParaRPr kumimoji="1" lang="en-US" altLang="zh-CN" sz="2400" dirty="0"/>
          </a:p>
          <a:p>
            <a:pPr lvl="1"/>
            <a:r>
              <a:rPr kumimoji="1" lang="en-US" altLang="en-US" sz="2400" dirty="0"/>
              <a:t>多态性与虚函数</a:t>
            </a:r>
            <a:endParaRPr kumimoji="1" lang="en-US" altLang="zh-CN" sz="2400" dirty="0"/>
          </a:p>
          <a:p>
            <a:r>
              <a:rPr kumimoji="1" lang="zh-CN" altLang="en-US" dirty="0"/>
              <a:t>第十章</a:t>
            </a:r>
            <a:r>
              <a:rPr kumimoji="1" lang="en-US" altLang="zh-CN" dirty="0"/>
              <a:t> </a:t>
            </a:r>
            <a:r>
              <a:rPr kumimoji="1" lang="zh-CN" altLang="en-US" dirty="0"/>
              <a:t>模板</a:t>
            </a:r>
            <a:endParaRPr kumimoji="1" lang="en-US" altLang="zh-CN" dirty="0"/>
          </a:p>
          <a:p>
            <a:pPr lvl="1"/>
            <a:r>
              <a:rPr kumimoji="1" lang="zh-CN" altLang="en-US" sz="2400" dirty="0"/>
              <a:t>函数模板</a:t>
            </a:r>
            <a:endParaRPr kumimoji="1" lang="en-US" altLang="zh-CN" sz="2400" dirty="0"/>
          </a:p>
          <a:p>
            <a:pPr lvl="1"/>
            <a:r>
              <a:rPr kumimoji="1" lang="en-US" altLang="en-US" sz="2400" dirty="0"/>
              <a:t>类模板</a:t>
            </a:r>
            <a:endParaRPr kumimoji="1" lang="en-US" altLang="zh-CN" sz="24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dirty="0"/>
              <a:t>教学内容安排</a:t>
            </a:r>
            <a:r>
              <a:rPr kumimoji="1" lang="en-US" altLang="zh-CN" dirty="0"/>
              <a:t> 2-2</a:t>
            </a:r>
            <a:endParaRPr kumimoji="1" lang="zh-CN" altLang="en-US" dirty="0"/>
          </a:p>
        </p:txBody>
      </p:sp>
      <p:sp>
        <p:nvSpPr>
          <p:cNvPr id="3" name="内容占位符 2"/>
          <p:cNvSpPr>
            <a:spLocks noGrp="1"/>
          </p:cNvSpPr>
          <p:nvPr>
            <p:ph idx="1"/>
          </p:nvPr>
        </p:nvSpPr>
        <p:spPr>
          <a:xfrm>
            <a:off x="457200" y="1313433"/>
            <a:ext cx="8229600" cy="5427935"/>
          </a:xfrm>
        </p:spPr>
        <p:txBody>
          <a:bodyPr>
            <a:normAutofit/>
          </a:bodyPr>
          <a:lstStyle/>
          <a:p>
            <a:r>
              <a:rPr kumimoji="1" lang="zh-CN" altLang="en-US" dirty="0"/>
              <a:t>第十一章</a:t>
            </a:r>
            <a:r>
              <a:rPr kumimoji="1" lang="en-US" altLang="zh-CN" dirty="0"/>
              <a:t> </a:t>
            </a:r>
            <a:r>
              <a:rPr kumimoji="1" lang="zh-CN" altLang="en-US" dirty="0"/>
              <a:t>输入输出</a:t>
            </a:r>
            <a:r>
              <a:rPr kumimoji="1" lang="en-US" altLang="zh-CN" dirty="0"/>
              <a:t>(I/O)</a:t>
            </a:r>
            <a:r>
              <a:rPr kumimoji="1" lang="zh-CN" altLang="en-US" dirty="0"/>
              <a:t>流</a:t>
            </a:r>
            <a:endParaRPr kumimoji="1" lang="en-US" altLang="zh-CN" dirty="0"/>
          </a:p>
          <a:p>
            <a:pPr lvl="1"/>
            <a:r>
              <a:rPr kumimoji="1" lang="zh-CN" altLang="en-US" sz="2400" dirty="0"/>
              <a:t>文件、流及</a:t>
            </a:r>
            <a:r>
              <a:rPr kumimoji="1" lang="en-US" altLang="zh-CN" sz="2400" dirty="0"/>
              <a:t>C++</a:t>
            </a:r>
            <a:r>
              <a:rPr kumimoji="1" lang="zh-CN" altLang="en-US" sz="2400" dirty="0"/>
              <a:t>的流类库</a:t>
            </a:r>
            <a:endParaRPr kumimoji="1" lang="en-US" altLang="zh-CN" sz="2400" dirty="0"/>
          </a:p>
          <a:p>
            <a:pPr lvl="1"/>
            <a:r>
              <a:rPr kumimoji="1" lang="en-US" altLang="en-US" sz="2400" dirty="0" err="1"/>
              <a:t>对标准设备的I</a:t>
            </a:r>
            <a:r>
              <a:rPr kumimoji="1" lang="en-US" altLang="en-US" sz="2400" dirty="0"/>
              <a:t>/</a:t>
            </a:r>
            <a:r>
              <a:rPr kumimoji="1" lang="en-US" altLang="en-US" sz="2400" dirty="0" err="1"/>
              <a:t>O操作</a:t>
            </a:r>
            <a:endParaRPr kumimoji="1" lang="en-US" altLang="en-US" sz="2400" dirty="0"/>
          </a:p>
          <a:p>
            <a:pPr lvl="1"/>
            <a:r>
              <a:rPr kumimoji="1" lang="en-US" altLang="zh-CN" sz="2400" dirty="0"/>
              <a:t>I/O</a:t>
            </a:r>
            <a:r>
              <a:rPr kumimoji="1" lang="zh-CN" altLang="en-US" sz="2400" dirty="0"/>
              <a:t>格式控制</a:t>
            </a:r>
            <a:endParaRPr kumimoji="1" lang="en-US" altLang="zh-CN" sz="2400" dirty="0"/>
          </a:p>
          <a:p>
            <a:pPr lvl="1"/>
            <a:r>
              <a:rPr kumimoji="1" lang="zh-CN" altLang="en-US" sz="2400" dirty="0"/>
              <a:t>磁盘文件的输入输出</a:t>
            </a:r>
            <a:endParaRPr kumimoji="1" lang="en-US" altLang="zh-CN" sz="2400" dirty="0"/>
          </a:p>
          <a:p>
            <a:pPr lvl="1"/>
            <a:r>
              <a:rPr kumimoji="1" lang="en-US" altLang="zh-CN" sz="2400" dirty="0"/>
              <a:t>text</a:t>
            </a:r>
            <a:r>
              <a:rPr kumimoji="1" lang="zh-CN" altLang="en-US" sz="2400" dirty="0"/>
              <a:t>文件与</a:t>
            </a:r>
            <a:r>
              <a:rPr kumimoji="1" lang="en-US" altLang="zh-CN" sz="2400" dirty="0"/>
              <a:t>binary</a:t>
            </a:r>
            <a:r>
              <a:rPr kumimoji="1" lang="zh-CN" altLang="en-US" sz="2400" dirty="0"/>
              <a:t>文件</a:t>
            </a:r>
            <a:endParaRPr kumimoji="1" lang="en-US" altLang="zh-CN" sz="2400" dirty="0"/>
          </a:p>
          <a:p>
            <a:r>
              <a:rPr kumimoji="1" lang="zh-CN" altLang="en-US" dirty="0"/>
              <a:t>第十二章</a:t>
            </a:r>
            <a:r>
              <a:rPr kumimoji="1" lang="en-US" altLang="zh-CN" dirty="0"/>
              <a:t> </a:t>
            </a:r>
            <a:r>
              <a:rPr kumimoji="1" lang="zh-CN" altLang="en-US" dirty="0"/>
              <a:t>异常处理</a:t>
            </a:r>
            <a:endParaRPr kumimoji="1" lang="en-US" altLang="zh-CN" dirty="0"/>
          </a:p>
          <a:p>
            <a:pPr lvl="1"/>
            <a:r>
              <a:rPr kumimoji="1" lang="zh-CN" altLang="en-US" sz="2400" dirty="0"/>
              <a:t>异常处理的基本思想及实现</a:t>
            </a:r>
            <a:endParaRPr kumimoji="1" lang="en-US" altLang="zh-CN" sz="2400" dirty="0"/>
          </a:p>
          <a:p>
            <a:pPr lvl="1"/>
            <a:r>
              <a:rPr kumimoji="1" lang="zh-CN" altLang="en-US" sz="2400" dirty="0"/>
              <a:t>异常处理的进一步讨论</a:t>
            </a:r>
            <a:endParaRPr kumimoji="1" lang="en-US" altLang="zh-CN" sz="2400" dirty="0"/>
          </a:p>
          <a:p>
            <a:r>
              <a:rPr kumimoji="1" lang="zh-CN" altLang="en-US" dirty="0"/>
              <a:t>第十三章</a:t>
            </a:r>
            <a:r>
              <a:rPr kumimoji="1" lang="en-US" altLang="zh-CN" dirty="0"/>
              <a:t> </a:t>
            </a:r>
            <a:r>
              <a:rPr kumimoji="1" lang="zh-CN" altLang="en-US" dirty="0"/>
              <a:t>标准模板库</a:t>
            </a:r>
            <a:r>
              <a:rPr kumimoji="1" lang="en-US" altLang="zh-CN" dirty="0"/>
              <a:t>STL</a:t>
            </a:r>
            <a:endParaRPr kumimoji="1" lang="zh-CN" altLang="en-US"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dirty="0"/>
              <a:t>主讲教师</a:t>
            </a:r>
            <a:endParaRPr kumimoji="1" lang="zh-CN" altLang="en-US" dirty="0"/>
          </a:p>
        </p:txBody>
      </p:sp>
      <p:sp>
        <p:nvSpPr>
          <p:cNvPr id="3" name="内容占位符 2"/>
          <p:cNvSpPr>
            <a:spLocks noGrp="1"/>
          </p:cNvSpPr>
          <p:nvPr>
            <p:ph idx="1"/>
          </p:nvPr>
        </p:nvSpPr>
        <p:spPr/>
        <p:txBody>
          <a:bodyPr/>
          <a:lstStyle/>
          <a:p>
            <a:r>
              <a:rPr kumimoji="1" lang="zh-TW" altLang="en-US" dirty="0"/>
              <a:t>主讲教师</a:t>
            </a:r>
            <a:endParaRPr kumimoji="1" lang="en-US" altLang="zh-TW" dirty="0"/>
          </a:p>
          <a:p>
            <a:pPr lvl="1"/>
            <a:r>
              <a:rPr kumimoji="1" lang="zh-CN" altLang="en-US" dirty="0"/>
              <a:t>许静</a:t>
            </a:r>
            <a:endParaRPr kumimoji="1" lang="zh-TW" altLang="en-US" dirty="0"/>
          </a:p>
          <a:p>
            <a:r>
              <a:rPr kumimoji="1" lang="zh-TW" altLang="en-US" dirty="0"/>
              <a:t>电子邮件</a:t>
            </a:r>
            <a:endParaRPr kumimoji="1" lang="zh-TW" altLang="en-US" dirty="0"/>
          </a:p>
          <a:p>
            <a:pPr lvl="1"/>
            <a:r>
              <a:rPr kumimoji="1" lang="en-US" altLang="zh-CN" dirty="0"/>
              <a:t>xujing</a:t>
            </a:r>
            <a:r>
              <a:rPr kumimoji="1" lang="en-US" altLang="zh-TW" dirty="0"/>
              <a:t>@nankai.edu.cn</a:t>
            </a:r>
            <a:endParaRPr kumimoji="1" lang="en-US" altLang="zh-TW" dirty="0"/>
          </a:p>
          <a:p>
            <a:r>
              <a:rPr kumimoji="1" lang="zh-TW" altLang="en-US" dirty="0"/>
              <a:t>联系电话</a:t>
            </a:r>
            <a:endParaRPr kumimoji="1" lang="en-US" altLang="zh-TW" dirty="0"/>
          </a:p>
          <a:p>
            <a:pPr lvl="1"/>
            <a:r>
              <a:rPr kumimoji="1" lang="en-US" altLang="zh-TW" dirty="0"/>
              <a:t>1</a:t>
            </a:r>
            <a:r>
              <a:rPr kumimoji="1" lang="en-US" altLang="zh-CN" dirty="0"/>
              <a:t>3</a:t>
            </a:r>
            <a:r>
              <a:rPr kumimoji="1" lang="en-US" altLang="zh-TW" dirty="0"/>
              <a:t>9</a:t>
            </a:r>
            <a:r>
              <a:rPr kumimoji="1" lang="en-US" altLang="zh-CN" dirty="0"/>
              <a:t>20892351 </a:t>
            </a:r>
            <a:r>
              <a:rPr kumimoji="1" lang="zh-CN" altLang="en-US" dirty="0"/>
              <a:t>微信同</a:t>
            </a:r>
            <a:endParaRPr kumimoji="1" lang="en-US" altLang="zh-TW" dirty="0"/>
          </a:p>
          <a:p>
            <a:r>
              <a:rPr kumimoji="1" lang="zh-TW" altLang="en-US" dirty="0"/>
              <a:t>办公室</a:t>
            </a:r>
            <a:endParaRPr kumimoji="1" lang="zh-TW" altLang="en-US" dirty="0"/>
          </a:p>
          <a:p>
            <a:pPr lvl="1"/>
            <a:r>
              <a:rPr kumimoji="1" lang="zh-CN" altLang="en-US" dirty="0"/>
              <a:t>人工智能学院楼南楼</a:t>
            </a:r>
            <a:r>
              <a:rPr kumimoji="1" lang="en-US" altLang="zh-CN" dirty="0"/>
              <a:t>401</a:t>
            </a:r>
            <a:endParaRPr kumimoji="1" lang="zh-CN" altLang="en-US"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绪论</a:t>
            </a:r>
            <a:endParaRPr lang="zh-CN" altLang="en-US" dirty="0"/>
          </a:p>
        </p:txBody>
      </p:sp>
      <p:grpSp>
        <p:nvGrpSpPr>
          <p:cNvPr id="53" name="Group 52"/>
          <p:cNvGrpSpPr/>
          <p:nvPr/>
        </p:nvGrpSpPr>
        <p:grpSpPr bwMode="auto">
          <a:xfrm>
            <a:off x="-2395538" y="1600200"/>
            <a:ext cx="9253538" cy="4824413"/>
            <a:chOff x="-1509" y="1008"/>
            <a:chExt cx="5829" cy="3039"/>
          </a:xfrm>
        </p:grpSpPr>
        <p:sp>
          <p:nvSpPr>
            <p:cNvPr id="54" name="AutoShape 4"/>
            <p:cNvSpPr>
              <a:spLocks noChangeArrowheads="1"/>
            </p:cNvSpPr>
            <p:nvPr/>
          </p:nvSpPr>
          <p:spPr bwMode="ltGray">
            <a:xfrm rot="5400000">
              <a:off x="-1526" y="1025"/>
              <a:ext cx="3039" cy="3005"/>
            </a:xfrm>
            <a:custGeom>
              <a:avLst/>
              <a:gdLst>
                <a:gd name="G0" fmla="+- 10478 0 0"/>
                <a:gd name="G1" fmla="+- -11739500 0 0"/>
                <a:gd name="G2" fmla="+- 0 0 -11739500"/>
                <a:gd name="T0" fmla="*/ 0 256 1"/>
                <a:gd name="T1" fmla="*/ 180 256 1"/>
                <a:gd name="G3" fmla="+- -11739500 T0 T1"/>
                <a:gd name="T2" fmla="*/ 0 256 1"/>
                <a:gd name="T3" fmla="*/ 90 256 1"/>
                <a:gd name="G4" fmla="+- -11739500 T2 T3"/>
                <a:gd name="G5" fmla="*/ G4 2 1"/>
                <a:gd name="T4" fmla="*/ 90 256 1"/>
                <a:gd name="T5" fmla="*/ 0 256 1"/>
                <a:gd name="G6" fmla="+- -11739500 T4 T5"/>
                <a:gd name="G7" fmla="*/ G6 2 1"/>
                <a:gd name="G8" fmla="abs -11739500"/>
                <a:gd name="T6" fmla="*/ 0 256 1"/>
                <a:gd name="T7" fmla="*/ 90 256 1"/>
                <a:gd name="G9" fmla="+- G8 T6 T7"/>
                <a:gd name="G10" fmla="?: G9 G7 G5"/>
                <a:gd name="T8" fmla="*/ 0 256 1"/>
                <a:gd name="T9" fmla="*/ 360 256 1"/>
                <a:gd name="G11" fmla="+- G10 T8 T9"/>
                <a:gd name="G12" fmla="?: G10 G11 G10"/>
                <a:gd name="T10" fmla="*/ 0 256 1"/>
                <a:gd name="T11" fmla="*/ 360 256 1"/>
                <a:gd name="G13" fmla="+- G12 T10 T11"/>
                <a:gd name="G14" fmla="?: G12 G13 G12"/>
                <a:gd name="G15" fmla="+- 0 0 G14"/>
                <a:gd name="G16" fmla="+- 10800 0 0"/>
                <a:gd name="G17" fmla="+- 10800 0 10478"/>
                <a:gd name="G18" fmla="*/ 10478 1 2"/>
                <a:gd name="G19" fmla="+- G18 5400 0"/>
                <a:gd name="G20" fmla="cos G19 -11739500"/>
                <a:gd name="G21" fmla="sin G19 -11739500"/>
                <a:gd name="G22" fmla="+- G20 10800 0"/>
                <a:gd name="G23" fmla="+- G21 10800 0"/>
                <a:gd name="G24" fmla="+- 10800 0 G20"/>
                <a:gd name="G25" fmla="+- 10478 10800 0"/>
                <a:gd name="G26" fmla="?: G9 G17 G25"/>
                <a:gd name="G27" fmla="?: G9 0 21600"/>
                <a:gd name="G28" fmla="cos 10800 -11739500"/>
                <a:gd name="G29" fmla="sin 10800 -11739500"/>
                <a:gd name="G30" fmla="sin 10478 -11739500"/>
                <a:gd name="G31" fmla="+- G28 10800 0"/>
                <a:gd name="G32" fmla="+- G29 10800 0"/>
                <a:gd name="G33" fmla="+- G30 10800 0"/>
                <a:gd name="G34" fmla="?: G4 0 G31"/>
                <a:gd name="G35" fmla="?: -11739500 G34 0"/>
                <a:gd name="G36" fmla="?: G6 G35 G31"/>
                <a:gd name="G37" fmla="+- 21600 0 G36"/>
                <a:gd name="G38" fmla="?: G4 0 G33"/>
                <a:gd name="G39" fmla="?: -11739500 G38 G32"/>
                <a:gd name="G40" fmla="?: G6 G39 0"/>
                <a:gd name="G41" fmla="?: G4 G32 21600"/>
                <a:gd name="G42" fmla="?: G6 G41 G33"/>
                <a:gd name="T12" fmla="*/ 10800 w 21600"/>
                <a:gd name="T13" fmla="*/ 0 h 21600"/>
                <a:gd name="T14" fmla="*/ 162 w 21600"/>
                <a:gd name="T15" fmla="*/ 10638 h 21600"/>
                <a:gd name="T16" fmla="*/ 10800 w 21600"/>
                <a:gd name="T17" fmla="*/ 322 h 21600"/>
                <a:gd name="T18" fmla="*/ 21438 w 21600"/>
                <a:gd name="T19" fmla="*/ 10638 h 21600"/>
                <a:gd name="T20" fmla="*/ G36 w 21600"/>
                <a:gd name="T21" fmla="*/ G40 h 21600"/>
                <a:gd name="T22" fmla="*/ G37 w 21600"/>
                <a:gd name="T23" fmla="*/ G42 h 21600"/>
              </a:gdLst>
              <a:ahLst/>
              <a:cxnLst>
                <a:cxn ang="0">
                  <a:pos x="T12" y="T13"/>
                </a:cxn>
                <a:cxn ang="0">
                  <a:pos x="T14" y="T15"/>
                </a:cxn>
                <a:cxn ang="0">
                  <a:pos x="T16" y="T17"/>
                </a:cxn>
                <a:cxn ang="0">
                  <a:pos x="T18" y="T19"/>
                </a:cxn>
              </a:cxnLst>
              <a:rect l="T20" t="T21" r="T22" b="T23"/>
              <a:pathLst>
                <a:path w="21600" h="21600">
                  <a:moveTo>
                    <a:pt x="323" y="10641"/>
                  </a:moveTo>
                  <a:cubicBezTo>
                    <a:pt x="410" y="4916"/>
                    <a:pt x="5075" y="321"/>
                    <a:pt x="10800" y="322"/>
                  </a:cubicBezTo>
                  <a:cubicBezTo>
                    <a:pt x="16524" y="322"/>
                    <a:pt x="21189" y="4916"/>
                    <a:pt x="21276" y="10641"/>
                  </a:cubicBezTo>
                  <a:lnTo>
                    <a:pt x="21598" y="10636"/>
                  </a:lnTo>
                  <a:cubicBezTo>
                    <a:pt x="21509" y="4736"/>
                    <a:pt x="16700" y="-1"/>
                    <a:pt x="10799" y="0"/>
                  </a:cubicBezTo>
                  <a:cubicBezTo>
                    <a:pt x="4899" y="0"/>
                    <a:pt x="90" y="4736"/>
                    <a:pt x="1" y="10636"/>
                  </a:cubicBezTo>
                  <a:close/>
                </a:path>
              </a:pathLst>
            </a:custGeom>
            <a:gradFill rotWithShape="1">
              <a:gsLst>
                <a:gs pos="0">
                  <a:schemeClr val="bg2">
                    <a:gamma/>
                    <a:tint val="45490"/>
                    <a:invGamma/>
                  </a:schemeClr>
                </a:gs>
                <a:gs pos="50000">
                  <a:schemeClr val="bg2"/>
                </a:gs>
                <a:gs pos="100000">
                  <a:schemeClr val="bg2">
                    <a:gamma/>
                    <a:tint val="45490"/>
                    <a:invGamma/>
                  </a:schemeClr>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endParaRPr lang="zh-CN" altLang="en-US"/>
            </a:p>
          </p:txBody>
        </p:sp>
        <p:sp>
          <p:nvSpPr>
            <p:cNvPr id="55" name="AutoShape 5"/>
            <p:cNvSpPr>
              <a:spLocks noChangeArrowheads="1"/>
            </p:cNvSpPr>
            <p:nvPr/>
          </p:nvSpPr>
          <p:spPr bwMode="ltGray">
            <a:xfrm rot="5400000" flipH="1">
              <a:off x="-1270" y="1299"/>
              <a:ext cx="2540" cy="2475"/>
            </a:xfrm>
            <a:custGeom>
              <a:avLst/>
              <a:gdLst>
                <a:gd name="G0" fmla="+- 56 0 0"/>
                <a:gd name="G1" fmla="+- 11796480 0 0"/>
                <a:gd name="G2" fmla="+- 0 0 11796480"/>
                <a:gd name="T0" fmla="*/ 0 256 1"/>
                <a:gd name="T1" fmla="*/ 180 256 1"/>
                <a:gd name="G3" fmla="+- 11796480 T0 T1"/>
                <a:gd name="T2" fmla="*/ 0 256 1"/>
                <a:gd name="T3" fmla="*/ 90 256 1"/>
                <a:gd name="G4" fmla="+- 11796480 T2 T3"/>
                <a:gd name="G5" fmla="*/ G4 2 1"/>
                <a:gd name="T4" fmla="*/ 90 256 1"/>
                <a:gd name="T5" fmla="*/ 0 256 1"/>
                <a:gd name="G6" fmla="+- 11796480 T4 T5"/>
                <a:gd name="G7" fmla="*/ G6 2 1"/>
                <a:gd name="G8" fmla="abs 11796480"/>
                <a:gd name="T6" fmla="*/ 0 256 1"/>
                <a:gd name="T7" fmla="*/ 90 256 1"/>
                <a:gd name="G9" fmla="+- G8 T6 T7"/>
                <a:gd name="G10" fmla="?: G9 G7 G5"/>
                <a:gd name="T8" fmla="*/ 0 256 1"/>
                <a:gd name="T9" fmla="*/ 360 256 1"/>
                <a:gd name="G11" fmla="+- G10 T8 T9"/>
                <a:gd name="G12" fmla="?: G10 G11 G10"/>
                <a:gd name="T10" fmla="*/ 0 256 1"/>
                <a:gd name="T11" fmla="*/ 360 256 1"/>
                <a:gd name="G13" fmla="+- G12 T10 T11"/>
                <a:gd name="G14" fmla="?: G12 G13 G12"/>
                <a:gd name="G15" fmla="+- 0 0 G14"/>
                <a:gd name="G16" fmla="+- 10800 0 0"/>
                <a:gd name="G17" fmla="+- 10800 0 56"/>
                <a:gd name="G18" fmla="*/ 56 1 2"/>
                <a:gd name="G19" fmla="+- G18 5400 0"/>
                <a:gd name="G20" fmla="cos G19 11796480"/>
                <a:gd name="G21" fmla="sin G19 11796480"/>
                <a:gd name="G22" fmla="+- G20 10800 0"/>
                <a:gd name="G23" fmla="+- G21 10800 0"/>
                <a:gd name="G24" fmla="+- 10800 0 G20"/>
                <a:gd name="G25" fmla="+- 56 10800 0"/>
                <a:gd name="G26" fmla="?: G9 G17 G25"/>
                <a:gd name="G27" fmla="?: G9 0 21600"/>
                <a:gd name="G28" fmla="cos 10800 11796480"/>
                <a:gd name="G29" fmla="sin 10800 11796480"/>
                <a:gd name="G30" fmla="sin 56 11796480"/>
                <a:gd name="G31" fmla="+- G28 10800 0"/>
                <a:gd name="G32" fmla="+- G29 10800 0"/>
                <a:gd name="G33" fmla="+- G30 10800 0"/>
                <a:gd name="G34" fmla="?: G4 0 G31"/>
                <a:gd name="G35" fmla="?: 11796480 G34 0"/>
                <a:gd name="G36" fmla="?: G6 G35 G31"/>
                <a:gd name="G37" fmla="+- 21600 0 G36"/>
                <a:gd name="G38" fmla="?: G4 0 G33"/>
                <a:gd name="G39" fmla="?: 11796480 G38 G32"/>
                <a:gd name="G40" fmla="?: G6 G39 0"/>
                <a:gd name="G41" fmla="?: G4 G32 21600"/>
                <a:gd name="G42" fmla="?: G6 G41 G33"/>
                <a:gd name="T12" fmla="*/ 10800 w 21600"/>
                <a:gd name="T13" fmla="*/ 0 h 21600"/>
                <a:gd name="T14" fmla="*/ 5372 w 21600"/>
                <a:gd name="T15" fmla="*/ 10800 h 21600"/>
                <a:gd name="T16" fmla="*/ 10800 w 21600"/>
                <a:gd name="T17" fmla="*/ 10744 h 21600"/>
                <a:gd name="T18" fmla="*/ 16228 w 21600"/>
                <a:gd name="T19" fmla="*/ 10800 h 21600"/>
                <a:gd name="T20" fmla="*/ G36 w 21600"/>
                <a:gd name="T21" fmla="*/ G40 h 21600"/>
                <a:gd name="T22" fmla="*/ G37 w 21600"/>
                <a:gd name="T23" fmla="*/ G42 h 21600"/>
              </a:gdLst>
              <a:ahLst/>
              <a:cxnLst>
                <a:cxn ang="0">
                  <a:pos x="T12" y="T13"/>
                </a:cxn>
                <a:cxn ang="0">
                  <a:pos x="T14" y="T15"/>
                </a:cxn>
                <a:cxn ang="0">
                  <a:pos x="T16" y="T17"/>
                </a:cxn>
                <a:cxn ang="0">
                  <a:pos x="T18" y="T19"/>
                </a:cxn>
              </a:cxnLst>
              <a:rect l="T20" t="T21" r="T22" b="T23"/>
              <a:pathLst>
                <a:path w="21600" h="21600">
                  <a:moveTo>
                    <a:pt x="10744" y="10800"/>
                  </a:moveTo>
                  <a:cubicBezTo>
                    <a:pt x="10744" y="10769"/>
                    <a:pt x="10769" y="10744"/>
                    <a:pt x="10800" y="10744"/>
                  </a:cubicBezTo>
                  <a:cubicBezTo>
                    <a:pt x="10830" y="10743"/>
                    <a:pt x="10855" y="10769"/>
                    <a:pt x="10856" y="10799"/>
                  </a:cubicBezTo>
                  <a:lnTo>
                    <a:pt x="21600" y="10800"/>
                  </a:lnTo>
                  <a:cubicBezTo>
                    <a:pt x="21600" y="4835"/>
                    <a:pt x="16764" y="0"/>
                    <a:pt x="10800" y="0"/>
                  </a:cubicBezTo>
                  <a:cubicBezTo>
                    <a:pt x="4835" y="0"/>
                    <a:pt x="0" y="4835"/>
                    <a:pt x="0" y="10800"/>
                  </a:cubicBezTo>
                  <a:close/>
                </a:path>
              </a:pathLst>
            </a:custGeom>
            <a:solidFill>
              <a:srgbClr val="BBE0E3"/>
            </a:solidFill>
            <a:ln>
              <a:noFill/>
            </a:ln>
            <a:effectLst/>
            <a:extLst>
              <a:ext uri="{91240B29-F687-4F45-9708-019B960494DF}">
                <a14:hiddenLine xmlns:a14="http://schemas.microsoft.com/office/drawing/2010/main" w="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grpSp>
          <p:nvGrpSpPr>
            <p:cNvPr id="56" name="Group 47"/>
            <p:cNvGrpSpPr/>
            <p:nvPr/>
          </p:nvGrpSpPr>
          <p:grpSpPr bwMode="auto">
            <a:xfrm>
              <a:off x="912" y="1243"/>
              <a:ext cx="2984" cy="320"/>
              <a:chOff x="912" y="1243"/>
              <a:chExt cx="2984" cy="320"/>
            </a:xfrm>
          </p:grpSpPr>
          <p:sp>
            <p:nvSpPr>
              <p:cNvPr id="93" name="AutoShape 10"/>
              <p:cNvSpPr>
                <a:spLocks noChangeArrowheads="1"/>
              </p:cNvSpPr>
              <p:nvPr/>
            </p:nvSpPr>
            <p:spPr bwMode="gray">
              <a:xfrm>
                <a:off x="1112" y="1243"/>
                <a:ext cx="2784" cy="320"/>
              </a:xfrm>
              <a:prstGeom prst="roundRect">
                <a:avLst>
                  <a:gd name="adj" fmla="val 50000"/>
                </a:avLst>
              </a:prstGeom>
              <a:noFill/>
              <a:ln w="28575" algn="ctr">
                <a:solidFill>
                  <a:schemeClr val="bg2"/>
                </a:solidFill>
                <a:rou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hangingPunct="0"/>
                <a:r>
                  <a:rPr lang="zh-CN" altLang="en-US" sz="2400" b="1" dirty="0">
                    <a:latin typeface="华文新魏" panose="02010800040101010101" pitchFamily="2" charset="-122"/>
                    <a:ea typeface="华文新魏" panose="02010800040101010101" pitchFamily="2" charset="-122"/>
                  </a:rPr>
                  <a:t>计算机与程序设计</a:t>
                </a:r>
                <a:endParaRPr lang="en-US" altLang="zh-CN" sz="2400" b="1" dirty="0">
                  <a:latin typeface="华文新魏" panose="02010800040101010101" pitchFamily="2" charset="-122"/>
                  <a:ea typeface="华文新魏" panose="02010800040101010101" pitchFamily="2" charset="-122"/>
                </a:endParaRPr>
              </a:p>
            </p:txBody>
          </p:sp>
          <p:grpSp>
            <p:nvGrpSpPr>
              <p:cNvPr id="94" name="Group 11"/>
              <p:cNvGrpSpPr/>
              <p:nvPr/>
            </p:nvGrpSpPr>
            <p:grpSpPr bwMode="auto">
              <a:xfrm>
                <a:off x="912" y="1299"/>
                <a:ext cx="240" cy="240"/>
                <a:chOff x="2078" y="1680"/>
                <a:chExt cx="1615" cy="1615"/>
              </a:xfrm>
            </p:grpSpPr>
            <p:sp>
              <p:nvSpPr>
                <p:cNvPr id="95" name="Oval 12"/>
                <p:cNvSpPr>
                  <a:spLocks noChangeArrowheads="1"/>
                </p:cNvSpPr>
                <p:nvPr/>
              </p:nvSpPr>
              <p:spPr bwMode="gray">
                <a:xfrm>
                  <a:off x="2078" y="1680"/>
                  <a:ext cx="1615" cy="1615"/>
                </a:xfrm>
                <a:prstGeom prst="ellipse">
                  <a:avLst/>
                </a:prstGeom>
                <a:gradFill rotWithShape="1">
                  <a:gsLst>
                    <a:gs pos="0">
                      <a:srgbClr val="FFFFFF">
                        <a:gamma/>
                        <a:shade val="46275"/>
                        <a:invGamma/>
                      </a:srgbClr>
                    </a:gs>
                    <a:gs pos="50000">
                      <a:srgbClr val="FFFFFF"/>
                    </a:gs>
                    <a:gs pos="100000">
                      <a:srgbClr val="FFFFFF">
                        <a:gamma/>
                        <a:shade val="46275"/>
                        <a:invGamma/>
                      </a:srgbClr>
                    </a:gs>
                  </a:gsLst>
                  <a:lin ang="5400000" scaled="1"/>
                </a:gradFill>
                <a:ln>
                  <a:noFill/>
                </a:ln>
                <a:effectLst/>
                <a:extLst>
                  <a:ext uri="{91240B29-F687-4F45-9708-019B960494DF}">
                    <a14:hiddenLine xmlns:a14="http://schemas.microsoft.com/office/drawing/2010/main" w="57150">
                      <a:solidFill>
                        <a:schemeClr val="bg1"/>
                      </a:solidFill>
                      <a:round/>
                    </a14:hiddenLine>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endParaRPr lang="zh-CN" altLang="en-US"/>
                </a:p>
              </p:txBody>
            </p:sp>
            <p:sp>
              <p:nvSpPr>
                <p:cNvPr id="96" name="Oval 13"/>
                <p:cNvSpPr>
                  <a:spLocks noChangeArrowheads="1"/>
                </p:cNvSpPr>
                <p:nvPr/>
              </p:nvSpPr>
              <p:spPr bwMode="gray">
                <a:xfrm>
                  <a:off x="2170" y="1771"/>
                  <a:ext cx="1430" cy="1430"/>
                </a:xfrm>
                <a:prstGeom prst="ellipse">
                  <a:avLst/>
                </a:prstGeom>
                <a:gradFill rotWithShape="1">
                  <a:gsLst>
                    <a:gs pos="0">
                      <a:srgbClr val="FFFFFF">
                        <a:gamma/>
                        <a:shade val="63529"/>
                        <a:invGamma/>
                      </a:srgbClr>
                    </a:gs>
                    <a:gs pos="50000">
                      <a:srgbClr val="FFFFFF"/>
                    </a:gs>
                    <a:gs pos="100000">
                      <a:srgbClr val="FFFFFF">
                        <a:gamma/>
                        <a:shade val="63529"/>
                        <a:invGamma/>
                      </a:srgbClr>
                    </a:gs>
                  </a:gsLst>
                  <a:lin ang="0" scaled="1"/>
                </a:gra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endParaRPr lang="zh-CN" altLang="en-US"/>
                </a:p>
              </p:txBody>
            </p:sp>
            <p:sp>
              <p:nvSpPr>
                <p:cNvPr id="97" name="Oval 14"/>
                <p:cNvSpPr>
                  <a:spLocks noChangeArrowheads="1"/>
                </p:cNvSpPr>
                <p:nvPr/>
              </p:nvSpPr>
              <p:spPr bwMode="gray">
                <a:xfrm>
                  <a:off x="2254" y="1856"/>
                  <a:ext cx="1262" cy="1264"/>
                </a:xfrm>
                <a:prstGeom prst="ellipse">
                  <a:avLst/>
                </a:prstGeom>
                <a:gradFill rotWithShape="1">
                  <a:gsLst>
                    <a:gs pos="0">
                      <a:schemeClr val="hlink">
                        <a:gamma/>
                        <a:tint val="0"/>
                        <a:invGamma/>
                      </a:schemeClr>
                    </a:gs>
                    <a:gs pos="50000">
                      <a:schemeClr val="hlink"/>
                    </a:gs>
                    <a:gs pos="100000">
                      <a:schemeClr val="hlink">
                        <a:gamma/>
                        <a:tint val="0"/>
                        <a:invGamma/>
                      </a:schemeClr>
                    </a:gs>
                  </a:gsLst>
                  <a:lin ang="2700000" scaled="1"/>
                </a:gradFill>
                <a:ln>
                  <a:noFill/>
                </a:ln>
                <a:effectLst/>
                <a:extLst>
                  <a:ext uri="{91240B29-F687-4F45-9708-019B960494DF}">
                    <a14:hiddenLine xmlns:a14="http://schemas.microsoft.com/office/drawing/2010/main" w="38100">
                      <a:solidFill>
                        <a:schemeClr val="bg1"/>
                      </a:solidFill>
                      <a:round/>
                    </a14:hiddenLine>
                  </a:ext>
                  <a:ext uri="{AF507438-7753-43E0-B8FC-AC1667EBCBE1}">
                    <a14:hiddenEffects xmlns:a14="http://schemas.microsoft.com/office/drawing/2010/main">
                      <a:effectLst>
                        <a:outerShdw dist="109250" dir="3267739" algn="ctr" rotWithShape="0">
                          <a:srgbClr val="808080">
                            <a:alpha val="50000"/>
                          </a:srgbClr>
                        </a:outerShdw>
                      </a:effectLst>
                    </a14:hiddenEffects>
                  </a:ext>
                </a:extLst>
              </p:spPr>
              <p:txBody>
                <a:bodyPr wrap="none" anchor="ctr">
                  <a:spAutoFit/>
                </a:bodyPr>
                <a:lstStyle/>
                <a:p>
                  <a:endParaRPr lang="zh-CN" altLang="en-US"/>
                </a:p>
              </p:txBody>
            </p:sp>
            <p:sp>
              <p:nvSpPr>
                <p:cNvPr id="98" name="Oval 15"/>
                <p:cNvSpPr>
                  <a:spLocks noChangeArrowheads="1"/>
                </p:cNvSpPr>
                <p:nvPr/>
              </p:nvSpPr>
              <p:spPr bwMode="gray">
                <a:xfrm>
                  <a:off x="2254" y="1856"/>
                  <a:ext cx="1262" cy="1264"/>
                </a:xfrm>
                <a:prstGeom prst="ellipse">
                  <a:avLst/>
                </a:prstGeom>
                <a:gradFill rotWithShape="1">
                  <a:gsLst>
                    <a:gs pos="0">
                      <a:srgbClr val="FFCC00">
                        <a:gamma/>
                        <a:shade val="0"/>
                        <a:invGamma/>
                      </a:srgbClr>
                    </a:gs>
                    <a:gs pos="100000">
                      <a:srgbClr val="FFCC00"/>
                    </a:gs>
                  </a:gsLst>
                  <a:lin ang="2700000" scaled="1"/>
                </a:gradFill>
                <a:ln>
                  <a:noFill/>
                </a:ln>
                <a:effectLst/>
                <a:extLst>
                  <a:ext uri="{91240B29-F687-4F45-9708-019B960494DF}">
                    <a14:hiddenLine xmlns:a14="http://schemas.microsoft.com/office/drawing/2010/main" w="38100">
                      <a:solidFill>
                        <a:schemeClr val="bg1"/>
                      </a:solidFill>
                      <a:round/>
                    </a14:hiddenLine>
                  </a:ext>
                  <a:ext uri="{AF507438-7753-43E0-B8FC-AC1667EBCBE1}">
                    <a14:hiddenEffects xmlns:a14="http://schemas.microsoft.com/office/drawing/2010/main">
                      <a:effectLst>
                        <a:outerShdw dist="109250" dir="3267739" algn="ctr" rotWithShape="0">
                          <a:srgbClr val="808080">
                            <a:alpha val="50000"/>
                          </a:srgbClr>
                        </a:outerShdw>
                      </a:effectLst>
                    </a14:hiddenEffects>
                  </a:ext>
                </a:extLst>
              </p:spPr>
              <p:txBody>
                <a:bodyPr wrap="none" anchor="ctr">
                  <a:spAutoFit/>
                </a:bodyPr>
                <a:lstStyle/>
                <a:p>
                  <a:endParaRPr lang="zh-CN" altLang="en-US"/>
                </a:p>
              </p:txBody>
            </p:sp>
            <p:sp>
              <p:nvSpPr>
                <p:cNvPr id="99" name="Oval 16"/>
                <p:cNvSpPr>
                  <a:spLocks noChangeArrowheads="1"/>
                </p:cNvSpPr>
                <p:nvPr/>
              </p:nvSpPr>
              <p:spPr bwMode="gray">
                <a:xfrm>
                  <a:off x="2337" y="1939"/>
                  <a:ext cx="1096" cy="1098"/>
                </a:xfrm>
                <a:prstGeom prst="ellipse">
                  <a:avLst/>
                </a:prstGeom>
                <a:gradFill rotWithShape="1">
                  <a:gsLst>
                    <a:gs pos="0">
                      <a:schemeClr val="hlink">
                        <a:gamma/>
                        <a:shade val="54118"/>
                        <a:invGamma/>
                      </a:schemeClr>
                    </a:gs>
                    <a:gs pos="50000">
                      <a:schemeClr val="hlink"/>
                    </a:gs>
                    <a:gs pos="100000">
                      <a:schemeClr val="hlink">
                        <a:gamma/>
                        <a:shade val="54118"/>
                        <a:invGamma/>
                      </a:schemeClr>
                    </a:gs>
                  </a:gsLst>
                  <a:lin ang="18900000" scaled="1"/>
                </a:gradFill>
                <a:ln>
                  <a:noFill/>
                </a:ln>
                <a:effectLst/>
                <a:extLst>
                  <a:ext uri="{91240B29-F687-4F45-9708-019B960494DF}">
                    <a14:hiddenLine xmlns:a14="http://schemas.microsoft.com/office/drawing/2010/main" w="38100">
                      <a:solidFill>
                        <a:schemeClr val="bg1"/>
                      </a:solidFill>
                      <a:round/>
                    </a14:hiddenLine>
                  </a:ext>
                  <a:ext uri="{AF507438-7753-43E0-B8FC-AC1667EBCBE1}">
                    <a14:hiddenEffects xmlns:a14="http://schemas.microsoft.com/office/drawing/2010/main">
                      <a:effectLst>
                        <a:outerShdw dist="109250" dir="3267739" algn="ctr" rotWithShape="0">
                          <a:srgbClr val="808080">
                            <a:alpha val="50000"/>
                          </a:srgbClr>
                        </a:outerShdw>
                      </a:effectLst>
                    </a14:hiddenEffects>
                  </a:ext>
                </a:extLst>
              </p:spPr>
              <p:txBody>
                <a:bodyPr anchor="ctr">
                  <a:spAutoFit/>
                </a:bodyPr>
                <a:lstStyle/>
                <a:p>
                  <a:endParaRPr lang="zh-CN" altLang="en-US"/>
                </a:p>
              </p:txBody>
            </p:sp>
            <p:sp>
              <p:nvSpPr>
                <p:cNvPr id="100" name="Oval 17"/>
                <p:cNvSpPr>
                  <a:spLocks noChangeArrowheads="1"/>
                </p:cNvSpPr>
                <p:nvPr/>
              </p:nvSpPr>
              <p:spPr bwMode="gray">
                <a:xfrm>
                  <a:off x="2337" y="1939"/>
                  <a:ext cx="1096" cy="1098"/>
                </a:xfrm>
                <a:prstGeom prst="ellipse">
                  <a:avLst/>
                </a:prstGeom>
                <a:gradFill rotWithShape="1">
                  <a:gsLst>
                    <a:gs pos="0">
                      <a:srgbClr val="FFCC00"/>
                    </a:gs>
                    <a:gs pos="100000">
                      <a:srgbClr val="FFCC00">
                        <a:gamma/>
                        <a:shade val="48627"/>
                        <a:invGamma/>
                      </a:srgbClr>
                    </a:gs>
                  </a:gsLst>
                  <a:lin ang="2700000" scaled="1"/>
                </a:gradFill>
                <a:ln>
                  <a:noFill/>
                </a:ln>
                <a:effectLst/>
                <a:extLst>
                  <a:ext uri="{91240B29-F687-4F45-9708-019B960494DF}">
                    <a14:hiddenLine xmlns:a14="http://schemas.microsoft.com/office/drawing/2010/main" w="38100">
                      <a:solidFill>
                        <a:schemeClr val="bg1"/>
                      </a:solidFill>
                      <a:round/>
                    </a14:hiddenLine>
                  </a:ext>
                  <a:ext uri="{AF507438-7753-43E0-B8FC-AC1667EBCBE1}">
                    <a14:hiddenEffects xmlns:a14="http://schemas.microsoft.com/office/drawing/2010/main">
                      <a:effectLst>
                        <a:outerShdw dist="109250" dir="3267739" algn="ctr" rotWithShape="0">
                          <a:srgbClr val="808080">
                            <a:alpha val="50000"/>
                          </a:srgbClr>
                        </a:outerShdw>
                      </a:effectLst>
                    </a14:hiddenEffects>
                  </a:ext>
                </a:extLst>
              </p:spPr>
              <p:txBody>
                <a:bodyPr anchor="ctr">
                  <a:spAutoFit/>
                </a:bodyPr>
                <a:lstStyle/>
                <a:p>
                  <a:endParaRPr lang="zh-CN" altLang="en-US"/>
                </a:p>
              </p:txBody>
            </p:sp>
          </p:grpSp>
        </p:grpSp>
        <p:grpSp>
          <p:nvGrpSpPr>
            <p:cNvPr id="57" name="Group 48"/>
            <p:cNvGrpSpPr/>
            <p:nvPr/>
          </p:nvGrpSpPr>
          <p:grpSpPr bwMode="auto">
            <a:xfrm>
              <a:off x="1248" y="1728"/>
              <a:ext cx="2976" cy="320"/>
              <a:chOff x="1248" y="1728"/>
              <a:chExt cx="2976" cy="320"/>
            </a:xfrm>
          </p:grpSpPr>
          <p:sp>
            <p:nvSpPr>
              <p:cNvPr id="85" name="AutoShape 9"/>
              <p:cNvSpPr>
                <a:spLocks noChangeArrowheads="1"/>
              </p:cNvSpPr>
              <p:nvPr/>
            </p:nvSpPr>
            <p:spPr bwMode="gray">
              <a:xfrm>
                <a:off x="1440" y="1728"/>
                <a:ext cx="2784" cy="320"/>
              </a:xfrm>
              <a:prstGeom prst="roundRect">
                <a:avLst>
                  <a:gd name="adj" fmla="val 50000"/>
                </a:avLst>
              </a:prstGeom>
              <a:noFill/>
              <a:ln w="28575" algn="ctr">
                <a:solidFill>
                  <a:schemeClr val="bg2"/>
                </a:solidFill>
                <a:round/>
              </a:ln>
              <a:effectLst/>
              <a:extLst>
                <a:ext uri="{909E8E84-426E-40DD-AFC4-6F175D3DCCD1}">
                  <a14:hiddenFill xmlns:a14="http://schemas.microsoft.com/office/drawing/2010/main">
                    <a:gradFill rotWithShape="1">
                      <a:gsLst>
                        <a:gs pos="0">
                          <a:schemeClr val="folHlink">
                            <a:gamma/>
                            <a:tint val="0"/>
                            <a:invGamma/>
                          </a:schemeClr>
                        </a:gs>
                        <a:gs pos="100000">
                          <a:schemeClr val="folHlink"/>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hangingPunct="0"/>
                <a:r>
                  <a:rPr lang="zh-CN" altLang="en-US" sz="2400" b="1" dirty="0">
                    <a:latin typeface="华文新魏" panose="02010800040101010101" pitchFamily="2" charset="-122"/>
                    <a:ea typeface="华文新魏" panose="02010800040101010101" pitchFamily="2" charset="-122"/>
                  </a:rPr>
                  <a:t>程序设计语言和方法学的发展</a:t>
                </a:r>
                <a:endParaRPr lang="en-US" altLang="zh-CN" sz="2400" b="1" dirty="0">
                  <a:latin typeface="华文新魏" panose="02010800040101010101" pitchFamily="2" charset="-122"/>
                  <a:ea typeface="华文新魏" panose="02010800040101010101" pitchFamily="2" charset="-122"/>
                </a:endParaRPr>
              </a:p>
            </p:txBody>
          </p:sp>
          <p:grpSp>
            <p:nvGrpSpPr>
              <p:cNvPr id="86" name="Group 18"/>
              <p:cNvGrpSpPr/>
              <p:nvPr/>
            </p:nvGrpSpPr>
            <p:grpSpPr bwMode="auto">
              <a:xfrm>
                <a:off x="1248" y="1795"/>
                <a:ext cx="240" cy="240"/>
                <a:chOff x="2078" y="1680"/>
                <a:chExt cx="1615" cy="1615"/>
              </a:xfrm>
            </p:grpSpPr>
            <p:sp>
              <p:nvSpPr>
                <p:cNvPr id="87" name="Oval 19"/>
                <p:cNvSpPr>
                  <a:spLocks noChangeArrowheads="1"/>
                </p:cNvSpPr>
                <p:nvPr/>
              </p:nvSpPr>
              <p:spPr bwMode="gray">
                <a:xfrm>
                  <a:off x="2078" y="1680"/>
                  <a:ext cx="1615" cy="1615"/>
                </a:xfrm>
                <a:prstGeom prst="ellipse">
                  <a:avLst/>
                </a:prstGeom>
                <a:gradFill rotWithShape="1">
                  <a:gsLst>
                    <a:gs pos="0">
                      <a:srgbClr val="FFFFFF">
                        <a:gamma/>
                        <a:shade val="46275"/>
                        <a:invGamma/>
                      </a:srgbClr>
                    </a:gs>
                    <a:gs pos="50000">
                      <a:srgbClr val="FFFFFF"/>
                    </a:gs>
                    <a:gs pos="100000">
                      <a:srgbClr val="FFFFFF">
                        <a:gamma/>
                        <a:shade val="46275"/>
                        <a:invGamma/>
                      </a:srgbClr>
                    </a:gs>
                  </a:gsLst>
                  <a:lin ang="5400000" scaled="1"/>
                </a:gradFill>
                <a:ln>
                  <a:noFill/>
                </a:ln>
                <a:effectLst/>
                <a:extLst>
                  <a:ext uri="{91240B29-F687-4F45-9708-019B960494DF}">
                    <a14:hiddenLine xmlns:a14="http://schemas.microsoft.com/office/drawing/2010/main" w="57150">
                      <a:solidFill>
                        <a:schemeClr val="bg1"/>
                      </a:solidFill>
                      <a:round/>
                    </a14:hiddenLine>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endParaRPr lang="zh-CN" altLang="en-US"/>
                </a:p>
              </p:txBody>
            </p:sp>
            <p:sp>
              <p:nvSpPr>
                <p:cNvPr id="88" name="Oval 20"/>
                <p:cNvSpPr>
                  <a:spLocks noChangeArrowheads="1"/>
                </p:cNvSpPr>
                <p:nvPr/>
              </p:nvSpPr>
              <p:spPr bwMode="gray">
                <a:xfrm>
                  <a:off x="2170" y="1771"/>
                  <a:ext cx="1430" cy="1430"/>
                </a:xfrm>
                <a:prstGeom prst="ellipse">
                  <a:avLst/>
                </a:prstGeom>
                <a:gradFill rotWithShape="1">
                  <a:gsLst>
                    <a:gs pos="0">
                      <a:srgbClr val="FFFFFF">
                        <a:gamma/>
                        <a:shade val="63529"/>
                        <a:invGamma/>
                      </a:srgbClr>
                    </a:gs>
                    <a:gs pos="50000">
                      <a:srgbClr val="FFFFFF"/>
                    </a:gs>
                    <a:gs pos="100000">
                      <a:srgbClr val="FFFFFF">
                        <a:gamma/>
                        <a:shade val="63529"/>
                        <a:invGamma/>
                      </a:srgbClr>
                    </a:gs>
                  </a:gsLst>
                  <a:lin ang="0" scaled="1"/>
                </a:gra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endParaRPr lang="zh-CN" altLang="en-US"/>
                </a:p>
              </p:txBody>
            </p:sp>
            <p:sp>
              <p:nvSpPr>
                <p:cNvPr id="89" name="Oval 21"/>
                <p:cNvSpPr>
                  <a:spLocks noChangeArrowheads="1"/>
                </p:cNvSpPr>
                <p:nvPr/>
              </p:nvSpPr>
              <p:spPr bwMode="gray">
                <a:xfrm>
                  <a:off x="2254" y="1856"/>
                  <a:ext cx="1262" cy="1264"/>
                </a:xfrm>
                <a:prstGeom prst="ellipse">
                  <a:avLst/>
                </a:prstGeom>
                <a:gradFill rotWithShape="1">
                  <a:gsLst>
                    <a:gs pos="0">
                      <a:schemeClr val="hlink">
                        <a:gamma/>
                        <a:tint val="0"/>
                        <a:invGamma/>
                      </a:schemeClr>
                    </a:gs>
                    <a:gs pos="50000">
                      <a:schemeClr val="hlink"/>
                    </a:gs>
                    <a:gs pos="100000">
                      <a:schemeClr val="hlink">
                        <a:gamma/>
                        <a:tint val="0"/>
                        <a:invGamma/>
                      </a:schemeClr>
                    </a:gs>
                  </a:gsLst>
                  <a:lin ang="2700000" scaled="1"/>
                </a:gradFill>
                <a:ln>
                  <a:noFill/>
                </a:ln>
                <a:effectLst/>
                <a:extLst>
                  <a:ext uri="{91240B29-F687-4F45-9708-019B960494DF}">
                    <a14:hiddenLine xmlns:a14="http://schemas.microsoft.com/office/drawing/2010/main" w="38100">
                      <a:solidFill>
                        <a:schemeClr val="bg1"/>
                      </a:solidFill>
                      <a:round/>
                    </a14:hiddenLine>
                  </a:ext>
                  <a:ext uri="{AF507438-7753-43E0-B8FC-AC1667EBCBE1}">
                    <a14:hiddenEffects xmlns:a14="http://schemas.microsoft.com/office/drawing/2010/main">
                      <a:effectLst>
                        <a:outerShdw dist="109250" dir="3267739" algn="ctr" rotWithShape="0">
                          <a:srgbClr val="808080">
                            <a:alpha val="50000"/>
                          </a:srgbClr>
                        </a:outerShdw>
                      </a:effectLst>
                    </a14:hiddenEffects>
                  </a:ext>
                </a:extLst>
              </p:spPr>
              <p:txBody>
                <a:bodyPr wrap="none" anchor="ctr">
                  <a:spAutoFit/>
                </a:bodyPr>
                <a:lstStyle/>
                <a:p>
                  <a:endParaRPr lang="zh-CN" altLang="en-US"/>
                </a:p>
              </p:txBody>
            </p:sp>
            <p:sp>
              <p:nvSpPr>
                <p:cNvPr id="90" name="Oval 22"/>
                <p:cNvSpPr>
                  <a:spLocks noChangeArrowheads="1"/>
                </p:cNvSpPr>
                <p:nvPr/>
              </p:nvSpPr>
              <p:spPr bwMode="gray">
                <a:xfrm>
                  <a:off x="2254" y="1856"/>
                  <a:ext cx="1262" cy="1264"/>
                </a:xfrm>
                <a:prstGeom prst="ellipse">
                  <a:avLst/>
                </a:prstGeom>
                <a:gradFill rotWithShape="1">
                  <a:gsLst>
                    <a:gs pos="0">
                      <a:srgbClr val="48BE67">
                        <a:gamma/>
                        <a:shade val="0"/>
                        <a:invGamma/>
                      </a:srgbClr>
                    </a:gs>
                    <a:gs pos="100000">
                      <a:srgbClr val="48BE67"/>
                    </a:gs>
                  </a:gsLst>
                  <a:lin ang="2700000" scaled="1"/>
                </a:gradFill>
                <a:ln>
                  <a:noFill/>
                </a:ln>
                <a:effectLst/>
                <a:extLst>
                  <a:ext uri="{91240B29-F687-4F45-9708-019B960494DF}">
                    <a14:hiddenLine xmlns:a14="http://schemas.microsoft.com/office/drawing/2010/main" w="38100">
                      <a:solidFill>
                        <a:schemeClr val="bg1"/>
                      </a:solidFill>
                      <a:round/>
                    </a14:hiddenLine>
                  </a:ext>
                  <a:ext uri="{AF507438-7753-43E0-B8FC-AC1667EBCBE1}">
                    <a14:hiddenEffects xmlns:a14="http://schemas.microsoft.com/office/drawing/2010/main">
                      <a:effectLst>
                        <a:outerShdw dist="109250" dir="3267739" algn="ctr" rotWithShape="0">
                          <a:srgbClr val="808080">
                            <a:alpha val="50000"/>
                          </a:srgbClr>
                        </a:outerShdw>
                      </a:effectLst>
                    </a14:hiddenEffects>
                  </a:ext>
                </a:extLst>
              </p:spPr>
              <p:txBody>
                <a:bodyPr wrap="none" anchor="ctr">
                  <a:spAutoFit/>
                </a:bodyPr>
                <a:lstStyle/>
                <a:p>
                  <a:endParaRPr lang="zh-CN" altLang="en-US"/>
                </a:p>
              </p:txBody>
            </p:sp>
            <p:sp>
              <p:nvSpPr>
                <p:cNvPr id="91" name="Oval 23"/>
                <p:cNvSpPr>
                  <a:spLocks noChangeArrowheads="1"/>
                </p:cNvSpPr>
                <p:nvPr/>
              </p:nvSpPr>
              <p:spPr bwMode="gray">
                <a:xfrm>
                  <a:off x="2337" y="1939"/>
                  <a:ext cx="1096" cy="1098"/>
                </a:xfrm>
                <a:prstGeom prst="ellipse">
                  <a:avLst/>
                </a:prstGeom>
                <a:gradFill rotWithShape="1">
                  <a:gsLst>
                    <a:gs pos="0">
                      <a:schemeClr val="hlink">
                        <a:gamma/>
                        <a:shade val="54118"/>
                        <a:invGamma/>
                      </a:schemeClr>
                    </a:gs>
                    <a:gs pos="50000">
                      <a:schemeClr val="hlink"/>
                    </a:gs>
                    <a:gs pos="100000">
                      <a:schemeClr val="hlink">
                        <a:gamma/>
                        <a:shade val="54118"/>
                        <a:invGamma/>
                      </a:schemeClr>
                    </a:gs>
                  </a:gsLst>
                  <a:lin ang="18900000" scaled="1"/>
                </a:gradFill>
                <a:ln>
                  <a:noFill/>
                </a:ln>
                <a:effectLst/>
                <a:extLst>
                  <a:ext uri="{91240B29-F687-4F45-9708-019B960494DF}">
                    <a14:hiddenLine xmlns:a14="http://schemas.microsoft.com/office/drawing/2010/main" w="38100">
                      <a:solidFill>
                        <a:schemeClr val="bg1"/>
                      </a:solidFill>
                      <a:round/>
                    </a14:hiddenLine>
                  </a:ext>
                  <a:ext uri="{AF507438-7753-43E0-B8FC-AC1667EBCBE1}">
                    <a14:hiddenEffects xmlns:a14="http://schemas.microsoft.com/office/drawing/2010/main">
                      <a:effectLst>
                        <a:outerShdw dist="109250" dir="3267739" algn="ctr" rotWithShape="0">
                          <a:srgbClr val="808080">
                            <a:alpha val="50000"/>
                          </a:srgbClr>
                        </a:outerShdw>
                      </a:effectLst>
                    </a14:hiddenEffects>
                  </a:ext>
                </a:extLst>
              </p:spPr>
              <p:txBody>
                <a:bodyPr anchor="ctr">
                  <a:spAutoFit/>
                </a:bodyPr>
                <a:lstStyle/>
                <a:p>
                  <a:endParaRPr lang="zh-CN" altLang="en-US"/>
                </a:p>
              </p:txBody>
            </p:sp>
            <p:sp>
              <p:nvSpPr>
                <p:cNvPr id="92" name="Oval 24"/>
                <p:cNvSpPr>
                  <a:spLocks noChangeArrowheads="1"/>
                </p:cNvSpPr>
                <p:nvPr/>
              </p:nvSpPr>
              <p:spPr bwMode="gray">
                <a:xfrm>
                  <a:off x="2337" y="1939"/>
                  <a:ext cx="1096" cy="1098"/>
                </a:xfrm>
                <a:prstGeom prst="ellipse">
                  <a:avLst/>
                </a:prstGeom>
                <a:gradFill rotWithShape="1">
                  <a:gsLst>
                    <a:gs pos="0">
                      <a:srgbClr val="48BE67"/>
                    </a:gs>
                    <a:gs pos="100000">
                      <a:srgbClr val="48BE67">
                        <a:gamma/>
                        <a:shade val="48627"/>
                        <a:invGamma/>
                      </a:srgbClr>
                    </a:gs>
                  </a:gsLst>
                  <a:lin ang="2700000" scaled="1"/>
                </a:gradFill>
                <a:ln>
                  <a:noFill/>
                </a:ln>
                <a:effectLst/>
                <a:extLst>
                  <a:ext uri="{91240B29-F687-4F45-9708-019B960494DF}">
                    <a14:hiddenLine xmlns:a14="http://schemas.microsoft.com/office/drawing/2010/main" w="38100">
                      <a:solidFill>
                        <a:schemeClr val="bg1"/>
                      </a:solidFill>
                      <a:round/>
                    </a14:hiddenLine>
                  </a:ext>
                  <a:ext uri="{AF507438-7753-43E0-B8FC-AC1667EBCBE1}">
                    <a14:hiddenEffects xmlns:a14="http://schemas.microsoft.com/office/drawing/2010/main">
                      <a:effectLst>
                        <a:outerShdw dist="109250" dir="3267739" algn="ctr" rotWithShape="0">
                          <a:srgbClr val="808080">
                            <a:alpha val="50000"/>
                          </a:srgbClr>
                        </a:outerShdw>
                      </a:effectLst>
                    </a14:hiddenEffects>
                  </a:ext>
                </a:extLst>
              </p:spPr>
              <p:txBody>
                <a:bodyPr anchor="ctr">
                  <a:spAutoFit/>
                </a:bodyPr>
                <a:lstStyle/>
                <a:p>
                  <a:endParaRPr lang="zh-CN" altLang="en-US"/>
                </a:p>
              </p:txBody>
            </p:sp>
          </p:grpSp>
        </p:grpSp>
        <p:grpSp>
          <p:nvGrpSpPr>
            <p:cNvPr id="58" name="Group 49"/>
            <p:cNvGrpSpPr/>
            <p:nvPr/>
          </p:nvGrpSpPr>
          <p:grpSpPr bwMode="auto">
            <a:xfrm>
              <a:off x="1344" y="2275"/>
              <a:ext cx="2976" cy="320"/>
              <a:chOff x="1344" y="2275"/>
              <a:chExt cx="2976" cy="320"/>
            </a:xfrm>
          </p:grpSpPr>
          <p:sp>
            <p:nvSpPr>
              <p:cNvPr id="77" name="AutoShape 8"/>
              <p:cNvSpPr>
                <a:spLocks noChangeArrowheads="1"/>
              </p:cNvSpPr>
              <p:nvPr/>
            </p:nvSpPr>
            <p:spPr bwMode="gray">
              <a:xfrm>
                <a:off x="1536" y="2275"/>
                <a:ext cx="2784" cy="320"/>
              </a:xfrm>
              <a:prstGeom prst="roundRect">
                <a:avLst>
                  <a:gd name="adj" fmla="val 50000"/>
                </a:avLst>
              </a:prstGeom>
              <a:noFill/>
              <a:ln w="28575" algn="ctr">
                <a:solidFill>
                  <a:schemeClr val="bg2"/>
                </a:solidFill>
                <a:rou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hangingPunct="0"/>
                <a:r>
                  <a:rPr lang="en-US" altLang="zh-CN" sz="2400" b="1" dirty="0">
                    <a:latin typeface="华文新魏" panose="02010800040101010101" pitchFamily="2" charset="-122"/>
                    <a:ea typeface="华文新魏" panose="02010800040101010101" pitchFamily="2" charset="-122"/>
                  </a:rPr>
                  <a:t>C++</a:t>
                </a:r>
                <a:r>
                  <a:rPr lang="zh-CN" altLang="en-US" sz="2400" b="1" dirty="0">
                    <a:latin typeface="华文新魏" panose="02010800040101010101" pitchFamily="2" charset="-122"/>
                    <a:ea typeface="华文新魏" panose="02010800040101010101" pitchFamily="2" charset="-122"/>
                  </a:rPr>
                  <a:t>语言概述</a:t>
                </a:r>
                <a:endParaRPr lang="en-US" altLang="zh-CN" sz="2400" b="1" dirty="0">
                  <a:latin typeface="华文新魏" panose="02010800040101010101" pitchFamily="2" charset="-122"/>
                  <a:ea typeface="华文新魏" panose="02010800040101010101" pitchFamily="2" charset="-122"/>
                </a:endParaRPr>
              </a:p>
            </p:txBody>
          </p:sp>
          <p:grpSp>
            <p:nvGrpSpPr>
              <p:cNvPr id="78" name="Group 25"/>
              <p:cNvGrpSpPr/>
              <p:nvPr/>
            </p:nvGrpSpPr>
            <p:grpSpPr bwMode="auto">
              <a:xfrm>
                <a:off x="1344" y="2323"/>
                <a:ext cx="240" cy="240"/>
                <a:chOff x="2078" y="1680"/>
                <a:chExt cx="1615" cy="1615"/>
              </a:xfrm>
            </p:grpSpPr>
            <p:sp>
              <p:nvSpPr>
                <p:cNvPr id="79" name="Oval 26"/>
                <p:cNvSpPr>
                  <a:spLocks noChangeArrowheads="1"/>
                </p:cNvSpPr>
                <p:nvPr/>
              </p:nvSpPr>
              <p:spPr bwMode="gray">
                <a:xfrm>
                  <a:off x="2078" y="1680"/>
                  <a:ext cx="1615" cy="1615"/>
                </a:xfrm>
                <a:prstGeom prst="ellipse">
                  <a:avLst/>
                </a:prstGeom>
                <a:gradFill rotWithShape="1">
                  <a:gsLst>
                    <a:gs pos="0">
                      <a:srgbClr val="FFFFFF">
                        <a:gamma/>
                        <a:shade val="46275"/>
                        <a:invGamma/>
                      </a:srgbClr>
                    </a:gs>
                    <a:gs pos="50000">
                      <a:srgbClr val="FFFFFF"/>
                    </a:gs>
                    <a:gs pos="100000">
                      <a:srgbClr val="FFFFFF">
                        <a:gamma/>
                        <a:shade val="46275"/>
                        <a:invGamma/>
                      </a:srgbClr>
                    </a:gs>
                  </a:gsLst>
                  <a:lin ang="5400000" scaled="1"/>
                </a:gradFill>
                <a:ln>
                  <a:noFill/>
                </a:ln>
                <a:effectLst/>
                <a:extLst>
                  <a:ext uri="{91240B29-F687-4F45-9708-019B960494DF}">
                    <a14:hiddenLine xmlns:a14="http://schemas.microsoft.com/office/drawing/2010/main" w="57150">
                      <a:solidFill>
                        <a:schemeClr val="bg1"/>
                      </a:solidFill>
                      <a:round/>
                    </a14:hiddenLine>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endParaRPr lang="zh-CN" altLang="en-US"/>
                </a:p>
              </p:txBody>
            </p:sp>
            <p:sp>
              <p:nvSpPr>
                <p:cNvPr id="80" name="Oval 27"/>
                <p:cNvSpPr>
                  <a:spLocks noChangeArrowheads="1"/>
                </p:cNvSpPr>
                <p:nvPr/>
              </p:nvSpPr>
              <p:spPr bwMode="gray">
                <a:xfrm>
                  <a:off x="2170" y="1771"/>
                  <a:ext cx="1430" cy="1430"/>
                </a:xfrm>
                <a:prstGeom prst="ellipse">
                  <a:avLst/>
                </a:prstGeom>
                <a:gradFill rotWithShape="1">
                  <a:gsLst>
                    <a:gs pos="0">
                      <a:srgbClr val="FFFFFF">
                        <a:gamma/>
                        <a:shade val="63529"/>
                        <a:invGamma/>
                      </a:srgbClr>
                    </a:gs>
                    <a:gs pos="50000">
                      <a:srgbClr val="FFFFFF"/>
                    </a:gs>
                    <a:gs pos="100000">
                      <a:srgbClr val="FFFFFF">
                        <a:gamma/>
                        <a:shade val="63529"/>
                        <a:invGamma/>
                      </a:srgbClr>
                    </a:gs>
                  </a:gsLst>
                  <a:lin ang="0" scaled="1"/>
                </a:gra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endParaRPr lang="zh-CN" altLang="en-US"/>
                </a:p>
              </p:txBody>
            </p:sp>
            <p:sp>
              <p:nvSpPr>
                <p:cNvPr id="81" name="Oval 28"/>
                <p:cNvSpPr>
                  <a:spLocks noChangeArrowheads="1"/>
                </p:cNvSpPr>
                <p:nvPr/>
              </p:nvSpPr>
              <p:spPr bwMode="gray">
                <a:xfrm>
                  <a:off x="2254" y="1856"/>
                  <a:ext cx="1262" cy="1264"/>
                </a:xfrm>
                <a:prstGeom prst="ellipse">
                  <a:avLst/>
                </a:prstGeom>
                <a:gradFill rotWithShape="1">
                  <a:gsLst>
                    <a:gs pos="0">
                      <a:schemeClr val="hlink">
                        <a:gamma/>
                        <a:tint val="0"/>
                        <a:invGamma/>
                      </a:schemeClr>
                    </a:gs>
                    <a:gs pos="50000">
                      <a:schemeClr val="hlink"/>
                    </a:gs>
                    <a:gs pos="100000">
                      <a:schemeClr val="hlink">
                        <a:gamma/>
                        <a:tint val="0"/>
                        <a:invGamma/>
                      </a:schemeClr>
                    </a:gs>
                  </a:gsLst>
                  <a:lin ang="2700000" scaled="1"/>
                </a:gradFill>
                <a:ln>
                  <a:noFill/>
                </a:ln>
                <a:effectLst/>
                <a:extLst>
                  <a:ext uri="{91240B29-F687-4F45-9708-019B960494DF}">
                    <a14:hiddenLine xmlns:a14="http://schemas.microsoft.com/office/drawing/2010/main" w="38100">
                      <a:solidFill>
                        <a:schemeClr val="bg1"/>
                      </a:solidFill>
                      <a:round/>
                    </a14:hiddenLine>
                  </a:ext>
                  <a:ext uri="{AF507438-7753-43E0-B8FC-AC1667EBCBE1}">
                    <a14:hiddenEffects xmlns:a14="http://schemas.microsoft.com/office/drawing/2010/main">
                      <a:effectLst>
                        <a:outerShdw dist="109250" dir="3267739" algn="ctr" rotWithShape="0">
                          <a:srgbClr val="808080">
                            <a:alpha val="50000"/>
                          </a:srgbClr>
                        </a:outerShdw>
                      </a:effectLst>
                    </a14:hiddenEffects>
                  </a:ext>
                </a:extLst>
              </p:spPr>
              <p:txBody>
                <a:bodyPr wrap="none" anchor="ctr">
                  <a:spAutoFit/>
                </a:bodyPr>
                <a:lstStyle/>
                <a:p>
                  <a:endParaRPr lang="zh-CN" altLang="en-US"/>
                </a:p>
              </p:txBody>
            </p:sp>
            <p:sp>
              <p:nvSpPr>
                <p:cNvPr id="82" name="Oval 29"/>
                <p:cNvSpPr>
                  <a:spLocks noChangeArrowheads="1"/>
                </p:cNvSpPr>
                <p:nvPr/>
              </p:nvSpPr>
              <p:spPr bwMode="gray">
                <a:xfrm>
                  <a:off x="2254" y="1856"/>
                  <a:ext cx="1262" cy="1264"/>
                </a:xfrm>
                <a:prstGeom prst="ellipse">
                  <a:avLst/>
                </a:prstGeom>
                <a:gradFill rotWithShape="1">
                  <a:gsLst>
                    <a:gs pos="0">
                      <a:srgbClr val="21B3E1"/>
                    </a:gs>
                    <a:gs pos="100000">
                      <a:srgbClr val="21B3E1">
                        <a:gamma/>
                        <a:shade val="46275"/>
                        <a:invGamma/>
                      </a:srgbClr>
                    </a:gs>
                  </a:gsLst>
                  <a:lin ang="5400000" scaled="1"/>
                </a:gradFill>
                <a:ln>
                  <a:noFill/>
                </a:ln>
                <a:effectLst/>
                <a:extLst>
                  <a:ext uri="{91240B29-F687-4F45-9708-019B960494DF}">
                    <a14:hiddenLine xmlns:a14="http://schemas.microsoft.com/office/drawing/2010/main" w="38100">
                      <a:solidFill>
                        <a:schemeClr val="bg1"/>
                      </a:solidFill>
                      <a:round/>
                    </a14:hiddenLine>
                  </a:ext>
                  <a:ext uri="{AF507438-7753-43E0-B8FC-AC1667EBCBE1}">
                    <a14:hiddenEffects xmlns:a14="http://schemas.microsoft.com/office/drawing/2010/main">
                      <a:effectLst>
                        <a:outerShdw dist="109250" dir="3267739" algn="ctr" rotWithShape="0">
                          <a:srgbClr val="808080">
                            <a:alpha val="50000"/>
                          </a:srgbClr>
                        </a:outerShdw>
                      </a:effectLst>
                    </a14:hiddenEffects>
                  </a:ext>
                </a:extLst>
              </p:spPr>
              <p:txBody>
                <a:bodyPr wrap="none" anchor="ctr">
                  <a:spAutoFit/>
                </a:bodyPr>
                <a:lstStyle/>
                <a:p>
                  <a:endParaRPr lang="zh-CN" altLang="en-US"/>
                </a:p>
              </p:txBody>
            </p:sp>
            <p:sp>
              <p:nvSpPr>
                <p:cNvPr id="83" name="Oval 30"/>
                <p:cNvSpPr>
                  <a:spLocks noChangeArrowheads="1"/>
                </p:cNvSpPr>
                <p:nvPr/>
              </p:nvSpPr>
              <p:spPr bwMode="gray">
                <a:xfrm>
                  <a:off x="2337" y="1939"/>
                  <a:ext cx="1096" cy="1098"/>
                </a:xfrm>
                <a:prstGeom prst="ellipse">
                  <a:avLst/>
                </a:prstGeom>
                <a:gradFill rotWithShape="1">
                  <a:gsLst>
                    <a:gs pos="0">
                      <a:schemeClr val="hlink">
                        <a:gamma/>
                        <a:shade val="54118"/>
                        <a:invGamma/>
                      </a:schemeClr>
                    </a:gs>
                    <a:gs pos="50000">
                      <a:schemeClr val="hlink"/>
                    </a:gs>
                    <a:gs pos="100000">
                      <a:schemeClr val="hlink">
                        <a:gamma/>
                        <a:shade val="54118"/>
                        <a:invGamma/>
                      </a:schemeClr>
                    </a:gs>
                  </a:gsLst>
                  <a:lin ang="18900000" scaled="1"/>
                </a:gradFill>
                <a:ln>
                  <a:noFill/>
                </a:ln>
                <a:effectLst/>
                <a:extLst>
                  <a:ext uri="{91240B29-F687-4F45-9708-019B960494DF}">
                    <a14:hiddenLine xmlns:a14="http://schemas.microsoft.com/office/drawing/2010/main" w="38100">
                      <a:solidFill>
                        <a:schemeClr val="bg1"/>
                      </a:solidFill>
                      <a:round/>
                    </a14:hiddenLine>
                  </a:ext>
                  <a:ext uri="{AF507438-7753-43E0-B8FC-AC1667EBCBE1}">
                    <a14:hiddenEffects xmlns:a14="http://schemas.microsoft.com/office/drawing/2010/main">
                      <a:effectLst>
                        <a:outerShdw dist="109250" dir="3267739" algn="ctr" rotWithShape="0">
                          <a:srgbClr val="808080">
                            <a:alpha val="50000"/>
                          </a:srgbClr>
                        </a:outerShdw>
                      </a:effectLst>
                    </a14:hiddenEffects>
                  </a:ext>
                </a:extLst>
              </p:spPr>
              <p:txBody>
                <a:bodyPr anchor="ctr">
                  <a:spAutoFit/>
                </a:bodyPr>
                <a:lstStyle/>
                <a:p>
                  <a:endParaRPr lang="zh-CN" altLang="en-US"/>
                </a:p>
              </p:txBody>
            </p:sp>
            <p:sp>
              <p:nvSpPr>
                <p:cNvPr id="84" name="Oval 31"/>
                <p:cNvSpPr>
                  <a:spLocks noChangeArrowheads="1"/>
                </p:cNvSpPr>
                <p:nvPr/>
              </p:nvSpPr>
              <p:spPr bwMode="gray">
                <a:xfrm>
                  <a:off x="2337" y="1939"/>
                  <a:ext cx="1096" cy="1098"/>
                </a:xfrm>
                <a:prstGeom prst="ellipse">
                  <a:avLst/>
                </a:prstGeom>
                <a:gradFill rotWithShape="1">
                  <a:gsLst>
                    <a:gs pos="0">
                      <a:srgbClr val="21B3E1"/>
                    </a:gs>
                    <a:gs pos="100000">
                      <a:srgbClr val="21B3E1">
                        <a:gamma/>
                        <a:shade val="48627"/>
                        <a:invGamma/>
                      </a:srgbClr>
                    </a:gs>
                  </a:gsLst>
                  <a:lin ang="2700000" scaled="1"/>
                </a:gradFill>
                <a:ln>
                  <a:noFill/>
                </a:ln>
                <a:effectLst/>
                <a:extLst>
                  <a:ext uri="{91240B29-F687-4F45-9708-019B960494DF}">
                    <a14:hiddenLine xmlns:a14="http://schemas.microsoft.com/office/drawing/2010/main" w="38100">
                      <a:solidFill>
                        <a:schemeClr val="bg1"/>
                      </a:solidFill>
                      <a:round/>
                    </a14:hiddenLine>
                  </a:ext>
                  <a:ext uri="{AF507438-7753-43E0-B8FC-AC1667EBCBE1}">
                    <a14:hiddenEffects xmlns:a14="http://schemas.microsoft.com/office/drawing/2010/main">
                      <a:effectLst>
                        <a:outerShdw dist="109250" dir="3267739" algn="ctr" rotWithShape="0">
                          <a:srgbClr val="808080">
                            <a:alpha val="50000"/>
                          </a:srgbClr>
                        </a:outerShdw>
                      </a:effectLst>
                    </a14:hiddenEffects>
                  </a:ext>
                </a:extLst>
              </p:spPr>
              <p:txBody>
                <a:bodyPr anchor="ctr">
                  <a:spAutoFit/>
                </a:bodyPr>
                <a:lstStyle/>
                <a:p>
                  <a:endParaRPr lang="zh-CN" altLang="en-US"/>
                </a:p>
              </p:txBody>
            </p:sp>
          </p:grpSp>
        </p:grpSp>
        <p:grpSp>
          <p:nvGrpSpPr>
            <p:cNvPr id="59" name="Group 50"/>
            <p:cNvGrpSpPr/>
            <p:nvPr/>
          </p:nvGrpSpPr>
          <p:grpSpPr bwMode="auto">
            <a:xfrm>
              <a:off x="1248" y="2787"/>
              <a:ext cx="2996" cy="320"/>
              <a:chOff x="1248" y="2787"/>
              <a:chExt cx="2996" cy="320"/>
            </a:xfrm>
          </p:grpSpPr>
          <p:sp>
            <p:nvSpPr>
              <p:cNvPr id="69" name="AutoShape 7"/>
              <p:cNvSpPr>
                <a:spLocks noChangeArrowheads="1"/>
              </p:cNvSpPr>
              <p:nvPr/>
            </p:nvSpPr>
            <p:spPr bwMode="gray">
              <a:xfrm>
                <a:off x="1460" y="2787"/>
                <a:ext cx="2784" cy="320"/>
              </a:xfrm>
              <a:prstGeom prst="roundRect">
                <a:avLst>
                  <a:gd name="adj" fmla="val 50000"/>
                </a:avLst>
              </a:prstGeom>
              <a:noFill/>
              <a:ln w="28575" algn="ctr">
                <a:solidFill>
                  <a:schemeClr val="bg2"/>
                </a:solidFill>
                <a:round/>
              </a:ln>
              <a:effectLst/>
              <a:extLst>
                <a:ext uri="{909E8E84-426E-40DD-AFC4-6F175D3DCCD1}">
                  <a14:hiddenFill xmlns:a14="http://schemas.microsoft.com/office/drawing/2010/main">
                    <a:gradFill rotWithShape="1">
                      <a:gsLst>
                        <a:gs pos="0">
                          <a:schemeClr val="folHlink">
                            <a:gamma/>
                            <a:tint val="0"/>
                            <a:invGamma/>
                          </a:schemeClr>
                        </a:gs>
                        <a:gs pos="100000">
                          <a:schemeClr val="folHlink"/>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hangingPunct="0"/>
                <a:r>
                  <a:rPr lang="zh-CN" altLang="en-US" sz="2400" b="1" dirty="0">
                    <a:latin typeface="华文新魏" panose="02010800040101010101" pitchFamily="2" charset="-122"/>
                    <a:ea typeface="华文新魏" panose="02010800040101010101" pitchFamily="2" charset="-122"/>
                  </a:rPr>
                  <a:t>课程简介</a:t>
                </a:r>
                <a:endParaRPr lang="en-US" altLang="zh-CN" sz="2400" b="1" dirty="0">
                  <a:latin typeface="华文新魏" panose="02010800040101010101" pitchFamily="2" charset="-122"/>
                  <a:ea typeface="华文新魏" panose="02010800040101010101" pitchFamily="2" charset="-122"/>
                </a:endParaRPr>
              </a:p>
            </p:txBody>
          </p:sp>
          <p:grpSp>
            <p:nvGrpSpPr>
              <p:cNvPr id="70" name="Group 32"/>
              <p:cNvGrpSpPr/>
              <p:nvPr/>
            </p:nvGrpSpPr>
            <p:grpSpPr bwMode="auto">
              <a:xfrm>
                <a:off x="1248" y="2851"/>
                <a:ext cx="240" cy="240"/>
                <a:chOff x="2078" y="1680"/>
                <a:chExt cx="1615" cy="1615"/>
              </a:xfrm>
            </p:grpSpPr>
            <p:sp>
              <p:nvSpPr>
                <p:cNvPr id="71" name="Oval 33"/>
                <p:cNvSpPr>
                  <a:spLocks noChangeArrowheads="1"/>
                </p:cNvSpPr>
                <p:nvPr/>
              </p:nvSpPr>
              <p:spPr bwMode="gray">
                <a:xfrm>
                  <a:off x="2078" y="1680"/>
                  <a:ext cx="1615" cy="1615"/>
                </a:xfrm>
                <a:prstGeom prst="ellipse">
                  <a:avLst/>
                </a:prstGeom>
                <a:gradFill rotWithShape="1">
                  <a:gsLst>
                    <a:gs pos="0">
                      <a:srgbClr val="FFFFFF">
                        <a:gamma/>
                        <a:shade val="46275"/>
                        <a:invGamma/>
                      </a:srgbClr>
                    </a:gs>
                    <a:gs pos="50000">
                      <a:srgbClr val="FFFFFF"/>
                    </a:gs>
                    <a:gs pos="100000">
                      <a:srgbClr val="FFFFFF">
                        <a:gamma/>
                        <a:shade val="46275"/>
                        <a:invGamma/>
                      </a:srgbClr>
                    </a:gs>
                  </a:gsLst>
                  <a:lin ang="5400000" scaled="1"/>
                </a:gradFill>
                <a:ln>
                  <a:noFill/>
                </a:ln>
                <a:effectLst/>
                <a:extLst>
                  <a:ext uri="{91240B29-F687-4F45-9708-019B960494DF}">
                    <a14:hiddenLine xmlns:a14="http://schemas.microsoft.com/office/drawing/2010/main" w="57150">
                      <a:solidFill>
                        <a:schemeClr val="bg1"/>
                      </a:solidFill>
                      <a:round/>
                    </a14:hiddenLine>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endParaRPr lang="zh-CN" altLang="en-US"/>
                </a:p>
              </p:txBody>
            </p:sp>
            <p:sp>
              <p:nvSpPr>
                <p:cNvPr id="72" name="Oval 34"/>
                <p:cNvSpPr>
                  <a:spLocks noChangeArrowheads="1"/>
                </p:cNvSpPr>
                <p:nvPr/>
              </p:nvSpPr>
              <p:spPr bwMode="gray">
                <a:xfrm>
                  <a:off x="2170" y="1771"/>
                  <a:ext cx="1430" cy="1430"/>
                </a:xfrm>
                <a:prstGeom prst="ellipse">
                  <a:avLst/>
                </a:prstGeom>
                <a:gradFill rotWithShape="1">
                  <a:gsLst>
                    <a:gs pos="0">
                      <a:srgbClr val="FFFFFF">
                        <a:gamma/>
                        <a:shade val="63529"/>
                        <a:invGamma/>
                      </a:srgbClr>
                    </a:gs>
                    <a:gs pos="50000">
                      <a:srgbClr val="FFFFFF"/>
                    </a:gs>
                    <a:gs pos="100000">
                      <a:srgbClr val="FFFFFF">
                        <a:gamma/>
                        <a:shade val="63529"/>
                        <a:invGamma/>
                      </a:srgbClr>
                    </a:gs>
                  </a:gsLst>
                  <a:lin ang="0" scaled="1"/>
                </a:gra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endParaRPr lang="zh-CN" altLang="en-US"/>
                </a:p>
              </p:txBody>
            </p:sp>
            <p:sp>
              <p:nvSpPr>
                <p:cNvPr id="73" name="Oval 35"/>
                <p:cNvSpPr>
                  <a:spLocks noChangeArrowheads="1"/>
                </p:cNvSpPr>
                <p:nvPr/>
              </p:nvSpPr>
              <p:spPr bwMode="gray">
                <a:xfrm>
                  <a:off x="2254" y="1856"/>
                  <a:ext cx="1262" cy="1264"/>
                </a:xfrm>
                <a:prstGeom prst="ellipse">
                  <a:avLst/>
                </a:prstGeom>
                <a:gradFill rotWithShape="1">
                  <a:gsLst>
                    <a:gs pos="0">
                      <a:schemeClr val="hlink">
                        <a:gamma/>
                        <a:tint val="0"/>
                        <a:invGamma/>
                      </a:schemeClr>
                    </a:gs>
                    <a:gs pos="50000">
                      <a:schemeClr val="hlink"/>
                    </a:gs>
                    <a:gs pos="100000">
                      <a:schemeClr val="hlink">
                        <a:gamma/>
                        <a:tint val="0"/>
                        <a:invGamma/>
                      </a:schemeClr>
                    </a:gs>
                  </a:gsLst>
                  <a:lin ang="2700000" scaled="1"/>
                </a:gradFill>
                <a:ln>
                  <a:noFill/>
                </a:ln>
                <a:effectLst/>
                <a:extLst>
                  <a:ext uri="{91240B29-F687-4F45-9708-019B960494DF}">
                    <a14:hiddenLine xmlns:a14="http://schemas.microsoft.com/office/drawing/2010/main" w="38100">
                      <a:solidFill>
                        <a:schemeClr val="bg1"/>
                      </a:solidFill>
                      <a:round/>
                    </a14:hiddenLine>
                  </a:ext>
                  <a:ext uri="{AF507438-7753-43E0-B8FC-AC1667EBCBE1}">
                    <a14:hiddenEffects xmlns:a14="http://schemas.microsoft.com/office/drawing/2010/main">
                      <a:effectLst>
                        <a:outerShdw dist="109250" dir="3267739" algn="ctr" rotWithShape="0">
                          <a:srgbClr val="808080">
                            <a:alpha val="50000"/>
                          </a:srgbClr>
                        </a:outerShdw>
                      </a:effectLst>
                    </a14:hiddenEffects>
                  </a:ext>
                </a:extLst>
              </p:spPr>
              <p:txBody>
                <a:bodyPr wrap="none" anchor="ctr">
                  <a:spAutoFit/>
                </a:bodyPr>
                <a:lstStyle/>
                <a:p>
                  <a:endParaRPr lang="zh-CN" altLang="en-US"/>
                </a:p>
              </p:txBody>
            </p:sp>
            <p:sp>
              <p:nvSpPr>
                <p:cNvPr id="74" name="Oval 36"/>
                <p:cNvSpPr>
                  <a:spLocks noChangeArrowheads="1"/>
                </p:cNvSpPr>
                <p:nvPr/>
              </p:nvSpPr>
              <p:spPr bwMode="gray">
                <a:xfrm>
                  <a:off x="2254" y="1856"/>
                  <a:ext cx="1262" cy="1264"/>
                </a:xfrm>
                <a:prstGeom prst="ellipse">
                  <a:avLst/>
                </a:prstGeom>
                <a:gradFill rotWithShape="1">
                  <a:gsLst>
                    <a:gs pos="0">
                      <a:srgbClr val="8D67E1">
                        <a:gamma/>
                        <a:shade val="0"/>
                        <a:invGamma/>
                      </a:srgbClr>
                    </a:gs>
                    <a:gs pos="100000">
                      <a:srgbClr val="8D67E1"/>
                    </a:gs>
                  </a:gsLst>
                  <a:lin ang="2700000" scaled="1"/>
                </a:gradFill>
                <a:ln>
                  <a:noFill/>
                </a:ln>
                <a:effectLst/>
                <a:extLst>
                  <a:ext uri="{91240B29-F687-4F45-9708-019B960494DF}">
                    <a14:hiddenLine xmlns:a14="http://schemas.microsoft.com/office/drawing/2010/main" w="38100">
                      <a:solidFill>
                        <a:schemeClr val="bg1"/>
                      </a:solidFill>
                      <a:round/>
                    </a14:hiddenLine>
                  </a:ext>
                  <a:ext uri="{AF507438-7753-43E0-B8FC-AC1667EBCBE1}">
                    <a14:hiddenEffects xmlns:a14="http://schemas.microsoft.com/office/drawing/2010/main">
                      <a:effectLst>
                        <a:outerShdw dist="109250" dir="3267739" algn="ctr" rotWithShape="0">
                          <a:srgbClr val="808080">
                            <a:alpha val="50000"/>
                          </a:srgbClr>
                        </a:outerShdw>
                      </a:effectLst>
                    </a14:hiddenEffects>
                  </a:ext>
                </a:extLst>
              </p:spPr>
              <p:txBody>
                <a:bodyPr wrap="none" anchor="ctr">
                  <a:spAutoFit/>
                </a:bodyPr>
                <a:lstStyle/>
                <a:p>
                  <a:endParaRPr lang="zh-CN" altLang="en-US"/>
                </a:p>
              </p:txBody>
            </p:sp>
            <p:sp>
              <p:nvSpPr>
                <p:cNvPr id="75" name="Oval 37"/>
                <p:cNvSpPr>
                  <a:spLocks noChangeArrowheads="1"/>
                </p:cNvSpPr>
                <p:nvPr/>
              </p:nvSpPr>
              <p:spPr bwMode="gray">
                <a:xfrm>
                  <a:off x="2337" y="1939"/>
                  <a:ext cx="1096" cy="1098"/>
                </a:xfrm>
                <a:prstGeom prst="ellipse">
                  <a:avLst/>
                </a:prstGeom>
                <a:gradFill rotWithShape="1">
                  <a:gsLst>
                    <a:gs pos="0">
                      <a:schemeClr val="hlink">
                        <a:gamma/>
                        <a:shade val="54118"/>
                        <a:invGamma/>
                      </a:schemeClr>
                    </a:gs>
                    <a:gs pos="50000">
                      <a:schemeClr val="hlink"/>
                    </a:gs>
                    <a:gs pos="100000">
                      <a:schemeClr val="hlink">
                        <a:gamma/>
                        <a:shade val="54118"/>
                        <a:invGamma/>
                      </a:schemeClr>
                    </a:gs>
                  </a:gsLst>
                  <a:lin ang="18900000" scaled="1"/>
                </a:gradFill>
                <a:ln>
                  <a:noFill/>
                </a:ln>
                <a:effectLst/>
                <a:extLst>
                  <a:ext uri="{91240B29-F687-4F45-9708-019B960494DF}">
                    <a14:hiddenLine xmlns:a14="http://schemas.microsoft.com/office/drawing/2010/main" w="38100">
                      <a:solidFill>
                        <a:schemeClr val="bg1"/>
                      </a:solidFill>
                      <a:round/>
                    </a14:hiddenLine>
                  </a:ext>
                  <a:ext uri="{AF507438-7753-43E0-B8FC-AC1667EBCBE1}">
                    <a14:hiddenEffects xmlns:a14="http://schemas.microsoft.com/office/drawing/2010/main">
                      <a:effectLst>
                        <a:outerShdw dist="109250" dir="3267739" algn="ctr" rotWithShape="0">
                          <a:srgbClr val="808080">
                            <a:alpha val="50000"/>
                          </a:srgbClr>
                        </a:outerShdw>
                      </a:effectLst>
                    </a14:hiddenEffects>
                  </a:ext>
                </a:extLst>
              </p:spPr>
              <p:txBody>
                <a:bodyPr anchor="ctr">
                  <a:spAutoFit/>
                </a:bodyPr>
                <a:lstStyle/>
                <a:p>
                  <a:endParaRPr lang="zh-CN" altLang="en-US"/>
                </a:p>
              </p:txBody>
            </p:sp>
            <p:sp>
              <p:nvSpPr>
                <p:cNvPr id="76" name="Oval 38"/>
                <p:cNvSpPr>
                  <a:spLocks noChangeArrowheads="1"/>
                </p:cNvSpPr>
                <p:nvPr/>
              </p:nvSpPr>
              <p:spPr bwMode="gray">
                <a:xfrm>
                  <a:off x="2337" y="1939"/>
                  <a:ext cx="1096" cy="1098"/>
                </a:xfrm>
                <a:prstGeom prst="ellipse">
                  <a:avLst/>
                </a:prstGeom>
                <a:gradFill rotWithShape="1">
                  <a:gsLst>
                    <a:gs pos="0">
                      <a:srgbClr val="8D67E1"/>
                    </a:gs>
                    <a:gs pos="100000">
                      <a:srgbClr val="8D67E1">
                        <a:gamma/>
                        <a:shade val="48627"/>
                        <a:invGamma/>
                      </a:srgbClr>
                    </a:gs>
                  </a:gsLst>
                  <a:lin ang="2700000" scaled="1"/>
                </a:gradFill>
                <a:ln>
                  <a:noFill/>
                </a:ln>
                <a:effectLst/>
                <a:extLst>
                  <a:ext uri="{91240B29-F687-4F45-9708-019B960494DF}">
                    <a14:hiddenLine xmlns:a14="http://schemas.microsoft.com/office/drawing/2010/main" w="38100">
                      <a:solidFill>
                        <a:schemeClr val="bg1"/>
                      </a:solidFill>
                      <a:round/>
                    </a14:hiddenLine>
                  </a:ext>
                  <a:ext uri="{AF507438-7753-43E0-B8FC-AC1667EBCBE1}">
                    <a14:hiddenEffects xmlns:a14="http://schemas.microsoft.com/office/drawing/2010/main">
                      <a:effectLst>
                        <a:outerShdw dist="109250" dir="3267739" algn="ctr" rotWithShape="0">
                          <a:srgbClr val="808080">
                            <a:alpha val="50000"/>
                          </a:srgbClr>
                        </a:outerShdw>
                      </a:effectLst>
                    </a14:hiddenEffects>
                  </a:ext>
                </a:extLst>
              </p:spPr>
              <p:txBody>
                <a:bodyPr anchor="ctr">
                  <a:spAutoFit/>
                </a:bodyPr>
                <a:lstStyle/>
                <a:p>
                  <a:endParaRPr lang="zh-CN" altLang="en-US"/>
                </a:p>
              </p:txBody>
            </p:sp>
          </p:grpSp>
        </p:grpSp>
        <p:grpSp>
          <p:nvGrpSpPr>
            <p:cNvPr id="60" name="Group 51"/>
            <p:cNvGrpSpPr/>
            <p:nvPr/>
          </p:nvGrpSpPr>
          <p:grpSpPr bwMode="auto">
            <a:xfrm>
              <a:off x="960" y="3308"/>
              <a:ext cx="2972" cy="320"/>
              <a:chOff x="960" y="3308"/>
              <a:chExt cx="2972" cy="320"/>
            </a:xfrm>
          </p:grpSpPr>
          <p:sp>
            <p:nvSpPr>
              <p:cNvPr id="61" name="AutoShape 6"/>
              <p:cNvSpPr>
                <a:spLocks noChangeArrowheads="1"/>
              </p:cNvSpPr>
              <p:nvPr/>
            </p:nvSpPr>
            <p:spPr bwMode="gray">
              <a:xfrm>
                <a:off x="1148" y="3308"/>
                <a:ext cx="2784" cy="320"/>
              </a:xfrm>
              <a:prstGeom prst="roundRect">
                <a:avLst>
                  <a:gd name="adj" fmla="val 50000"/>
                </a:avLst>
              </a:prstGeom>
              <a:noFill/>
              <a:ln w="28575" algn="ctr">
                <a:solidFill>
                  <a:schemeClr val="bg2"/>
                </a:solidFill>
                <a:rou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hangingPunct="0"/>
                <a:r>
                  <a:rPr lang="zh-CN" altLang="en-US" sz="2400" b="1" dirty="0">
                    <a:solidFill>
                      <a:srgbClr val="800000"/>
                    </a:solidFill>
                    <a:latin typeface="华文新魏" panose="02010800040101010101" pitchFamily="2" charset="-122"/>
                    <a:ea typeface="华文新魏" panose="02010800040101010101" pitchFamily="2" charset="-122"/>
                  </a:rPr>
                  <a:t>数制转换</a:t>
                </a:r>
                <a:endParaRPr lang="en-US" altLang="zh-CN" sz="2400" b="1" dirty="0">
                  <a:solidFill>
                    <a:srgbClr val="800000"/>
                  </a:solidFill>
                  <a:latin typeface="华文新魏" panose="02010800040101010101" pitchFamily="2" charset="-122"/>
                  <a:ea typeface="华文新魏" panose="02010800040101010101" pitchFamily="2" charset="-122"/>
                </a:endParaRPr>
              </a:p>
            </p:txBody>
          </p:sp>
          <p:grpSp>
            <p:nvGrpSpPr>
              <p:cNvPr id="62" name="Group 39"/>
              <p:cNvGrpSpPr/>
              <p:nvPr/>
            </p:nvGrpSpPr>
            <p:grpSpPr bwMode="auto">
              <a:xfrm>
                <a:off x="960" y="3339"/>
                <a:ext cx="224" cy="240"/>
                <a:chOff x="2078" y="1680"/>
                <a:chExt cx="1615" cy="1615"/>
              </a:xfrm>
            </p:grpSpPr>
            <p:sp>
              <p:nvSpPr>
                <p:cNvPr id="63" name="Oval 40"/>
                <p:cNvSpPr>
                  <a:spLocks noChangeArrowheads="1"/>
                </p:cNvSpPr>
                <p:nvPr/>
              </p:nvSpPr>
              <p:spPr bwMode="gray">
                <a:xfrm>
                  <a:off x="2078" y="1680"/>
                  <a:ext cx="1615" cy="1615"/>
                </a:xfrm>
                <a:prstGeom prst="ellipse">
                  <a:avLst/>
                </a:prstGeom>
                <a:gradFill rotWithShape="1">
                  <a:gsLst>
                    <a:gs pos="0">
                      <a:srgbClr val="FFFFFF">
                        <a:gamma/>
                        <a:shade val="46275"/>
                        <a:invGamma/>
                      </a:srgbClr>
                    </a:gs>
                    <a:gs pos="50000">
                      <a:srgbClr val="FFFFFF"/>
                    </a:gs>
                    <a:gs pos="100000">
                      <a:srgbClr val="FFFFFF">
                        <a:gamma/>
                        <a:shade val="46275"/>
                        <a:invGamma/>
                      </a:srgbClr>
                    </a:gs>
                  </a:gsLst>
                  <a:lin ang="5400000" scaled="1"/>
                </a:gradFill>
                <a:ln>
                  <a:noFill/>
                </a:ln>
                <a:effectLst/>
                <a:extLst>
                  <a:ext uri="{91240B29-F687-4F45-9708-019B960494DF}">
                    <a14:hiddenLine xmlns:a14="http://schemas.microsoft.com/office/drawing/2010/main" w="57150">
                      <a:solidFill>
                        <a:schemeClr val="bg1"/>
                      </a:solidFill>
                      <a:round/>
                    </a14:hiddenLine>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endParaRPr lang="zh-CN" altLang="en-US"/>
                </a:p>
              </p:txBody>
            </p:sp>
            <p:sp>
              <p:nvSpPr>
                <p:cNvPr id="64" name="Oval 41"/>
                <p:cNvSpPr>
                  <a:spLocks noChangeArrowheads="1"/>
                </p:cNvSpPr>
                <p:nvPr/>
              </p:nvSpPr>
              <p:spPr bwMode="gray">
                <a:xfrm>
                  <a:off x="2170" y="1771"/>
                  <a:ext cx="1430" cy="1430"/>
                </a:xfrm>
                <a:prstGeom prst="ellipse">
                  <a:avLst/>
                </a:prstGeom>
                <a:gradFill rotWithShape="1">
                  <a:gsLst>
                    <a:gs pos="0">
                      <a:srgbClr val="FFFFFF">
                        <a:gamma/>
                        <a:shade val="63529"/>
                        <a:invGamma/>
                      </a:srgbClr>
                    </a:gs>
                    <a:gs pos="50000">
                      <a:srgbClr val="FFFFFF"/>
                    </a:gs>
                    <a:gs pos="100000">
                      <a:srgbClr val="FFFFFF">
                        <a:gamma/>
                        <a:shade val="63529"/>
                        <a:invGamma/>
                      </a:srgbClr>
                    </a:gs>
                  </a:gsLst>
                  <a:lin ang="0" scaled="1"/>
                </a:gra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endParaRPr lang="zh-CN" altLang="en-US"/>
                </a:p>
              </p:txBody>
            </p:sp>
            <p:sp>
              <p:nvSpPr>
                <p:cNvPr id="65" name="Oval 42"/>
                <p:cNvSpPr>
                  <a:spLocks noChangeArrowheads="1"/>
                </p:cNvSpPr>
                <p:nvPr/>
              </p:nvSpPr>
              <p:spPr bwMode="gray">
                <a:xfrm>
                  <a:off x="2254" y="1856"/>
                  <a:ext cx="1262" cy="1264"/>
                </a:xfrm>
                <a:prstGeom prst="ellipse">
                  <a:avLst/>
                </a:prstGeom>
                <a:gradFill rotWithShape="1">
                  <a:gsLst>
                    <a:gs pos="0">
                      <a:schemeClr val="hlink">
                        <a:gamma/>
                        <a:tint val="0"/>
                        <a:invGamma/>
                      </a:schemeClr>
                    </a:gs>
                    <a:gs pos="50000">
                      <a:schemeClr val="hlink"/>
                    </a:gs>
                    <a:gs pos="100000">
                      <a:schemeClr val="hlink">
                        <a:gamma/>
                        <a:tint val="0"/>
                        <a:invGamma/>
                      </a:schemeClr>
                    </a:gs>
                  </a:gsLst>
                  <a:lin ang="2700000" scaled="1"/>
                </a:gradFill>
                <a:ln>
                  <a:noFill/>
                </a:ln>
                <a:effectLst/>
                <a:extLst>
                  <a:ext uri="{91240B29-F687-4F45-9708-019B960494DF}">
                    <a14:hiddenLine xmlns:a14="http://schemas.microsoft.com/office/drawing/2010/main" w="38100">
                      <a:solidFill>
                        <a:schemeClr val="bg1"/>
                      </a:solidFill>
                      <a:round/>
                    </a14:hiddenLine>
                  </a:ext>
                  <a:ext uri="{AF507438-7753-43E0-B8FC-AC1667EBCBE1}">
                    <a14:hiddenEffects xmlns:a14="http://schemas.microsoft.com/office/drawing/2010/main">
                      <a:effectLst>
                        <a:outerShdw dist="109250" dir="3267739" algn="ctr" rotWithShape="0">
                          <a:srgbClr val="808080">
                            <a:alpha val="50000"/>
                          </a:srgbClr>
                        </a:outerShdw>
                      </a:effectLst>
                    </a14:hiddenEffects>
                  </a:ext>
                </a:extLst>
              </p:spPr>
              <p:txBody>
                <a:bodyPr wrap="none" anchor="ctr">
                  <a:spAutoFit/>
                </a:bodyPr>
                <a:lstStyle/>
                <a:p>
                  <a:endParaRPr lang="zh-CN" altLang="en-US"/>
                </a:p>
              </p:txBody>
            </p:sp>
            <p:sp>
              <p:nvSpPr>
                <p:cNvPr id="66" name="Oval 43"/>
                <p:cNvSpPr>
                  <a:spLocks noChangeArrowheads="1"/>
                </p:cNvSpPr>
                <p:nvPr/>
              </p:nvSpPr>
              <p:spPr bwMode="gray">
                <a:xfrm>
                  <a:off x="2254" y="1856"/>
                  <a:ext cx="1262" cy="1264"/>
                </a:xfrm>
                <a:prstGeom prst="ellipse">
                  <a:avLst/>
                </a:prstGeom>
                <a:gradFill rotWithShape="1">
                  <a:gsLst>
                    <a:gs pos="0">
                      <a:srgbClr val="E35E23">
                        <a:gamma/>
                        <a:shade val="0"/>
                        <a:invGamma/>
                      </a:srgbClr>
                    </a:gs>
                    <a:gs pos="100000">
                      <a:srgbClr val="E35E23"/>
                    </a:gs>
                  </a:gsLst>
                  <a:lin ang="2700000" scaled="1"/>
                </a:gradFill>
                <a:ln>
                  <a:noFill/>
                </a:ln>
                <a:effectLst/>
                <a:extLst>
                  <a:ext uri="{91240B29-F687-4F45-9708-019B960494DF}">
                    <a14:hiddenLine xmlns:a14="http://schemas.microsoft.com/office/drawing/2010/main" w="38100">
                      <a:solidFill>
                        <a:schemeClr val="bg1"/>
                      </a:solidFill>
                      <a:round/>
                    </a14:hiddenLine>
                  </a:ext>
                  <a:ext uri="{AF507438-7753-43E0-B8FC-AC1667EBCBE1}">
                    <a14:hiddenEffects xmlns:a14="http://schemas.microsoft.com/office/drawing/2010/main">
                      <a:effectLst>
                        <a:outerShdw dist="109250" dir="3267739" algn="ctr" rotWithShape="0">
                          <a:srgbClr val="808080">
                            <a:alpha val="50000"/>
                          </a:srgbClr>
                        </a:outerShdw>
                      </a:effectLst>
                    </a14:hiddenEffects>
                  </a:ext>
                </a:extLst>
              </p:spPr>
              <p:txBody>
                <a:bodyPr wrap="none" anchor="ctr">
                  <a:spAutoFit/>
                </a:bodyPr>
                <a:lstStyle/>
                <a:p>
                  <a:endParaRPr lang="zh-CN" altLang="en-US"/>
                </a:p>
              </p:txBody>
            </p:sp>
            <p:sp>
              <p:nvSpPr>
                <p:cNvPr id="67" name="Oval 44"/>
                <p:cNvSpPr>
                  <a:spLocks noChangeArrowheads="1"/>
                </p:cNvSpPr>
                <p:nvPr/>
              </p:nvSpPr>
              <p:spPr bwMode="gray">
                <a:xfrm>
                  <a:off x="2337" y="1939"/>
                  <a:ext cx="1096" cy="1098"/>
                </a:xfrm>
                <a:prstGeom prst="ellipse">
                  <a:avLst/>
                </a:prstGeom>
                <a:gradFill rotWithShape="1">
                  <a:gsLst>
                    <a:gs pos="0">
                      <a:schemeClr val="hlink">
                        <a:gamma/>
                        <a:shade val="54118"/>
                        <a:invGamma/>
                      </a:schemeClr>
                    </a:gs>
                    <a:gs pos="50000">
                      <a:schemeClr val="hlink"/>
                    </a:gs>
                    <a:gs pos="100000">
                      <a:schemeClr val="hlink">
                        <a:gamma/>
                        <a:shade val="54118"/>
                        <a:invGamma/>
                      </a:schemeClr>
                    </a:gs>
                  </a:gsLst>
                  <a:lin ang="18900000" scaled="1"/>
                </a:gradFill>
                <a:ln>
                  <a:noFill/>
                </a:ln>
                <a:effectLst/>
                <a:extLst>
                  <a:ext uri="{91240B29-F687-4F45-9708-019B960494DF}">
                    <a14:hiddenLine xmlns:a14="http://schemas.microsoft.com/office/drawing/2010/main" w="38100">
                      <a:solidFill>
                        <a:schemeClr val="bg1"/>
                      </a:solidFill>
                      <a:round/>
                    </a14:hiddenLine>
                  </a:ext>
                  <a:ext uri="{AF507438-7753-43E0-B8FC-AC1667EBCBE1}">
                    <a14:hiddenEffects xmlns:a14="http://schemas.microsoft.com/office/drawing/2010/main">
                      <a:effectLst>
                        <a:outerShdw dist="109250" dir="3267739" algn="ctr" rotWithShape="0">
                          <a:srgbClr val="808080">
                            <a:alpha val="50000"/>
                          </a:srgbClr>
                        </a:outerShdw>
                      </a:effectLst>
                    </a14:hiddenEffects>
                  </a:ext>
                </a:extLst>
              </p:spPr>
              <p:txBody>
                <a:bodyPr anchor="ctr">
                  <a:spAutoFit/>
                </a:bodyPr>
                <a:lstStyle/>
                <a:p>
                  <a:endParaRPr lang="zh-CN" altLang="en-US"/>
                </a:p>
              </p:txBody>
            </p:sp>
            <p:sp>
              <p:nvSpPr>
                <p:cNvPr id="68" name="Oval 45"/>
                <p:cNvSpPr>
                  <a:spLocks noChangeArrowheads="1"/>
                </p:cNvSpPr>
                <p:nvPr/>
              </p:nvSpPr>
              <p:spPr bwMode="gray">
                <a:xfrm>
                  <a:off x="2337" y="1939"/>
                  <a:ext cx="1096" cy="1098"/>
                </a:xfrm>
                <a:prstGeom prst="ellipse">
                  <a:avLst/>
                </a:prstGeom>
                <a:gradFill rotWithShape="1">
                  <a:gsLst>
                    <a:gs pos="0">
                      <a:srgbClr val="E35E23"/>
                    </a:gs>
                    <a:gs pos="100000">
                      <a:srgbClr val="E35E23">
                        <a:gamma/>
                        <a:shade val="48627"/>
                        <a:invGamma/>
                      </a:srgbClr>
                    </a:gs>
                  </a:gsLst>
                  <a:lin ang="2700000" scaled="1"/>
                </a:gradFill>
                <a:ln>
                  <a:noFill/>
                </a:ln>
                <a:effectLst/>
                <a:extLst>
                  <a:ext uri="{91240B29-F687-4F45-9708-019B960494DF}">
                    <a14:hiddenLine xmlns:a14="http://schemas.microsoft.com/office/drawing/2010/main" w="38100">
                      <a:solidFill>
                        <a:schemeClr val="bg1"/>
                      </a:solidFill>
                      <a:round/>
                    </a14:hiddenLine>
                  </a:ext>
                  <a:ext uri="{AF507438-7753-43E0-B8FC-AC1667EBCBE1}">
                    <a14:hiddenEffects xmlns:a14="http://schemas.microsoft.com/office/drawing/2010/main">
                      <a:effectLst>
                        <a:outerShdw dist="109250" dir="3267739" algn="ctr" rotWithShape="0">
                          <a:srgbClr val="808080">
                            <a:alpha val="50000"/>
                          </a:srgbClr>
                        </a:outerShdw>
                      </a:effectLst>
                    </a14:hiddenEffects>
                  </a:ext>
                </a:extLst>
              </p:spPr>
              <p:txBody>
                <a:bodyPr anchor="ctr">
                  <a:spAutoFit/>
                </a:bodyPr>
                <a:lstStyle/>
                <a:p>
                  <a:endParaRPr lang="zh-CN" altLang="en-US"/>
                </a:p>
              </p:txBody>
            </p:sp>
          </p:grpSp>
        </p:grpSp>
      </p:gr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noChangeArrowheads="1"/>
          </p:cNvSpPr>
          <p:nvPr>
            <p:ph type="title"/>
          </p:nvPr>
        </p:nvSpPr>
        <p:spPr/>
        <p:txBody>
          <a:bodyPr/>
          <a:lstStyle/>
          <a:p>
            <a:r>
              <a:rPr lang="zh-CN" altLang="en-US" dirty="0">
                <a:ea typeface="宋体" panose="02010600030101010101" pitchFamily="2" charset="-122"/>
              </a:rPr>
              <a:t>数的进制</a:t>
            </a:r>
            <a:endParaRPr lang="en-US" altLang="zh-CN" dirty="0">
              <a:ea typeface="宋体" panose="02010600030101010101" pitchFamily="2" charset="-122"/>
            </a:endParaRPr>
          </a:p>
        </p:txBody>
      </p:sp>
      <p:sp>
        <p:nvSpPr>
          <p:cNvPr id="44035" name="Freeform 3"/>
          <p:cNvSpPr>
            <a:spLocks noEditPoints="1"/>
          </p:cNvSpPr>
          <p:nvPr/>
        </p:nvSpPr>
        <p:spPr bwMode="gray">
          <a:xfrm rot="-1358056">
            <a:off x="1077913" y="2614613"/>
            <a:ext cx="6853237" cy="2803525"/>
          </a:xfrm>
          <a:custGeom>
            <a:avLst/>
            <a:gdLst/>
            <a:ahLst/>
            <a:cxnLst>
              <a:cxn ang="0">
                <a:pos x="1692" y="12"/>
              </a:cxn>
              <a:cxn ang="0">
                <a:pos x="1234" y="74"/>
              </a:cxn>
              <a:cxn ang="0">
                <a:pos x="828" y="182"/>
              </a:cxn>
              <a:cxn ang="0">
                <a:pos x="486" y="330"/>
              </a:cxn>
              <a:cxn ang="0">
                <a:pos x="226" y="510"/>
              </a:cxn>
              <a:cxn ang="0">
                <a:pos x="58" y="718"/>
              </a:cxn>
              <a:cxn ang="0">
                <a:pos x="0" y="944"/>
              </a:cxn>
              <a:cxn ang="0">
                <a:pos x="58" y="1170"/>
              </a:cxn>
              <a:cxn ang="0">
                <a:pos x="226" y="1378"/>
              </a:cxn>
              <a:cxn ang="0">
                <a:pos x="486" y="1558"/>
              </a:cxn>
              <a:cxn ang="0">
                <a:pos x="828" y="1706"/>
              </a:cxn>
              <a:cxn ang="0">
                <a:pos x="1234" y="1814"/>
              </a:cxn>
              <a:cxn ang="0">
                <a:pos x="1692" y="1876"/>
              </a:cxn>
              <a:cxn ang="0">
                <a:pos x="2186" y="1884"/>
              </a:cxn>
              <a:cxn ang="0">
                <a:pos x="2658" y="1840"/>
              </a:cxn>
              <a:cxn ang="0">
                <a:pos x="3084" y="1746"/>
              </a:cxn>
              <a:cxn ang="0">
                <a:pos x="3448" y="1612"/>
              </a:cxn>
              <a:cxn ang="0">
                <a:pos x="3738" y="1442"/>
              </a:cxn>
              <a:cxn ang="0">
                <a:pos x="3938" y="1242"/>
              </a:cxn>
              <a:cxn ang="0">
                <a:pos x="4034" y="1022"/>
              </a:cxn>
              <a:cxn ang="0">
                <a:pos x="4014" y="790"/>
              </a:cxn>
              <a:cxn ang="0">
                <a:pos x="3882" y="576"/>
              </a:cxn>
              <a:cxn ang="0">
                <a:pos x="3650" y="386"/>
              </a:cxn>
              <a:cxn ang="0">
                <a:pos x="3334" y="228"/>
              </a:cxn>
              <a:cxn ang="0">
                <a:pos x="2948" y="106"/>
              </a:cxn>
              <a:cxn ang="0">
                <a:pos x="2506" y="28"/>
              </a:cxn>
              <a:cxn ang="0">
                <a:pos x="2020" y="0"/>
              </a:cxn>
              <a:cxn ang="0">
                <a:pos x="1606" y="1736"/>
              </a:cxn>
              <a:cxn ang="0">
                <a:pos x="1164" y="1678"/>
              </a:cxn>
              <a:cxn ang="0">
                <a:pos x="776" y="1576"/>
              </a:cxn>
              <a:cxn ang="0">
                <a:pos x="458" y="1436"/>
              </a:cxn>
              <a:cxn ang="0">
                <a:pos x="224" y="1266"/>
              </a:cxn>
              <a:cxn ang="0">
                <a:pos x="88" y="1074"/>
              </a:cxn>
              <a:cxn ang="0">
                <a:pos x="68" y="864"/>
              </a:cxn>
              <a:cxn ang="0">
                <a:pos x="166" y="664"/>
              </a:cxn>
              <a:cxn ang="0">
                <a:pos x="370" y="486"/>
              </a:cxn>
              <a:cxn ang="0">
                <a:pos x="662" y="336"/>
              </a:cxn>
              <a:cxn ang="0">
                <a:pos x="1028" y="222"/>
              </a:cxn>
              <a:cxn ang="0">
                <a:pos x="1454" y="148"/>
              </a:cxn>
              <a:cxn ang="0">
                <a:pos x="1922" y="120"/>
              </a:cxn>
              <a:cxn ang="0">
                <a:pos x="2392" y="148"/>
              </a:cxn>
              <a:cxn ang="0">
                <a:pos x="2818" y="222"/>
              </a:cxn>
              <a:cxn ang="0">
                <a:pos x="3184" y="336"/>
              </a:cxn>
              <a:cxn ang="0">
                <a:pos x="3476" y="486"/>
              </a:cxn>
              <a:cxn ang="0">
                <a:pos x="3680" y="664"/>
              </a:cxn>
              <a:cxn ang="0">
                <a:pos x="3778" y="864"/>
              </a:cxn>
              <a:cxn ang="0">
                <a:pos x="3758" y="1074"/>
              </a:cxn>
              <a:cxn ang="0">
                <a:pos x="3622" y="1266"/>
              </a:cxn>
              <a:cxn ang="0">
                <a:pos x="3388" y="1436"/>
              </a:cxn>
              <a:cxn ang="0">
                <a:pos x="3070" y="1576"/>
              </a:cxn>
              <a:cxn ang="0">
                <a:pos x="2682" y="1678"/>
              </a:cxn>
              <a:cxn ang="0">
                <a:pos x="2240" y="1736"/>
              </a:cxn>
            </a:cxnLst>
            <a:rect l="0" t="0" r="r" b="b"/>
            <a:pathLst>
              <a:path w="4040" h="1888">
                <a:moveTo>
                  <a:pt x="2020" y="0"/>
                </a:moveTo>
                <a:lnTo>
                  <a:pt x="1854" y="4"/>
                </a:lnTo>
                <a:lnTo>
                  <a:pt x="1692" y="12"/>
                </a:lnTo>
                <a:lnTo>
                  <a:pt x="1534" y="28"/>
                </a:lnTo>
                <a:lnTo>
                  <a:pt x="1382" y="48"/>
                </a:lnTo>
                <a:lnTo>
                  <a:pt x="1234" y="74"/>
                </a:lnTo>
                <a:lnTo>
                  <a:pt x="1092" y="106"/>
                </a:lnTo>
                <a:lnTo>
                  <a:pt x="956" y="142"/>
                </a:lnTo>
                <a:lnTo>
                  <a:pt x="828" y="182"/>
                </a:lnTo>
                <a:lnTo>
                  <a:pt x="706" y="228"/>
                </a:lnTo>
                <a:lnTo>
                  <a:pt x="592" y="276"/>
                </a:lnTo>
                <a:lnTo>
                  <a:pt x="486" y="330"/>
                </a:lnTo>
                <a:lnTo>
                  <a:pt x="390" y="386"/>
                </a:lnTo>
                <a:lnTo>
                  <a:pt x="302" y="446"/>
                </a:lnTo>
                <a:lnTo>
                  <a:pt x="226" y="510"/>
                </a:lnTo>
                <a:lnTo>
                  <a:pt x="158" y="576"/>
                </a:lnTo>
                <a:lnTo>
                  <a:pt x="102" y="646"/>
                </a:lnTo>
                <a:lnTo>
                  <a:pt x="58" y="718"/>
                </a:lnTo>
                <a:lnTo>
                  <a:pt x="26" y="790"/>
                </a:lnTo>
                <a:lnTo>
                  <a:pt x="6" y="866"/>
                </a:lnTo>
                <a:lnTo>
                  <a:pt x="0" y="944"/>
                </a:lnTo>
                <a:lnTo>
                  <a:pt x="6" y="1022"/>
                </a:lnTo>
                <a:lnTo>
                  <a:pt x="26" y="1098"/>
                </a:lnTo>
                <a:lnTo>
                  <a:pt x="58" y="1170"/>
                </a:lnTo>
                <a:lnTo>
                  <a:pt x="102" y="1242"/>
                </a:lnTo>
                <a:lnTo>
                  <a:pt x="158" y="1312"/>
                </a:lnTo>
                <a:lnTo>
                  <a:pt x="226" y="1378"/>
                </a:lnTo>
                <a:lnTo>
                  <a:pt x="302" y="1442"/>
                </a:lnTo>
                <a:lnTo>
                  <a:pt x="390" y="1502"/>
                </a:lnTo>
                <a:lnTo>
                  <a:pt x="486" y="1558"/>
                </a:lnTo>
                <a:lnTo>
                  <a:pt x="592" y="1612"/>
                </a:lnTo>
                <a:lnTo>
                  <a:pt x="706" y="1660"/>
                </a:lnTo>
                <a:lnTo>
                  <a:pt x="828" y="1706"/>
                </a:lnTo>
                <a:lnTo>
                  <a:pt x="956" y="1746"/>
                </a:lnTo>
                <a:lnTo>
                  <a:pt x="1092" y="1782"/>
                </a:lnTo>
                <a:lnTo>
                  <a:pt x="1234" y="1814"/>
                </a:lnTo>
                <a:lnTo>
                  <a:pt x="1382" y="1840"/>
                </a:lnTo>
                <a:lnTo>
                  <a:pt x="1534" y="1860"/>
                </a:lnTo>
                <a:lnTo>
                  <a:pt x="1692" y="1876"/>
                </a:lnTo>
                <a:lnTo>
                  <a:pt x="1854" y="1884"/>
                </a:lnTo>
                <a:lnTo>
                  <a:pt x="2020" y="1888"/>
                </a:lnTo>
                <a:lnTo>
                  <a:pt x="2186" y="1884"/>
                </a:lnTo>
                <a:lnTo>
                  <a:pt x="2348" y="1876"/>
                </a:lnTo>
                <a:lnTo>
                  <a:pt x="2506" y="1860"/>
                </a:lnTo>
                <a:lnTo>
                  <a:pt x="2658" y="1840"/>
                </a:lnTo>
                <a:lnTo>
                  <a:pt x="2806" y="1814"/>
                </a:lnTo>
                <a:lnTo>
                  <a:pt x="2948" y="1782"/>
                </a:lnTo>
                <a:lnTo>
                  <a:pt x="3084" y="1746"/>
                </a:lnTo>
                <a:lnTo>
                  <a:pt x="3212" y="1706"/>
                </a:lnTo>
                <a:lnTo>
                  <a:pt x="3334" y="1660"/>
                </a:lnTo>
                <a:lnTo>
                  <a:pt x="3448" y="1612"/>
                </a:lnTo>
                <a:lnTo>
                  <a:pt x="3554" y="1558"/>
                </a:lnTo>
                <a:lnTo>
                  <a:pt x="3650" y="1502"/>
                </a:lnTo>
                <a:lnTo>
                  <a:pt x="3738" y="1442"/>
                </a:lnTo>
                <a:lnTo>
                  <a:pt x="3814" y="1378"/>
                </a:lnTo>
                <a:lnTo>
                  <a:pt x="3882" y="1312"/>
                </a:lnTo>
                <a:lnTo>
                  <a:pt x="3938" y="1242"/>
                </a:lnTo>
                <a:lnTo>
                  <a:pt x="3982" y="1170"/>
                </a:lnTo>
                <a:lnTo>
                  <a:pt x="4014" y="1098"/>
                </a:lnTo>
                <a:lnTo>
                  <a:pt x="4034" y="1022"/>
                </a:lnTo>
                <a:lnTo>
                  <a:pt x="4040" y="944"/>
                </a:lnTo>
                <a:lnTo>
                  <a:pt x="4034" y="866"/>
                </a:lnTo>
                <a:lnTo>
                  <a:pt x="4014" y="790"/>
                </a:lnTo>
                <a:lnTo>
                  <a:pt x="3982" y="718"/>
                </a:lnTo>
                <a:lnTo>
                  <a:pt x="3938" y="646"/>
                </a:lnTo>
                <a:lnTo>
                  <a:pt x="3882" y="576"/>
                </a:lnTo>
                <a:lnTo>
                  <a:pt x="3814" y="510"/>
                </a:lnTo>
                <a:lnTo>
                  <a:pt x="3738" y="446"/>
                </a:lnTo>
                <a:lnTo>
                  <a:pt x="3650" y="386"/>
                </a:lnTo>
                <a:lnTo>
                  <a:pt x="3554" y="330"/>
                </a:lnTo>
                <a:lnTo>
                  <a:pt x="3448" y="276"/>
                </a:lnTo>
                <a:lnTo>
                  <a:pt x="3334" y="228"/>
                </a:lnTo>
                <a:lnTo>
                  <a:pt x="3212" y="182"/>
                </a:lnTo>
                <a:lnTo>
                  <a:pt x="3084" y="142"/>
                </a:lnTo>
                <a:lnTo>
                  <a:pt x="2948" y="106"/>
                </a:lnTo>
                <a:lnTo>
                  <a:pt x="2806" y="74"/>
                </a:lnTo>
                <a:lnTo>
                  <a:pt x="2658" y="48"/>
                </a:lnTo>
                <a:lnTo>
                  <a:pt x="2506" y="28"/>
                </a:lnTo>
                <a:lnTo>
                  <a:pt x="2348" y="12"/>
                </a:lnTo>
                <a:lnTo>
                  <a:pt x="2186" y="4"/>
                </a:lnTo>
                <a:lnTo>
                  <a:pt x="2020" y="0"/>
                </a:lnTo>
                <a:close/>
                <a:moveTo>
                  <a:pt x="1922" y="1748"/>
                </a:moveTo>
                <a:lnTo>
                  <a:pt x="1762" y="1746"/>
                </a:lnTo>
                <a:lnTo>
                  <a:pt x="1606" y="1736"/>
                </a:lnTo>
                <a:lnTo>
                  <a:pt x="1454" y="1722"/>
                </a:lnTo>
                <a:lnTo>
                  <a:pt x="1306" y="1702"/>
                </a:lnTo>
                <a:lnTo>
                  <a:pt x="1164" y="1678"/>
                </a:lnTo>
                <a:lnTo>
                  <a:pt x="1028" y="1648"/>
                </a:lnTo>
                <a:lnTo>
                  <a:pt x="898" y="1614"/>
                </a:lnTo>
                <a:lnTo>
                  <a:pt x="776" y="1576"/>
                </a:lnTo>
                <a:lnTo>
                  <a:pt x="662" y="1532"/>
                </a:lnTo>
                <a:lnTo>
                  <a:pt x="554" y="1486"/>
                </a:lnTo>
                <a:lnTo>
                  <a:pt x="458" y="1436"/>
                </a:lnTo>
                <a:lnTo>
                  <a:pt x="370" y="1382"/>
                </a:lnTo>
                <a:lnTo>
                  <a:pt x="292" y="1326"/>
                </a:lnTo>
                <a:lnTo>
                  <a:pt x="224" y="1266"/>
                </a:lnTo>
                <a:lnTo>
                  <a:pt x="166" y="1204"/>
                </a:lnTo>
                <a:lnTo>
                  <a:pt x="122" y="1140"/>
                </a:lnTo>
                <a:lnTo>
                  <a:pt x="88" y="1074"/>
                </a:lnTo>
                <a:lnTo>
                  <a:pt x="68" y="1004"/>
                </a:lnTo>
                <a:lnTo>
                  <a:pt x="62" y="934"/>
                </a:lnTo>
                <a:lnTo>
                  <a:pt x="68" y="864"/>
                </a:lnTo>
                <a:lnTo>
                  <a:pt x="88" y="796"/>
                </a:lnTo>
                <a:lnTo>
                  <a:pt x="122" y="730"/>
                </a:lnTo>
                <a:lnTo>
                  <a:pt x="166" y="664"/>
                </a:lnTo>
                <a:lnTo>
                  <a:pt x="224" y="602"/>
                </a:lnTo>
                <a:lnTo>
                  <a:pt x="292" y="544"/>
                </a:lnTo>
                <a:lnTo>
                  <a:pt x="370" y="486"/>
                </a:lnTo>
                <a:lnTo>
                  <a:pt x="458" y="434"/>
                </a:lnTo>
                <a:lnTo>
                  <a:pt x="554" y="382"/>
                </a:lnTo>
                <a:lnTo>
                  <a:pt x="662" y="336"/>
                </a:lnTo>
                <a:lnTo>
                  <a:pt x="776" y="294"/>
                </a:lnTo>
                <a:lnTo>
                  <a:pt x="898" y="256"/>
                </a:lnTo>
                <a:lnTo>
                  <a:pt x="1028" y="222"/>
                </a:lnTo>
                <a:lnTo>
                  <a:pt x="1164" y="192"/>
                </a:lnTo>
                <a:lnTo>
                  <a:pt x="1306" y="166"/>
                </a:lnTo>
                <a:lnTo>
                  <a:pt x="1454" y="148"/>
                </a:lnTo>
                <a:lnTo>
                  <a:pt x="1606" y="132"/>
                </a:lnTo>
                <a:lnTo>
                  <a:pt x="1762" y="124"/>
                </a:lnTo>
                <a:lnTo>
                  <a:pt x="1922" y="120"/>
                </a:lnTo>
                <a:lnTo>
                  <a:pt x="2084" y="124"/>
                </a:lnTo>
                <a:lnTo>
                  <a:pt x="2240" y="132"/>
                </a:lnTo>
                <a:lnTo>
                  <a:pt x="2392" y="148"/>
                </a:lnTo>
                <a:lnTo>
                  <a:pt x="2540" y="166"/>
                </a:lnTo>
                <a:lnTo>
                  <a:pt x="2682" y="192"/>
                </a:lnTo>
                <a:lnTo>
                  <a:pt x="2818" y="222"/>
                </a:lnTo>
                <a:lnTo>
                  <a:pt x="2948" y="256"/>
                </a:lnTo>
                <a:lnTo>
                  <a:pt x="3070" y="294"/>
                </a:lnTo>
                <a:lnTo>
                  <a:pt x="3184" y="336"/>
                </a:lnTo>
                <a:lnTo>
                  <a:pt x="3292" y="382"/>
                </a:lnTo>
                <a:lnTo>
                  <a:pt x="3388" y="434"/>
                </a:lnTo>
                <a:lnTo>
                  <a:pt x="3476" y="486"/>
                </a:lnTo>
                <a:lnTo>
                  <a:pt x="3554" y="544"/>
                </a:lnTo>
                <a:lnTo>
                  <a:pt x="3622" y="602"/>
                </a:lnTo>
                <a:lnTo>
                  <a:pt x="3680" y="664"/>
                </a:lnTo>
                <a:lnTo>
                  <a:pt x="3724" y="730"/>
                </a:lnTo>
                <a:lnTo>
                  <a:pt x="3758" y="796"/>
                </a:lnTo>
                <a:lnTo>
                  <a:pt x="3778" y="864"/>
                </a:lnTo>
                <a:lnTo>
                  <a:pt x="3784" y="934"/>
                </a:lnTo>
                <a:lnTo>
                  <a:pt x="3778" y="1004"/>
                </a:lnTo>
                <a:lnTo>
                  <a:pt x="3758" y="1074"/>
                </a:lnTo>
                <a:lnTo>
                  <a:pt x="3724" y="1140"/>
                </a:lnTo>
                <a:lnTo>
                  <a:pt x="3680" y="1204"/>
                </a:lnTo>
                <a:lnTo>
                  <a:pt x="3622" y="1266"/>
                </a:lnTo>
                <a:lnTo>
                  <a:pt x="3554" y="1326"/>
                </a:lnTo>
                <a:lnTo>
                  <a:pt x="3476" y="1382"/>
                </a:lnTo>
                <a:lnTo>
                  <a:pt x="3388" y="1436"/>
                </a:lnTo>
                <a:lnTo>
                  <a:pt x="3292" y="1486"/>
                </a:lnTo>
                <a:lnTo>
                  <a:pt x="3184" y="1532"/>
                </a:lnTo>
                <a:lnTo>
                  <a:pt x="3070" y="1576"/>
                </a:lnTo>
                <a:lnTo>
                  <a:pt x="2948" y="1614"/>
                </a:lnTo>
                <a:lnTo>
                  <a:pt x="2818" y="1648"/>
                </a:lnTo>
                <a:lnTo>
                  <a:pt x="2682" y="1678"/>
                </a:lnTo>
                <a:lnTo>
                  <a:pt x="2540" y="1702"/>
                </a:lnTo>
                <a:lnTo>
                  <a:pt x="2392" y="1722"/>
                </a:lnTo>
                <a:lnTo>
                  <a:pt x="2240" y="1736"/>
                </a:lnTo>
                <a:lnTo>
                  <a:pt x="2084" y="1746"/>
                </a:lnTo>
                <a:lnTo>
                  <a:pt x="1922" y="1748"/>
                </a:lnTo>
                <a:close/>
              </a:path>
            </a:pathLst>
          </a:custGeom>
          <a:gradFill rotWithShape="1">
            <a:gsLst>
              <a:gs pos="0">
                <a:schemeClr val="bg2">
                  <a:gamma/>
                  <a:tint val="12157"/>
                  <a:invGamma/>
                </a:schemeClr>
              </a:gs>
              <a:gs pos="100000">
                <a:schemeClr val="bg2"/>
              </a:gs>
            </a:gsLst>
            <a:lin ang="0" scaled="1"/>
          </a:gradFill>
          <a:ln w="0">
            <a:noFill/>
            <a:prstDash val="solid"/>
            <a:round/>
          </a:ln>
        </p:spPr>
        <p:txBody>
          <a:bodyPr/>
          <a:lstStyle/>
          <a:p>
            <a:endParaRPr lang="zh-CN" altLang="en-US"/>
          </a:p>
        </p:txBody>
      </p:sp>
      <p:sp>
        <p:nvSpPr>
          <p:cNvPr id="44036" name="Oval 4"/>
          <p:cNvSpPr>
            <a:spLocks noChangeArrowheads="1"/>
          </p:cNvSpPr>
          <p:nvPr/>
        </p:nvSpPr>
        <p:spPr bwMode="gray">
          <a:xfrm>
            <a:off x="3810000" y="1752600"/>
            <a:ext cx="1284288" cy="1274763"/>
          </a:xfrm>
          <a:prstGeom prst="ellipse">
            <a:avLst/>
          </a:prstGeom>
          <a:gradFill rotWithShape="1">
            <a:gsLst>
              <a:gs pos="0">
                <a:schemeClr val="hlink"/>
              </a:gs>
              <a:gs pos="100000">
                <a:schemeClr val="hlink">
                  <a:gamma/>
                  <a:shade val="34510"/>
                  <a:invGamma/>
                </a:schemeClr>
              </a:gs>
            </a:gsLst>
            <a:path path="shape">
              <a:fillToRect l="50000" t="50000" r="50000" b="50000"/>
            </a:path>
          </a:gradFill>
          <a:ln w="9525">
            <a:noFill/>
            <a:round/>
          </a:ln>
          <a:effectLst>
            <a:prstShdw prst="shdw12" dist="76200" dir="10800000">
              <a:srgbClr val="001D3A">
                <a:alpha val="50000"/>
              </a:srgbClr>
            </a:prstShdw>
          </a:effectLst>
        </p:spPr>
        <p:txBody>
          <a:bodyPr wrap="none" anchor="ctr"/>
          <a:lstStyle/>
          <a:p>
            <a:pPr algn="ctr"/>
            <a:endParaRPr lang="zh-CN" altLang="zh-CN"/>
          </a:p>
        </p:txBody>
      </p:sp>
      <p:sp>
        <p:nvSpPr>
          <p:cNvPr id="44037" name="Oval 5"/>
          <p:cNvSpPr>
            <a:spLocks noChangeArrowheads="1"/>
          </p:cNvSpPr>
          <p:nvPr/>
        </p:nvSpPr>
        <p:spPr bwMode="gray">
          <a:xfrm>
            <a:off x="1295400" y="3276600"/>
            <a:ext cx="1284288" cy="1274763"/>
          </a:xfrm>
          <a:prstGeom prst="ellipse">
            <a:avLst/>
          </a:prstGeom>
          <a:gradFill rotWithShape="1">
            <a:gsLst>
              <a:gs pos="0">
                <a:schemeClr val="accent1"/>
              </a:gs>
              <a:gs pos="100000">
                <a:schemeClr val="accent1">
                  <a:gamma/>
                  <a:shade val="31373"/>
                  <a:invGamma/>
                </a:schemeClr>
              </a:gs>
            </a:gsLst>
            <a:path path="shape">
              <a:fillToRect l="50000" t="50000" r="50000" b="50000"/>
            </a:path>
          </a:gradFill>
          <a:ln w="9525">
            <a:noFill/>
            <a:round/>
          </a:ln>
          <a:effectLst>
            <a:prstShdw prst="shdw12" dist="76200" dir="10800000">
              <a:srgbClr val="001D3A">
                <a:alpha val="50000"/>
              </a:srgbClr>
            </a:prstShdw>
          </a:effectLst>
        </p:spPr>
        <p:txBody>
          <a:bodyPr wrap="none" anchor="ctr"/>
          <a:lstStyle/>
          <a:p>
            <a:pPr algn="ctr"/>
            <a:endParaRPr lang="zh-CN" altLang="zh-CN"/>
          </a:p>
        </p:txBody>
      </p:sp>
      <p:sp>
        <p:nvSpPr>
          <p:cNvPr id="44038" name="Oval 6"/>
          <p:cNvSpPr>
            <a:spLocks noChangeArrowheads="1"/>
          </p:cNvSpPr>
          <p:nvPr/>
        </p:nvSpPr>
        <p:spPr bwMode="gray">
          <a:xfrm>
            <a:off x="2178050" y="4973638"/>
            <a:ext cx="1282700" cy="1274762"/>
          </a:xfrm>
          <a:prstGeom prst="ellipse">
            <a:avLst/>
          </a:prstGeom>
          <a:gradFill rotWithShape="1">
            <a:gsLst>
              <a:gs pos="0">
                <a:schemeClr val="accent2"/>
              </a:gs>
              <a:gs pos="100000">
                <a:schemeClr val="accent2">
                  <a:gamma/>
                  <a:shade val="35686"/>
                  <a:invGamma/>
                </a:schemeClr>
              </a:gs>
            </a:gsLst>
            <a:path path="shape">
              <a:fillToRect l="50000" t="50000" r="50000" b="50000"/>
            </a:path>
          </a:gradFill>
          <a:ln w="9525">
            <a:noFill/>
            <a:round/>
          </a:ln>
          <a:effectLst>
            <a:prstShdw prst="shdw12" dist="76200" dir="10800000">
              <a:srgbClr val="001D3A">
                <a:alpha val="50000"/>
              </a:srgbClr>
            </a:prstShdw>
          </a:effectLst>
        </p:spPr>
        <p:txBody>
          <a:bodyPr wrap="none" anchor="ctr"/>
          <a:lstStyle/>
          <a:p>
            <a:pPr algn="ctr"/>
            <a:endParaRPr lang="zh-CN" altLang="zh-CN"/>
          </a:p>
        </p:txBody>
      </p:sp>
      <p:sp>
        <p:nvSpPr>
          <p:cNvPr id="44039" name="Oval 7"/>
          <p:cNvSpPr>
            <a:spLocks noChangeArrowheads="1"/>
          </p:cNvSpPr>
          <p:nvPr/>
        </p:nvSpPr>
        <p:spPr bwMode="gray">
          <a:xfrm>
            <a:off x="4953000" y="4343400"/>
            <a:ext cx="1284288" cy="1274763"/>
          </a:xfrm>
          <a:prstGeom prst="ellipse">
            <a:avLst/>
          </a:prstGeom>
          <a:gradFill rotWithShape="1">
            <a:gsLst>
              <a:gs pos="0">
                <a:srgbClr val="692AA2"/>
              </a:gs>
              <a:gs pos="100000">
                <a:srgbClr val="692AA2">
                  <a:gamma/>
                  <a:shade val="57647"/>
                  <a:invGamma/>
                </a:srgbClr>
              </a:gs>
            </a:gsLst>
            <a:path path="shape">
              <a:fillToRect l="50000" t="50000" r="50000" b="50000"/>
            </a:path>
          </a:gradFill>
          <a:ln w="9525">
            <a:noFill/>
            <a:round/>
          </a:ln>
          <a:effectLst>
            <a:prstShdw prst="shdw12" dist="76200" dir="10800000">
              <a:srgbClr val="001D3A">
                <a:alpha val="50000"/>
              </a:srgbClr>
            </a:prstShdw>
          </a:effectLst>
        </p:spPr>
        <p:txBody>
          <a:bodyPr wrap="none" anchor="ctr"/>
          <a:lstStyle/>
          <a:p>
            <a:pPr algn="ctr"/>
            <a:endParaRPr lang="zh-CN" altLang="zh-CN"/>
          </a:p>
        </p:txBody>
      </p:sp>
      <p:sp>
        <p:nvSpPr>
          <p:cNvPr id="44040" name="Oval 8"/>
          <p:cNvSpPr>
            <a:spLocks noChangeArrowheads="1"/>
          </p:cNvSpPr>
          <p:nvPr/>
        </p:nvSpPr>
        <p:spPr bwMode="gray">
          <a:xfrm>
            <a:off x="6781800" y="1981200"/>
            <a:ext cx="1212850" cy="1274763"/>
          </a:xfrm>
          <a:prstGeom prst="ellipse">
            <a:avLst/>
          </a:prstGeom>
          <a:gradFill rotWithShape="1">
            <a:gsLst>
              <a:gs pos="0">
                <a:schemeClr val="folHlink"/>
              </a:gs>
              <a:gs pos="100000">
                <a:schemeClr val="folHlink">
                  <a:gamma/>
                  <a:shade val="34510"/>
                  <a:invGamma/>
                </a:schemeClr>
              </a:gs>
            </a:gsLst>
            <a:path path="shape">
              <a:fillToRect l="50000" t="50000" r="50000" b="50000"/>
            </a:path>
          </a:gradFill>
          <a:ln w="9525">
            <a:noFill/>
            <a:round/>
          </a:ln>
          <a:effectLst>
            <a:prstShdw prst="shdw12" dist="76200" dir="10800000">
              <a:srgbClr val="001D3A">
                <a:alpha val="50000"/>
              </a:srgbClr>
            </a:prstShdw>
          </a:effectLst>
        </p:spPr>
        <p:txBody>
          <a:bodyPr wrap="none" anchor="ctr"/>
          <a:lstStyle/>
          <a:p>
            <a:pPr algn="ctr"/>
            <a:endParaRPr lang="zh-CN" altLang="zh-CN"/>
          </a:p>
        </p:txBody>
      </p:sp>
      <p:sp>
        <p:nvSpPr>
          <p:cNvPr id="44041" name="Text Box 9"/>
          <p:cNvSpPr txBox="1">
            <a:spLocks noChangeArrowheads="1"/>
          </p:cNvSpPr>
          <p:nvPr/>
        </p:nvSpPr>
        <p:spPr bwMode="white">
          <a:xfrm>
            <a:off x="1524000" y="3733800"/>
            <a:ext cx="877163" cy="369332"/>
          </a:xfrm>
          <a:prstGeom prst="rect">
            <a:avLst/>
          </a:prstGeom>
          <a:noFill/>
          <a:ln w="9525">
            <a:noFill/>
            <a:miter lim="800000"/>
          </a:ln>
          <a:effectLst/>
        </p:spPr>
        <p:txBody>
          <a:bodyPr wrap="none">
            <a:spAutoFit/>
          </a:bodyPr>
          <a:lstStyle/>
          <a:p>
            <a:pPr eaLnBrk="0" hangingPunct="0"/>
            <a:r>
              <a:rPr lang="zh-CN" altLang="en-US" dirty="0">
                <a:solidFill>
                  <a:schemeClr val="bg1"/>
                </a:solidFill>
                <a:latin typeface="Verdana" panose="020B0604030504040204" pitchFamily="34" charset="0"/>
                <a:ea typeface="宋体" panose="02010600030101010101" pitchFamily="2" charset="-122"/>
              </a:rPr>
              <a:t>八进制</a:t>
            </a:r>
            <a:endParaRPr lang="en-US" altLang="zh-CN" dirty="0">
              <a:solidFill>
                <a:schemeClr val="bg1"/>
              </a:solidFill>
              <a:latin typeface="Verdana" panose="020B0604030504040204" pitchFamily="34" charset="0"/>
              <a:ea typeface="宋体" panose="02010600030101010101" pitchFamily="2" charset="-122"/>
            </a:endParaRPr>
          </a:p>
        </p:txBody>
      </p:sp>
      <p:sp>
        <p:nvSpPr>
          <p:cNvPr id="44042" name="Text Box 10"/>
          <p:cNvSpPr txBox="1">
            <a:spLocks noChangeArrowheads="1"/>
          </p:cNvSpPr>
          <p:nvPr/>
        </p:nvSpPr>
        <p:spPr bwMode="white">
          <a:xfrm>
            <a:off x="4000496" y="2202412"/>
            <a:ext cx="877163" cy="369332"/>
          </a:xfrm>
          <a:prstGeom prst="rect">
            <a:avLst/>
          </a:prstGeom>
          <a:noFill/>
          <a:ln w="9525">
            <a:noFill/>
            <a:miter lim="800000"/>
          </a:ln>
          <a:effectLst/>
        </p:spPr>
        <p:txBody>
          <a:bodyPr wrap="none">
            <a:spAutoFit/>
          </a:bodyPr>
          <a:lstStyle/>
          <a:p>
            <a:pPr eaLnBrk="0" hangingPunct="0"/>
            <a:r>
              <a:rPr lang="zh-CN" altLang="en-US" dirty="0">
                <a:solidFill>
                  <a:schemeClr val="bg1"/>
                </a:solidFill>
                <a:latin typeface="Verdana" panose="020B0604030504040204" pitchFamily="34" charset="0"/>
                <a:ea typeface="宋体" panose="02010600030101010101" pitchFamily="2" charset="-122"/>
              </a:rPr>
              <a:t>十进制</a:t>
            </a:r>
            <a:endParaRPr lang="en-US" altLang="zh-CN" dirty="0">
              <a:solidFill>
                <a:schemeClr val="bg1"/>
              </a:solidFill>
              <a:latin typeface="Verdana" panose="020B0604030504040204" pitchFamily="34" charset="0"/>
              <a:ea typeface="宋体" panose="02010600030101010101" pitchFamily="2" charset="-122"/>
            </a:endParaRPr>
          </a:p>
        </p:txBody>
      </p:sp>
      <p:sp>
        <p:nvSpPr>
          <p:cNvPr id="44043" name="Text Box 11"/>
          <p:cNvSpPr txBox="1">
            <a:spLocks noChangeArrowheads="1"/>
          </p:cNvSpPr>
          <p:nvPr/>
        </p:nvSpPr>
        <p:spPr bwMode="white">
          <a:xfrm>
            <a:off x="6980985" y="2428868"/>
            <a:ext cx="877163" cy="369332"/>
          </a:xfrm>
          <a:prstGeom prst="rect">
            <a:avLst/>
          </a:prstGeom>
          <a:noFill/>
          <a:ln w="9525">
            <a:noFill/>
            <a:miter lim="800000"/>
          </a:ln>
          <a:effectLst/>
        </p:spPr>
        <p:txBody>
          <a:bodyPr wrap="none">
            <a:spAutoFit/>
          </a:bodyPr>
          <a:lstStyle/>
          <a:p>
            <a:pPr eaLnBrk="0" hangingPunct="0"/>
            <a:r>
              <a:rPr lang="zh-CN" altLang="en-US" dirty="0">
                <a:solidFill>
                  <a:schemeClr val="bg1"/>
                </a:solidFill>
                <a:latin typeface="Verdana" panose="020B0604030504040204" pitchFamily="34" charset="0"/>
                <a:ea typeface="宋体" panose="02010600030101010101" pitchFamily="2" charset="-122"/>
              </a:rPr>
              <a:t>二进制</a:t>
            </a:r>
            <a:endParaRPr lang="en-US" altLang="zh-CN" dirty="0">
              <a:solidFill>
                <a:schemeClr val="bg1"/>
              </a:solidFill>
              <a:latin typeface="Verdana" panose="020B0604030504040204" pitchFamily="34" charset="0"/>
              <a:ea typeface="宋体" panose="02010600030101010101" pitchFamily="2" charset="-122"/>
            </a:endParaRPr>
          </a:p>
        </p:txBody>
      </p:sp>
      <p:sp>
        <p:nvSpPr>
          <p:cNvPr id="44044" name="Text Box 12"/>
          <p:cNvSpPr txBox="1">
            <a:spLocks noChangeArrowheads="1"/>
          </p:cNvSpPr>
          <p:nvPr/>
        </p:nvSpPr>
        <p:spPr bwMode="white">
          <a:xfrm>
            <a:off x="5072066" y="4800600"/>
            <a:ext cx="1107996" cy="369332"/>
          </a:xfrm>
          <a:prstGeom prst="rect">
            <a:avLst/>
          </a:prstGeom>
          <a:noFill/>
          <a:ln w="9525">
            <a:noFill/>
            <a:miter lim="800000"/>
          </a:ln>
          <a:effectLst/>
        </p:spPr>
        <p:txBody>
          <a:bodyPr wrap="none">
            <a:spAutoFit/>
          </a:bodyPr>
          <a:lstStyle/>
          <a:p>
            <a:pPr eaLnBrk="0" hangingPunct="0"/>
            <a:r>
              <a:rPr lang="zh-CN" altLang="en-US" dirty="0">
                <a:solidFill>
                  <a:schemeClr val="bg1"/>
                </a:solidFill>
                <a:latin typeface="Verdana" panose="020B0604030504040204" pitchFamily="34" charset="0"/>
                <a:ea typeface="宋体" panose="02010600030101010101" pitchFamily="2" charset="-122"/>
              </a:rPr>
              <a:t>十六进制</a:t>
            </a:r>
            <a:endParaRPr lang="en-US" altLang="zh-CN" dirty="0">
              <a:solidFill>
                <a:schemeClr val="bg1"/>
              </a:solidFill>
              <a:latin typeface="Verdana" panose="020B0604030504040204" pitchFamily="34" charset="0"/>
              <a:ea typeface="宋体" panose="02010600030101010101" pitchFamily="2" charset="-122"/>
            </a:endParaRPr>
          </a:p>
        </p:txBody>
      </p:sp>
      <p:sp>
        <p:nvSpPr>
          <p:cNvPr id="44045" name="Text Box 13"/>
          <p:cNvSpPr txBox="1">
            <a:spLocks noChangeArrowheads="1"/>
          </p:cNvSpPr>
          <p:nvPr/>
        </p:nvSpPr>
        <p:spPr bwMode="white">
          <a:xfrm>
            <a:off x="2285984" y="5424488"/>
            <a:ext cx="1107996" cy="369332"/>
          </a:xfrm>
          <a:prstGeom prst="rect">
            <a:avLst/>
          </a:prstGeom>
          <a:noFill/>
          <a:ln w="9525">
            <a:noFill/>
            <a:miter lim="800000"/>
          </a:ln>
          <a:effectLst/>
        </p:spPr>
        <p:txBody>
          <a:bodyPr wrap="none">
            <a:spAutoFit/>
          </a:bodyPr>
          <a:lstStyle/>
          <a:p>
            <a:pPr eaLnBrk="0" hangingPunct="0"/>
            <a:r>
              <a:rPr lang="zh-CN" altLang="en-US" dirty="0">
                <a:solidFill>
                  <a:schemeClr val="bg1"/>
                </a:solidFill>
                <a:latin typeface="Verdana" panose="020B0604030504040204" pitchFamily="34" charset="0"/>
                <a:ea typeface="宋体" panose="02010600030101010101" pitchFamily="2" charset="-122"/>
              </a:rPr>
              <a:t>其它进制</a:t>
            </a:r>
            <a:endParaRPr lang="en-US" altLang="zh-CN" dirty="0">
              <a:solidFill>
                <a:schemeClr val="bg1"/>
              </a:solidFill>
              <a:latin typeface="Verdana" panose="020B0604030504040204" pitchFamily="34" charset="0"/>
              <a:ea typeface="宋体" panose="02010600030101010101" pitchFamily="2" charset="-122"/>
            </a:endParaRPr>
          </a:p>
        </p:txBody>
      </p:sp>
      <p:sp>
        <p:nvSpPr>
          <p:cNvPr id="44046" name="Text Box 14"/>
          <p:cNvSpPr txBox="1">
            <a:spLocks noChangeArrowheads="1"/>
          </p:cNvSpPr>
          <p:nvPr/>
        </p:nvSpPr>
        <p:spPr bwMode="auto">
          <a:xfrm>
            <a:off x="3429000" y="3738563"/>
            <a:ext cx="2590800" cy="519112"/>
          </a:xfrm>
          <a:prstGeom prst="rect">
            <a:avLst/>
          </a:prstGeom>
          <a:noFill/>
          <a:ln w="9525">
            <a:noFill/>
            <a:miter lim="800000"/>
          </a:ln>
          <a:effectLst/>
        </p:spPr>
        <p:txBody>
          <a:bodyPr>
            <a:spAutoFit/>
          </a:bodyPr>
          <a:lstStyle/>
          <a:p>
            <a:pPr algn="ctr" eaLnBrk="0" hangingPunct="0"/>
            <a:r>
              <a:rPr lang="zh-CN" altLang="en-US" sz="2800" b="1" dirty="0">
                <a:ea typeface="宋体" panose="02010600030101010101" pitchFamily="2" charset="-122"/>
              </a:rPr>
              <a:t>数制转换</a:t>
            </a:r>
            <a:endParaRPr lang="en-US" altLang="zh-CN" sz="2800" b="1" dirty="0">
              <a:ea typeface="宋体" panose="02010600030101010101" pitchFamily="2" charset="-122"/>
            </a:endParaRPr>
          </a:p>
        </p:txBody>
      </p:sp>
      <p:sp>
        <p:nvSpPr>
          <p:cNvPr id="44047" name="Line 15"/>
          <p:cNvSpPr>
            <a:spLocks noChangeShapeType="1"/>
          </p:cNvSpPr>
          <p:nvPr/>
        </p:nvSpPr>
        <p:spPr bwMode="black">
          <a:xfrm>
            <a:off x="2473325" y="2039938"/>
            <a:ext cx="1793875" cy="1617662"/>
          </a:xfrm>
          <a:prstGeom prst="line">
            <a:avLst/>
          </a:prstGeom>
          <a:noFill/>
          <a:ln w="9525">
            <a:solidFill>
              <a:schemeClr val="tx1"/>
            </a:solidFill>
            <a:round/>
            <a:tailEnd type="triangle" w="med" len="med"/>
          </a:ln>
          <a:effectLst/>
        </p:spPr>
        <p:txBody>
          <a:bodyPr wrap="none" anchor="ctr"/>
          <a:lstStyle/>
          <a:p>
            <a:endParaRPr lang="zh-CN" altLang="en-US"/>
          </a:p>
        </p:txBody>
      </p:sp>
      <p:cxnSp>
        <p:nvCxnSpPr>
          <p:cNvPr id="44048" name="AutoShape 16"/>
          <p:cNvCxnSpPr>
            <a:cxnSpLocks noChangeShapeType="1"/>
          </p:cNvCxnSpPr>
          <p:nvPr/>
        </p:nvCxnSpPr>
        <p:spPr bwMode="black">
          <a:xfrm flipH="1">
            <a:off x="457200" y="2039938"/>
            <a:ext cx="2016125" cy="0"/>
          </a:xfrm>
          <a:prstGeom prst="straightConnector1">
            <a:avLst/>
          </a:prstGeom>
          <a:noFill/>
          <a:ln w="9525">
            <a:solidFill>
              <a:schemeClr val="tx1"/>
            </a:solidFill>
            <a:round/>
          </a:ln>
          <a:effectLst/>
        </p:spPr>
      </p:cxnSp>
      <p:sp>
        <p:nvSpPr>
          <p:cNvPr id="44049" name="Text Box 17"/>
          <p:cNvSpPr txBox="1">
            <a:spLocks noChangeArrowheads="1"/>
          </p:cNvSpPr>
          <p:nvPr/>
        </p:nvSpPr>
        <p:spPr bwMode="auto">
          <a:xfrm>
            <a:off x="473075" y="1702346"/>
            <a:ext cx="1107996" cy="369332"/>
          </a:xfrm>
          <a:prstGeom prst="rect">
            <a:avLst/>
          </a:prstGeom>
          <a:noFill/>
          <a:ln w="9525">
            <a:noFill/>
            <a:miter lim="800000"/>
          </a:ln>
          <a:effectLst/>
        </p:spPr>
        <p:txBody>
          <a:bodyPr wrap="none">
            <a:spAutoFit/>
          </a:bodyPr>
          <a:lstStyle/>
          <a:p>
            <a:pPr eaLnBrk="0" hangingPunct="0"/>
            <a:r>
              <a:rPr lang="zh-CN" altLang="en-US" dirty="0">
                <a:latin typeface="Verdana" panose="020B0604030504040204" pitchFamily="34" charset="0"/>
                <a:ea typeface="宋体" panose="02010600030101010101" pitchFamily="2" charset="-122"/>
              </a:rPr>
              <a:t>数的进制</a:t>
            </a:r>
            <a:endParaRPr lang="en-US" altLang="zh-CN" dirty="0">
              <a:latin typeface="Verdana" panose="020B0604030504040204" pitchFamily="34" charset="0"/>
              <a:ea typeface="宋体" panose="02010600030101010101" pitchFamily="2" charset="-122"/>
            </a:endParaRP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十进制回顾</a:t>
            </a:r>
            <a:endParaRPr lang="zh-CN" altLang="en-US" dirty="0"/>
          </a:p>
        </p:txBody>
      </p:sp>
      <p:sp>
        <p:nvSpPr>
          <p:cNvPr id="3" name="内容占位符 2"/>
          <p:cNvSpPr>
            <a:spLocks noGrp="1"/>
          </p:cNvSpPr>
          <p:nvPr>
            <p:ph idx="1"/>
          </p:nvPr>
        </p:nvSpPr>
        <p:spPr/>
        <p:txBody>
          <a:bodyPr/>
          <a:lstStyle/>
          <a:p>
            <a:r>
              <a:rPr lang="zh-CN" altLang="en-US" dirty="0"/>
              <a:t>十个数码（</a:t>
            </a:r>
            <a:r>
              <a:rPr lang="en-US" altLang="zh-CN" dirty="0"/>
              <a:t>0</a:t>
            </a:r>
            <a:r>
              <a:rPr lang="zh-CN" altLang="en-US" dirty="0"/>
              <a:t>，</a:t>
            </a:r>
            <a:r>
              <a:rPr lang="en-US" altLang="zh-CN" dirty="0"/>
              <a:t>1</a:t>
            </a:r>
            <a:r>
              <a:rPr lang="zh-CN" altLang="en-US" dirty="0"/>
              <a:t>，</a:t>
            </a:r>
            <a:r>
              <a:rPr lang="en-US" altLang="zh-CN" dirty="0"/>
              <a:t>2</a:t>
            </a:r>
            <a:r>
              <a:rPr lang="zh-CN" altLang="en-US" dirty="0"/>
              <a:t>，</a:t>
            </a:r>
            <a:r>
              <a:rPr lang="en-US" altLang="zh-CN" dirty="0"/>
              <a:t>……</a:t>
            </a:r>
            <a:r>
              <a:rPr lang="zh-CN" altLang="en-US" dirty="0"/>
              <a:t>，</a:t>
            </a:r>
            <a:r>
              <a:rPr lang="en-US" altLang="zh-CN" dirty="0"/>
              <a:t>9</a:t>
            </a:r>
            <a:r>
              <a:rPr lang="zh-CN" altLang="en-US" dirty="0"/>
              <a:t>）</a:t>
            </a:r>
            <a:endParaRPr lang="en-US" altLang="zh-CN" dirty="0"/>
          </a:p>
          <a:p>
            <a:r>
              <a:rPr lang="zh-CN" altLang="en-US" dirty="0"/>
              <a:t>计数时逢十进</a:t>
            </a:r>
            <a:r>
              <a:rPr lang="en-US" altLang="zh-CN" dirty="0"/>
              <a:t>1</a:t>
            </a:r>
            <a:endParaRPr lang="en-US" altLang="zh-CN" dirty="0"/>
          </a:p>
          <a:p>
            <a:r>
              <a:rPr lang="zh-CN" altLang="en-US" dirty="0"/>
              <a:t>采用位置表示法</a:t>
            </a:r>
            <a:endParaRPr lang="en-US" altLang="zh-CN" dirty="0"/>
          </a:p>
          <a:p>
            <a:pPr lvl="1"/>
            <a:r>
              <a:rPr lang="zh-CN" altLang="en-US" dirty="0"/>
              <a:t>同一个数码在数中不同位置所表示的值不同</a:t>
            </a:r>
            <a:endParaRPr lang="en-US" altLang="zh-CN" dirty="0"/>
          </a:p>
          <a:p>
            <a:pPr lvl="1"/>
            <a:r>
              <a:rPr lang="zh-CN" altLang="en-US" dirty="0"/>
              <a:t>一个数码所表示的值等于它乘以该位的权</a:t>
            </a:r>
            <a:endParaRPr lang="en-US" altLang="zh-CN" dirty="0"/>
          </a:p>
          <a:p>
            <a:pPr lvl="2"/>
            <a:r>
              <a:rPr lang="zh-CN" altLang="en-US" dirty="0"/>
              <a:t>从小数点向左依次为：</a:t>
            </a:r>
            <a:r>
              <a:rPr lang="en-US" altLang="zh-CN" dirty="0"/>
              <a:t>10</a:t>
            </a:r>
            <a:r>
              <a:rPr lang="en-US" altLang="zh-CN" baseline="30000" dirty="0"/>
              <a:t>n</a:t>
            </a:r>
            <a:r>
              <a:rPr lang="zh-CN" altLang="en-US" dirty="0"/>
              <a:t>（</a:t>
            </a:r>
            <a:r>
              <a:rPr lang="en-US" altLang="zh-CN" dirty="0"/>
              <a:t>n=0,1,2,3, …</a:t>
            </a:r>
            <a:r>
              <a:rPr lang="zh-CN" altLang="en-US" dirty="0"/>
              <a:t>）</a:t>
            </a:r>
            <a:endParaRPr lang="en-US" altLang="zh-CN" dirty="0"/>
          </a:p>
          <a:p>
            <a:pPr lvl="2"/>
            <a:r>
              <a:rPr lang="zh-CN" altLang="en-US" dirty="0"/>
              <a:t>从小数点向右依次为：</a:t>
            </a:r>
            <a:r>
              <a:rPr lang="en-US" altLang="zh-CN" dirty="0"/>
              <a:t>10</a:t>
            </a:r>
            <a:r>
              <a:rPr lang="en-US" altLang="zh-CN" baseline="30000" dirty="0"/>
              <a:t>-n</a:t>
            </a:r>
            <a:r>
              <a:rPr lang="zh-CN" altLang="en-US" dirty="0"/>
              <a:t>（</a:t>
            </a:r>
            <a:r>
              <a:rPr lang="en-US" altLang="zh-CN" dirty="0"/>
              <a:t>n=1,2,3, …</a:t>
            </a:r>
            <a:r>
              <a:rPr lang="zh-CN" altLang="en-US" dirty="0"/>
              <a:t>）</a:t>
            </a:r>
            <a:endParaRPr lang="en-US" altLang="zh-CN" dirty="0"/>
          </a:p>
          <a:p>
            <a:pPr lvl="2"/>
            <a:endParaRPr lang="en-US" altLang="zh-CN" dirty="0"/>
          </a:p>
          <a:p>
            <a:pPr lvl="2"/>
            <a:endParaRPr lang="en-US" altLang="zh-CN" dirty="0"/>
          </a:p>
          <a:p>
            <a:endParaRPr lang="zh-CN" altLang="en-US"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二进制数</a:t>
            </a:r>
            <a:endParaRPr lang="zh-CN" altLang="en-US" dirty="0"/>
          </a:p>
        </p:txBody>
      </p:sp>
      <p:sp>
        <p:nvSpPr>
          <p:cNvPr id="3" name="内容占位符 2"/>
          <p:cNvSpPr>
            <a:spLocks noGrp="1"/>
          </p:cNvSpPr>
          <p:nvPr>
            <p:ph idx="1"/>
          </p:nvPr>
        </p:nvSpPr>
        <p:spPr/>
        <p:txBody>
          <a:bodyPr/>
          <a:lstStyle/>
          <a:p>
            <a:r>
              <a:rPr lang="zh-CN" altLang="en-US" dirty="0"/>
              <a:t>每个</a:t>
            </a:r>
            <a:r>
              <a:rPr lang="zh-CN" altLang="en-US" dirty="0">
                <a:solidFill>
                  <a:srgbClr val="FF0000"/>
                </a:solidFill>
              </a:rPr>
              <a:t>二进制数位（</a:t>
            </a:r>
            <a:r>
              <a:rPr lang="en-US" altLang="zh-CN" dirty="0">
                <a:solidFill>
                  <a:srgbClr val="FF0000"/>
                </a:solidFill>
              </a:rPr>
              <a:t>bit</a:t>
            </a:r>
            <a:r>
              <a:rPr lang="zh-CN" altLang="en-US" dirty="0">
                <a:solidFill>
                  <a:srgbClr val="FF0000"/>
                </a:solidFill>
              </a:rPr>
              <a:t>）</a:t>
            </a:r>
            <a:r>
              <a:rPr lang="zh-CN" altLang="en-US" dirty="0"/>
              <a:t>只有</a:t>
            </a:r>
            <a:r>
              <a:rPr lang="en-US" altLang="zh-CN" dirty="0"/>
              <a:t>0</a:t>
            </a:r>
            <a:r>
              <a:rPr lang="zh-CN" altLang="en-US" dirty="0"/>
              <a:t>和</a:t>
            </a:r>
            <a:r>
              <a:rPr lang="en-US" altLang="zh-CN" dirty="0"/>
              <a:t>1</a:t>
            </a:r>
            <a:endParaRPr lang="en-US" altLang="zh-CN" dirty="0"/>
          </a:p>
          <a:p>
            <a:r>
              <a:rPr lang="zh-CN" altLang="en-US" dirty="0"/>
              <a:t>逢</a:t>
            </a:r>
            <a:r>
              <a:rPr lang="en-US" altLang="zh-CN" dirty="0"/>
              <a:t>2</a:t>
            </a:r>
            <a:r>
              <a:rPr lang="zh-CN" altLang="en-US" dirty="0"/>
              <a:t>进</a:t>
            </a:r>
            <a:r>
              <a:rPr lang="en-US" altLang="zh-CN" dirty="0"/>
              <a:t>1</a:t>
            </a:r>
            <a:endParaRPr lang="en-US" altLang="zh-CN" dirty="0"/>
          </a:p>
          <a:p>
            <a:r>
              <a:rPr lang="zh-CN" altLang="en-US" dirty="0"/>
              <a:t>每个二进制数位的权，从右向左依次为：</a:t>
            </a:r>
            <a:r>
              <a:rPr lang="en-US" altLang="zh-CN" dirty="0"/>
              <a:t>2</a:t>
            </a:r>
            <a:r>
              <a:rPr lang="en-US" altLang="zh-CN" baseline="30000" dirty="0"/>
              <a:t>n</a:t>
            </a:r>
            <a:r>
              <a:rPr lang="zh-CN" altLang="en-US" dirty="0"/>
              <a:t>（</a:t>
            </a:r>
            <a:r>
              <a:rPr lang="en-US" altLang="zh-CN" dirty="0"/>
              <a:t>n=0,1,2,3, …</a:t>
            </a:r>
            <a:r>
              <a:rPr lang="zh-CN" altLang="en-US" dirty="0"/>
              <a:t>）</a:t>
            </a:r>
            <a:endParaRPr lang="en-US" altLang="zh-CN" dirty="0"/>
          </a:p>
          <a:p>
            <a:r>
              <a:rPr lang="zh-CN" altLang="en-US" dirty="0">
                <a:latin typeface="宋体" panose="02010600030101010101" pitchFamily="2" charset="-122"/>
              </a:rPr>
              <a:t>据说数学家莱布尼兹的受了八卦图的启发，才发明了二进制</a:t>
            </a:r>
            <a:endParaRPr lang="en-US" altLang="zh-CN" dirty="0"/>
          </a:p>
          <a:p>
            <a:pPr lvl="1"/>
            <a:endParaRPr lang="zh-CN" altLang="en-US" dirty="0"/>
          </a:p>
        </p:txBody>
      </p:sp>
      <p:pic>
        <p:nvPicPr>
          <p:cNvPr id="4" name="Picture 5" descr="inyo1"/>
          <p:cNvPicPr>
            <a:picLocks noChangeAspect="1" noChangeArrowheads="1"/>
          </p:cNvPicPr>
          <p:nvPr/>
        </p:nvPicPr>
        <p:blipFill>
          <a:blip r:embed="rId1" cstate="print"/>
          <a:srcRect/>
          <a:stretch>
            <a:fillRect/>
          </a:stretch>
        </p:blipFill>
        <p:spPr>
          <a:xfrm>
            <a:off x="5786446" y="4357694"/>
            <a:ext cx="1952625" cy="2000250"/>
          </a:xfrm>
          <a:prstGeom prst="rect">
            <a:avLst/>
          </a:prstGeom>
          <a:noFill/>
        </p:spPr>
      </p:pic>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为什么采用二进制</a:t>
            </a:r>
            <a:endParaRPr lang="zh-CN" altLang="en-US" dirty="0"/>
          </a:p>
        </p:txBody>
      </p:sp>
      <p:sp>
        <p:nvSpPr>
          <p:cNvPr id="3" name="内容占位符 2"/>
          <p:cNvSpPr>
            <a:spLocks noGrp="1"/>
          </p:cNvSpPr>
          <p:nvPr>
            <p:ph idx="1"/>
          </p:nvPr>
        </p:nvSpPr>
        <p:spPr/>
        <p:txBody>
          <a:bodyPr/>
          <a:lstStyle/>
          <a:p>
            <a:r>
              <a:rPr lang="zh-CN" altLang="en-US" dirty="0"/>
              <a:t>（</a:t>
            </a:r>
            <a:r>
              <a:rPr lang="en-US" altLang="zh-CN" dirty="0"/>
              <a:t>1</a:t>
            </a:r>
            <a:r>
              <a:rPr lang="zh-CN" altLang="en-US" dirty="0"/>
              <a:t>）容易表示</a:t>
            </a:r>
            <a:endParaRPr lang="en-US" altLang="zh-CN" dirty="0"/>
          </a:p>
          <a:p>
            <a:pPr lvl="1"/>
            <a:r>
              <a:rPr lang="zh-CN" altLang="en-US" dirty="0"/>
              <a:t>只要有两种稳定状态、并能进行转换的电路都可以用来表示二进制数码</a:t>
            </a:r>
            <a:endParaRPr lang="en-US" altLang="zh-CN" dirty="0"/>
          </a:p>
          <a:p>
            <a:pPr lvl="2"/>
            <a:r>
              <a:rPr lang="zh-CN" altLang="en-US" dirty="0"/>
              <a:t>用一种状态表示</a:t>
            </a:r>
            <a:r>
              <a:rPr lang="en-US" altLang="zh-CN" dirty="0"/>
              <a:t>0</a:t>
            </a:r>
            <a:r>
              <a:rPr lang="zh-CN" altLang="en-US" dirty="0"/>
              <a:t>，另一种状态表示</a:t>
            </a:r>
            <a:r>
              <a:rPr lang="en-US" altLang="zh-CN" dirty="0"/>
              <a:t>1</a:t>
            </a:r>
            <a:endParaRPr lang="en-US" altLang="zh-CN" dirty="0"/>
          </a:p>
          <a:p>
            <a:r>
              <a:rPr lang="zh-CN" altLang="zh-CN" dirty="0"/>
              <a:t>（</a:t>
            </a:r>
            <a:r>
              <a:rPr lang="en-US" altLang="zh-CN" dirty="0"/>
              <a:t>2</a:t>
            </a:r>
            <a:r>
              <a:rPr lang="zh-CN" altLang="en-US" dirty="0"/>
              <a:t>）运算简单</a:t>
            </a:r>
            <a:endParaRPr lang="en-US" altLang="zh-CN" dirty="0"/>
          </a:p>
          <a:p>
            <a:pPr lvl="1"/>
            <a:r>
              <a:rPr lang="zh-CN" altLang="en-US" dirty="0"/>
              <a:t>以一位数的加法为例，对十进制需</a:t>
            </a:r>
            <a:r>
              <a:rPr lang="en-US" altLang="zh-CN" dirty="0"/>
              <a:t>55</a:t>
            </a:r>
            <a:r>
              <a:rPr lang="zh-CN" altLang="en-US" dirty="0"/>
              <a:t>条规则，对二进制仅需三条规则（</a:t>
            </a:r>
            <a:r>
              <a:rPr lang="en-US" altLang="zh-CN" dirty="0"/>
              <a:t>0+0=0</a:t>
            </a:r>
            <a:r>
              <a:rPr lang="zh-CN" altLang="en-US" dirty="0"/>
              <a:t>；</a:t>
            </a:r>
            <a:r>
              <a:rPr lang="en-US" altLang="zh-CN" dirty="0"/>
              <a:t>0+1=1</a:t>
            </a:r>
            <a:r>
              <a:rPr lang="zh-CN" altLang="en-US" dirty="0"/>
              <a:t>；</a:t>
            </a:r>
            <a:r>
              <a:rPr lang="en-US" altLang="zh-CN" dirty="0"/>
              <a:t>1+1=0</a:t>
            </a:r>
            <a:r>
              <a:rPr lang="zh-CN" altLang="en-US" dirty="0"/>
              <a:t>，向高一位进位</a:t>
            </a:r>
            <a:r>
              <a:rPr lang="en-US" altLang="zh-CN" dirty="0"/>
              <a:t>1</a:t>
            </a:r>
            <a:r>
              <a:rPr lang="zh-CN" altLang="en-US" dirty="0"/>
              <a:t>）</a:t>
            </a:r>
            <a:endParaRPr lang="en-US" altLang="zh-CN" dirty="0"/>
          </a:p>
          <a:p>
            <a:r>
              <a:rPr lang="en-US" altLang="zh-CN" dirty="0"/>
              <a:t>（3</a:t>
            </a:r>
            <a:r>
              <a:rPr lang="zh-CN" altLang="en-US" dirty="0"/>
              <a:t>）便于使用逻辑代数进行运算</a:t>
            </a:r>
            <a:endParaRPr lang="en-US" altLang="zh-CN" dirty="0"/>
          </a:p>
          <a:p>
            <a:pPr marL="457200" lvl="1" indent="0">
              <a:buNone/>
            </a:pPr>
            <a:endParaRPr lang="en-US" altLang="zh-CN" dirty="0"/>
          </a:p>
        </p:txBody>
      </p:sp>
      <p:sp>
        <p:nvSpPr>
          <p:cNvPr id="4" name="灯片编号占位符 3"/>
          <p:cNvSpPr>
            <a:spLocks noGrp="1"/>
          </p:cNvSpPr>
          <p:nvPr>
            <p:ph type="sldNum" sz="quarter" idx="4294967295"/>
          </p:nvPr>
        </p:nvSpPr>
        <p:spPr>
          <a:xfrm>
            <a:off x="3124200" y="6553200"/>
            <a:ext cx="2133600" cy="234950"/>
          </a:xfrm>
          <a:prstGeom prst="rect">
            <a:avLst/>
          </a:prstGeom>
        </p:spPr>
        <p:txBody>
          <a:bodyPr/>
          <a:lstStyle/>
          <a:p>
            <a:fld id="{81622E5D-7BC3-44E6-BA65-C8AAD10FCEE5}" type="slidenum">
              <a:rPr lang="en-US" altLang="zh-CN" smtClean="0"/>
            </a:fld>
            <a:endParaRPr lang="en-US" altLang="zh-CN"/>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二进制数</a:t>
            </a:r>
            <a:endParaRPr lang="zh-CN" altLang="en-US" dirty="0"/>
          </a:p>
        </p:txBody>
      </p:sp>
      <p:sp>
        <p:nvSpPr>
          <p:cNvPr id="3" name="内容占位符 2"/>
          <p:cNvSpPr>
            <a:spLocks noGrp="1"/>
          </p:cNvSpPr>
          <p:nvPr>
            <p:ph idx="1"/>
          </p:nvPr>
        </p:nvSpPr>
        <p:spPr/>
        <p:txBody>
          <a:bodyPr/>
          <a:lstStyle/>
          <a:p>
            <a:r>
              <a:rPr lang="zh-CN" altLang="en-US" dirty="0"/>
              <a:t>二进制数的表示方法</a:t>
            </a:r>
            <a:endParaRPr lang="en-US" altLang="zh-CN" dirty="0"/>
          </a:p>
          <a:p>
            <a:pPr lvl="1"/>
            <a:r>
              <a:rPr lang="en-US" altLang="zh-CN" dirty="0"/>
              <a:t>1011.101</a:t>
            </a:r>
            <a:r>
              <a:rPr lang="zh-CN" altLang="en-US" dirty="0"/>
              <a:t>（</a:t>
            </a:r>
            <a:r>
              <a:rPr lang="en-US" altLang="zh-CN" dirty="0"/>
              <a:t>2</a:t>
            </a:r>
            <a:r>
              <a:rPr lang="zh-CN" altLang="en-US" dirty="0"/>
              <a:t>）</a:t>
            </a:r>
            <a:endParaRPr lang="en-US" altLang="zh-CN" dirty="0"/>
          </a:p>
          <a:p>
            <a:r>
              <a:rPr lang="zh-CN" altLang="en-US" dirty="0"/>
              <a:t>转换为十进制数的方法</a:t>
            </a:r>
            <a:endParaRPr lang="en-US" altLang="zh-CN" dirty="0"/>
          </a:p>
          <a:p>
            <a:pPr lvl="1"/>
            <a:r>
              <a:rPr lang="zh-CN" altLang="en-US" dirty="0"/>
              <a:t>按“权”展开</a:t>
            </a:r>
            <a:endParaRPr lang="en-US" altLang="zh-CN" dirty="0"/>
          </a:p>
          <a:p>
            <a:pPr lvl="2"/>
            <a:r>
              <a:rPr lang="en-US" altLang="zh-CN" dirty="0"/>
              <a:t>1011.101(2) = 1</a:t>
            </a:r>
            <a:r>
              <a:rPr lang="zh-CN" altLang="en-US" dirty="0"/>
              <a:t>×</a:t>
            </a:r>
            <a:r>
              <a:rPr lang="en-US" altLang="zh-CN" dirty="0"/>
              <a:t>2</a:t>
            </a:r>
            <a:r>
              <a:rPr lang="en-US" altLang="zh-CN" baseline="30000" dirty="0"/>
              <a:t>3</a:t>
            </a:r>
            <a:r>
              <a:rPr lang="en-US" altLang="zh-CN" dirty="0"/>
              <a:t>+0</a:t>
            </a:r>
            <a:r>
              <a:rPr lang="zh-CN" altLang="en-US" dirty="0"/>
              <a:t>×</a:t>
            </a:r>
            <a:r>
              <a:rPr lang="en-US" altLang="zh-CN" dirty="0"/>
              <a:t>2</a:t>
            </a:r>
            <a:r>
              <a:rPr lang="en-US" altLang="zh-CN" baseline="30000" dirty="0"/>
              <a:t>2</a:t>
            </a:r>
            <a:r>
              <a:rPr lang="en-US" altLang="zh-CN" dirty="0"/>
              <a:t>+1</a:t>
            </a:r>
            <a:r>
              <a:rPr lang="zh-CN" altLang="en-US" dirty="0"/>
              <a:t>×</a:t>
            </a:r>
            <a:r>
              <a:rPr lang="en-US" altLang="zh-CN" dirty="0"/>
              <a:t>2</a:t>
            </a:r>
            <a:r>
              <a:rPr lang="en-US" altLang="zh-CN" baseline="30000" dirty="0"/>
              <a:t>1</a:t>
            </a:r>
            <a:r>
              <a:rPr lang="en-US" altLang="zh-CN" dirty="0"/>
              <a:t>+1</a:t>
            </a:r>
            <a:r>
              <a:rPr lang="zh-CN" altLang="en-US" dirty="0"/>
              <a:t>×</a:t>
            </a:r>
            <a:r>
              <a:rPr lang="en-US" altLang="zh-CN" dirty="0"/>
              <a:t>2</a:t>
            </a:r>
            <a:r>
              <a:rPr lang="en-US" altLang="zh-CN" baseline="30000" dirty="0"/>
              <a:t>0</a:t>
            </a:r>
            <a:endParaRPr lang="en-US" altLang="zh-CN" baseline="30000" dirty="0"/>
          </a:p>
          <a:p>
            <a:pPr marL="914400" lvl="2" indent="0">
              <a:buNone/>
            </a:pPr>
            <a:r>
              <a:rPr lang="en-US" altLang="zh-CN" baseline="30000" dirty="0"/>
              <a:t>                                   </a:t>
            </a:r>
            <a:r>
              <a:rPr lang="en-US" altLang="zh-CN" dirty="0"/>
              <a:t>+1</a:t>
            </a:r>
            <a:r>
              <a:rPr lang="zh-CN" altLang="en-US" dirty="0"/>
              <a:t>×</a:t>
            </a:r>
            <a:r>
              <a:rPr lang="en-US" altLang="zh-CN" dirty="0"/>
              <a:t>2</a:t>
            </a:r>
            <a:r>
              <a:rPr lang="en-US" altLang="zh-CN" baseline="30000" dirty="0"/>
              <a:t>-1 </a:t>
            </a:r>
            <a:r>
              <a:rPr lang="en-US" altLang="zh-CN" dirty="0"/>
              <a:t>+0</a:t>
            </a:r>
            <a:r>
              <a:rPr lang="zh-CN" altLang="en-US" dirty="0"/>
              <a:t>×</a:t>
            </a:r>
            <a:r>
              <a:rPr lang="en-US" altLang="zh-CN" dirty="0"/>
              <a:t>2</a:t>
            </a:r>
            <a:r>
              <a:rPr lang="en-US" altLang="zh-CN" baseline="30000" dirty="0"/>
              <a:t>-2</a:t>
            </a:r>
            <a:r>
              <a:rPr lang="en-US" altLang="zh-CN" dirty="0"/>
              <a:t> +1</a:t>
            </a:r>
            <a:r>
              <a:rPr lang="zh-CN" altLang="en-US" dirty="0"/>
              <a:t>×</a:t>
            </a:r>
            <a:r>
              <a:rPr lang="en-US" altLang="zh-CN" dirty="0"/>
              <a:t>2</a:t>
            </a:r>
            <a:r>
              <a:rPr lang="en-US" altLang="zh-CN" baseline="30000" dirty="0"/>
              <a:t>-3 </a:t>
            </a:r>
            <a:endParaRPr lang="en-US" altLang="zh-CN" baseline="30000" dirty="0"/>
          </a:p>
          <a:p>
            <a:pPr marL="914400" lvl="2" indent="0">
              <a:buNone/>
            </a:pPr>
            <a:r>
              <a:rPr lang="en-US" altLang="zh-CN" baseline="30000" dirty="0"/>
              <a:t>                               </a:t>
            </a:r>
            <a:r>
              <a:rPr lang="en-US" altLang="zh-CN" dirty="0"/>
              <a:t>=8+0+2+1+0.5+0+0.125=11.625(10)</a:t>
            </a:r>
            <a:endParaRPr lang="zh-CN" altLang="en-US" dirty="0"/>
          </a:p>
        </p:txBody>
      </p:sp>
      <p:sp>
        <p:nvSpPr>
          <p:cNvPr id="6" name="幻灯片编号占位符 5"/>
          <p:cNvSpPr>
            <a:spLocks noGrp="1"/>
          </p:cNvSpPr>
          <p:nvPr>
            <p:ph type="sldNum" sz="quarter" idx="4294967295"/>
          </p:nvPr>
        </p:nvSpPr>
        <p:spPr>
          <a:xfrm>
            <a:off x="3124200" y="6553200"/>
            <a:ext cx="2133600" cy="234950"/>
          </a:xfrm>
          <a:prstGeom prst="rect">
            <a:avLst/>
          </a:prstGeom>
        </p:spPr>
        <p:txBody>
          <a:bodyPr/>
          <a:lstStyle/>
          <a:p>
            <a:fld id="{81622E5D-7BC3-44E6-BA65-C8AAD10FCEE5}" type="slidenum">
              <a:rPr lang="en-US" altLang="zh-CN" smtClean="0"/>
            </a:fld>
            <a:endParaRPr lang="en-US" altLang="zh-CN"/>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数制转换</a:t>
            </a:r>
            <a:endParaRPr lang="zh-CN" altLang="en-US" dirty="0"/>
          </a:p>
        </p:txBody>
      </p:sp>
      <p:sp>
        <p:nvSpPr>
          <p:cNvPr id="3" name="内容占位符 2"/>
          <p:cNvSpPr>
            <a:spLocks noGrp="1"/>
          </p:cNvSpPr>
          <p:nvPr>
            <p:ph idx="1"/>
          </p:nvPr>
        </p:nvSpPr>
        <p:spPr/>
        <p:txBody>
          <a:bodyPr/>
          <a:lstStyle/>
          <a:p>
            <a:r>
              <a:rPr lang="zh-CN" altLang="en-US" dirty="0"/>
              <a:t>十进制小数转换为二进制数</a:t>
            </a:r>
            <a:endParaRPr lang="en-US" altLang="zh-CN" dirty="0"/>
          </a:p>
          <a:p>
            <a:pPr lvl="1"/>
            <a:r>
              <a:rPr lang="zh-CN" altLang="en-US" dirty="0"/>
              <a:t>整数部分换算</a:t>
            </a:r>
            <a:endParaRPr lang="en-US" altLang="zh-CN" dirty="0"/>
          </a:p>
          <a:p>
            <a:pPr lvl="2"/>
            <a:r>
              <a:rPr lang="zh-CN" altLang="en-US" dirty="0"/>
              <a:t>除</a:t>
            </a:r>
            <a:r>
              <a:rPr lang="en-US" altLang="zh-CN" dirty="0"/>
              <a:t>2</a:t>
            </a:r>
            <a:r>
              <a:rPr lang="zh-CN" altLang="en-US" dirty="0"/>
              <a:t>取余，余数倒排</a:t>
            </a:r>
            <a:endParaRPr lang="en-US" altLang="zh-CN" dirty="0"/>
          </a:p>
          <a:p>
            <a:pPr lvl="1"/>
            <a:r>
              <a:rPr lang="zh-CN" altLang="en-US" dirty="0"/>
              <a:t>小数部分换算</a:t>
            </a:r>
            <a:endParaRPr lang="en-US" altLang="zh-CN" dirty="0"/>
          </a:p>
          <a:p>
            <a:pPr lvl="2"/>
            <a:r>
              <a:rPr lang="zh-CN" altLang="en-US" dirty="0"/>
              <a:t>乘</a:t>
            </a:r>
            <a:r>
              <a:rPr lang="en-US" altLang="zh-CN" dirty="0"/>
              <a:t>2</a:t>
            </a:r>
            <a:r>
              <a:rPr lang="zh-CN" altLang="en-US" dirty="0"/>
              <a:t>取整，小数部分继续乘</a:t>
            </a:r>
            <a:r>
              <a:rPr lang="en-US" altLang="zh-CN" dirty="0"/>
              <a:t>2</a:t>
            </a:r>
            <a:r>
              <a:rPr lang="zh-CN" altLang="en-US" dirty="0"/>
              <a:t>取整</a:t>
            </a:r>
            <a:endParaRPr lang="en-US" altLang="zh-CN" dirty="0"/>
          </a:p>
          <a:p>
            <a:pPr lvl="2"/>
            <a:r>
              <a:rPr lang="zh-CN" altLang="en-US" dirty="0"/>
              <a:t>直到</a:t>
            </a:r>
            <a:r>
              <a:rPr lang="zh-CN" altLang="en-US" dirty="0">
                <a:solidFill>
                  <a:srgbClr val="FF0000"/>
                </a:solidFill>
              </a:rPr>
              <a:t>小数部分为</a:t>
            </a:r>
            <a:r>
              <a:rPr lang="en-US" altLang="zh-CN" dirty="0">
                <a:solidFill>
                  <a:srgbClr val="FF0000"/>
                </a:solidFill>
              </a:rPr>
              <a:t>0 </a:t>
            </a:r>
            <a:r>
              <a:rPr lang="zh-CN" altLang="en-US" dirty="0"/>
              <a:t>或者</a:t>
            </a:r>
            <a:r>
              <a:rPr lang="zh-CN" altLang="en-US" dirty="0">
                <a:solidFill>
                  <a:srgbClr val="FF0000"/>
                </a:solidFill>
              </a:rPr>
              <a:t>达到指定的精度</a:t>
            </a:r>
            <a:r>
              <a:rPr lang="zh-CN" altLang="en-US" dirty="0"/>
              <a:t>为止</a:t>
            </a:r>
            <a:endParaRPr lang="en-US" altLang="zh-CN" dirty="0"/>
          </a:p>
          <a:p>
            <a:pPr lvl="1"/>
            <a:r>
              <a:rPr lang="zh-CN" altLang="en-US" dirty="0"/>
              <a:t>十进制小数转换为二进制多数情况下得到近似数</a:t>
            </a:r>
            <a:endParaRPr lang="en-US" altLang="zh-CN" dirty="0"/>
          </a:p>
        </p:txBody>
      </p:sp>
      <p:sp>
        <p:nvSpPr>
          <p:cNvPr id="6" name="幻灯片编号占位符 5"/>
          <p:cNvSpPr>
            <a:spLocks noGrp="1"/>
          </p:cNvSpPr>
          <p:nvPr>
            <p:ph type="sldNum" sz="quarter" idx="4294967295"/>
          </p:nvPr>
        </p:nvSpPr>
        <p:spPr>
          <a:xfrm>
            <a:off x="3124200" y="6553200"/>
            <a:ext cx="2133600" cy="234950"/>
          </a:xfrm>
          <a:prstGeom prst="rect">
            <a:avLst/>
          </a:prstGeom>
        </p:spPr>
        <p:txBody>
          <a:bodyPr/>
          <a:lstStyle/>
          <a:p>
            <a:fld id="{81622E5D-7BC3-44E6-BA65-C8AAD10FCEE5}" type="slidenum">
              <a:rPr lang="en-US" altLang="zh-CN" smtClean="0"/>
            </a:fld>
            <a:endParaRPr lang="en-US" altLang="zh-CN"/>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数制转换</a:t>
            </a:r>
            <a:endParaRPr lang="zh-CN" altLang="en-US" dirty="0"/>
          </a:p>
        </p:txBody>
      </p:sp>
      <p:sp>
        <p:nvSpPr>
          <p:cNvPr id="3" name="内容占位符 2"/>
          <p:cNvSpPr>
            <a:spLocks noGrp="1"/>
          </p:cNvSpPr>
          <p:nvPr>
            <p:ph idx="1"/>
          </p:nvPr>
        </p:nvSpPr>
        <p:spPr>
          <a:xfrm>
            <a:off x="457200" y="1349077"/>
            <a:ext cx="8229600" cy="5248275"/>
          </a:xfrm>
        </p:spPr>
        <p:txBody>
          <a:bodyPr/>
          <a:lstStyle/>
          <a:p>
            <a:r>
              <a:rPr lang="zh-CN" altLang="en-US" dirty="0"/>
              <a:t>十进制转换为二进制</a:t>
            </a:r>
            <a:endParaRPr lang="en-US" altLang="zh-CN" dirty="0"/>
          </a:p>
          <a:p>
            <a:pPr lvl="1"/>
            <a:r>
              <a:rPr lang="zh-CN" altLang="en-US" dirty="0"/>
              <a:t>除</a:t>
            </a:r>
            <a:r>
              <a:rPr lang="en-US" altLang="zh-CN" dirty="0"/>
              <a:t>2</a:t>
            </a:r>
            <a:r>
              <a:rPr lang="zh-CN" altLang="en-US" dirty="0"/>
              <a:t>取余，倒排余数</a:t>
            </a:r>
            <a:endParaRPr lang="en-US" altLang="zh-CN" dirty="0"/>
          </a:p>
          <a:p>
            <a:pPr lvl="2"/>
            <a:r>
              <a:rPr lang="en-US" altLang="zh-CN" dirty="0"/>
              <a:t>19</a:t>
            </a:r>
            <a:r>
              <a:rPr lang="zh-CN" altLang="en-US" dirty="0"/>
              <a:t>（</a:t>
            </a:r>
            <a:r>
              <a:rPr lang="en-US" altLang="zh-CN" dirty="0"/>
              <a:t>10</a:t>
            </a:r>
            <a:r>
              <a:rPr lang="zh-CN" altLang="en-US" dirty="0"/>
              <a:t>）</a:t>
            </a:r>
            <a:r>
              <a:rPr lang="en-US" altLang="zh-CN" dirty="0"/>
              <a:t>= </a:t>
            </a:r>
            <a:endParaRPr lang="zh-CN" altLang="en-US" dirty="0"/>
          </a:p>
        </p:txBody>
      </p:sp>
      <p:pic>
        <p:nvPicPr>
          <p:cNvPr id="34" name="Picture 4"/>
          <p:cNvPicPr>
            <a:picLocks noChangeAspect="1" noChangeArrowheads="1"/>
          </p:cNvPicPr>
          <p:nvPr/>
        </p:nvPicPr>
        <p:blipFill>
          <a:blip r:embed="rId1" cstate="print"/>
          <a:srcRect/>
          <a:stretch>
            <a:fillRect/>
          </a:stretch>
        </p:blipFill>
        <p:spPr bwMode="auto">
          <a:xfrm>
            <a:off x="2038351" y="3440888"/>
            <a:ext cx="333375" cy="439737"/>
          </a:xfrm>
          <a:prstGeom prst="rect">
            <a:avLst/>
          </a:prstGeom>
          <a:noFill/>
          <a:ln w="9525">
            <a:miter lim="800000"/>
            <a:headEnd/>
            <a:tailEnd/>
          </a:ln>
          <a:effectLst/>
        </p:spPr>
      </p:pic>
      <p:pic>
        <p:nvPicPr>
          <p:cNvPr id="2057" name="Picture 9"/>
          <p:cNvPicPr>
            <a:picLocks noChangeAspect="1" noChangeArrowheads="1"/>
          </p:cNvPicPr>
          <p:nvPr/>
        </p:nvPicPr>
        <p:blipFill>
          <a:blip r:embed="rId2"/>
          <a:srcRect/>
          <a:stretch>
            <a:fillRect/>
          </a:stretch>
        </p:blipFill>
        <p:spPr bwMode="auto">
          <a:xfrm>
            <a:off x="1252513" y="3504393"/>
            <a:ext cx="9525" cy="371475"/>
          </a:xfrm>
          <a:prstGeom prst="rect">
            <a:avLst/>
          </a:prstGeom>
          <a:noFill/>
          <a:ln w="9525">
            <a:noFill/>
            <a:miter lim="800000"/>
            <a:headEnd/>
            <a:tailEnd/>
          </a:ln>
          <a:effectLst/>
        </p:spPr>
      </p:pic>
      <p:pic>
        <p:nvPicPr>
          <p:cNvPr id="2058" name="Picture 10"/>
          <p:cNvPicPr>
            <a:picLocks noChangeAspect="1" noChangeArrowheads="1"/>
          </p:cNvPicPr>
          <p:nvPr/>
        </p:nvPicPr>
        <p:blipFill>
          <a:blip r:embed="rId3"/>
          <a:srcRect/>
          <a:stretch>
            <a:fillRect/>
          </a:stretch>
        </p:blipFill>
        <p:spPr bwMode="auto">
          <a:xfrm>
            <a:off x="1252513" y="3866343"/>
            <a:ext cx="1095375" cy="9525"/>
          </a:xfrm>
          <a:prstGeom prst="rect">
            <a:avLst/>
          </a:prstGeom>
          <a:noFill/>
          <a:ln w="9525">
            <a:noFill/>
            <a:miter lim="800000"/>
            <a:headEnd/>
            <a:tailEnd/>
          </a:ln>
          <a:effectLst/>
        </p:spPr>
      </p:pic>
      <p:pic>
        <p:nvPicPr>
          <p:cNvPr id="43" name="Picture 11"/>
          <p:cNvPicPr>
            <a:picLocks noChangeAspect="1" noChangeArrowheads="1"/>
          </p:cNvPicPr>
          <p:nvPr/>
        </p:nvPicPr>
        <p:blipFill>
          <a:blip r:embed="rId4" cstate="print"/>
          <a:srcRect/>
          <a:stretch>
            <a:fillRect/>
          </a:stretch>
        </p:blipFill>
        <p:spPr bwMode="auto">
          <a:xfrm>
            <a:off x="1000126" y="3447238"/>
            <a:ext cx="180975" cy="439737"/>
          </a:xfrm>
          <a:prstGeom prst="rect">
            <a:avLst/>
          </a:prstGeom>
          <a:noFill/>
          <a:ln w="9525">
            <a:miter lim="800000"/>
            <a:headEnd/>
            <a:tailEnd/>
          </a:ln>
          <a:effectLst/>
        </p:spPr>
      </p:pic>
      <p:pic>
        <p:nvPicPr>
          <p:cNvPr id="41" name="Picture 12"/>
          <p:cNvPicPr>
            <a:picLocks noChangeAspect="1" noChangeArrowheads="1"/>
          </p:cNvPicPr>
          <p:nvPr/>
        </p:nvPicPr>
        <p:blipFill>
          <a:blip r:embed="rId5" cstate="print"/>
          <a:srcRect/>
          <a:stretch>
            <a:fillRect/>
          </a:stretch>
        </p:blipFill>
        <p:spPr bwMode="auto">
          <a:xfrm>
            <a:off x="2143126" y="3864750"/>
            <a:ext cx="180975" cy="439738"/>
          </a:xfrm>
          <a:prstGeom prst="rect">
            <a:avLst/>
          </a:prstGeom>
          <a:noFill/>
          <a:ln w="9525">
            <a:miter lim="800000"/>
            <a:headEnd/>
            <a:tailEnd/>
          </a:ln>
          <a:effectLst/>
        </p:spPr>
      </p:pic>
      <p:pic>
        <p:nvPicPr>
          <p:cNvPr id="39" name="Picture 13"/>
          <p:cNvPicPr>
            <a:picLocks noChangeAspect="1" noChangeArrowheads="1"/>
          </p:cNvPicPr>
          <p:nvPr/>
        </p:nvPicPr>
        <p:blipFill>
          <a:blip r:embed="rId6" cstate="print"/>
          <a:srcRect/>
          <a:stretch>
            <a:fillRect/>
          </a:stretch>
        </p:blipFill>
        <p:spPr bwMode="auto">
          <a:xfrm>
            <a:off x="2895601" y="2947175"/>
            <a:ext cx="638175" cy="439738"/>
          </a:xfrm>
          <a:prstGeom prst="rect">
            <a:avLst/>
          </a:prstGeom>
          <a:noFill/>
          <a:ln w="9525">
            <a:miter lim="800000"/>
            <a:headEnd/>
            <a:tailEnd/>
          </a:ln>
          <a:effectLst/>
        </p:spPr>
      </p:pic>
      <p:pic>
        <p:nvPicPr>
          <p:cNvPr id="29" name="Picture 14"/>
          <p:cNvPicPr>
            <a:picLocks noChangeAspect="1" noChangeArrowheads="1"/>
          </p:cNvPicPr>
          <p:nvPr/>
        </p:nvPicPr>
        <p:blipFill>
          <a:blip r:embed="rId7" cstate="print"/>
          <a:srcRect/>
          <a:stretch>
            <a:fillRect/>
          </a:stretch>
        </p:blipFill>
        <p:spPr bwMode="auto">
          <a:xfrm>
            <a:off x="3181351" y="3864750"/>
            <a:ext cx="180975" cy="439738"/>
          </a:xfrm>
          <a:prstGeom prst="rect">
            <a:avLst/>
          </a:prstGeom>
          <a:noFill/>
          <a:ln w="9525">
            <a:miter lim="800000"/>
            <a:headEnd/>
            <a:tailEnd/>
          </a:ln>
          <a:effectLst/>
        </p:spPr>
      </p:pic>
      <p:pic>
        <p:nvPicPr>
          <p:cNvPr id="2063" name="Picture 15"/>
          <p:cNvPicPr>
            <a:picLocks noChangeAspect="1" noChangeArrowheads="1"/>
          </p:cNvPicPr>
          <p:nvPr/>
        </p:nvPicPr>
        <p:blipFill>
          <a:blip r:embed="rId2"/>
          <a:srcRect/>
          <a:stretch>
            <a:fillRect/>
          </a:stretch>
        </p:blipFill>
        <p:spPr bwMode="auto">
          <a:xfrm>
            <a:off x="1395389" y="3875868"/>
            <a:ext cx="9525" cy="371475"/>
          </a:xfrm>
          <a:prstGeom prst="rect">
            <a:avLst/>
          </a:prstGeom>
          <a:noFill/>
          <a:ln w="9525">
            <a:noFill/>
            <a:miter lim="800000"/>
            <a:headEnd/>
            <a:tailEnd/>
          </a:ln>
          <a:effectLst/>
        </p:spPr>
      </p:pic>
      <p:pic>
        <p:nvPicPr>
          <p:cNvPr id="28" name="Picture 20"/>
          <p:cNvPicPr>
            <a:picLocks noChangeAspect="1" noChangeArrowheads="1"/>
          </p:cNvPicPr>
          <p:nvPr/>
        </p:nvPicPr>
        <p:blipFill>
          <a:blip r:embed="rId8" cstate="print"/>
          <a:srcRect/>
          <a:stretch>
            <a:fillRect/>
          </a:stretch>
        </p:blipFill>
        <p:spPr bwMode="auto">
          <a:xfrm>
            <a:off x="1181101" y="3864750"/>
            <a:ext cx="180975" cy="439738"/>
          </a:xfrm>
          <a:prstGeom prst="rect">
            <a:avLst/>
          </a:prstGeom>
          <a:noFill/>
          <a:ln w="9525">
            <a:miter lim="800000"/>
            <a:headEnd/>
            <a:tailEnd/>
          </a:ln>
          <a:effectLst/>
        </p:spPr>
      </p:pic>
      <p:pic>
        <p:nvPicPr>
          <p:cNvPr id="2071" name="Picture 23"/>
          <p:cNvPicPr>
            <a:picLocks noChangeAspect="1" noChangeArrowheads="1"/>
          </p:cNvPicPr>
          <p:nvPr/>
        </p:nvPicPr>
        <p:blipFill>
          <a:blip r:embed="rId9" cstate="print"/>
          <a:srcRect/>
          <a:stretch>
            <a:fillRect/>
          </a:stretch>
        </p:blipFill>
        <p:spPr bwMode="auto">
          <a:xfrm>
            <a:off x="1371583" y="4233058"/>
            <a:ext cx="952500" cy="1428750"/>
          </a:xfrm>
          <a:prstGeom prst="rect">
            <a:avLst/>
          </a:prstGeom>
          <a:noFill/>
          <a:ln w="9525">
            <a:noFill/>
            <a:miter lim="800000"/>
            <a:headEnd/>
            <a:tailEnd/>
          </a:ln>
          <a:effectLst/>
        </p:spPr>
      </p:pic>
      <p:pic>
        <p:nvPicPr>
          <p:cNvPr id="2072" name="Picture 24"/>
          <p:cNvPicPr>
            <a:picLocks noChangeAspect="1" noChangeArrowheads="1"/>
          </p:cNvPicPr>
          <p:nvPr/>
        </p:nvPicPr>
        <p:blipFill>
          <a:blip r:embed="rId10" cstate="print"/>
          <a:srcRect/>
          <a:stretch>
            <a:fillRect/>
          </a:stretch>
        </p:blipFill>
        <p:spPr bwMode="auto">
          <a:xfrm>
            <a:off x="3714744" y="3018612"/>
            <a:ext cx="485775" cy="2714644"/>
          </a:xfrm>
          <a:prstGeom prst="rect">
            <a:avLst/>
          </a:prstGeom>
          <a:noFill/>
          <a:ln w="9525">
            <a:noFill/>
            <a:miter lim="800000"/>
            <a:headEnd/>
            <a:tailEnd/>
          </a:ln>
          <a:effectLst/>
        </p:spPr>
      </p:pic>
      <p:pic>
        <p:nvPicPr>
          <p:cNvPr id="42" name="Picture 28"/>
          <p:cNvPicPr>
            <a:picLocks noChangeAspect="1" noChangeArrowheads="1"/>
          </p:cNvPicPr>
          <p:nvPr/>
        </p:nvPicPr>
        <p:blipFill>
          <a:blip r:embed="rId11" cstate="print"/>
          <a:srcRect/>
          <a:stretch>
            <a:fillRect/>
          </a:stretch>
        </p:blipFill>
        <p:spPr bwMode="auto">
          <a:xfrm>
            <a:off x="3175447" y="2383807"/>
            <a:ext cx="198437" cy="406400"/>
          </a:xfrm>
          <a:prstGeom prst="rect">
            <a:avLst/>
          </a:prstGeom>
          <a:noFill/>
          <a:ln w="9525">
            <a:miter lim="800000"/>
            <a:headEnd/>
            <a:tailEnd/>
          </a:ln>
          <a:effectLst/>
        </p:spPr>
      </p:pic>
      <p:pic>
        <p:nvPicPr>
          <p:cNvPr id="40" name="Picture 29"/>
          <p:cNvPicPr>
            <a:picLocks noChangeAspect="1" noChangeArrowheads="1"/>
          </p:cNvPicPr>
          <p:nvPr/>
        </p:nvPicPr>
        <p:blipFill>
          <a:blip r:embed="rId12" cstate="print"/>
          <a:srcRect/>
          <a:stretch>
            <a:fillRect/>
          </a:stretch>
        </p:blipFill>
        <p:spPr bwMode="auto">
          <a:xfrm>
            <a:off x="3316734" y="2383807"/>
            <a:ext cx="744538" cy="406400"/>
          </a:xfrm>
          <a:prstGeom prst="rect">
            <a:avLst/>
          </a:prstGeom>
          <a:noFill/>
          <a:ln w="9525">
            <a:miter lim="800000"/>
            <a:headEnd/>
            <a:tailEnd/>
          </a:ln>
          <a:effectLst/>
        </p:spPr>
      </p:pic>
      <p:pic>
        <p:nvPicPr>
          <p:cNvPr id="30" name="Picture 30"/>
          <p:cNvPicPr>
            <a:picLocks noChangeAspect="1" noChangeArrowheads="1"/>
          </p:cNvPicPr>
          <p:nvPr/>
        </p:nvPicPr>
        <p:blipFill>
          <a:blip r:embed="rId13" cstate="print"/>
          <a:srcRect/>
          <a:stretch>
            <a:fillRect/>
          </a:stretch>
        </p:blipFill>
        <p:spPr bwMode="auto">
          <a:xfrm>
            <a:off x="3176588" y="4221938"/>
            <a:ext cx="180975" cy="439737"/>
          </a:xfrm>
          <a:prstGeom prst="rect">
            <a:avLst/>
          </a:prstGeom>
          <a:noFill/>
          <a:ln w="9525">
            <a:miter lim="800000"/>
            <a:headEnd/>
            <a:tailEnd/>
          </a:ln>
          <a:effectLst/>
        </p:spPr>
      </p:pic>
      <p:pic>
        <p:nvPicPr>
          <p:cNvPr id="32" name="Picture 31"/>
          <p:cNvPicPr>
            <a:picLocks noChangeAspect="1" noChangeArrowheads="1"/>
          </p:cNvPicPr>
          <p:nvPr/>
        </p:nvPicPr>
        <p:blipFill>
          <a:blip r:embed="rId14" cstate="print"/>
          <a:srcRect/>
          <a:stretch>
            <a:fillRect/>
          </a:stretch>
        </p:blipFill>
        <p:spPr bwMode="auto">
          <a:xfrm>
            <a:off x="3176588" y="4579125"/>
            <a:ext cx="180975" cy="439738"/>
          </a:xfrm>
          <a:prstGeom prst="rect">
            <a:avLst/>
          </a:prstGeom>
          <a:noFill/>
          <a:ln w="9525">
            <a:miter lim="800000"/>
            <a:headEnd/>
            <a:tailEnd/>
          </a:ln>
          <a:effectLst/>
        </p:spPr>
      </p:pic>
      <p:pic>
        <p:nvPicPr>
          <p:cNvPr id="35" name="Picture 32"/>
          <p:cNvPicPr>
            <a:picLocks noChangeAspect="1" noChangeArrowheads="1"/>
          </p:cNvPicPr>
          <p:nvPr/>
        </p:nvPicPr>
        <p:blipFill>
          <a:blip r:embed="rId15" cstate="print"/>
          <a:srcRect/>
          <a:stretch>
            <a:fillRect/>
          </a:stretch>
        </p:blipFill>
        <p:spPr bwMode="auto">
          <a:xfrm>
            <a:off x="3176588" y="4936313"/>
            <a:ext cx="180975" cy="439737"/>
          </a:xfrm>
          <a:prstGeom prst="rect">
            <a:avLst/>
          </a:prstGeom>
          <a:noFill/>
          <a:ln w="9525">
            <a:miter lim="800000"/>
            <a:headEnd/>
            <a:tailEnd/>
          </a:ln>
          <a:effectLst/>
        </p:spPr>
      </p:pic>
      <p:pic>
        <p:nvPicPr>
          <p:cNvPr id="37" name="Picture 33"/>
          <p:cNvPicPr>
            <a:picLocks noChangeAspect="1" noChangeArrowheads="1"/>
          </p:cNvPicPr>
          <p:nvPr/>
        </p:nvPicPr>
        <p:blipFill>
          <a:blip r:embed="rId16" cstate="print"/>
          <a:srcRect/>
          <a:stretch>
            <a:fillRect/>
          </a:stretch>
        </p:blipFill>
        <p:spPr bwMode="auto">
          <a:xfrm>
            <a:off x="3176588" y="5233175"/>
            <a:ext cx="180975" cy="439738"/>
          </a:xfrm>
          <a:prstGeom prst="rect">
            <a:avLst/>
          </a:prstGeom>
          <a:noFill/>
          <a:ln w="9525">
            <a:miter lim="800000"/>
            <a:headEnd/>
            <a:tailEnd/>
          </a:ln>
          <a:effectLst/>
        </p:spPr>
      </p:pic>
      <p:pic>
        <p:nvPicPr>
          <p:cNvPr id="38" name="Picture 35"/>
          <p:cNvPicPr>
            <a:picLocks noChangeAspect="1" noChangeArrowheads="1"/>
          </p:cNvPicPr>
          <p:nvPr/>
        </p:nvPicPr>
        <p:blipFill>
          <a:blip r:embed="rId17" cstate="print"/>
          <a:srcRect/>
          <a:stretch>
            <a:fillRect/>
          </a:stretch>
        </p:blipFill>
        <p:spPr bwMode="auto">
          <a:xfrm>
            <a:off x="3246884" y="2348880"/>
            <a:ext cx="180975" cy="439738"/>
          </a:xfrm>
          <a:prstGeom prst="rect">
            <a:avLst/>
          </a:prstGeom>
          <a:noFill/>
          <a:ln w="9525">
            <a:miter lim="800000"/>
            <a:headEnd/>
            <a:tailEnd/>
          </a:ln>
          <a:effectLst/>
        </p:spPr>
      </p:pic>
      <p:pic>
        <p:nvPicPr>
          <p:cNvPr id="36" name="Picture 36"/>
          <p:cNvPicPr>
            <a:picLocks noChangeAspect="1" noChangeArrowheads="1"/>
          </p:cNvPicPr>
          <p:nvPr/>
        </p:nvPicPr>
        <p:blipFill>
          <a:blip r:embed="rId18" cstate="print"/>
          <a:srcRect/>
          <a:stretch>
            <a:fillRect/>
          </a:stretch>
        </p:blipFill>
        <p:spPr bwMode="auto">
          <a:xfrm>
            <a:off x="3494534" y="2348880"/>
            <a:ext cx="180975" cy="439738"/>
          </a:xfrm>
          <a:prstGeom prst="rect">
            <a:avLst/>
          </a:prstGeom>
          <a:noFill/>
          <a:ln w="9525">
            <a:miter lim="800000"/>
            <a:headEnd/>
            <a:tailEnd/>
          </a:ln>
          <a:effectLst/>
        </p:spPr>
      </p:pic>
      <p:pic>
        <p:nvPicPr>
          <p:cNvPr id="33" name="Picture 37"/>
          <p:cNvPicPr>
            <a:picLocks noChangeAspect="1" noChangeArrowheads="1"/>
          </p:cNvPicPr>
          <p:nvPr/>
        </p:nvPicPr>
        <p:blipFill>
          <a:blip r:embed="rId19" cstate="print"/>
          <a:srcRect/>
          <a:stretch>
            <a:fillRect/>
          </a:stretch>
        </p:blipFill>
        <p:spPr bwMode="auto">
          <a:xfrm>
            <a:off x="3746947" y="2348880"/>
            <a:ext cx="180975" cy="439738"/>
          </a:xfrm>
          <a:prstGeom prst="rect">
            <a:avLst/>
          </a:prstGeom>
          <a:noFill/>
          <a:ln w="9525">
            <a:miter lim="800000"/>
            <a:headEnd/>
            <a:tailEnd/>
          </a:ln>
          <a:effectLst/>
        </p:spPr>
      </p:pic>
      <p:pic>
        <p:nvPicPr>
          <p:cNvPr id="31" name="Picture 38"/>
          <p:cNvPicPr>
            <a:picLocks noChangeAspect="1" noChangeArrowheads="1"/>
          </p:cNvPicPr>
          <p:nvPr/>
        </p:nvPicPr>
        <p:blipFill>
          <a:blip r:embed="rId20" cstate="print"/>
          <a:srcRect/>
          <a:stretch>
            <a:fillRect/>
          </a:stretch>
        </p:blipFill>
        <p:spPr bwMode="auto">
          <a:xfrm>
            <a:off x="3994597" y="2348880"/>
            <a:ext cx="180975" cy="439738"/>
          </a:xfrm>
          <a:prstGeom prst="rect">
            <a:avLst/>
          </a:prstGeom>
          <a:noFill/>
          <a:ln w="9525">
            <a:miter lim="800000"/>
            <a:headEnd/>
            <a:tailEnd/>
          </a:ln>
          <a:effectLst/>
        </p:spPr>
      </p:pic>
      <p:pic>
        <p:nvPicPr>
          <p:cNvPr id="44" name="Picture 39"/>
          <p:cNvPicPr>
            <a:picLocks noChangeAspect="1" noChangeArrowheads="1"/>
          </p:cNvPicPr>
          <p:nvPr/>
        </p:nvPicPr>
        <p:blipFill>
          <a:blip r:embed="rId21" cstate="print"/>
          <a:srcRect/>
          <a:stretch>
            <a:fillRect/>
          </a:stretch>
        </p:blipFill>
        <p:spPr bwMode="auto">
          <a:xfrm>
            <a:off x="4247009" y="2348880"/>
            <a:ext cx="180975" cy="439738"/>
          </a:xfrm>
          <a:prstGeom prst="rect">
            <a:avLst/>
          </a:prstGeom>
          <a:noFill/>
          <a:ln w="9525">
            <a:miter lim="800000"/>
            <a:headEnd/>
            <a:tailEnd/>
          </a:ln>
          <a:effec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3" presetClass="entr" presetSubtype="10" fill="hold" nodeType="clickEffect">
                                  <p:stCondLst>
                                    <p:cond delay="0"/>
                                  </p:stCondLst>
                                  <p:childTnLst>
                                    <p:set>
                                      <p:cBhvr>
                                        <p:cTn id="10" dur="1" fill="hold">
                                          <p:stCondLst>
                                            <p:cond delay="0"/>
                                          </p:stCondLst>
                                        </p:cTn>
                                        <p:tgtEl>
                                          <p:spTgt spid="2057"/>
                                        </p:tgtEl>
                                        <p:attrNameLst>
                                          <p:attrName>style.visibility</p:attrName>
                                        </p:attrNameLst>
                                      </p:cBhvr>
                                      <p:to>
                                        <p:strVal val="visible"/>
                                      </p:to>
                                    </p:set>
                                    <p:animEffect transition="in" filter="blinds(horizontal)">
                                      <p:cBhvr>
                                        <p:cTn id="11" dur="500"/>
                                        <p:tgtEl>
                                          <p:spTgt spid="2057"/>
                                        </p:tgtEl>
                                      </p:cBhvr>
                                    </p:animEffect>
                                  </p:childTnLst>
                                </p:cTn>
                              </p:par>
                              <p:par>
                                <p:cTn id="12" presetID="3" presetClass="entr" presetSubtype="10" fill="hold" nodeType="withEffect">
                                  <p:stCondLst>
                                    <p:cond delay="0"/>
                                  </p:stCondLst>
                                  <p:childTnLst>
                                    <p:set>
                                      <p:cBhvr>
                                        <p:cTn id="13" dur="1" fill="hold">
                                          <p:stCondLst>
                                            <p:cond delay="0"/>
                                          </p:stCondLst>
                                        </p:cTn>
                                        <p:tgtEl>
                                          <p:spTgt spid="2058"/>
                                        </p:tgtEl>
                                        <p:attrNameLst>
                                          <p:attrName>style.visibility</p:attrName>
                                        </p:attrNameLst>
                                      </p:cBhvr>
                                      <p:to>
                                        <p:strVal val="visible"/>
                                      </p:to>
                                    </p:set>
                                    <p:animEffect transition="in" filter="blinds(horizontal)">
                                      <p:cBhvr>
                                        <p:cTn id="14" dur="500"/>
                                        <p:tgtEl>
                                          <p:spTgt spid="2058"/>
                                        </p:tgtEl>
                                      </p:cBhvr>
                                    </p:animEffec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3"/>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1"/>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9"/>
                                        </p:tgtEl>
                                        <p:attrNameLst>
                                          <p:attrName>style.visibility</p:attrName>
                                        </p:attrNameLst>
                                      </p:cBhvr>
                                      <p:to>
                                        <p:strVal val="visible"/>
                                      </p:to>
                                    </p:set>
                                  </p:childTnLst>
                                </p:cTn>
                              </p:par>
                              <p:par>
                                <p:cTn id="27" presetID="3" presetClass="entr" presetSubtype="10" fill="hold" nodeType="withEffect">
                                  <p:stCondLst>
                                    <p:cond delay="0"/>
                                  </p:stCondLst>
                                  <p:childTnLst>
                                    <p:set>
                                      <p:cBhvr>
                                        <p:cTn id="28" dur="1" fill="hold">
                                          <p:stCondLst>
                                            <p:cond delay="0"/>
                                          </p:stCondLst>
                                        </p:cTn>
                                        <p:tgtEl>
                                          <p:spTgt spid="29"/>
                                        </p:tgtEl>
                                        <p:attrNameLst>
                                          <p:attrName>style.visibility</p:attrName>
                                        </p:attrNameLst>
                                      </p:cBhvr>
                                      <p:to>
                                        <p:strVal val="visible"/>
                                      </p:to>
                                    </p:set>
                                    <p:animEffect transition="in" filter="blinds(horizontal)">
                                      <p:cBhvr>
                                        <p:cTn id="29" dur="500"/>
                                        <p:tgtEl>
                                          <p:spTgt spid="29"/>
                                        </p:tgtEl>
                                      </p:cBhvr>
                                    </p:animEffect>
                                  </p:childTnLst>
                                </p:cTn>
                              </p:par>
                            </p:childTnLst>
                          </p:cTn>
                        </p:par>
                      </p:childTnLst>
                    </p:cTn>
                  </p:par>
                  <p:par>
                    <p:cTn id="30" fill="hold">
                      <p:stCondLst>
                        <p:cond delay="indefinite"/>
                      </p:stCondLst>
                      <p:childTnLst>
                        <p:par>
                          <p:cTn id="31" fill="hold">
                            <p:stCondLst>
                              <p:cond delay="0"/>
                            </p:stCondLst>
                            <p:childTnLst>
                              <p:par>
                                <p:cTn id="32" presetID="3" presetClass="entr" presetSubtype="10" fill="hold" nodeType="clickEffect">
                                  <p:stCondLst>
                                    <p:cond delay="0"/>
                                  </p:stCondLst>
                                  <p:childTnLst>
                                    <p:set>
                                      <p:cBhvr>
                                        <p:cTn id="33" dur="1" fill="hold">
                                          <p:stCondLst>
                                            <p:cond delay="0"/>
                                          </p:stCondLst>
                                        </p:cTn>
                                        <p:tgtEl>
                                          <p:spTgt spid="2063"/>
                                        </p:tgtEl>
                                        <p:attrNameLst>
                                          <p:attrName>style.visibility</p:attrName>
                                        </p:attrNameLst>
                                      </p:cBhvr>
                                      <p:to>
                                        <p:strVal val="visible"/>
                                      </p:to>
                                    </p:set>
                                    <p:animEffect transition="in" filter="blinds(horizontal)">
                                      <p:cBhvr>
                                        <p:cTn id="34" dur="500"/>
                                        <p:tgtEl>
                                          <p:spTgt spid="2063"/>
                                        </p:tgtEl>
                                      </p:cBhvr>
                                    </p:animEffec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28"/>
                                        </p:tgtEl>
                                        <p:attrNameLst>
                                          <p:attrName>style.visibility</p:attrName>
                                        </p:attrNameLst>
                                      </p:cBhvr>
                                      <p:to>
                                        <p:strVal val="visible"/>
                                      </p:to>
                                    </p:set>
                                  </p:childTnLst>
                                </p:cTn>
                              </p:par>
                              <p:par>
                                <p:cTn id="39" presetID="3" presetClass="entr" presetSubtype="10" fill="hold" nodeType="withEffect">
                                  <p:stCondLst>
                                    <p:cond delay="0"/>
                                  </p:stCondLst>
                                  <p:childTnLst>
                                    <p:set>
                                      <p:cBhvr>
                                        <p:cTn id="40" dur="1" fill="hold">
                                          <p:stCondLst>
                                            <p:cond delay="0"/>
                                          </p:stCondLst>
                                        </p:cTn>
                                        <p:tgtEl>
                                          <p:spTgt spid="2071"/>
                                        </p:tgtEl>
                                        <p:attrNameLst>
                                          <p:attrName>style.visibility</p:attrName>
                                        </p:attrNameLst>
                                      </p:cBhvr>
                                      <p:to>
                                        <p:strVal val="visible"/>
                                      </p:to>
                                    </p:set>
                                    <p:animEffect transition="in" filter="blinds(horizontal)">
                                      <p:cBhvr>
                                        <p:cTn id="41" dur="500"/>
                                        <p:tgtEl>
                                          <p:spTgt spid="2071"/>
                                        </p:tgtEl>
                                      </p:cBhvr>
                                    </p:animEffect>
                                  </p:childTnLst>
                                </p:cTn>
                              </p:par>
                              <p:par>
                                <p:cTn id="42" presetID="3" presetClass="entr" presetSubtype="10" fill="hold" nodeType="withEffect">
                                  <p:stCondLst>
                                    <p:cond delay="0"/>
                                  </p:stCondLst>
                                  <p:childTnLst>
                                    <p:set>
                                      <p:cBhvr>
                                        <p:cTn id="43" dur="1" fill="hold">
                                          <p:stCondLst>
                                            <p:cond delay="0"/>
                                          </p:stCondLst>
                                        </p:cTn>
                                        <p:tgtEl>
                                          <p:spTgt spid="30"/>
                                        </p:tgtEl>
                                        <p:attrNameLst>
                                          <p:attrName>style.visibility</p:attrName>
                                        </p:attrNameLst>
                                      </p:cBhvr>
                                      <p:to>
                                        <p:strVal val="visible"/>
                                      </p:to>
                                    </p:set>
                                    <p:animEffect transition="in" filter="blinds(horizontal)">
                                      <p:cBhvr>
                                        <p:cTn id="44" dur="500"/>
                                        <p:tgtEl>
                                          <p:spTgt spid="30"/>
                                        </p:tgtEl>
                                      </p:cBhvr>
                                    </p:animEffect>
                                  </p:childTnLst>
                                </p:cTn>
                              </p:par>
                              <p:par>
                                <p:cTn id="45" presetID="3" presetClass="entr" presetSubtype="10" fill="hold" nodeType="withEffect">
                                  <p:stCondLst>
                                    <p:cond delay="0"/>
                                  </p:stCondLst>
                                  <p:childTnLst>
                                    <p:set>
                                      <p:cBhvr>
                                        <p:cTn id="46" dur="1" fill="hold">
                                          <p:stCondLst>
                                            <p:cond delay="0"/>
                                          </p:stCondLst>
                                        </p:cTn>
                                        <p:tgtEl>
                                          <p:spTgt spid="32"/>
                                        </p:tgtEl>
                                        <p:attrNameLst>
                                          <p:attrName>style.visibility</p:attrName>
                                        </p:attrNameLst>
                                      </p:cBhvr>
                                      <p:to>
                                        <p:strVal val="visible"/>
                                      </p:to>
                                    </p:set>
                                    <p:animEffect transition="in" filter="blinds(horizontal)">
                                      <p:cBhvr>
                                        <p:cTn id="47" dur="500"/>
                                        <p:tgtEl>
                                          <p:spTgt spid="32"/>
                                        </p:tgtEl>
                                      </p:cBhvr>
                                    </p:animEffect>
                                  </p:childTnLst>
                                </p:cTn>
                              </p:par>
                              <p:par>
                                <p:cTn id="48" presetID="3" presetClass="entr" presetSubtype="10" fill="hold" nodeType="withEffect">
                                  <p:stCondLst>
                                    <p:cond delay="0"/>
                                  </p:stCondLst>
                                  <p:childTnLst>
                                    <p:set>
                                      <p:cBhvr>
                                        <p:cTn id="49" dur="1" fill="hold">
                                          <p:stCondLst>
                                            <p:cond delay="0"/>
                                          </p:stCondLst>
                                        </p:cTn>
                                        <p:tgtEl>
                                          <p:spTgt spid="35"/>
                                        </p:tgtEl>
                                        <p:attrNameLst>
                                          <p:attrName>style.visibility</p:attrName>
                                        </p:attrNameLst>
                                      </p:cBhvr>
                                      <p:to>
                                        <p:strVal val="visible"/>
                                      </p:to>
                                    </p:set>
                                    <p:animEffect transition="in" filter="blinds(horizontal)">
                                      <p:cBhvr>
                                        <p:cTn id="50" dur="500"/>
                                        <p:tgtEl>
                                          <p:spTgt spid="35"/>
                                        </p:tgtEl>
                                      </p:cBhvr>
                                    </p:animEffect>
                                  </p:childTnLst>
                                </p:cTn>
                              </p:par>
                              <p:par>
                                <p:cTn id="51" presetID="3" presetClass="entr" presetSubtype="10" fill="hold" nodeType="withEffect">
                                  <p:stCondLst>
                                    <p:cond delay="0"/>
                                  </p:stCondLst>
                                  <p:childTnLst>
                                    <p:set>
                                      <p:cBhvr>
                                        <p:cTn id="52" dur="1" fill="hold">
                                          <p:stCondLst>
                                            <p:cond delay="0"/>
                                          </p:stCondLst>
                                        </p:cTn>
                                        <p:tgtEl>
                                          <p:spTgt spid="37"/>
                                        </p:tgtEl>
                                        <p:attrNameLst>
                                          <p:attrName>style.visibility</p:attrName>
                                        </p:attrNameLst>
                                      </p:cBhvr>
                                      <p:to>
                                        <p:strVal val="visible"/>
                                      </p:to>
                                    </p:set>
                                    <p:animEffect transition="in" filter="blinds(horizontal)">
                                      <p:cBhvr>
                                        <p:cTn id="53" dur="500"/>
                                        <p:tgtEl>
                                          <p:spTgt spid="37"/>
                                        </p:tgtEl>
                                      </p:cBhvr>
                                    </p:animEffect>
                                  </p:childTnLst>
                                </p:cTn>
                              </p:par>
                            </p:childTnLst>
                          </p:cTn>
                        </p:par>
                      </p:childTnLst>
                    </p:cTn>
                  </p:par>
                  <p:par>
                    <p:cTn id="54" fill="hold">
                      <p:stCondLst>
                        <p:cond delay="indefinite"/>
                      </p:stCondLst>
                      <p:childTnLst>
                        <p:par>
                          <p:cTn id="55" fill="hold">
                            <p:stCondLst>
                              <p:cond delay="0"/>
                            </p:stCondLst>
                            <p:childTnLst>
                              <p:par>
                                <p:cTn id="56" presetID="42" presetClass="entr" presetSubtype="0" fill="hold" nodeType="clickEffect">
                                  <p:stCondLst>
                                    <p:cond delay="0"/>
                                  </p:stCondLst>
                                  <p:childTnLst>
                                    <p:set>
                                      <p:cBhvr>
                                        <p:cTn id="57" dur="1" fill="hold">
                                          <p:stCondLst>
                                            <p:cond delay="0"/>
                                          </p:stCondLst>
                                        </p:cTn>
                                        <p:tgtEl>
                                          <p:spTgt spid="2072"/>
                                        </p:tgtEl>
                                        <p:attrNameLst>
                                          <p:attrName>style.visibility</p:attrName>
                                        </p:attrNameLst>
                                      </p:cBhvr>
                                      <p:to>
                                        <p:strVal val="visible"/>
                                      </p:to>
                                    </p:set>
                                    <p:animEffect transition="in" filter="fade">
                                      <p:cBhvr>
                                        <p:cTn id="58" dur="1000"/>
                                        <p:tgtEl>
                                          <p:spTgt spid="2072"/>
                                        </p:tgtEl>
                                      </p:cBhvr>
                                    </p:animEffect>
                                    <p:anim calcmode="lin" valueType="num">
                                      <p:cBhvr>
                                        <p:cTn id="59" dur="1000" fill="hold"/>
                                        <p:tgtEl>
                                          <p:spTgt spid="2072"/>
                                        </p:tgtEl>
                                        <p:attrNameLst>
                                          <p:attrName>ppt_x</p:attrName>
                                        </p:attrNameLst>
                                      </p:cBhvr>
                                      <p:tavLst>
                                        <p:tav tm="0">
                                          <p:val>
                                            <p:strVal val="#ppt_x"/>
                                          </p:val>
                                        </p:tav>
                                        <p:tav tm="100000">
                                          <p:val>
                                            <p:strVal val="#ppt_x"/>
                                          </p:val>
                                        </p:tav>
                                      </p:tavLst>
                                    </p:anim>
                                    <p:anim calcmode="lin" valueType="num">
                                      <p:cBhvr>
                                        <p:cTn id="60" dur="1000" fill="hold"/>
                                        <p:tgtEl>
                                          <p:spTgt spid="2072"/>
                                        </p:tgtEl>
                                        <p:attrNameLst>
                                          <p:attrName>ppt_y</p:attrName>
                                        </p:attrNameLst>
                                      </p:cBhvr>
                                      <p:tavLst>
                                        <p:tav tm="0">
                                          <p:val>
                                            <p:strVal val="#ppt_y+.1"/>
                                          </p:val>
                                        </p:tav>
                                        <p:tav tm="100000">
                                          <p:val>
                                            <p:strVal val="#ppt_y"/>
                                          </p:val>
                                        </p:tav>
                                      </p:tavLst>
                                    </p:anim>
                                  </p:childTnLst>
                                </p:cTn>
                              </p:par>
                            </p:childTnLst>
                          </p:cTn>
                        </p:par>
                      </p:childTnLst>
                    </p:cTn>
                  </p:par>
                  <p:par>
                    <p:cTn id="61" fill="hold">
                      <p:stCondLst>
                        <p:cond delay="indefinite"/>
                      </p:stCondLst>
                      <p:childTnLst>
                        <p:par>
                          <p:cTn id="62" fill="hold">
                            <p:stCondLst>
                              <p:cond delay="0"/>
                            </p:stCondLst>
                            <p:childTnLst>
                              <p:par>
                                <p:cTn id="63" presetID="3" presetClass="exit" presetSubtype="10" fill="hold" nodeType="clickEffect">
                                  <p:stCondLst>
                                    <p:cond delay="0"/>
                                  </p:stCondLst>
                                  <p:childTnLst>
                                    <p:animEffect transition="out" filter="blinds(horizontal)">
                                      <p:cBhvr>
                                        <p:cTn id="64" dur="500"/>
                                        <p:tgtEl>
                                          <p:spTgt spid="42"/>
                                        </p:tgtEl>
                                      </p:cBhvr>
                                    </p:animEffect>
                                    <p:set>
                                      <p:cBhvr>
                                        <p:cTn id="65" dur="1" fill="hold">
                                          <p:stCondLst>
                                            <p:cond delay="499"/>
                                          </p:stCondLst>
                                        </p:cTn>
                                        <p:tgtEl>
                                          <p:spTgt spid="42"/>
                                        </p:tgtEl>
                                        <p:attrNameLst>
                                          <p:attrName>style.visibility</p:attrName>
                                        </p:attrNameLst>
                                      </p:cBhvr>
                                      <p:to>
                                        <p:strVal val="hidden"/>
                                      </p:to>
                                    </p:set>
                                  </p:childTnLst>
                                </p:cTn>
                              </p:par>
                            </p:childTnLst>
                          </p:cTn>
                        </p:par>
                      </p:childTnLst>
                    </p:cTn>
                  </p:par>
                  <p:par>
                    <p:cTn id="66" fill="hold">
                      <p:stCondLst>
                        <p:cond delay="indefinite"/>
                      </p:stCondLst>
                      <p:childTnLst>
                        <p:par>
                          <p:cTn id="67" fill="hold">
                            <p:stCondLst>
                              <p:cond delay="0"/>
                            </p:stCondLst>
                            <p:childTnLst>
                              <p:par>
                                <p:cTn id="68" presetID="63" presetClass="path" presetSubtype="0" accel="50000" decel="50000" fill="hold" nodeType="clickEffect">
                                  <p:stCondLst>
                                    <p:cond delay="0"/>
                                  </p:stCondLst>
                                  <p:childTnLst>
                                    <p:animMotion origin="layout" path="M 1.11111E-6 -1.85185E-6 L 0.11597 -0.00231 " pathEditMode="relative" rAng="0" ptsTypes="AA">
                                      <p:cBhvr>
                                        <p:cTn id="69" dur="2000" fill="hold"/>
                                        <p:tgtEl>
                                          <p:spTgt spid="40"/>
                                        </p:tgtEl>
                                        <p:attrNameLst>
                                          <p:attrName>ppt_x</p:attrName>
                                          <p:attrName>ppt_y</p:attrName>
                                        </p:attrNameLst>
                                      </p:cBhvr>
                                      <p:rCtr x="5800" y="-100"/>
                                    </p:animMotion>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nodeType="clickEffect">
                                  <p:stCondLst>
                                    <p:cond delay="0"/>
                                  </p:stCondLst>
                                  <p:childTnLst>
                                    <p:set>
                                      <p:cBhvr>
                                        <p:cTn id="73" dur="1" fill="hold">
                                          <p:stCondLst>
                                            <p:cond delay="0"/>
                                          </p:stCondLst>
                                        </p:cTn>
                                        <p:tgtEl>
                                          <p:spTgt spid="38"/>
                                        </p:tgtEl>
                                        <p:attrNameLst>
                                          <p:attrName>style.visibility</p:attrName>
                                        </p:attrNameLst>
                                      </p:cBhvr>
                                      <p:to>
                                        <p:strVal val="visible"/>
                                      </p:to>
                                    </p:set>
                                  </p:childTnLst>
                                </p:cTn>
                              </p:par>
                            </p:childTnLst>
                          </p:cTn>
                        </p:par>
                      </p:childTnLst>
                    </p:cTn>
                  </p:par>
                  <p:par>
                    <p:cTn id="74" fill="hold">
                      <p:stCondLst>
                        <p:cond delay="indefinite"/>
                      </p:stCondLst>
                      <p:childTnLst>
                        <p:par>
                          <p:cTn id="75" fill="hold">
                            <p:stCondLst>
                              <p:cond delay="0"/>
                            </p:stCondLst>
                            <p:childTnLst>
                              <p:par>
                                <p:cTn id="76" presetID="1" presetClass="entr" presetSubtype="0" fill="hold" nodeType="clickEffect">
                                  <p:stCondLst>
                                    <p:cond delay="0"/>
                                  </p:stCondLst>
                                  <p:childTnLst>
                                    <p:set>
                                      <p:cBhvr>
                                        <p:cTn id="77" dur="1" fill="hold">
                                          <p:stCondLst>
                                            <p:cond delay="0"/>
                                          </p:stCondLst>
                                        </p:cTn>
                                        <p:tgtEl>
                                          <p:spTgt spid="36"/>
                                        </p:tgtEl>
                                        <p:attrNameLst>
                                          <p:attrName>style.visibility</p:attrName>
                                        </p:attrNameLst>
                                      </p:cBhvr>
                                      <p:to>
                                        <p:strVal val="visible"/>
                                      </p:to>
                                    </p:set>
                                  </p:childTnLst>
                                </p:cTn>
                              </p:par>
                            </p:childTnLst>
                          </p:cTn>
                        </p:par>
                      </p:childTnLst>
                    </p:cTn>
                  </p:par>
                  <p:par>
                    <p:cTn id="78" fill="hold">
                      <p:stCondLst>
                        <p:cond delay="indefinite"/>
                      </p:stCondLst>
                      <p:childTnLst>
                        <p:par>
                          <p:cTn id="79" fill="hold">
                            <p:stCondLst>
                              <p:cond delay="0"/>
                            </p:stCondLst>
                            <p:childTnLst>
                              <p:par>
                                <p:cTn id="80" presetID="1" presetClass="entr" presetSubtype="0" fill="hold" nodeType="clickEffect">
                                  <p:stCondLst>
                                    <p:cond delay="0"/>
                                  </p:stCondLst>
                                  <p:childTnLst>
                                    <p:set>
                                      <p:cBhvr>
                                        <p:cTn id="81" dur="1" fill="hold">
                                          <p:stCondLst>
                                            <p:cond delay="0"/>
                                          </p:stCondLst>
                                        </p:cTn>
                                        <p:tgtEl>
                                          <p:spTgt spid="33"/>
                                        </p:tgtEl>
                                        <p:attrNameLst>
                                          <p:attrName>style.visibility</p:attrName>
                                        </p:attrNameLst>
                                      </p:cBhvr>
                                      <p:to>
                                        <p:strVal val="visible"/>
                                      </p:to>
                                    </p:set>
                                  </p:childTnLst>
                                </p:cTn>
                              </p:par>
                            </p:childTnLst>
                          </p:cTn>
                        </p:par>
                      </p:childTnLst>
                    </p:cTn>
                  </p:par>
                  <p:par>
                    <p:cTn id="82" fill="hold">
                      <p:stCondLst>
                        <p:cond delay="indefinite"/>
                      </p:stCondLst>
                      <p:childTnLst>
                        <p:par>
                          <p:cTn id="83" fill="hold">
                            <p:stCondLst>
                              <p:cond delay="0"/>
                            </p:stCondLst>
                            <p:childTnLst>
                              <p:par>
                                <p:cTn id="84" presetID="1" presetClass="entr" presetSubtype="0" fill="hold" nodeType="clickEffect">
                                  <p:stCondLst>
                                    <p:cond delay="0"/>
                                  </p:stCondLst>
                                  <p:childTnLst>
                                    <p:set>
                                      <p:cBhvr>
                                        <p:cTn id="85" dur="1" fill="hold">
                                          <p:stCondLst>
                                            <p:cond delay="0"/>
                                          </p:stCondLst>
                                        </p:cTn>
                                        <p:tgtEl>
                                          <p:spTgt spid="31"/>
                                        </p:tgtEl>
                                        <p:attrNameLst>
                                          <p:attrName>style.visibility</p:attrName>
                                        </p:attrNameLst>
                                      </p:cBhvr>
                                      <p:to>
                                        <p:strVal val="visible"/>
                                      </p:to>
                                    </p:set>
                                  </p:childTnLst>
                                </p:cTn>
                              </p:par>
                            </p:childTnLst>
                          </p:cTn>
                        </p:par>
                      </p:childTnLst>
                    </p:cTn>
                  </p:par>
                  <p:par>
                    <p:cTn id="86" fill="hold">
                      <p:stCondLst>
                        <p:cond delay="indefinite"/>
                      </p:stCondLst>
                      <p:childTnLst>
                        <p:par>
                          <p:cTn id="87" fill="hold">
                            <p:stCondLst>
                              <p:cond delay="0"/>
                            </p:stCondLst>
                            <p:childTnLst>
                              <p:par>
                                <p:cTn id="88" presetID="1" presetClass="entr" presetSubtype="0" fill="hold" nodeType="clickEffect">
                                  <p:stCondLst>
                                    <p:cond delay="0"/>
                                  </p:stCondLst>
                                  <p:childTnLst>
                                    <p:set>
                                      <p:cBhvr>
                                        <p:cTn id="89" dur="1" fill="hold">
                                          <p:stCondLst>
                                            <p:cond delay="0"/>
                                          </p:stCondLst>
                                        </p:cTn>
                                        <p:tgtEl>
                                          <p:spTgt spid="44"/>
                                        </p:tgtEl>
                                        <p:attrNameLst>
                                          <p:attrName>style.visibility</p:attrName>
                                        </p:attrNameLst>
                                      </p:cBhvr>
                                      <p:to>
                                        <p:strVal val="visible"/>
                                      </p:to>
                                    </p:set>
                                  </p:childTnLst>
                                </p:cTn>
                              </p:par>
                            </p:childTnLst>
                          </p:cTn>
                        </p:par>
                      </p:childTnLst>
                    </p:cTn>
                  </p:par>
                  <p:par>
                    <p:cTn id="90" fill="hold">
                      <p:stCondLst>
                        <p:cond delay="indefinite"/>
                      </p:stCondLst>
                      <p:childTnLst>
                        <p:par>
                          <p:cTn id="91" fill="hold">
                            <p:stCondLst>
                              <p:cond delay="0"/>
                            </p:stCondLst>
                            <p:childTnLst>
                              <p:par>
                                <p:cTn id="92" presetID="1" presetClass="entr" presetSubtype="0" fill="hold" nodeType="clickEffect">
                                  <p:stCondLst>
                                    <p:cond delay="0"/>
                                  </p:stCondLst>
                                  <p:childTnLst>
                                    <p:set>
                                      <p:cBhvr>
                                        <p:cTn id="93" dur="1" fill="hold">
                                          <p:stCondLst>
                                            <p:cond delay="0"/>
                                          </p:stCondLst>
                                        </p:cTn>
                                        <p:tgtEl>
                                          <p:spTgt spid="2057"/>
                                        </p:tgtEl>
                                        <p:attrNameLst>
                                          <p:attrName>style.visibility</p:attrName>
                                        </p:attrNameLst>
                                      </p:cBhvr>
                                      <p:to>
                                        <p:strVal val="visible"/>
                                      </p:to>
                                    </p:set>
                                  </p:childTnLst>
                                </p:cTn>
                              </p:par>
                            </p:childTnLst>
                          </p:cTn>
                        </p:par>
                      </p:childTnLst>
                    </p:cTn>
                  </p:par>
                  <p:par>
                    <p:cTn id="94" fill="hold">
                      <p:stCondLst>
                        <p:cond delay="indefinite"/>
                      </p:stCondLst>
                      <p:childTnLst>
                        <p:par>
                          <p:cTn id="95" fill="hold">
                            <p:stCondLst>
                              <p:cond delay="0"/>
                            </p:stCondLst>
                            <p:childTnLst>
                              <p:par>
                                <p:cTn id="96" presetID="1" presetClass="entr" presetSubtype="0" fill="hold" nodeType="clickEffect">
                                  <p:stCondLst>
                                    <p:cond delay="0"/>
                                  </p:stCondLst>
                                  <p:childTnLst>
                                    <p:set>
                                      <p:cBhvr>
                                        <p:cTn id="97" dur="1" fill="hold">
                                          <p:stCondLst>
                                            <p:cond delay="0"/>
                                          </p:stCondLst>
                                        </p:cTn>
                                        <p:tgtEl>
                                          <p:spTgt spid="205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数制转换</a:t>
            </a:r>
            <a:endParaRPr lang="zh-CN" altLang="en-US" dirty="0"/>
          </a:p>
        </p:txBody>
      </p:sp>
      <p:sp>
        <p:nvSpPr>
          <p:cNvPr id="3" name="内容占位符 2"/>
          <p:cNvSpPr>
            <a:spLocks noGrp="1"/>
          </p:cNvSpPr>
          <p:nvPr>
            <p:ph idx="1"/>
          </p:nvPr>
        </p:nvSpPr>
        <p:spPr/>
        <p:txBody>
          <a:bodyPr/>
          <a:lstStyle/>
          <a:p>
            <a:r>
              <a:rPr lang="zh-CN" altLang="en-US" dirty="0"/>
              <a:t>十进制小数转换为二进制数</a:t>
            </a:r>
            <a:endParaRPr lang="en-US" altLang="zh-CN" dirty="0"/>
          </a:p>
          <a:p>
            <a:pPr lvl="1"/>
            <a:r>
              <a:rPr lang="en-US" altLang="zh-CN" dirty="0"/>
              <a:t>0.6875</a:t>
            </a:r>
            <a:r>
              <a:rPr lang="zh-CN" altLang="en-US" dirty="0"/>
              <a:t>（</a:t>
            </a:r>
            <a:r>
              <a:rPr lang="en-US" altLang="zh-CN" dirty="0"/>
              <a:t>10</a:t>
            </a:r>
            <a:r>
              <a:rPr lang="zh-CN" altLang="en-US" dirty="0"/>
              <a:t>）</a:t>
            </a:r>
            <a:r>
              <a:rPr lang="en-US" altLang="zh-CN" dirty="0"/>
              <a:t>= 0.1011</a:t>
            </a:r>
            <a:r>
              <a:rPr lang="zh-CN" altLang="en-US" dirty="0"/>
              <a:t>（</a:t>
            </a:r>
            <a:r>
              <a:rPr lang="en-US" altLang="zh-CN" dirty="0"/>
              <a:t>2</a:t>
            </a:r>
            <a:r>
              <a:rPr lang="zh-CN" altLang="en-US" dirty="0"/>
              <a:t>）</a:t>
            </a:r>
            <a:endParaRPr lang="zh-CN" altLang="en-US" dirty="0"/>
          </a:p>
          <a:p>
            <a:pPr lvl="2"/>
            <a:r>
              <a:rPr lang="en-US" altLang="zh-CN" dirty="0"/>
              <a:t>0.6875*2=1.3750</a:t>
            </a:r>
            <a:r>
              <a:rPr lang="zh-CN" altLang="en-US" dirty="0"/>
              <a:t>取个位数</a:t>
            </a:r>
            <a:r>
              <a:rPr lang="en-US" altLang="zh-CN" dirty="0"/>
              <a:t>1 </a:t>
            </a:r>
            <a:endParaRPr lang="en-US" altLang="zh-CN" dirty="0"/>
          </a:p>
          <a:p>
            <a:pPr lvl="2"/>
            <a:r>
              <a:rPr lang="en-US" altLang="zh-CN" dirty="0"/>
              <a:t>0.375 *2=0.75 </a:t>
            </a:r>
            <a:r>
              <a:rPr lang="zh-CN" altLang="en-US" dirty="0"/>
              <a:t>取个位数</a:t>
            </a:r>
            <a:r>
              <a:rPr lang="en-US" altLang="zh-CN" dirty="0"/>
              <a:t>0 </a:t>
            </a:r>
            <a:endParaRPr lang="en-US" altLang="zh-CN" dirty="0"/>
          </a:p>
          <a:p>
            <a:pPr lvl="2"/>
            <a:r>
              <a:rPr lang="en-US" altLang="zh-CN" dirty="0"/>
              <a:t>0.75 *2=1.5 </a:t>
            </a:r>
            <a:r>
              <a:rPr lang="zh-CN" altLang="en-US" dirty="0"/>
              <a:t>取个位数</a:t>
            </a:r>
            <a:r>
              <a:rPr lang="en-US" altLang="zh-CN" dirty="0"/>
              <a:t>1 </a:t>
            </a:r>
            <a:endParaRPr lang="en-US" altLang="zh-CN" dirty="0"/>
          </a:p>
          <a:p>
            <a:pPr lvl="2"/>
            <a:r>
              <a:rPr lang="en-US" altLang="zh-CN" dirty="0"/>
              <a:t>0.5 *2=1.0 </a:t>
            </a:r>
            <a:r>
              <a:rPr lang="zh-CN" altLang="en-US" dirty="0"/>
              <a:t>取个位数</a:t>
            </a:r>
            <a:r>
              <a:rPr lang="en-US" altLang="zh-CN" dirty="0"/>
              <a:t>1</a:t>
            </a:r>
            <a:endParaRPr lang="en-US" altLang="zh-CN" dirty="0"/>
          </a:p>
          <a:p>
            <a:pPr lvl="1"/>
            <a:r>
              <a:rPr lang="en-US" altLang="zh-CN" dirty="0"/>
              <a:t>0.33</a:t>
            </a:r>
            <a:r>
              <a:rPr lang="zh-CN" altLang="en-US" dirty="0"/>
              <a:t>（</a:t>
            </a:r>
            <a:r>
              <a:rPr lang="en-US" altLang="zh-CN" dirty="0"/>
              <a:t>10</a:t>
            </a:r>
            <a:r>
              <a:rPr lang="zh-CN" altLang="en-US" dirty="0"/>
              <a:t>）</a:t>
            </a:r>
            <a:r>
              <a:rPr lang="en-US" altLang="zh-CN" dirty="0"/>
              <a:t>=0.0101……</a:t>
            </a:r>
            <a:r>
              <a:rPr lang="zh-CN" altLang="en-US" dirty="0"/>
              <a:t>（</a:t>
            </a:r>
            <a:r>
              <a:rPr lang="en-US" altLang="zh-CN" dirty="0"/>
              <a:t>2</a:t>
            </a:r>
            <a:r>
              <a:rPr lang="zh-CN" altLang="en-US" dirty="0"/>
              <a:t>）</a:t>
            </a:r>
            <a:endParaRPr lang="en-US" altLang="zh-CN" dirty="0"/>
          </a:p>
          <a:p>
            <a:pPr lvl="2"/>
            <a:r>
              <a:rPr lang="en-US" altLang="zh-CN" dirty="0"/>
              <a:t>0.33*2=0.66</a:t>
            </a:r>
            <a:r>
              <a:rPr lang="zh-CN" altLang="en-US" dirty="0"/>
              <a:t>取个位数</a:t>
            </a:r>
            <a:r>
              <a:rPr lang="en-US" altLang="zh-CN" dirty="0"/>
              <a:t>0</a:t>
            </a:r>
            <a:endParaRPr lang="en-US" altLang="zh-CN" dirty="0"/>
          </a:p>
          <a:p>
            <a:pPr lvl="2"/>
            <a:r>
              <a:rPr lang="en-US" altLang="zh-CN" dirty="0"/>
              <a:t>0.66*2=1.32</a:t>
            </a:r>
            <a:r>
              <a:rPr lang="zh-CN" altLang="en-US" dirty="0"/>
              <a:t>取个位数</a:t>
            </a:r>
            <a:r>
              <a:rPr lang="en-US" altLang="zh-CN" dirty="0"/>
              <a:t>1</a:t>
            </a:r>
            <a:endParaRPr lang="en-US" altLang="zh-CN" dirty="0"/>
          </a:p>
          <a:p>
            <a:pPr lvl="2"/>
            <a:r>
              <a:rPr lang="en-US" altLang="zh-CN" dirty="0"/>
              <a:t>0.32*2=0.64</a:t>
            </a:r>
            <a:r>
              <a:rPr lang="zh-CN" altLang="en-US" dirty="0"/>
              <a:t>取个位数</a:t>
            </a:r>
            <a:r>
              <a:rPr lang="en-US" altLang="zh-CN" dirty="0"/>
              <a:t>0</a:t>
            </a:r>
            <a:endParaRPr lang="en-US" altLang="zh-CN" dirty="0"/>
          </a:p>
          <a:p>
            <a:pPr lvl="2"/>
            <a:r>
              <a:rPr lang="en-US" altLang="zh-CN" dirty="0"/>
              <a:t>0.64*2=1.28</a:t>
            </a:r>
            <a:r>
              <a:rPr lang="zh-CN" altLang="en-US" dirty="0"/>
              <a:t>取个位数</a:t>
            </a:r>
            <a:r>
              <a:rPr lang="en-US" altLang="zh-CN" dirty="0"/>
              <a:t>1</a:t>
            </a:r>
            <a:r>
              <a:rPr lang="zh-CN" altLang="en-US" dirty="0"/>
              <a:t>，取小数部分</a:t>
            </a:r>
            <a:r>
              <a:rPr lang="en-US" altLang="zh-CN" dirty="0"/>
              <a:t>0.28</a:t>
            </a:r>
            <a:r>
              <a:rPr lang="zh-CN" altLang="en-US" dirty="0"/>
              <a:t>继续计算</a:t>
            </a:r>
            <a:endParaRPr lang="zh-CN" altLang="en-US" dirty="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八进制数</a:t>
            </a:r>
            <a:endParaRPr lang="zh-CN" altLang="en-US" dirty="0"/>
          </a:p>
        </p:txBody>
      </p:sp>
      <p:sp>
        <p:nvSpPr>
          <p:cNvPr id="3" name="内容占位符 2"/>
          <p:cNvSpPr>
            <a:spLocks noGrp="1"/>
          </p:cNvSpPr>
          <p:nvPr>
            <p:ph idx="1"/>
          </p:nvPr>
        </p:nvSpPr>
        <p:spPr>
          <a:xfrm>
            <a:off x="457200" y="1700808"/>
            <a:ext cx="8229600" cy="4788892"/>
          </a:xfrm>
        </p:spPr>
        <p:txBody>
          <a:bodyPr/>
          <a:lstStyle/>
          <a:p>
            <a:r>
              <a:rPr lang="zh-CN" altLang="en-US" sz="2800" dirty="0"/>
              <a:t>每个八进制数位只能是数字：</a:t>
            </a:r>
            <a:r>
              <a:rPr lang="en-US" altLang="zh-CN" sz="2800" dirty="0"/>
              <a:t>0</a:t>
            </a:r>
            <a:r>
              <a:rPr lang="zh-CN" altLang="en-US" sz="2800" dirty="0"/>
              <a:t>、</a:t>
            </a:r>
            <a:r>
              <a:rPr lang="en-US" altLang="zh-CN" sz="2800" dirty="0"/>
              <a:t>1</a:t>
            </a:r>
            <a:r>
              <a:rPr lang="zh-CN" altLang="en-US" sz="2800" dirty="0"/>
              <a:t>、</a:t>
            </a:r>
            <a:r>
              <a:rPr lang="en-US" altLang="zh-CN" sz="2800" dirty="0"/>
              <a:t>2</a:t>
            </a:r>
            <a:r>
              <a:rPr lang="zh-CN" altLang="en-US" sz="2800" dirty="0"/>
              <a:t>、</a:t>
            </a:r>
            <a:r>
              <a:rPr lang="en-US" altLang="zh-CN" sz="2800" dirty="0"/>
              <a:t>…</a:t>
            </a:r>
            <a:r>
              <a:rPr lang="zh-CN" altLang="en-US" sz="2800" dirty="0"/>
              <a:t>、</a:t>
            </a:r>
            <a:r>
              <a:rPr lang="en-US" altLang="zh-CN" sz="2800" dirty="0"/>
              <a:t>7</a:t>
            </a:r>
            <a:endParaRPr lang="en-US" altLang="zh-CN" sz="2800" dirty="0"/>
          </a:p>
          <a:p>
            <a:r>
              <a:rPr lang="zh-CN" altLang="en-US" sz="2800" dirty="0"/>
              <a:t>逢</a:t>
            </a:r>
            <a:r>
              <a:rPr lang="en-US" altLang="zh-CN" sz="2800" dirty="0"/>
              <a:t>8</a:t>
            </a:r>
            <a:r>
              <a:rPr lang="zh-CN" altLang="en-US" sz="2800" dirty="0"/>
              <a:t>进</a:t>
            </a:r>
            <a:r>
              <a:rPr lang="en-US" altLang="zh-CN" sz="2800" dirty="0"/>
              <a:t>1</a:t>
            </a:r>
            <a:endParaRPr lang="en-US" altLang="zh-CN" sz="2800" dirty="0"/>
          </a:p>
          <a:p>
            <a:r>
              <a:rPr lang="zh-CN" altLang="en-US" sz="2800" dirty="0"/>
              <a:t>每位的权（</a:t>
            </a:r>
            <a:r>
              <a:rPr lang="en-US" altLang="zh-CN" sz="2800" dirty="0"/>
              <a:t>weight）</a:t>
            </a:r>
            <a:r>
              <a:rPr lang="zh-CN" altLang="en-US" sz="2800" dirty="0"/>
              <a:t>从右往左依次为：8</a:t>
            </a:r>
            <a:r>
              <a:rPr lang="en-US" altLang="zh-CN" sz="2800" baseline="30000" dirty="0" err="1"/>
              <a:t>n</a:t>
            </a:r>
            <a:r>
              <a:rPr lang="en-US" altLang="zh-CN" sz="2800" dirty="0" err="1"/>
              <a:t>（n</a:t>
            </a:r>
            <a:r>
              <a:rPr lang="en-US" altLang="zh-CN" sz="2800" dirty="0"/>
              <a:t> = 0，1，2，3 … ）。</a:t>
            </a:r>
            <a:endParaRPr lang="en-US" altLang="zh-CN" sz="2800" dirty="0"/>
          </a:p>
          <a:p>
            <a:r>
              <a:rPr lang="zh-CN" altLang="en-US" dirty="0">
                <a:ea typeface="楷体_GB2312" pitchFamily="49" charset="-122"/>
              </a:rPr>
              <a:t>表示方法</a:t>
            </a:r>
            <a:endParaRPr lang="en-US" altLang="zh-CN" dirty="0">
              <a:ea typeface="楷体_GB2312" pitchFamily="49" charset="-122"/>
            </a:endParaRPr>
          </a:p>
          <a:p>
            <a:pPr lvl="1"/>
            <a:r>
              <a:rPr lang="en-US" altLang="zh-CN" dirty="0">
                <a:ea typeface="楷体_GB2312" pitchFamily="49" charset="-122"/>
              </a:rPr>
              <a:t>1011(8)</a:t>
            </a:r>
            <a:endParaRPr lang="en-US" altLang="zh-CN" dirty="0">
              <a:ea typeface="楷体_GB2312" pitchFamily="49" charset="-122"/>
            </a:endParaRPr>
          </a:p>
          <a:p>
            <a:pPr lvl="2"/>
            <a:r>
              <a:rPr lang="zh-CN" altLang="en-US" dirty="0"/>
              <a:t>1011（8） = 1×8</a:t>
            </a:r>
            <a:r>
              <a:rPr lang="zh-CN" altLang="en-US" baseline="30000" dirty="0"/>
              <a:t>3</a:t>
            </a:r>
            <a:r>
              <a:rPr lang="zh-CN" altLang="en-US" dirty="0"/>
              <a:t> + 0×8</a:t>
            </a:r>
            <a:r>
              <a:rPr lang="zh-CN" altLang="en-US" baseline="30000" dirty="0"/>
              <a:t>2</a:t>
            </a:r>
            <a:r>
              <a:rPr lang="zh-CN" altLang="en-US" dirty="0"/>
              <a:t> + 1×8</a:t>
            </a:r>
            <a:r>
              <a:rPr lang="zh-CN" altLang="en-US" baseline="30000" dirty="0"/>
              <a:t>1</a:t>
            </a:r>
            <a:r>
              <a:rPr lang="zh-CN" altLang="en-US" dirty="0"/>
              <a:t> + 1×8</a:t>
            </a:r>
            <a:r>
              <a:rPr lang="zh-CN" altLang="en-US" baseline="30000" dirty="0"/>
              <a:t>0</a:t>
            </a:r>
            <a:r>
              <a:rPr lang="zh-CN" altLang="en-US" dirty="0"/>
              <a:t> = 512 + 0 + 8 + 1 = 521（10）</a:t>
            </a:r>
            <a:endParaRPr lang="zh-CN" altLang="en-US" dirty="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十六进制数</a:t>
            </a:r>
            <a:endParaRPr lang="zh-CN" altLang="en-US" dirty="0"/>
          </a:p>
        </p:txBody>
      </p:sp>
      <p:sp>
        <p:nvSpPr>
          <p:cNvPr id="3" name="内容占位符 2"/>
          <p:cNvSpPr>
            <a:spLocks noGrp="1"/>
          </p:cNvSpPr>
          <p:nvPr>
            <p:ph idx="1"/>
          </p:nvPr>
        </p:nvSpPr>
        <p:spPr>
          <a:xfrm>
            <a:off x="457200" y="1628800"/>
            <a:ext cx="8229600" cy="4860900"/>
          </a:xfrm>
        </p:spPr>
        <p:txBody>
          <a:bodyPr/>
          <a:lstStyle/>
          <a:p>
            <a:r>
              <a:rPr lang="zh-CN" altLang="en-US" sz="2800" dirty="0"/>
              <a:t>每个十六进制数位只能够出现：0、1、2、…、9、</a:t>
            </a:r>
            <a:r>
              <a:rPr lang="en-US" altLang="zh-CN" sz="2800" dirty="0"/>
              <a:t>A、B、C、D、E、F。</a:t>
            </a:r>
            <a:endParaRPr lang="en-US" altLang="zh-CN" sz="2800" dirty="0"/>
          </a:p>
          <a:p>
            <a:r>
              <a:rPr lang="zh-CN" altLang="en-US" sz="2800" dirty="0"/>
              <a:t>逢</a:t>
            </a:r>
            <a:r>
              <a:rPr lang="en-US" altLang="zh-CN" sz="2800" dirty="0"/>
              <a:t>16</a:t>
            </a:r>
            <a:r>
              <a:rPr lang="zh-CN" altLang="en-US" sz="2800" dirty="0"/>
              <a:t>进</a:t>
            </a:r>
            <a:r>
              <a:rPr lang="en-US" altLang="zh-CN" sz="2800" dirty="0"/>
              <a:t>1</a:t>
            </a:r>
            <a:endParaRPr lang="en-US" altLang="zh-CN" sz="2800" dirty="0"/>
          </a:p>
          <a:p>
            <a:r>
              <a:rPr lang="zh-CN" altLang="en-US" sz="2800" dirty="0"/>
              <a:t>每位的权（</a:t>
            </a:r>
            <a:r>
              <a:rPr lang="en-US" altLang="zh-CN" sz="2800" dirty="0"/>
              <a:t>weight）</a:t>
            </a:r>
            <a:r>
              <a:rPr lang="zh-CN" altLang="en-US" sz="2800" dirty="0"/>
              <a:t>从右往左依次为：16</a:t>
            </a:r>
            <a:r>
              <a:rPr lang="en-US" altLang="zh-CN" sz="2800" baseline="30000" dirty="0" err="1"/>
              <a:t>n</a:t>
            </a:r>
            <a:r>
              <a:rPr lang="en-US" altLang="zh-CN" sz="2800" dirty="0" err="1"/>
              <a:t>（n</a:t>
            </a:r>
            <a:r>
              <a:rPr lang="en-US" altLang="zh-CN" sz="2800" dirty="0"/>
              <a:t> = 0，1，2，3 … ）。</a:t>
            </a:r>
            <a:endParaRPr lang="en-US" altLang="zh-CN" sz="2800" dirty="0"/>
          </a:p>
          <a:p>
            <a:r>
              <a:rPr lang="zh-CN" altLang="en-US" sz="2800" dirty="0"/>
              <a:t>表示方法</a:t>
            </a:r>
            <a:endParaRPr lang="en-US" altLang="zh-CN" sz="2800" dirty="0"/>
          </a:p>
          <a:p>
            <a:pPr lvl="1"/>
            <a:r>
              <a:rPr lang="en-US" altLang="zh-CN" dirty="0">
                <a:ea typeface="楷体_GB2312" pitchFamily="49" charset="-122"/>
              </a:rPr>
              <a:t>1011(16)</a:t>
            </a:r>
            <a:endParaRPr lang="en-US" altLang="zh-CN" dirty="0">
              <a:ea typeface="楷体_GB2312" pitchFamily="49" charset="-122"/>
            </a:endParaRPr>
          </a:p>
          <a:p>
            <a:pPr lvl="2"/>
            <a:r>
              <a:rPr lang="zh-CN" altLang="en-US" dirty="0"/>
              <a:t>1011（16） = 1×16</a:t>
            </a:r>
            <a:r>
              <a:rPr lang="zh-CN" altLang="en-US" baseline="30000" dirty="0"/>
              <a:t>3</a:t>
            </a:r>
            <a:r>
              <a:rPr lang="zh-CN" altLang="en-US" dirty="0"/>
              <a:t> + 0×16</a:t>
            </a:r>
            <a:r>
              <a:rPr lang="zh-CN" altLang="en-US" baseline="30000" dirty="0"/>
              <a:t>2</a:t>
            </a:r>
            <a:r>
              <a:rPr lang="zh-CN" altLang="en-US" dirty="0"/>
              <a:t> + 1×16</a:t>
            </a:r>
            <a:r>
              <a:rPr lang="zh-CN" altLang="en-US" baseline="30000" dirty="0"/>
              <a:t>1</a:t>
            </a:r>
            <a:r>
              <a:rPr lang="zh-CN" altLang="en-US" dirty="0"/>
              <a:t> + 1×16</a:t>
            </a:r>
            <a:r>
              <a:rPr lang="zh-CN" altLang="en-US" baseline="30000" dirty="0"/>
              <a:t>0</a:t>
            </a:r>
            <a:r>
              <a:rPr lang="zh-CN" altLang="en-US" dirty="0"/>
              <a:t> = 4096 + 0 + 16 + 1 = 4113（10）</a:t>
            </a:r>
            <a:endParaRPr lang="zh-CN" altLang="en-US" dirty="0"/>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2"/>
          <p:cNvSpPr>
            <a:spLocks noGrp="1" noChangeArrowheads="1"/>
          </p:cNvSpPr>
          <p:nvPr>
            <p:ph type="title"/>
          </p:nvPr>
        </p:nvSpPr>
        <p:spPr/>
        <p:txBody>
          <a:bodyPr/>
          <a:lstStyle/>
          <a:p>
            <a:r>
              <a:rPr lang="zh-CN" altLang="en-US" dirty="0"/>
              <a:t>数制转换</a:t>
            </a:r>
            <a:endParaRPr lang="en-US" altLang="zh-CN" dirty="0">
              <a:ea typeface="宋体" panose="02010600030101010101" pitchFamily="2" charset="-122"/>
            </a:endParaRPr>
          </a:p>
        </p:txBody>
      </p:sp>
      <p:grpSp>
        <p:nvGrpSpPr>
          <p:cNvPr id="2" name="Group 3"/>
          <p:cNvGrpSpPr/>
          <p:nvPr/>
        </p:nvGrpSpPr>
        <p:grpSpPr bwMode="auto">
          <a:xfrm>
            <a:off x="1071538" y="1984375"/>
            <a:ext cx="1643050" cy="4035425"/>
            <a:chOff x="528" y="1058"/>
            <a:chExt cx="1680" cy="3125"/>
          </a:xfrm>
        </p:grpSpPr>
        <p:grpSp>
          <p:nvGrpSpPr>
            <p:cNvPr id="3" name="Group 4"/>
            <p:cNvGrpSpPr/>
            <p:nvPr/>
          </p:nvGrpSpPr>
          <p:grpSpPr bwMode="auto">
            <a:xfrm>
              <a:off x="528" y="1296"/>
              <a:ext cx="1680" cy="2887"/>
              <a:chOff x="720" y="905"/>
              <a:chExt cx="2263" cy="3319"/>
            </a:xfrm>
          </p:grpSpPr>
          <p:sp>
            <p:nvSpPr>
              <p:cNvPr id="52229" name="AutoShape 5"/>
              <p:cNvSpPr>
                <a:spLocks noChangeArrowheads="1"/>
              </p:cNvSpPr>
              <p:nvPr/>
            </p:nvSpPr>
            <p:spPr bwMode="gray">
              <a:xfrm>
                <a:off x="720" y="905"/>
                <a:ext cx="2256" cy="2544"/>
              </a:xfrm>
              <a:prstGeom prst="roundRect">
                <a:avLst>
                  <a:gd name="adj" fmla="val 17509"/>
                </a:avLst>
              </a:prstGeom>
              <a:gradFill rotWithShape="1">
                <a:gsLst>
                  <a:gs pos="0">
                    <a:srgbClr val="4E91D4"/>
                  </a:gs>
                  <a:gs pos="100000">
                    <a:srgbClr val="3477A4"/>
                  </a:gs>
                </a:gsLst>
                <a:lin ang="2700000" scaled="1"/>
              </a:gradFill>
              <a:ln w="9525">
                <a:noFill/>
                <a:round/>
              </a:ln>
              <a:effectLst/>
            </p:spPr>
            <p:txBody>
              <a:bodyPr wrap="none" anchor="ctr"/>
              <a:lstStyle/>
              <a:p>
                <a:endParaRPr lang="zh-CN" altLang="en-US"/>
              </a:p>
            </p:txBody>
          </p:sp>
          <p:sp>
            <p:nvSpPr>
              <p:cNvPr id="52230" name="AutoShape 6"/>
              <p:cNvSpPr>
                <a:spLocks noChangeArrowheads="1"/>
              </p:cNvSpPr>
              <p:nvPr/>
            </p:nvSpPr>
            <p:spPr bwMode="gray">
              <a:xfrm>
                <a:off x="755" y="912"/>
                <a:ext cx="2188" cy="2496"/>
              </a:xfrm>
              <a:prstGeom prst="roundRect">
                <a:avLst>
                  <a:gd name="adj" fmla="val 16667"/>
                </a:avLst>
              </a:prstGeom>
              <a:gradFill rotWithShape="1">
                <a:gsLst>
                  <a:gs pos="0">
                    <a:srgbClr val="80D4F2"/>
                  </a:gs>
                  <a:gs pos="100000">
                    <a:srgbClr val="3CA1E6"/>
                  </a:gs>
                </a:gsLst>
                <a:lin ang="5400000" scaled="1"/>
              </a:gradFill>
              <a:ln w="9525">
                <a:noFill/>
                <a:round/>
              </a:ln>
              <a:effectLst/>
            </p:spPr>
            <p:txBody>
              <a:bodyPr wrap="none" anchor="ctr"/>
              <a:lstStyle/>
              <a:p>
                <a:endParaRPr lang="zh-CN" altLang="en-US"/>
              </a:p>
            </p:txBody>
          </p:sp>
          <p:sp>
            <p:nvSpPr>
              <p:cNvPr id="52231" name="AutoShape 7"/>
              <p:cNvSpPr>
                <a:spLocks noChangeArrowheads="1"/>
              </p:cNvSpPr>
              <p:nvPr/>
            </p:nvSpPr>
            <p:spPr bwMode="gray">
              <a:xfrm>
                <a:off x="773" y="2750"/>
                <a:ext cx="2158" cy="631"/>
              </a:xfrm>
              <a:prstGeom prst="roundRect">
                <a:avLst>
                  <a:gd name="adj" fmla="val 50000"/>
                </a:avLst>
              </a:prstGeom>
              <a:gradFill rotWithShape="1">
                <a:gsLst>
                  <a:gs pos="0">
                    <a:srgbClr val="80D4F2">
                      <a:alpha val="0"/>
                    </a:srgbClr>
                  </a:gs>
                  <a:gs pos="100000">
                    <a:srgbClr val="80D4F2">
                      <a:gamma/>
                      <a:tint val="87843"/>
                      <a:invGamma/>
                    </a:srgbClr>
                  </a:gs>
                </a:gsLst>
                <a:lin ang="5400000" scaled="1"/>
              </a:gradFill>
              <a:ln w="9525">
                <a:noFill/>
                <a:round/>
              </a:ln>
              <a:effectLst/>
            </p:spPr>
            <p:txBody>
              <a:bodyPr wrap="none" anchor="ctr"/>
              <a:lstStyle/>
              <a:p>
                <a:endParaRPr lang="zh-CN" altLang="en-US"/>
              </a:p>
            </p:txBody>
          </p:sp>
          <p:sp>
            <p:nvSpPr>
              <p:cNvPr id="52232" name="AutoShape 8"/>
              <p:cNvSpPr>
                <a:spLocks noChangeArrowheads="1"/>
              </p:cNvSpPr>
              <p:nvPr/>
            </p:nvSpPr>
            <p:spPr bwMode="gray">
              <a:xfrm>
                <a:off x="773" y="932"/>
                <a:ext cx="2158" cy="631"/>
              </a:xfrm>
              <a:prstGeom prst="roundRect">
                <a:avLst>
                  <a:gd name="adj" fmla="val 50000"/>
                </a:avLst>
              </a:prstGeom>
              <a:gradFill rotWithShape="1">
                <a:gsLst>
                  <a:gs pos="0">
                    <a:srgbClr val="80D4F2">
                      <a:gamma/>
                      <a:tint val="33333"/>
                      <a:invGamma/>
                    </a:srgbClr>
                  </a:gs>
                  <a:gs pos="100000">
                    <a:srgbClr val="80D4F2">
                      <a:alpha val="0"/>
                    </a:srgbClr>
                  </a:gs>
                </a:gsLst>
                <a:lin ang="5400000" scaled="1"/>
              </a:gradFill>
              <a:ln w="9525">
                <a:noFill/>
                <a:round/>
              </a:ln>
              <a:effectLst/>
            </p:spPr>
            <p:txBody>
              <a:bodyPr wrap="none" anchor="ctr"/>
              <a:lstStyle/>
              <a:p>
                <a:endParaRPr lang="zh-CN" altLang="en-US"/>
              </a:p>
            </p:txBody>
          </p:sp>
          <p:sp>
            <p:nvSpPr>
              <p:cNvPr id="52233" name="AutoShape 9"/>
              <p:cNvSpPr>
                <a:spLocks noChangeArrowheads="1"/>
              </p:cNvSpPr>
              <p:nvPr/>
            </p:nvSpPr>
            <p:spPr bwMode="gray">
              <a:xfrm>
                <a:off x="727" y="3449"/>
                <a:ext cx="2256" cy="775"/>
              </a:xfrm>
              <a:prstGeom prst="roundRect">
                <a:avLst>
                  <a:gd name="adj" fmla="val 40389"/>
                </a:avLst>
              </a:prstGeom>
              <a:gradFill rotWithShape="1">
                <a:gsLst>
                  <a:gs pos="0">
                    <a:srgbClr val="3477A4">
                      <a:alpha val="50000"/>
                    </a:srgbClr>
                  </a:gs>
                  <a:gs pos="100000">
                    <a:srgbClr val="3477A4">
                      <a:gamma/>
                      <a:shade val="46275"/>
                      <a:invGamma/>
                      <a:alpha val="0"/>
                    </a:srgbClr>
                  </a:gs>
                </a:gsLst>
                <a:lin ang="5400000" scaled="1"/>
              </a:gradFill>
              <a:ln w="9525">
                <a:noFill/>
                <a:round/>
              </a:ln>
              <a:effectLst/>
            </p:spPr>
            <p:txBody>
              <a:bodyPr wrap="none" anchor="ctr"/>
              <a:lstStyle/>
              <a:p>
                <a:endParaRPr lang="zh-CN" altLang="en-US"/>
              </a:p>
            </p:txBody>
          </p:sp>
          <p:sp>
            <p:nvSpPr>
              <p:cNvPr id="52234" name="AutoShape 10"/>
              <p:cNvSpPr>
                <a:spLocks noChangeArrowheads="1"/>
              </p:cNvSpPr>
              <p:nvPr/>
            </p:nvSpPr>
            <p:spPr bwMode="gray">
              <a:xfrm>
                <a:off x="773" y="3470"/>
                <a:ext cx="2158" cy="631"/>
              </a:xfrm>
              <a:prstGeom prst="roundRect">
                <a:avLst>
                  <a:gd name="adj" fmla="val 50000"/>
                </a:avLst>
              </a:prstGeom>
              <a:gradFill rotWithShape="1">
                <a:gsLst>
                  <a:gs pos="0">
                    <a:srgbClr val="80D4F2">
                      <a:gamma/>
                      <a:tint val="33333"/>
                      <a:invGamma/>
                      <a:alpha val="50000"/>
                    </a:srgbClr>
                  </a:gs>
                  <a:gs pos="100000">
                    <a:srgbClr val="80D4F2">
                      <a:alpha val="0"/>
                    </a:srgbClr>
                  </a:gs>
                </a:gsLst>
                <a:lin ang="5400000" scaled="1"/>
              </a:gradFill>
              <a:ln w="9525">
                <a:noFill/>
                <a:round/>
              </a:ln>
              <a:effectLst/>
            </p:spPr>
            <p:txBody>
              <a:bodyPr wrap="none" anchor="ctr"/>
              <a:lstStyle/>
              <a:p>
                <a:endParaRPr lang="zh-CN" altLang="en-US"/>
              </a:p>
            </p:txBody>
          </p:sp>
        </p:grpSp>
        <p:grpSp>
          <p:nvGrpSpPr>
            <p:cNvPr id="4" name="Group 11"/>
            <p:cNvGrpSpPr/>
            <p:nvPr/>
          </p:nvGrpSpPr>
          <p:grpSpPr bwMode="auto">
            <a:xfrm>
              <a:off x="1104" y="1058"/>
              <a:ext cx="498" cy="498"/>
              <a:chOff x="1289" y="582"/>
              <a:chExt cx="668" cy="668"/>
            </a:xfrm>
          </p:grpSpPr>
          <p:sp>
            <p:nvSpPr>
              <p:cNvPr id="52236" name="Oval 12"/>
              <p:cNvSpPr>
                <a:spLocks noChangeArrowheads="1"/>
              </p:cNvSpPr>
              <p:nvPr/>
            </p:nvSpPr>
            <p:spPr bwMode="gray">
              <a:xfrm>
                <a:off x="1289" y="582"/>
                <a:ext cx="668" cy="668"/>
              </a:xfrm>
              <a:prstGeom prst="ellipse">
                <a:avLst/>
              </a:prstGeom>
              <a:solidFill>
                <a:srgbClr val="333333"/>
              </a:solidFill>
              <a:ln w="38100" algn="ctr">
                <a:noFill/>
                <a:round/>
              </a:ln>
              <a:effectLst/>
            </p:spPr>
            <p:txBody>
              <a:bodyPr anchor="ctr">
                <a:spAutoFit/>
              </a:bodyPr>
              <a:lstStyle/>
              <a:p>
                <a:endParaRPr lang="zh-CN" altLang="en-US"/>
              </a:p>
            </p:txBody>
          </p:sp>
          <p:sp>
            <p:nvSpPr>
              <p:cNvPr id="52237" name="Oval 13"/>
              <p:cNvSpPr>
                <a:spLocks noChangeArrowheads="1"/>
              </p:cNvSpPr>
              <p:nvPr/>
            </p:nvSpPr>
            <p:spPr bwMode="gray">
              <a:xfrm>
                <a:off x="1296" y="587"/>
                <a:ext cx="646" cy="647"/>
              </a:xfrm>
              <a:prstGeom prst="ellipse">
                <a:avLst/>
              </a:prstGeom>
              <a:gradFill rotWithShape="1">
                <a:gsLst>
                  <a:gs pos="0">
                    <a:srgbClr val="D6E1E2">
                      <a:gamma/>
                      <a:shade val="46275"/>
                      <a:invGamma/>
                    </a:srgbClr>
                  </a:gs>
                  <a:gs pos="100000">
                    <a:srgbClr val="D6E1E2"/>
                  </a:gs>
                </a:gsLst>
                <a:lin ang="5400000" scaled="1"/>
              </a:gradFill>
              <a:ln w="9525" algn="ctr">
                <a:noFill/>
                <a:round/>
              </a:ln>
              <a:effectLst/>
            </p:spPr>
            <p:txBody>
              <a:bodyPr vert="eaVert" wrap="none" anchor="ctr"/>
              <a:lstStyle/>
              <a:p>
                <a:endParaRPr lang="zh-CN" altLang="en-US"/>
              </a:p>
            </p:txBody>
          </p:sp>
          <p:sp>
            <p:nvSpPr>
              <p:cNvPr id="52238" name="Oval 14"/>
              <p:cNvSpPr>
                <a:spLocks noChangeArrowheads="1"/>
              </p:cNvSpPr>
              <p:nvPr/>
            </p:nvSpPr>
            <p:spPr bwMode="gray">
              <a:xfrm>
                <a:off x="1304" y="591"/>
                <a:ext cx="631" cy="631"/>
              </a:xfrm>
              <a:prstGeom prst="ellipse">
                <a:avLst/>
              </a:prstGeom>
              <a:gradFill rotWithShape="1">
                <a:gsLst>
                  <a:gs pos="0">
                    <a:srgbClr val="D6E1E2">
                      <a:alpha val="0"/>
                    </a:srgbClr>
                  </a:gs>
                  <a:gs pos="100000">
                    <a:srgbClr val="D6E1E2">
                      <a:gamma/>
                      <a:tint val="34902"/>
                      <a:invGamma/>
                    </a:srgbClr>
                  </a:gs>
                </a:gsLst>
                <a:lin ang="5400000" scaled="1"/>
              </a:gradFill>
              <a:ln w="9525" algn="ctr">
                <a:noFill/>
                <a:round/>
              </a:ln>
              <a:effectLst/>
            </p:spPr>
            <p:txBody>
              <a:bodyPr vert="eaVert" wrap="none" anchor="ctr"/>
              <a:lstStyle/>
              <a:p>
                <a:endParaRPr lang="zh-CN" altLang="en-US"/>
              </a:p>
            </p:txBody>
          </p:sp>
          <p:sp>
            <p:nvSpPr>
              <p:cNvPr id="52239" name="Oval 15"/>
              <p:cNvSpPr>
                <a:spLocks noChangeArrowheads="1"/>
              </p:cNvSpPr>
              <p:nvPr/>
            </p:nvSpPr>
            <p:spPr bwMode="gray">
              <a:xfrm>
                <a:off x="1310" y="597"/>
                <a:ext cx="600" cy="589"/>
              </a:xfrm>
              <a:prstGeom prst="ellipse">
                <a:avLst/>
              </a:prstGeom>
              <a:gradFill rotWithShape="1">
                <a:gsLst>
                  <a:gs pos="0">
                    <a:srgbClr val="D6E1E2">
                      <a:gamma/>
                      <a:shade val="79216"/>
                      <a:invGamma/>
                    </a:srgbClr>
                  </a:gs>
                  <a:gs pos="100000">
                    <a:srgbClr val="D6E1E2">
                      <a:alpha val="48000"/>
                    </a:srgbClr>
                  </a:gs>
                </a:gsLst>
                <a:lin ang="5400000" scaled="1"/>
              </a:gradFill>
              <a:ln w="9525" algn="ctr">
                <a:noFill/>
                <a:round/>
              </a:ln>
              <a:effectLst/>
            </p:spPr>
            <p:txBody>
              <a:bodyPr vert="eaVert" wrap="none" anchor="ctr"/>
              <a:lstStyle/>
              <a:p>
                <a:endParaRPr lang="zh-CN" altLang="en-US"/>
              </a:p>
            </p:txBody>
          </p:sp>
          <p:sp>
            <p:nvSpPr>
              <p:cNvPr id="52240" name="Oval 16"/>
              <p:cNvSpPr>
                <a:spLocks noChangeArrowheads="1"/>
              </p:cNvSpPr>
              <p:nvPr/>
            </p:nvSpPr>
            <p:spPr bwMode="gray">
              <a:xfrm>
                <a:off x="1346" y="613"/>
                <a:ext cx="533" cy="479"/>
              </a:xfrm>
              <a:prstGeom prst="ellipse">
                <a:avLst/>
              </a:prstGeom>
              <a:gradFill rotWithShape="1">
                <a:gsLst>
                  <a:gs pos="0">
                    <a:srgbClr val="D6E1E2">
                      <a:gamma/>
                      <a:tint val="0"/>
                      <a:invGamma/>
                    </a:srgbClr>
                  </a:gs>
                  <a:gs pos="100000">
                    <a:srgbClr val="D6E1E2">
                      <a:alpha val="38000"/>
                    </a:srgbClr>
                  </a:gs>
                </a:gsLst>
                <a:lin ang="5400000" scaled="1"/>
              </a:gradFill>
              <a:ln w="9525" algn="ctr">
                <a:noFill/>
                <a:round/>
              </a:ln>
              <a:effectLst/>
            </p:spPr>
            <p:txBody>
              <a:bodyPr vert="eaVert" wrap="none" anchor="ctr"/>
              <a:lstStyle/>
              <a:p>
                <a:endParaRPr lang="zh-CN" altLang="en-US"/>
              </a:p>
            </p:txBody>
          </p:sp>
        </p:grpSp>
      </p:grpSp>
      <p:sp>
        <p:nvSpPr>
          <p:cNvPr id="52241" name="Text Box 17"/>
          <p:cNvSpPr txBox="1">
            <a:spLocks noChangeArrowheads="1"/>
          </p:cNvSpPr>
          <p:nvPr/>
        </p:nvSpPr>
        <p:spPr bwMode="gray">
          <a:xfrm>
            <a:off x="1589298" y="2076450"/>
            <a:ext cx="553785" cy="461665"/>
          </a:xfrm>
          <a:prstGeom prst="rect">
            <a:avLst/>
          </a:prstGeom>
          <a:noFill/>
          <a:ln w="9525" algn="ctr">
            <a:noFill/>
            <a:miter lim="800000"/>
          </a:ln>
          <a:effectLst/>
        </p:spPr>
        <p:txBody>
          <a:bodyPr wrap="square">
            <a:spAutoFit/>
          </a:bodyPr>
          <a:lstStyle/>
          <a:p>
            <a:pPr algn="ctr" eaLnBrk="0" hangingPunct="0"/>
            <a:r>
              <a:rPr lang="en-US" altLang="zh-CN" sz="2400" dirty="0">
                <a:solidFill>
                  <a:srgbClr val="000000"/>
                </a:solidFill>
                <a:ea typeface="宋体" panose="02010600030101010101" pitchFamily="2" charset="-122"/>
              </a:rPr>
              <a:t>10</a:t>
            </a:r>
            <a:endParaRPr lang="en-US" altLang="zh-CN" sz="2400" dirty="0">
              <a:solidFill>
                <a:srgbClr val="000000"/>
              </a:solidFill>
              <a:ea typeface="宋体" panose="02010600030101010101" pitchFamily="2" charset="-122"/>
            </a:endParaRPr>
          </a:p>
        </p:txBody>
      </p:sp>
      <p:sp>
        <p:nvSpPr>
          <p:cNvPr id="52242" name="Text Box 18"/>
          <p:cNvSpPr txBox="1">
            <a:spLocks noChangeArrowheads="1"/>
          </p:cNvSpPr>
          <p:nvPr/>
        </p:nvSpPr>
        <p:spPr bwMode="gray">
          <a:xfrm>
            <a:off x="1147737" y="2746375"/>
            <a:ext cx="1557712" cy="1313373"/>
          </a:xfrm>
          <a:prstGeom prst="rect">
            <a:avLst/>
          </a:prstGeom>
          <a:noFill/>
          <a:ln w="9525" algn="ctr">
            <a:noFill/>
            <a:miter lim="800000"/>
          </a:ln>
          <a:effectLst/>
        </p:spPr>
        <p:txBody>
          <a:bodyPr wrap="square">
            <a:spAutoFit/>
          </a:bodyPr>
          <a:lstStyle/>
          <a:p>
            <a:pPr eaLnBrk="0" hangingPunct="0">
              <a:lnSpc>
                <a:spcPct val="200000"/>
              </a:lnSpc>
              <a:buFont typeface="Wingdings" panose="05000000000000000000" pitchFamily="2" charset="2"/>
              <a:buChar char="Ø"/>
            </a:pPr>
            <a:r>
              <a:rPr lang="zh-CN" altLang="en-US" sz="1400" b="1" dirty="0">
                <a:solidFill>
                  <a:srgbClr val="000000"/>
                </a:solidFill>
                <a:latin typeface="Verdana" panose="020B0604030504040204" pitchFamily="34" charset="0"/>
                <a:ea typeface="宋体" panose="02010600030101010101" pitchFamily="2" charset="-122"/>
              </a:rPr>
              <a:t>转换二进制</a:t>
            </a:r>
            <a:endParaRPr lang="en-US" altLang="zh-CN" sz="1400" b="1" dirty="0">
              <a:solidFill>
                <a:srgbClr val="000000"/>
              </a:solidFill>
              <a:latin typeface="Verdana" panose="020B0604030504040204" pitchFamily="34" charset="0"/>
              <a:ea typeface="宋体" panose="02010600030101010101" pitchFamily="2" charset="-122"/>
            </a:endParaRPr>
          </a:p>
          <a:p>
            <a:pPr eaLnBrk="0" hangingPunct="0">
              <a:lnSpc>
                <a:spcPct val="200000"/>
              </a:lnSpc>
              <a:buFont typeface="Wingdings" panose="05000000000000000000" pitchFamily="2" charset="2"/>
              <a:buChar char="Ø"/>
            </a:pPr>
            <a:r>
              <a:rPr lang="zh-CN" altLang="en-US" sz="1400" b="1" dirty="0">
                <a:solidFill>
                  <a:srgbClr val="000000"/>
                </a:solidFill>
                <a:latin typeface="Verdana" panose="020B0604030504040204" pitchFamily="34" charset="0"/>
                <a:ea typeface="宋体" panose="02010600030101010101" pitchFamily="2" charset="-122"/>
              </a:rPr>
              <a:t>转换八进制</a:t>
            </a:r>
            <a:endParaRPr lang="en-US" altLang="zh-CN" sz="1400" b="1" dirty="0">
              <a:solidFill>
                <a:srgbClr val="000000"/>
              </a:solidFill>
              <a:latin typeface="Verdana" panose="020B0604030504040204" pitchFamily="34" charset="0"/>
              <a:ea typeface="宋体" panose="02010600030101010101" pitchFamily="2" charset="-122"/>
            </a:endParaRPr>
          </a:p>
          <a:p>
            <a:pPr eaLnBrk="0" hangingPunct="0">
              <a:lnSpc>
                <a:spcPct val="200000"/>
              </a:lnSpc>
              <a:buFont typeface="Wingdings" panose="05000000000000000000" pitchFamily="2" charset="2"/>
              <a:buChar char="Ø"/>
            </a:pPr>
            <a:r>
              <a:rPr lang="zh-CN" altLang="en-US" sz="1400" b="1" dirty="0">
                <a:solidFill>
                  <a:srgbClr val="000000"/>
                </a:solidFill>
                <a:latin typeface="Verdana" panose="020B0604030504040204" pitchFamily="34" charset="0"/>
                <a:ea typeface="宋体" panose="02010600030101010101" pitchFamily="2" charset="-122"/>
              </a:rPr>
              <a:t>转换十六进制</a:t>
            </a:r>
            <a:endParaRPr lang="en-US" altLang="zh-CN" sz="1400" b="1" dirty="0">
              <a:solidFill>
                <a:srgbClr val="000000"/>
              </a:solidFill>
              <a:latin typeface="Verdana" panose="020B0604030504040204" pitchFamily="34" charset="0"/>
              <a:ea typeface="宋体" panose="02010600030101010101" pitchFamily="2" charset="-122"/>
            </a:endParaRPr>
          </a:p>
        </p:txBody>
      </p:sp>
      <p:grpSp>
        <p:nvGrpSpPr>
          <p:cNvPr id="5" name="Group 19"/>
          <p:cNvGrpSpPr/>
          <p:nvPr/>
        </p:nvGrpSpPr>
        <p:grpSpPr bwMode="auto">
          <a:xfrm>
            <a:off x="2857463" y="1984375"/>
            <a:ext cx="1714512" cy="4035425"/>
            <a:chOff x="528" y="1058"/>
            <a:chExt cx="1680" cy="3125"/>
          </a:xfrm>
        </p:grpSpPr>
        <p:grpSp>
          <p:nvGrpSpPr>
            <p:cNvPr id="6" name="Group 20"/>
            <p:cNvGrpSpPr/>
            <p:nvPr/>
          </p:nvGrpSpPr>
          <p:grpSpPr bwMode="auto">
            <a:xfrm>
              <a:off x="528" y="1296"/>
              <a:ext cx="1680" cy="2887"/>
              <a:chOff x="720" y="905"/>
              <a:chExt cx="2263" cy="3319"/>
            </a:xfrm>
          </p:grpSpPr>
          <p:sp>
            <p:nvSpPr>
              <p:cNvPr id="52245" name="AutoShape 21"/>
              <p:cNvSpPr>
                <a:spLocks noChangeArrowheads="1"/>
              </p:cNvSpPr>
              <p:nvPr/>
            </p:nvSpPr>
            <p:spPr bwMode="gray">
              <a:xfrm>
                <a:off x="720" y="905"/>
                <a:ext cx="2256" cy="2544"/>
              </a:xfrm>
              <a:prstGeom prst="roundRect">
                <a:avLst>
                  <a:gd name="adj" fmla="val 17509"/>
                </a:avLst>
              </a:prstGeom>
              <a:gradFill rotWithShape="1">
                <a:gsLst>
                  <a:gs pos="0">
                    <a:srgbClr val="34B034"/>
                  </a:gs>
                  <a:gs pos="100000">
                    <a:srgbClr val="3F8B4A"/>
                  </a:gs>
                </a:gsLst>
                <a:lin ang="2700000" scaled="1"/>
              </a:gradFill>
              <a:ln w="9525">
                <a:noFill/>
                <a:round/>
              </a:ln>
              <a:effectLst/>
            </p:spPr>
            <p:txBody>
              <a:bodyPr wrap="none" anchor="ctr"/>
              <a:lstStyle/>
              <a:p>
                <a:endParaRPr lang="zh-CN" altLang="en-US"/>
              </a:p>
            </p:txBody>
          </p:sp>
          <p:sp>
            <p:nvSpPr>
              <p:cNvPr id="52246" name="AutoShape 22"/>
              <p:cNvSpPr>
                <a:spLocks noChangeArrowheads="1"/>
              </p:cNvSpPr>
              <p:nvPr/>
            </p:nvSpPr>
            <p:spPr bwMode="gray">
              <a:xfrm>
                <a:off x="755" y="912"/>
                <a:ext cx="2188" cy="2496"/>
              </a:xfrm>
              <a:prstGeom prst="roundRect">
                <a:avLst>
                  <a:gd name="adj" fmla="val 16667"/>
                </a:avLst>
              </a:prstGeom>
              <a:gradFill rotWithShape="1">
                <a:gsLst>
                  <a:gs pos="0">
                    <a:srgbClr val="88EA91"/>
                  </a:gs>
                  <a:gs pos="100000">
                    <a:srgbClr val="21D347"/>
                  </a:gs>
                </a:gsLst>
                <a:lin ang="5400000" scaled="1"/>
              </a:gradFill>
              <a:ln w="9525">
                <a:noFill/>
                <a:round/>
              </a:ln>
              <a:effectLst/>
            </p:spPr>
            <p:txBody>
              <a:bodyPr wrap="none" anchor="ctr"/>
              <a:lstStyle/>
              <a:p>
                <a:endParaRPr lang="zh-CN" altLang="en-US"/>
              </a:p>
            </p:txBody>
          </p:sp>
          <p:sp>
            <p:nvSpPr>
              <p:cNvPr id="52247" name="AutoShape 23"/>
              <p:cNvSpPr>
                <a:spLocks noChangeArrowheads="1"/>
              </p:cNvSpPr>
              <p:nvPr/>
            </p:nvSpPr>
            <p:spPr bwMode="gray">
              <a:xfrm>
                <a:off x="773" y="2750"/>
                <a:ext cx="2158" cy="631"/>
              </a:xfrm>
              <a:prstGeom prst="roundRect">
                <a:avLst>
                  <a:gd name="adj" fmla="val 50000"/>
                </a:avLst>
              </a:prstGeom>
              <a:gradFill rotWithShape="1">
                <a:gsLst>
                  <a:gs pos="0">
                    <a:srgbClr val="88EA91">
                      <a:alpha val="0"/>
                    </a:srgbClr>
                  </a:gs>
                  <a:gs pos="100000">
                    <a:srgbClr val="88EA91">
                      <a:gamma/>
                      <a:tint val="87843"/>
                      <a:invGamma/>
                    </a:srgbClr>
                  </a:gs>
                </a:gsLst>
                <a:lin ang="5400000" scaled="1"/>
              </a:gradFill>
              <a:ln w="9525">
                <a:noFill/>
                <a:round/>
              </a:ln>
              <a:effectLst/>
            </p:spPr>
            <p:txBody>
              <a:bodyPr wrap="none" anchor="ctr"/>
              <a:lstStyle/>
              <a:p>
                <a:endParaRPr lang="zh-CN" altLang="en-US"/>
              </a:p>
            </p:txBody>
          </p:sp>
          <p:sp>
            <p:nvSpPr>
              <p:cNvPr id="52248" name="AutoShape 24"/>
              <p:cNvSpPr>
                <a:spLocks noChangeArrowheads="1"/>
              </p:cNvSpPr>
              <p:nvPr/>
            </p:nvSpPr>
            <p:spPr bwMode="gray">
              <a:xfrm>
                <a:off x="773" y="932"/>
                <a:ext cx="2158" cy="631"/>
              </a:xfrm>
              <a:prstGeom prst="roundRect">
                <a:avLst>
                  <a:gd name="adj" fmla="val 50000"/>
                </a:avLst>
              </a:prstGeom>
              <a:gradFill rotWithShape="1">
                <a:gsLst>
                  <a:gs pos="0">
                    <a:srgbClr val="88EA91">
                      <a:gamma/>
                      <a:tint val="33333"/>
                      <a:invGamma/>
                    </a:srgbClr>
                  </a:gs>
                  <a:gs pos="100000">
                    <a:srgbClr val="88EA91">
                      <a:alpha val="0"/>
                    </a:srgbClr>
                  </a:gs>
                </a:gsLst>
                <a:lin ang="5400000" scaled="1"/>
              </a:gradFill>
              <a:ln w="9525">
                <a:noFill/>
                <a:round/>
              </a:ln>
              <a:effectLst/>
            </p:spPr>
            <p:txBody>
              <a:bodyPr wrap="none" anchor="ctr"/>
              <a:lstStyle/>
              <a:p>
                <a:endParaRPr lang="zh-CN" altLang="en-US"/>
              </a:p>
            </p:txBody>
          </p:sp>
          <p:sp>
            <p:nvSpPr>
              <p:cNvPr id="52249" name="AutoShape 25"/>
              <p:cNvSpPr>
                <a:spLocks noChangeArrowheads="1"/>
              </p:cNvSpPr>
              <p:nvPr/>
            </p:nvSpPr>
            <p:spPr bwMode="gray">
              <a:xfrm>
                <a:off x="727" y="3449"/>
                <a:ext cx="2256" cy="775"/>
              </a:xfrm>
              <a:prstGeom prst="roundRect">
                <a:avLst>
                  <a:gd name="adj" fmla="val 40389"/>
                </a:avLst>
              </a:prstGeom>
              <a:gradFill rotWithShape="1">
                <a:gsLst>
                  <a:gs pos="0">
                    <a:srgbClr val="3477A4">
                      <a:alpha val="50000"/>
                    </a:srgbClr>
                  </a:gs>
                  <a:gs pos="100000">
                    <a:srgbClr val="3477A4">
                      <a:gamma/>
                      <a:shade val="46275"/>
                      <a:invGamma/>
                      <a:alpha val="0"/>
                    </a:srgbClr>
                  </a:gs>
                </a:gsLst>
                <a:lin ang="5400000" scaled="1"/>
              </a:gradFill>
              <a:ln w="9525">
                <a:noFill/>
                <a:round/>
              </a:ln>
              <a:effectLst/>
            </p:spPr>
            <p:txBody>
              <a:bodyPr wrap="none" anchor="ctr"/>
              <a:lstStyle/>
              <a:p>
                <a:endParaRPr lang="zh-CN" altLang="en-US"/>
              </a:p>
            </p:txBody>
          </p:sp>
          <p:sp>
            <p:nvSpPr>
              <p:cNvPr id="52250" name="AutoShape 26"/>
              <p:cNvSpPr>
                <a:spLocks noChangeArrowheads="1"/>
              </p:cNvSpPr>
              <p:nvPr/>
            </p:nvSpPr>
            <p:spPr bwMode="gray">
              <a:xfrm>
                <a:off x="773" y="3470"/>
                <a:ext cx="2158" cy="631"/>
              </a:xfrm>
              <a:prstGeom prst="roundRect">
                <a:avLst>
                  <a:gd name="adj" fmla="val 50000"/>
                </a:avLst>
              </a:prstGeom>
              <a:gradFill rotWithShape="1">
                <a:gsLst>
                  <a:gs pos="0">
                    <a:srgbClr val="21D347">
                      <a:gamma/>
                      <a:tint val="33333"/>
                      <a:invGamma/>
                      <a:alpha val="50000"/>
                    </a:srgbClr>
                  </a:gs>
                  <a:gs pos="100000">
                    <a:srgbClr val="21D347">
                      <a:alpha val="0"/>
                    </a:srgbClr>
                  </a:gs>
                </a:gsLst>
                <a:lin ang="5400000" scaled="1"/>
              </a:gradFill>
              <a:ln w="9525">
                <a:noFill/>
                <a:round/>
              </a:ln>
              <a:effectLst/>
            </p:spPr>
            <p:txBody>
              <a:bodyPr wrap="none" anchor="ctr"/>
              <a:lstStyle/>
              <a:p>
                <a:endParaRPr lang="zh-CN" altLang="en-US"/>
              </a:p>
            </p:txBody>
          </p:sp>
        </p:grpSp>
        <p:grpSp>
          <p:nvGrpSpPr>
            <p:cNvPr id="7" name="Group 27"/>
            <p:cNvGrpSpPr/>
            <p:nvPr/>
          </p:nvGrpSpPr>
          <p:grpSpPr bwMode="auto">
            <a:xfrm>
              <a:off x="1104" y="1058"/>
              <a:ext cx="498" cy="498"/>
              <a:chOff x="1289" y="582"/>
              <a:chExt cx="668" cy="668"/>
            </a:xfrm>
          </p:grpSpPr>
          <p:sp>
            <p:nvSpPr>
              <p:cNvPr id="52252" name="Oval 28"/>
              <p:cNvSpPr>
                <a:spLocks noChangeArrowheads="1"/>
              </p:cNvSpPr>
              <p:nvPr/>
            </p:nvSpPr>
            <p:spPr bwMode="gray">
              <a:xfrm>
                <a:off x="1289" y="582"/>
                <a:ext cx="668" cy="668"/>
              </a:xfrm>
              <a:prstGeom prst="ellipse">
                <a:avLst/>
              </a:prstGeom>
              <a:solidFill>
                <a:srgbClr val="333333"/>
              </a:solidFill>
              <a:ln w="38100" algn="ctr">
                <a:noFill/>
                <a:round/>
              </a:ln>
              <a:effectLst/>
            </p:spPr>
            <p:txBody>
              <a:bodyPr anchor="ctr">
                <a:spAutoFit/>
              </a:bodyPr>
              <a:lstStyle/>
              <a:p>
                <a:endParaRPr lang="zh-CN" altLang="en-US"/>
              </a:p>
            </p:txBody>
          </p:sp>
          <p:sp>
            <p:nvSpPr>
              <p:cNvPr id="52253" name="Oval 29"/>
              <p:cNvSpPr>
                <a:spLocks noChangeArrowheads="1"/>
              </p:cNvSpPr>
              <p:nvPr/>
            </p:nvSpPr>
            <p:spPr bwMode="gray">
              <a:xfrm>
                <a:off x="1296" y="587"/>
                <a:ext cx="646" cy="647"/>
              </a:xfrm>
              <a:prstGeom prst="ellipse">
                <a:avLst/>
              </a:prstGeom>
              <a:gradFill rotWithShape="1">
                <a:gsLst>
                  <a:gs pos="0">
                    <a:srgbClr val="D6E1E2">
                      <a:gamma/>
                      <a:shade val="46275"/>
                      <a:invGamma/>
                    </a:srgbClr>
                  </a:gs>
                  <a:gs pos="100000">
                    <a:srgbClr val="D6E1E2"/>
                  </a:gs>
                </a:gsLst>
                <a:lin ang="5400000" scaled="1"/>
              </a:gradFill>
              <a:ln w="9525" algn="ctr">
                <a:noFill/>
                <a:round/>
              </a:ln>
              <a:effectLst/>
            </p:spPr>
            <p:txBody>
              <a:bodyPr vert="eaVert" wrap="none" anchor="ctr"/>
              <a:lstStyle/>
              <a:p>
                <a:endParaRPr lang="zh-CN" altLang="en-US"/>
              </a:p>
            </p:txBody>
          </p:sp>
          <p:sp>
            <p:nvSpPr>
              <p:cNvPr id="52254" name="Oval 30"/>
              <p:cNvSpPr>
                <a:spLocks noChangeArrowheads="1"/>
              </p:cNvSpPr>
              <p:nvPr/>
            </p:nvSpPr>
            <p:spPr bwMode="gray">
              <a:xfrm>
                <a:off x="1304" y="591"/>
                <a:ext cx="631" cy="631"/>
              </a:xfrm>
              <a:prstGeom prst="ellipse">
                <a:avLst/>
              </a:prstGeom>
              <a:gradFill rotWithShape="1">
                <a:gsLst>
                  <a:gs pos="0">
                    <a:srgbClr val="D6E1E2">
                      <a:alpha val="0"/>
                    </a:srgbClr>
                  </a:gs>
                  <a:gs pos="100000">
                    <a:srgbClr val="D6E1E2">
                      <a:gamma/>
                      <a:tint val="34902"/>
                      <a:invGamma/>
                    </a:srgbClr>
                  </a:gs>
                </a:gsLst>
                <a:lin ang="5400000" scaled="1"/>
              </a:gradFill>
              <a:ln w="9525" algn="ctr">
                <a:noFill/>
                <a:round/>
              </a:ln>
              <a:effectLst/>
            </p:spPr>
            <p:txBody>
              <a:bodyPr vert="eaVert" wrap="none" anchor="ctr"/>
              <a:lstStyle/>
              <a:p>
                <a:endParaRPr lang="zh-CN" altLang="en-US"/>
              </a:p>
            </p:txBody>
          </p:sp>
          <p:sp>
            <p:nvSpPr>
              <p:cNvPr id="52255" name="Oval 31"/>
              <p:cNvSpPr>
                <a:spLocks noChangeArrowheads="1"/>
              </p:cNvSpPr>
              <p:nvPr/>
            </p:nvSpPr>
            <p:spPr bwMode="gray">
              <a:xfrm>
                <a:off x="1311" y="597"/>
                <a:ext cx="600" cy="589"/>
              </a:xfrm>
              <a:prstGeom prst="ellipse">
                <a:avLst/>
              </a:prstGeom>
              <a:gradFill rotWithShape="1">
                <a:gsLst>
                  <a:gs pos="0">
                    <a:srgbClr val="D6E1E2">
                      <a:gamma/>
                      <a:shade val="79216"/>
                      <a:invGamma/>
                    </a:srgbClr>
                  </a:gs>
                  <a:gs pos="100000">
                    <a:srgbClr val="D6E1E2">
                      <a:alpha val="48000"/>
                    </a:srgbClr>
                  </a:gs>
                </a:gsLst>
                <a:lin ang="5400000" scaled="1"/>
              </a:gradFill>
              <a:ln w="9525" algn="ctr">
                <a:noFill/>
                <a:round/>
              </a:ln>
              <a:effectLst/>
            </p:spPr>
            <p:txBody>
              <a:bodyPr vert="eaVert" wrap="none" anchor="ctr"/>
              <a:lstStyle/>
              <a:p>
                <a:endParaRPr lang="zh-CN" altLang="en-US"/>
              </a:p>
            </p:txBody>
          </p:sp>
          <p:sp>
            <p:nvSpPr>
              <p:cNvPr id="52256" name="Oval 32"/>
              <p:cNvSpPr>
                <a:spLocks noChangeArrowheads="1"/>
              </p:cNvSpPr>
              <p:nvPr/>
            </p:nvSpPr>
            <p:spPr bwMode="gray">
              <a:xfrm>
                <a:off x="1346" y="613"/>
                <a:ext cx="533" cy="479"/>
              </a:xfrm>
              <a:prstGeom prst="ellipse">
                <a:avLst/>
              </a:prstGeom>
              <a:gradFill rotWithShape="1">
                <a:gsLst>
                  <a:gs pos="0">
                    <a:srgbClr val="D6E1E2">
                      <a:gamma/>
                      <a:tint val="0"/>
                      <a:invGamma/>
                    </a:srgbClr>
                  </a:gs>
                  <a:gs pos="100000">
                    <a:srgbClr val="D6E1E2">
                      <a:alpha val="38000"/>
                    </a:srgbClr>
                  </a:gs>
                </a:gsLst>
                <a:lin ang="5400000" scaled="1"/>
              </a:gradFill>
              <a:ln w="9525" algn="ctr">
                <a:noFill/>
                <a:round/>
              </a:ln>
              <a:effectLst/>
            </p:spPr>
            <p:txBody>
              <a:bodyPr vert="eaVert" wrap="none" anchor="ctr"/>
              <a:lstStyle/>
              <a:p>
                <a:endParaRPr lang="zh-CN" altLang="en-US"/>
              </a:p>
            </p:txBody>
          </p:sp>
        </p:grpSp>
      </p:grpSp>
      <p:sp>
        <p:nvSpPr>
          <p:cNvPr id="52257" name="Text Box 33"/>
          <p:cNvSpPr txBox="1">
            <a:spLocks noChangeArrowheads="1"/>
          </p:cNvSpPr>
          <p:nvPr/>
        </p:nvSpPr>
        <p:spPr bwMode="gray">
          <a:xfrm>
            <a:off x="3571843" y="2076450"/>
            <a:ext cx="279691" cy="457200"/>
          </a:xfrm>
          <a:prstGeom prst="rect">
            <a:avLst/>
          </a:prstGeom>
          <a:noFill/>
          <a:ln w="9525" algn="ctr">
            <a:noFill/>
            <a:miter lim="800000"/>
          </a:ln>
          <a:effectLst/>
        </p:spPr>
        <p:txBody>
          <a:bodyPr wrap="square">
            <a:spAutoFit/>
          </a:bodyPr>
          <a:lstStyle/>
          <a:p>
            <a:pPr algn="ctr" eaLnBrk="0" hangingPunct="0"/>
            <a:r>
              <a:rPr lang="en-US" altLang="zh-CN" sz="2400" dirty="0">
                <a:solidFill>
                  <a:srgbClr val="000000"/>
                </a:solidFill>
                <a:ea typeface="宋体" panose="02010600030101010101" pitchFamily="2" charset="-122"/>
              </a:rPr>
              <a:t>2</a:t>
            </a:r>
            <a:endParaRPr lang="en-US" altLang="zh-CN" sz="2400" dirty="0">
              <a:solidFill>
                <a:srgbClr val="000000"/>
              </a:solidFill>
              <a:ea typeface="宋体" panose="02010600030101010101" pitchFamily="2" charset="-122"/>
            </a:endParaRPr>
          </a:p>
        </p:txBody>
      </p:sp>
      <p:sp>
        <p:nvSpPr>
          <p:cNvPr id="52258" name="Text Box 34"/>
          <p:cNvSpPr txBox="1">
            <a:spLocks noChangeArrowheads="1"/>
          </p:cNvSpPr>
          <p:nvPr/>
        </p:nvSpPr>
        <p:spPr bwMode="gray">
          <a:xfrm>
            <a:off x="2933662" y="2746375"/>
            <a:ext cx="1625462" cy="1313373"/>
          </a:xfrm>
          <a:prstGeom prst="rect">
            <a:avLst/>
          </a:prstGeom>
          <a:noFill/>
          <a:ln w="9525" algn="ctr">
            <a:noFill/>
            <a:miter lim="800000"/>
          </a:ln>
          <a:effectLst/>
        </p:spPr>
        <p:txBody>
          <a:bodyPr wrap="square">
            <a:spAutoFit/>
          </a:bodyPr>
          <a:lstStyle/>
          <a:p>
            <a:pPr eaLnBrk="0" hangingPunct="0">
              <a:lnSpc>
                <a:spcPct val="200000"/>
              </a:lnSpc>
              <a:buFont typeface="Wingdings" panose="05000000000000000000" pitchFamily="2" charset="2"/>
              <a:buChar char="Ø"/>
            </a:pPr>
            <a:r>
              <a:rPr lang="zh-CN" altLang="en-US" sz="1400" b="1" dirty="0">
                <a:solidFill>
                  <a:srgbClr val="000000"/>
                </a:solidFill>
                <a:latin typeface="Verdana" panose="020B0604030504040204" pitchFamily="34" charset="0"/>
                <a:ea typeface="宋体" panose="02010600030101010101" pitchFamily="2" charset="-122"/>
              </a:rPr>
              <a:t>转换十进制</a:t>
            </a:r>
            <a:endParaRPr lang="en-US" altLang="zh-CN" sz="1400" b="1" dirty="0">
              <a:solidFill>
                <a:srgbClr val="000000"/>
              </a:solidFill>
              <a:latin typeface="Verdana" panose="020B0604030504040204" pitchFamily="34" charset="0"/>
              <a:ea typeface="宋体" panose="02010600030101010101" pitchFamily="2" charset="-122"/>
            </a:endParaRPr>
          </a:p>
          <a:p>
            <a:pPr eaLnBrk="0" hangingPunct="0">
              <a:lnSpc>
                <a:spcPct val="200000"/>
              </a:lnSpc>
              <a:buFont typeface="Wingdings" panose="05000000000000000000" pitchFamily="2" charset="2"/>
              <a:buChar char="Ø"/>
            </a:pPr>
            <a:r>
              <a:rPr lang="zh-CN" altLang="en-US" sz="1400" b="1" dirty="0">
                <a:solidFill>
                  <a:srgbClr val="000000"/>
                </a:solidFill>
                <a:latin typeface="Verdana" panose="020B0604030504040204" pitchFamily="34" charset="0"/>
                <a:ea typeface="宋体" panose="02010600030101010101" pitchFamily="2" charset="-122"/>
              </a:rPr>
              <a:t>转换八进制</a:t>
            </a:r>
            <a:endParaRPr lang="en-US" altLang="zh-CN" sz="1400" b="1" dirty="0">
              <a:solidFill>
                <a:srgbClr val="000000"/>
              </a:solidFill>
              <a:latin typeface="Verdana" panose="020B0604030504040204" pitchFamily="34" charset="0"/>
              <a:ea typeface="宋体" panose="02010600030101010101" pitchFamily="2" charset="-122"/>
            </a:endParaRPr>
          </a:p>
          <a:p>
            <a:pPr eaLnBrk="0" hangingPunct="0">
              <a:lnSpc>
                <a:spcPct val="200000"/>
              </a:lnSpc>
              <a:buFont typeface="Wingdings" panose="05000000000000000000" pitchFamily="2" charset="2"/>
              <a:buChar char="Ø"/>
            </a:pPr>
            <a:r>
              <a:rPr lang="zh-CN" altLang="en-US" sz="1400" b="1" dirty="0">
                <a:solidFill>
                  <a:srgbClr val="000000"/>
                </a:solidFill>
                <a:latin typeface="Verdana" panose="020B0604030504040204" pitchFamily="34" charset="0"/>
                <a:ea typeface="宋体" panose="02010600030101010101" pitchFamily="2" charset="-122"/>
              </a:rPr>
              <a:t>转换十六进制</a:t>
            </a:r>
            <a:endParaRPr lang="en-US" altLang="zh-CN" sz="1400" b="1" dirty="0">
              <a:solidFill>
                <a:srgbClr val="000000"/>
              </a:solidFill>
              <a:latin typeface="Verdana" panose="020B0604030504040204" pitchFamily="34" charset="0"/>
              <a:ea typeface="宋体" panose="02010600030101010101" pitchFamily="2" charset="-122"/>
            </a:endParaRPr>
          </a:p>
        </p:txBody>
      </p:sp>
      <p:grpSp>
        <p:nvGrpSpPr>
          <p:cNvPr id="8" name="Group 35"/>
          <p:cNvGrpSpPr/>
          <p:nvPr/>
        </p:nvGrpSpPr>
        <p:grpSpPr bwMode="auto">
          <a:xfrm>
            <a:off x="4714851" y="1984375"/>
            <a:ext cx="1704995" cy="4035425"/>
            <a:chOff x="528" y="1058"/>
            <a:chExt cx="1680" cy="3125"/>
          </a:xfrm>
        </p:grpSpPr>
        <p:grpSp>
          <p:nvGrpSpPr>
            <p:cNvPr id="9" name="Group 36"/>
            <p:cNvGrpSpPr/>
            <p:nvPr/>
          </p:nvGrpSpPr>
          <p:grpSpPr bwMode="auto">
            <a:xfrm>
              <a:off x="528" y="1296"/>
              <a:ext cx="1680" cy="2887"/>
              <a:chOff x="720" y="905"/>
              <a:chExt cx="2263" cy="3319"/>
            </a:xfrm>
          </p:grpSpPr>
          <p:sp>
            <p:nvSpPr>
              <p:cNvPr id="52261" name="AutoShape 37"/>
              <p:cNvSpPr>
                <a:spLocks noChangeArrowheads="1"/>
              </p:cNvSpPr>
              <p:nvPr/>
            </p:nvSpPr>
            <p:spPr bwMode="gray">
              <a:xfrm>
                <a:off x="720" y="905"/>
                <a:ext cx="2256" cy="2544"/>
              </a:xfrm>
              <a:prstGeom prst="roundRect">
                <a:avLst>
                  <a:gd name="adj" fmla="val 17509"/>
                </a:avLst>
              </a:prstGeom>
              <a:gradFill rotWithShape="1">
                <a:gsLst>
                  <a:gs pos="0">
                    <a:srgbClr val="B59F43"/>
                  </a:gs>
                  <a:gs pos="100000">
                    <a:srgbClr val="8F8849"/>
                  </a:gs>
                </a:gsLst>
                <a:lin ang="2700000" scaled="1"/>
              </a:gradFill>
              <a:ln w="9525">
                <a:noFill/>
                <a:round/>
              </a:ln>
              <a:effectLst/>
            </p:spPr>
            <p:txBody>
              <a:bodyPr wrap="none" anchor="ctr"/>
              <a:lstStyle/>
              <a:p>
                <a:endParaRPr lang="zh-CN" altLang="en-US"/>
              </a:p>
            </p:txBody>
          </p:sp>
          <p:sp>
            <p:nvSpPr>
              <p:cNvPr id="52262" name="AutoShape 38"/>
              <p:cNvSpPr>
                <a:spLocks noChangeArrowheads="1"/>
              </p:cNvSpPr>
              <p:nvPr/>
            </p:nvSpPr>
            <p:spPr bwMode="gray">
              <a:xfrm>
                <a:off x="755" y="912"/>
                <a:ext cx="2188" cy="2496"/>
              </a:xfrm>
              <a:prstGeom prst="roundRect">
                <a:avLst>
                  <a:gd name="adj" fmla="val 16667"/>
                </a:avLst>
              </a:prstGeom>
              <a:gradFill rotWithShape="1">
                <a:gsLst>
                  <a:gs pos="0">
                    <a:srgbClr val="EAEC86"/>
                  </a:gs>
                  <a:gs pos="100000">
                    <a:srgbClr val="DCCE46"/>
                  </a:gs>
                </a:gsLst>
                <a:lin ang="5400000" scaled="1"/>
              </a:gradFill>
              <a:ln w="9525">
                <a:noFill/>
                <a:round/>
              </a:ln>
              <a:effectLst/>
            </p:spPr>
            <p:txBody>
              <a:bodyPr wrap="none" anchor="ctr"/>
              <a:lstStyle/>
              <a:p>
                <a:endParaRPr lang="zh-CN" altLang="en-US"/>
              </a:p>
            </p:txBody>
          </p:sp>
          <p:sp>
            <p:nvSpPr>
              <p:cNvPr id="52263" name="AutoShape 39"/>
              <p:cNvSpPr>
                <a:spLocks noChangeArrowheads="1"/>
              </p:cNvSpPr>
              <p:nvPr/>
            </p:nvSpPr>
            <p:spPr bwMode="gray">
              <a:xfrm>
                <a:off x="773" y="2750"/>
                <a:ext cx="2158" cy="631"/>
              </a:xfrm>
              <a:prstGeom prst="roundRect">
                <a:avLst>
                  <a:gd name="adj" fmla="val 50000"/>
                </a:avLst>
              </a:prstGeom>
              <a:gradFill rotWithShape="1">
                <a:gsLst>
                  <a:gs pos="0">
                    <a:srgbClr val="EAEC86">
                      <a:alpha val="0"/>
                    </a:srgbClr>
                  </a:gs>
                  <a:gs pos="100000">
                    <a:srgbClr val="EAEC86">
                      <a:gamma/>
                      <a:tint val="87843"/>
                      <a:invGamma/>
                    </a:srgbClr>
                  </a:gs>
                </a:gsLst>
                <a:lin ang="5400000" scaled="1"/>
              </a:gradFill>
              <a:ln w="9525">
                <a:noFill/>
                <a:round/>
              </a:ln>
              <a:effectLst/>
            </p:spPr>
            <p:txBody>
              <a:bodyPr wrap="none" anchor="ctr"/>
              <a:lstStyle/>
              <a:p>
                <a:endParaRPr lang="zh-CN" altLang="en-US"/>
              </a:p>
            </p:txBody>
          </p:sp>
          <p:sp>
            <p:nvSpPr>
              <p:cNvPr id="52264" name="AutoShape 40"/>
              <p:cNvSpPr>
                <a:spLocks noChangeArrowheads="1"/>
              </p:cNvSpPr>
              <p:nvPr/>
            </p:nvSpPr>
            <p:spPr bwMode="gray">
              <a:xfrm>
                <a:off x="773" y="932"/>
                <a:ext cx="2158" cy="631"/>
              </a:xfrm>
              <a:prstGeom prst="roundRect">
                <a:avLst>
                  <a:gd name="adj" fmla="val 50000"/>
                </a:avLst>
              </a:prstGeom>
              <a:gradFill rotWithShape="1">
                <a:gsLst>
                  <a:gs pos="0">
                    <a:srgbClr val="EAEC86">
                      <a:gamma/>
                      <a:tint val="33333"/>
                      <a:invGamma/>
                    </a:srgbClr>
                  </a:gs>
                  <a:gs pos="100000">
                    <a:srgbClr val="EAEC86">
                      <a:alpha val="0"/>
                    </a:srgbClr>
                  </a:gs>
                </a:gsLst>
                <a:lin ang="5400000" scaled="1"/>
              </a:gradFill>
              <a:ln w="9525">
                <a:noFill/>
                <a:round/>
              </a:ln>
              <a:effectLst/>
            </p:spPr>
            <p:txBody>
              <a:bodyPr wrap="none" anchor="ctr"/>
              <a:lstStyle/>
              <a:p>
                <a:endParaRPr lang="zh-CN" altLang="en-US"/>
              </a:p>
            </p:txBody>
          </p:sp>
          <p:sp>
            <p:nvSpPr>
              <p:cNvPr id="52265" name="AutoShape 41"/>
              <p:cNvSpPr>
                <a:spLocks noChangeArrowheads="1"/>
              </p:cNvSpPr>
              <p:nvPr/>
            </p:nvSpPr>
            <p:spPr bwMode="gray">
              <a:xfrm>
                <a:off x="727" y="3449"/>
                <a:ext cx="2256" cy="775"/>
              </a:xfrm>
              <a:prstGeom prst="roundRect">
                <a:avLst>
                  <a:gd name="adj" fmla="val 40389"/>
                </a:avLst>
              </a:prstGeom>
              <a:gradFill rotWithShape="1">
                <a:gsLst>
                  <a:gs pos="0">
                    <a:srgbClr val="3477A4">
                      <a:alpha val="50000"/>
                    </a:srgbClr>
                  </a:gs>
                  <a:gs pos="100000">
                    <a:srgbClr val="3477A4">
                      <a:gamma/>
                      <a:shade val="46275"/>
                      <a:invGamma/>
                      <a:alpha val="0"/>
                    </a:srgbClr>
                  </a:gs>
                </a:gsLst>
                <a:lin ang="5400000" scaled="1"/>
              </a:gradFill>
              <a:ln w="9525">
                <a:noFill/>
                <a:round/>
              </a:ln>
              <a:effectLst/>
            </p:spPr>
            <p:txBody>
              <a:bodyPr wrap="none" anchor="ctr"/>
              <a:lstStyle/>
              <a:p>
                <a:endParaRPr lang="zh-CN" altLang="en-US"/>
              </a:p>
            </p:txBody>
          </p:sp>
          <p:sp>
            <p:nvSpPr>
              <p:cNvPr id="52266" name="AutoShape 42"/>
              <p:cNvSpPr>
                <a:spLocks noChangeArrowheads="1"/>
              </p:cNvSpPr>
              <p:nvPr/>
            </p:nvSpPr>
            <p:spPr bwMode="gray">
              <a:xfrm>
                <a:off x="773" y="3470"/>
                <a:ext cx="2158" cy="631"/>
              </a:xfrm>
              <a:prstGeom prst="roundRect">
                <a:avLst>
                  <a:gd name="adj" fmla="val 50000"/>
                </a:avLst>
              </a:prstGeom>
              <a:gradFill rotWithShape="1">
                <a:gsLst>
                  <a:gs pos="0">
                    <a:srgbClr val="EAEC86">
                      <a:gamma/>
                      <a:tint val="33333"/>
                      <a:invGamma/>
                      <a:alpha val="50000"/>
                    </a:srgbClr>
                  </a:gs>
                  <a:gs pos="100000">
                    <a:srgbClr val="EAEC86">
                      <a:alpha val="0"/>
                    </a:srgbClr>
                  </a:gs>
                </a:gsLst>
                <a:lin ang="5400000" scaled="1"/>
              </a:gradFill>
              <a:ln w="9525">
                <a:noFill/>
                <a:round/>
              </a:ln>
              <a:effectLst/>
            </p:spPr>
            <p:txBody>
              <a:bodyPr wrap="none" anchor="ctr"/>
              <a:lstStyle/>
              <a:p>
                <a:endParaRPr lang="zh-CN" altLang="en-US"/>
              </a:p>
            </p:txBody>
          </p:sp>
        </p:grpSp>
        <p:grpSp>
          <p:nvGrpSpPr>
            <p:cNvPr id="10" name="Group 43"/>
            <p:cNvGrpSpPr/>
            <p:nvPr/>
          </p:nvGrpSpPr>
          <p:grpSpPr bwMode="auto">
            <a:xfrm>
              <a:off x="1104" y="1058"/>
              <a:ext cx="498" cy="498"/>
              <a:chOff x="1289" y="582"/>
              <a:chExt cx="668" cy="668"/>
            </a:xfrm>
          </p:grpSpPr>
          <p:sp>
            <p:nvSpPr>
              <p:cNvPr id="52268" name="Oval 44"/>
              <p:cNvSpPr>
                <a:spLocks noChangeArrowheads="1"/>
              </p:cNvSpPr>
              <p:nvPr/>
            </p:nvSpPr>
            <p:spPr bwMode="gray">
              <a:xfrm>
                <a:off x="1289" y="582"/>
                <a:ext cx="668" cy="668"/>
              </a:xfrm>
              <a:prstGeom prst="ellipse">
                <a:avLst/>
              </a:prstGeom>
              <a:solidFill>
                <a:srgbClr val="333333"/>
              </a:solidFill>
              <a:ln w="38100" algn="ctr">
                <a:noFill/>
                <a:round/>
              </a:ln>
              <a:effectLst/>
            </p:spPr>
            <p:txBody>
              <a:bodyPr anchor="ctr">
                <a:spAutoFit/>
              </a:bodyPr>
              <a:lstStyle/>
              <a:p>
                <a:endParaRPr lang="zh-CN" altLang="en-US"/>
              </a:p>
            </p:txBody>
          </p:sp>
          <p:sp>
            <p:nvSpPr>
              <p:cNvPr id="52269" name="Oval 45"/>
              <p:cNvSpPr>
                <a:spLocks noChangeArrowheads="1"/>
              </p:cNvSpPr>
              <p:nvPr/>
            </p:nvSpPr>
            <p:spPr bwMode="gray">
              <a:xfrm>
                <a:off x="1296" y="587"/>
                <a:ext cx="646" cy="647"/>
              </a:xfrm>
              <a:prstGeom prst="ellipse">
                <a:avLst/>
              </a:prstGeom>
              <a:gradFill rotWithShape="1">
                <a:gsLst>
                  <a:gs pos="0">
                    <a:srgbClr val="D6E1E2">
                      <a:gamma/>
                      <a:shade val="46275"/>
                      <a:invGamma/>
                    </a:srgbClr>
                  </a:gs>
                  <a:gs pos="100000">
                    <a:srgbClr val="D6E1E2"/>
                  </a:gs>
                </a:gsLst>
                <a:lin ang="5400000" scaled="1"/>
              </a:gradFill>
              <a:ln w="9525" algn="ctr">
                <a:noFill/>
                <a:round/>
              </a:ln>
              <a:effectLst/>
            </p:spPr>
            <p:txBody>
              <a:bodyPr vert="eaVert" wrap="none" anchor="ctr"/>
              <a:lstStyle/>
              <a:p>
                <a:endParaRPr lang="zh-CN" altLang="en-US"/>
              </a:p>
            </p:txBody>
          </p:sp>
          <p:sp>
            <p:nvSpPr>
              <p:cNvPr id="52270" name="Oval 46"/>
              <p:cNvSpPr>
                <a:spLocks noChangeArrowheads="1"/>
              </p:cNvSpPr>
              <p:nvPr/>
            </p:nvSpPr>
            <p:spPr bwMode="gray">
              <a:xfrm>
                <a:off x="1304" y="591"/>
                <a:ext cx="631" cy="631"/>
              </a:xfrm>
              <a:prstGeom prst="ellipse">
                <a:avLst/>
              </a:prstGeom>
              <a:gradFill rotWithShape="1">
                <a:gsLst>
                  <a:gs pos="0">
                    <a:srgbClr val="D6E1E2">
                      <a:alpha val="0"/>
                    </a:srgbClr>
                  </a:gs>
                  <a:gs pos="100000">
                    <a:srgbClr val="D6E1E2">
                      <a:gamma/>
                      <a:tint val="34902"/>
                      <a:invGamma/>
                    </a:srgbClr>
                  </a:gs>
                </a:gsLst>
                <a:lin ang="5400000" scaled="1"/>
              </a:gradFill>
              <a:ln w="9525" algn="ctr">
                <a:noFill/>
                <a:round/>
              </a:ln>
              <a:effectLst/>
            </p:spPr>
            <p:txBody>
              <a:bodyPr vert="eaVert" wrap="none" anchor="ctr"/>
              <a:lstStyle/>
              <a:p>
                <a:endParaRPr lang="zh-CN" altLang="en-US"/>
              </a:p>
            </p:txBody>
          </p:sp>
          <p:sp>
            <p:nvSpPr>
              <p:cNvPr id="52271" name="Oval 47"/>
              <p:cNvSpPr>
                <a:spLocks noChangeArrowheads="1"/>
              </p:cNvSpPr>
              <p:nvPr/>
            </p:nvSpPr>
            <p:spPr bwMode="gray">
              <a:xfrm>
                <a:off x="1311" y="597"/>
                <a:ext cx="600" cy="589"/>
              </a:xfrm>
              <a:prstGeom prst="ellipse">
                <a:avLst/>
              </a:prstGeom>
              <a:gradFill rotWithShape="1">
                <a:gsLst>
                  <a:gs pos="0">
                    <a:srgbClr val="D6E1E2">
                      <a:gamma/>
                      <a:shade val="79216"/>
                      <a:invGamma/>
                    </a:srgbClr>
                  </a:gs>
                  <a:gs pos="100000">
                    <a:srgbClr val="D6E1E2">
                      <a:alpha val="48000"/>
                    </a:srgbClr>
                  </a:gs>
                </a:gsLst>
                <a:lin ang="5400000" scaled="1"/>
              </a:gradFill>
              <a:ln w="9525" algn="ctr">
                <a:noFill/>
                <a:round/>
              </a:ln>
              <a:effectLst/>
            </p:spPr>
            <p:txBody>
              <a:bodyPr vert="eaVert" wrap="none" anchor="ctr"/>
              <a:lstStyle/>
              <a:p>
                <a:endParaRPr lang="zh-CN" altLang="en-US"/>
              </a:p>
            </p:txBody>
          </p:sp>
          <p:sp>
            <p:nvSpPr>
              <p:cNvPr id="52272" name="Oval 48"/>
              <p:cNvSpPr>
                <a:spLocks noChangeArrowheads="1"/>
              </p:cNvSpPr>
              <p:nvPr/>
            </p:nvSpPr>
            <p:spPr bwMode="gray">
              <a:xfrm>
                <a:off x="1346" y="613"/>
                <a:ext cx="533" cy="479"/>
              </a:xfrm>
              <a:prstGeom prst="ellipse">
                <a:avLst/>
              </a:prstGeom>
              <a:gradFill rotWithShape="1">
                <a:gsLst>
                  <a:gs pos="0">
                    <a:srgbClr val="D6E1E2">
                      <a:gamma/>
                      <a:tint val="0"/>
                      <a:invGamma/>
                    </a:srgbClr>
                  </a:gs>
                  <a:gs pos="100000">
                    <a:srgbClr val="D6E1E2">
                      <a:alpha val="38000"/>
                    </a:srgbClr>
                  </a:gs>
                </a:gsLst>
                <a:lin ang="5400000" scaled="1"/>
              </a:gradFill>
              <a:ln w="9525" algn="ctr">
                <a:noFill/>
                <a:round/>
              </a:ln>
              <a:effectLst/>
            </p:spPr>
            <p:txBody>
              <a:bodyPr vert="eaVert" wrap="none" anchor="ctr"/>
              <a:lstStyle/>
              <a:p>
                <a:endParaRPr lang="zh-CN" altLang="en-US"/>
              </a:p>
            </p:txBody>
          </p:sp>
        </p:grpSp>
      </p:grpSp>
      <p:sp>
        <p:nvSpPr>
          <p:cNvPr id="52273" name="Text Box 49"/>
          <p:cNvSpPr txBox="1">
            <a:spLocks noChangeArrowheads="1"/>
          </p:cNvSpPr>
          <p:nvPr/>
        </p:nvSpPr>
        <p:spPr bwMode="gray">
          <a:xfrm>
            <a:off x="5429231" y="2076450"/>
            <a:ext cx="278138" cy="457200"/>
          </a:xfrm>
          <a:prstGeom prst="rect">
            <a:avLst/>
          </a:prstGeom>
          <a:noFill/>
          <a:ln w="9525" algn="ctr">
            <a:noFill/>
            <a:miter lim="800000"/>
          </a:ln>
          <a:effectLst/>
        </p:spPr>
        <p:txBody>
          <a:bodyPr wrap="square">
            <a:spAutoFit/>
          </a:bodyPr>
          <a:lstStyle/>
          <a:p>
            <a:pPr algn="ctr" eaLnBrk="0" hangingPunct="0"/>
            <a:r>
              <a:rPr lang="en-US" altLang="zh-CN" sz="2400" dirty="0">
                <a:solidFill>
                  <a:srgbClr val="000000"/>
                </a:solidFill>
                <a:ea typeface="宋体" panose="02010600030101010101" pitchFamily="2" charset="-122"/>
              </a:rPr>
              <a:t>8</a:t>
            </a:r>
            <a:endParaRPr lang="en-US" altLang="zh-CN" sz="2400" dirty="0">
              <a:solidFill>
                <a:srgbClr val="000000"/>
              </a:solidFill>
              <a:ea typeface="宋体" panose="02010600030101010101" pitchFamily="2" charset="-122"/>
            </a:endParaRPr>
          </a:p>
        </p:txBody>
      </p:sp>
      <p:sp>
        <p:nvSpPr>
          <p:cNvPr id="52274" name="Text Box 50"/>
          <p:cNvSpPr txBox="1">
            <a:spLocks noChangeArrowheads="1"/>
          </p:cNvSpPr>
          <p:nvPr/>
        </p:nvSpPr>
        <p:spPr bwMode="gray">
          <a:xfrm>
            <a:off x="4791050" y="2746375"/>
            <a:ext cx="1616440" cy="1313373"/>
          </a:xfrm>
          <a:prstGeom prst="rect">
            <a:avLst/>
          </a:prstGeom>
          <a:noFill/>
          <a:ln w="9525" algn="ctr">
            <a:noFill/>
            <a:miter lim="800000"/>
          </a:ln>
          <a:effectLst/>
        </p:spPr>
        <p:txBody>
          <a:bodyPr wrap="square">
            <a:spAutoFit/>
          </a:bodyPr>
          <a:lstStyle/>
          <a:p>
            <a:pPr eaLnBrk="0" hangingPunct="0">
              <a:lnSpc>
                <a:spcPct val="200000"/>
              </a:lnSpc>
              <a:buFont typeface="Wingdings" panose="05000000000000000000" pitchFamily="2" charset="2"/>
              <a:buChar char="Ø"/>
            </a:pPr>
            <a:r>
              <a:rPr lang="zh-CN" altLang="en-US" sz="1400" b="1" dirty="0">
                <a:solidFill>
                  <a:srgbClr val="000000"/>
                </a:solidFill>
                <a:latin typeface="Verdana" panose="020B0604030504040204" pitchFamily="34" charset="0"/>
                <a:ea typeface="宋体" panose="02010600030101010101" pitchFamily="2" charset="-122"/>
              </a:rPr>
              <a:t>转换二进制</a:t>
            </a:r>
            <a:endParaRPr lang="en-US" altLang="zh-CN" sz="1400" b="1" dirty="0">
              <a:solidFill>
                <a:srgbClr val="000000"/>
              </a:solidFill>
              <a:latin typeface="Verdana" panose="020B0604030504040204" pitchFamily="34" charset="0"/>
              <a:ea typeface="宋体" panose="02010600030101010101" pitchFamily="2" charset="-122"/>
            </a:endParaRPr>
          </a:p>
          <a:p>
            <a:pPr eaLnBrk="0" hangingPunct="0">
              <a:lnSpc>
                <a:spcPct val="200000"/>
              </a:lnSpc>
              <a:buFont typeface="Wingdings" panose="05000000000000000000" pitchFamily="2" charset="2"/>
              <a:buChar char="Ø"/>
            </a:pPr>
            <a:r>
              <a:rPr lang="zh-CN" altLang="en-US" sz="1400" b="1" dirty="0">
                <a:solidFill>
                  <a:srgbClr val="000000"/>
                </a:solidFill>
                <a:latin typeface="Verdana" panose="020B0604030504040204" pitchFamily="34" charset="0"/>
                <a:ea typeface="宋体" panose="02010600030101010101" pitchFamily="2" charset="-122"/>
              </a:rPr>
              <a:t>转换十进制</a:t>
            </a:r>
            <a:endParaRPr lang="en-US" altLang="zh-CN" sz="1400" b="1" dirty="0">
              <a:solidFill>
                <a:srgbClr val="000000"/>
              </a:solidFill>
              <a:latin typeface="Verdana" panose="020B0604030504040204" pitchFamily="34" charset="0"/>
              <a:ea typeface="宋体" panose="02010600030101010101" pitchFamily="2" charset="-122"/>
            </a:endParaRPr>
          </a:p>
          <a:p>
            <a:pPr eaLnBrk="0" hangingPunct="0">
              <a:lnSpc>
                <a:spcPct val="200000"/>
              </a:lnSpc>
              <a:buFont typeface="Wingdings" panose="05000000000000000000" pitchFamily="2" charset="2"/>
              <a:buChar char="Ø"/>
            </a:pPr>
            <a:r>
              <a:rPr lang="zh-CN" altLang="en-US" sz="1400" b="1" dirty="0">
                <a:solidFill>
                  <a:srgbClr val="000000"/>
                </a:solidFill>
                <a:latin typeface="Verdana" panose="020B0604030504040204" pitchFamily="34" charset="0"/>
                <a:ea typeface="宋体" panose="02010600030101010101" pitchFamily="2" charset="-122"/>
              </a:rPr>
              <a:t>转换十六进制</a:t>
            </a:r>
            <a:endParaRPr lang="en-US" altLang="zh-CN" sz="1400" b="1" dirty="0">
              <a:solidFill>
                <a:srgbClr val="000000"/>
              </a:solidFill>
              <a:latin typeface="Verdana" panose="020B0604030504040204" pitchFamily="34" charset="0"/>
              <a:ea typeface="宋体" panose="02010600030101010101" pitchFamily="2" charset="-122"/>
            </a:endParaRPr>
          </a:p>
        </p:txBody>
      </p:sp>
      <p:grpSp>
        <p:nvGrpSpPr>
          <p:cNvPr id="51" name="Group 35"/>
          <p:cNvGrpSpPr/>
          <p:nvPr/>
        </p:nvGrpSpPr>
        <p:grpSpPr bwMode="auto">
          <a:xfrm>
            <a:off x="6500801" y="1965343"/>
            <a:ext cx="1704995" cy="4035425"/>
            <a:chOff x="528" y="1058"/>
            <a:chExt cx="1680" cy="3125"/>
          </a:xfrm>
        </p:grpSpPr>
        <p:grpSp>
          <p:nvGrpSpPr>
            <p:cNvPr id="52" name="Group 36"/>
            <p:cNvGrpSpPr/>
            <p:nvPr/>
          </p:nvGrpSpPr>
          <p:grpSpPr bwMode="auto">
            <a:xfrm>
              <a:off x="528" y="1296"/>
              <a:ext cx="1680" cy="2887"/>
              <a:chOff x="720" y="905"/>
              <a:chExt cx="2263" cy="3319"/>
            </a:xfrm>
          </p:grpSpPr>
          <p:sp>
            <p:nvSpPr>
              <p:cNvPr id="59" name="AutoShape 37"/>
              <p:cNvSpPr>
                <a:spLocks noChangeArrowheads="1"/>
              </p:cNvSpPr>
              <p:nvPr/>
            </p:nvSpPr>
            <p:spPr bwMode="gray">
              <a:xfrm>
                <a:off x="720" y="905"/>
                <a:ext cx="2256" cy="2544"/>
              </a:xfrm>
              <a:prstGeom prst="roundRect">
                <a:avLst>
                  <a:gd name="adj" fmla="val 17509"/>
                </a:avLst>
              </a:prstGeom>
              <a:gradFill rotWithShape="1">
                <a:gsLst>
                  <a:gs pos="0">
                    <a:srgbClr val="B59F43"/>
                  </a:gs>
                  <a:gs pos="100000">
                    <a:srgbClr val="8F8849"/>
                  </a:gs>
                </a:gsLst>
                <a:lin ang="2700000" scaled="1"/>
              </a:gradFill>
              <a:ln w="9525">
                <a:noFill/>
                <a:round/>
              </a:ln>
              <a:effectLst/>
            </p:spPr>
            <p:txBody>
              <a:bodyPr wrap="none" anchor="ctr"/>
              <a:lstStyle/>
              <a:p>
                <a:endParaRPr lang="zh-CN" altLang="en-US"/>
              </a:p>
            </p:txBody>
          </p:sp>
          <p:sp>
            <p:nvSpPr>
              <p:cNvPr id="60" name="AutoShape 38"/>
              <p:cNvSpPr>
                <a:spLocks noChangeArrowheads="1"/>
              </p:cNvSpPr>
              <p:nvPr/>
            </p:nvSpPr>
            <p:spPr bwMode="gray">
              <a:xfrm>
                <a:off x="755" y="912"/>
                <a:ext cx="2188" cy="2496"/>
              </a:xfrm>
              <a:prstGeom prst="roundRect">
                <a:avLst>
                  <a:gd name="adj" fmla="val 16667"/>
                </a:avLst>
              </a:prstGeom>
              <a:solidFill>
                <a:srgbClr val="FF9999"/>
              </a:solidFill>
              <a:ln w="9525">
                <a:noFill/>
                <a:round/>
              </a:ln>
              <a:effectLst/>
            </p:spPr>
            <p:txBody>
              <a:bodyPr wrap="none" anchor="ctr"/>
              <a:lstStyle/>
              <a:p>
                <a:endParaRPr lang="zh-CN" altLang="en-US"/>
              </a:p>
            </p:txBody>
          </p:sp>
          <p:sp>
            <p:nvSpPr>
              <p:cNvPr id="61" name="AutoShape 39"/>
              <p:cNvSpPr>
                <a:spLocks noChangeArrowheads="1"/>
              </p:cNvSpPr>
              <p:nvPr/>
            </p:nvSpPr>
            <p:spPr bwMode="gray">
              <a:xfrm>
                <a:off x="773" y="2750"/>
                <a:ext cx="2158" cy="631"/>
              </a:xfrm>
              <a:prstGeom prst="roundRect">
                <a:avLst>
                  <a:gd name="adj" fmla="val 50000"/>
                </a:avLst>
              </a:prstGeom>
              <a:gradFill rotWithShape="1">
                <a:gsLst>
                  <a:gs pos="0">
                    <a:srgbClr val="EAEC86">
                      <a:alpha val="0"/>
                    </a:srgbClr>
                  </a:gs>
                  <a:gs pos="100000">
                    <a:srgbClr val="EAEC86">
                      <a:gamma/>
                      <a:tint val="87843"/>
                      <a:invGamma/>
                    </a:srgbClr>
                  </a:gs>
                </a:gsLst>
                <a:lin ang="5400000" scaled="1"/>
              </a:gradFill>
              <a:ln w="9525">
                <a:noFill/>
                <a:round/>
              </a:ln>
              <a:effectLst/>
            </p:spPr>
            <p:txBody>
              <a:bodyPr wrap="none" anchor="ctr"/>
              <a:lstStyle/>
              <a:p>
                <a:endParaRPr lang="zh-CN" altLang="en-US"/>
              </a:p>
            </p:txBody>
          </p:sp>
          <p:sp>
            <p:nvSpPr>
              <p:cNvPr id="62" name="AutoShape 40"/>
              <p:cNvSpPr>
                <a:spLocks noChangeArrowheads="1"/>
              </p:cNvSpPr>
              <p:nvPr/>
            </p:nvSpPr>
            <p:spPr bwMode="gray">
              <a:xfrm>
                <a:off x="773" y="932"/>
                <a:ext cx="2158" cy="631"/>
              </a:xfrm>
              <a:prstGeom prst="roundRect">
                <a:avLst>
                  <a:gd name="adj" fmla="val 50000"/>
                </a:avLst>
              </a:prstGeom>
              <a:gradFill rotWithShape="1">
                <a:gsLst>
                  <a:gs pos="0">
                    <a:srgbClr val="EAEC86">
                      <a:gamma/>
                      <a:tint val="33333"/>
                      <a:invGamma/>
                    </a:srgbClr>
                  </a:gs>
                  <a:gs pos="100000">
                    <a:srgbClr val="EAEC86">
                      <a:alpha val="0"/>
                    </a:srgbClr>
                  </a:gs>
                </a:gsLst>
                <a:lin ang="5400000" scaled="1"/>
              </a:gradFill>
              <a:ln w="9525">
                <a:noFill/>
                <a:round/>
              </a:ln>
              <a:effectLst/>
            </p:spPr>
            <p:txBody>
              <a:bodyPr wrap="none" anchor="ctr"/>
              <a:lstStyle/>
              <a:p>
                <a:endParaRPr lang="zh-CN" altLang="en-US"/>
              </a:p>
            </p:txBody>
          </p:sp>
          <p:sp>
            <p:nvSpPr>
              <p:cNvPr id="63" name="AutoShape 41"/>
              <p:cNvSpPr>
                <a:spLocks noChangeArrowheads="1"/>
              </p:cNvSpPr>
              <p:nvPr/>
            </p:nvSpPr>
            <p:spPr bwMode="gray">
              <a:xfrm>
                <a:off x="727" y="3449"/>
                <a:ext cx="2256" cy="775"/>
              </a:xfrm>
              <a:prstGeom prst="roundRect">
                <a:avLst>
                  <a:gd name="adj" fmla="val 40389"/>
                </a:avLst>
              </a:prstGeom>
              <a:gradFill rotWithShape="1">
                <a:gsLst>
                  <a:gs pos="0">
                    <a:srgbClr val="3477A4">
                      <a:alpha val="50000"/>
                    </a:srgbClr>
                  </a:gs>
                  <a:gs pos="100000">
                    <a:srgbClr val="3477A4">
                      <a:gamma/>
                      <a:shade val="46275"/>
                      <a:invGamma/>
                      <a:alpha val="0"/>
                    </a:srgbClr>
                  </a:gs>
                </a:gsLst>
                <a:lin ang="5400000" scaled="1"/>
              </a:gradFill>
              <a:ln w="9525">
                <a:noFill/>
                <a:round/>
              </a:ln>
              <a:effectLst/>
            </p:spPr>
            <p:txBody>
              <a:bodyPr wrap="none" anchor="ctr"/>
              <a:lstStyle/>
              <a:p>
                <a:endParaRPr lang="zh-CN" altLang="en-US"/>
              </a:p>
            </p:txBody>
          </p:sp>
          <p:sp>
            <p:nvSpPr>
              <p:cNvPr id="64" name="AutoShape 42"/>
              <p:cNvSpPr>
                <a:spLocks noChangeArrowheads="1"/>
              </p:cNvSpPr>
              <p:nvPr/>
            </p:nvSpPr>
            <p:spPr bwMode="gray">
              <a:xfrm>
                <a:off x="773" y="3470"/>
                <a:ext cx="2158" cy="631"/>
              </a:xfrm>
              <a:prstGeom prst="roundRect">
                <a:avLst>
                  <a:gd name="adj" fmla="val 50000"/>
                </a:avLst>
              </a:prstGeom>
              <a:gradFill rotWithShape="1">
                <a:gsLst>
                  <a:gs pos="0">
                    <a:srgbClr val="EAEC86">
                      <a:gamma/>
                      <a:tint val="33333"/>
                      <a:invGamma/>
                      <a:alpha val="50000"/>
                    </a:srgbClr>
                  </a:gs>
                  <a:gs pos="100000">
                    <a:srgbClr val="EAEC86">
                      <a:alpha val="0"/>
                    </a:srgbClr>
                  </a:gs>
                </a:gsLst>
                <a:lin ang="5400000" scaled="1"/>
              </a:gradFill>
              <a:ln w="9525">
                <a:noFill/>
                <a:round/>
              </a:ln>
              <a:effectLst/>
            </p:spPr>
            <p:txBody>
              <a:bodyPr wrap="none" anchor="ctr"/>
              <a:lstStyle/>
              <a:p>
                <a:endParaRPr lang="zh-CN" altLang="en-US"/>
              </a:p>
            </p:txBody>
          </p:sp>
        </p:grpSp>
        <p:grpSp>
          <p:nvGrpSpPr>
            <p:cNvPr id="53" name="Group 43"/>
            <p:cNvGrpSpPr/>
            <p:nvPr/>
          </p:nvGrpSpPr>
          <p:grpSpPr bwMode="auto">
            <a:xfrm>
              <a:off x="1104" y="1058"/>
              <a:ext cx="498" cy="498"/>
              <a:chOff x="1289" y="582"/>
              <a:chExt cx="668" cy="668"/>
            </a:xfrm>
          </p:grpSpPr>
          <p:sp>
            <p:nvSpPr>
              <p:cNvPr id="54" name="Oval 44"/>
              <p:cNvSpPr>
                <a:spLocks noChangeArrowheads="1"/>
              </p:cNvSpPr>
              <p:nvPr/>
            </p:nvSpPr>
            <p:spPr bwMode="gray">
              <a:xfrm>
                <a:off x="1289" y="582"/>
                <a:ext cx="668" cy="668"/>
              </a:xfrm>
              <a:prstGeom prst="ellipse">
                <a:avLst/>
              </a:prstGeom>
              <a:solidFill>
                <a:srgbClr val="333333"/>
              </a:solidFill>
              <a:ln w="38100" algn="ctr">
                <a:noFill/>
                <a:round/>
              </a:ln>
              <a:effectLst/>
            </p:spPr>
            <p:txBody>
              <a:bodyPr anchor="ctr">
                <a:spAutoFit/>
              </a:bodyPr>
              <a:lstStyle/>
              <a:p>
                <a:endParaRPr lang="zh-CN" altLang="en-US"/>
              </a:p>
            </p:txBody>
          </p:sp>
          <p:sp>
            <p:nvSpPr>
              <p:cNvPr id="55" name="Oval 45"/>
              <p:cNvSpPr>
                <a:spLocks noChangeArrowheads="1"/>
              </p:cNvSpPr>
              <p:nvPr/>
            </p:nvSpPr>
            <p:spPr bwMode="gray">
              <a:xfrm>
                <a:off x="1296" y="587"/>
                <a:ext cx="646" cy="647"/>
              </a:xfrm>
              <a:prstGeom prst="ellipse">
                <a:avLst/>
              </a:prstGeom>
              <a:gradFill rotWithShape="1">
                <a:gsLst>
                  <a:gs pos="0">
                    <a:srgbClr val="D6E1E2">
                      <a:gamma/>
                      <a:shade val="46275"/>
                      <a:invGamma/>
                    </a:srgbClr>
                  </a:gs>
                  <a:gs pos="100000">
                    <a:srgbClr val="D6E1E2"/>
                  </a:gs>
                </a:gsLst>
                <a:lin ang="5400000" scaled="1"/>
              </a:gradFill>
              <a:ln w="9525" algn="ctr">
                <a:noFill/>
                <a:round/>
              </a:ln>
              <a:effectLst/>
            </p:spPr>
            <p:txBody>
              <a:bodyPr vert="eaVert" wrap="none" anchor="ctr"/>
              <a:lstStyle/>
              <a:p>
                <a:endParaRPr lang="zh-CN" altLang="en-US"/>
              </a:p>
            </p:txBody>
          </p:sp>
          <p:sp>
            <p:nvSpPr>
              <p:cNvPr id="56" name="Oval 46"/>
              <p:cNvSpPr>
                <a:spLocks noChangeArrowheads="1"/>
              </p:cNvSpPr>
              <p:nvPr/>
            </p:nvSpPr>
            <p:spPr bwMode="gray">
              <a:xfrm>
                <a:off x="1304" y="591"/>
                <a:ext cx="631" cy="631"/>
              </a:xfrm>
              <a:prstGeom prst="ellipse">
                <a:avLst/>
              </a:prstGeom>
              <a:gradFill rotWithShape="1">
                <a:gsLst>
                  <a:gs pos="0">
                    <a:srgbClr val="D6E1E2">
                      <a:alpha val="0"/>
                    </a:srgbClr>
                  </a:gs>
                  <a:gs pos="100000">
                    <a:srgbClr val="D6E1E2">
                      <a:gamma/>
                      <a:tint val="34902"/>
                      <a:invGamma/>
                    </a:srgbClr>
                  </a:gs>
                </a:gsLst>
                <a:lin ang="5400000" scaled="1"/>
              </a:gradFill>
              <a:ln w="9525" algn="ctr">
                <a:noFill/>
                <a:round/>
              </a:ln>
              <a:effectLst/>
            </p:spPr>
            <p:txBody>
              <a:bodyPr vert="eaVert" wrap="none" anchor="ctr"/>
              <a:lstStyle/>
              <a:p>
                <a:endParaRPr lang="zh-CN" altLang="en-US"/>
              </a:p>
            </p:txBody>
          </p:sp>
          <p:sp>
            <p:nvSpPr>
              <p:cNvPr id="57" name="Oval 47"/>
              <p:cNvSpPr>
                <a:spLocks noChangeArrowheads="1"/>
              </p:cNvSpPr>
              <p:nvPr/>
            </p:nvSpPr>
            <p:spPr bwMode="gray">
              <a:xfrm>
                <a:off x="1311" y="597"/>
                <a:ext cx="600" cy="589"/>
              </a:xfrm>
              <a:prstGeom prst="ellipse">
                <a:avLst/>
              </a:prstGeom>
              <a:gradFill rotWithShape="1">
                <a:gsLst>
                  <a:gs pos="0">
                    <a:srgbClr val="D6E1E2">
                      <a:gamma/>
                      <a:shade val="79216"/>
                      <a:invGamma/>
                    </a:srgbClr>
                  </a:gs>
                  <a:gs pos="100000">
                    <a:srgbClr val="D6E1E2">
                      <a:alpha val="48000"/>
                    </a:srgbClr>
                  </a:gs>
                </a:gsLst>
                <a:lin ang="5400000" scaled="1"/>
              </a:gradFill>
              <a:ln w="9525" algn="ctr">
                <a:noFill/>
                <a:round/>
              </a:ln>
              <a:effectLst/>
            </p:spPr>
            <p:txBody>
              <a:bodyPr vert="eaVert" wrap="none" anchor="ctr"/>
              <a:lstStyle/>
              <a:p>
                <a:endParaRPr lang="zh-CN" altLang="en-US"/>
              </a:p>
            </p:txBody>
          </p:sp>
          <p:sp>
            <p:nvSpPr>
              <p:cNvPr id="58" name="Oval 48"/>
              <p:cNvSpPr>
                <a:spLocks noChangeArrowheads="1"/>
              </p:cNvSpPr>
              <p:nvPr/>
            </p:nvSpPr>
            <p:spPr bwMode="gray">
              <a:xfrm>
                <a:off x="1346" y="613"/>
                <a:ext cx="533" cy="479"/>
              </a:xfrm>
              <a:prstGeom prst="ellipse">
                <a:avLst/>
              </a:prstGeom>
              <a:gradFill rotWithShape="1">
                <a:gsLst>
                  <a:gs pos="0">
                    <a:srgbClr val="D6E1E2">
                      <a:gamma/>
                      <a:tint val="0"/>
                      <a:invGamma/>
                    </a:srgbClr>
                  </a:gs>
                  <a:gs pos="100000">
                    <a:srgbClr val="D6E1E2">
                      <a:alpha val="38000"/>
                    </a:srgbClr>
                  </a:gs>
                </a:gsLst>
                <a:lin ang="5400000" scaled="1"/>
              </a:gradFill>
              <a:ln w="9525" algn="ctr">
                <a:noFill/>
                <a:round/>
              </a:ln>
              <a:effectLst/>
            </p:spPr>
            <p:txBody>
              <a:bodyPr vert="eaVert" wrap="none" anchor="ctr"/>
              <a:lstStyle/>
              <a:p>
                <a:endParaRPr lang="zh-CN" altLang="en-US"/>
              </a:p>
            </p:txBody>
          </p:sp>
        </p:grpSp>
      </p:grpSp>
      <p:sp>
        <p:nvSpPr>
          <p:cNvPr id="65" name="Text Box 49"/>
          <p:cNvSpPr txBox="1">
            <a:spLocks noChangeArrowheads="1"/>
          </p:cNvSpPr>
          <p:nvPr/>
        </p:nvSpPr>
        <p:spPr bwMode="gray">
          <a:xfrm>
            <a:off x="7072305" y="2043106"/>
            <a:ext cx="546110" cy="457200"/>
          </a:xfrm>
          <a:prstGeom prst="rect">
            <a:avLst/>
          </a:prstGeom>
          <a:noFill/>
          <a:ln w="9525" algn="ctr">
            <a:noFill/>
            <a:miter lim="800000"/>
          </a:ln>
          <a:effectLst/>
        </p:spPr>
        <p:txBody>
          <a:bodyPr wrap="square">
            <a:spAutoFit/>
          </a:bodyPr>
          <a:lstStyle/>
          <a:p>
            <a:pPr algn="ctr" eaLnBrk="0" hangingPunct="0"/>
            <a:r>
              <a:rPr lang="en-US" altLang="zh-CN" sz="2400" dirty="0">
                <a:solidFill>
                  <a:srgbClr val="000000"/>
                </a:solidFill>
                <a:ea typeface="宋体" panose="02010600030101010101" pitchFamily="2" charset="-122"/>
              </a:rPr>
              <a:t>16</a:t>
            </a:r>
            <a:endParaRPr lang="en-US" altLang="zh-CN" sz="2400" dirty="0">
              <a:solidFill>
                <a:srgbClr val="000000"/>
              </a:solidFill>
              <a:ea typeface="宋体" panose="02010600030101010101" pitchFamily="2" charset="-122"/>
            </a:endParaRPr>
          </a:p>
        </p:txBody>
      </p:sp>
      <p:sp>
        <p:nvSpPr>
          <p:cNvPr id="66" name="Text Box 50"/>
          <p:cNvSpPr txBox="1">
            <a:spLocks noChangeArrowheads="1"/>
          </p:cNvSpPr>
          <p:nvPr/>
        </p:nvSpPr>
        <p:spPr bwMode="gray">
          <a:xfrm>
            <a:off x="6577000" y="2727343"/>
            <a:ext cx="1616440" cy="1313373"/>
          </a:xfrm>
          <a:prstGeom prst="rect">
            <a:avLst/>
          </a:prstGeom>
          <a:noFill/>
          <a:ln w="9525" algn="ctr">
            <a:noFill/>
            <a:miter lim="800000"/>
          </a:ln>
          <a:effectLst/>
        </p:spPr>
        <p:txBody>
          <a:bodyPr wrap="square">
            <a:spAutoFit/>
          </a:bodyPr>
          <a:lstStyle/>
          <a:p>
            <a:pPr eaLnBrk="0" hangingPunct="0">
              <a:lnSpc>
                <a:spcPct val="200000"/>
              </a:lnSpc>
              <a:buFont typeface="Wingdings" panose="05000000000000000000" pitchFamily="2" charset="2"/>
              <a:buChar char="Ø"/>
            </a:pPr>
            <a:r>
              <a:rPr lang="zh-CN" altLang="en-US" sz="1400" b="1" dirty="0">
                <a:solidFill>
                  <a:srgbClr val="000000"/>
                </a:solidFill>
                <a:latin typeface="Verdana" panose="020B0604030504040204" pitchFamily="34" charset="0"/>
                <a:ea typeface="宋体" panose="02010600030101010101" pitchFamily="2" charset="-122"/>
              </a:rPr>
              <a:t>转换二进制</a:t>
            </a:r>
            <a:endParaRPr lang="en-US" altLang="zh-CN" sz="1400" b="1" dirty="0">
              <a:solidFill>
                <a:srgbClr val="000000"/>
              </a:solidFill>
              <a:latin typeface="Verdana" panose="020B0604030504040204" pitchFamily="34" charset="0"/>
              <a:ea typeface="宋体" panose="02010600030101010101" pitchFamily="2" charset="-122"/>
            </a:endParaRPr>
          </a:p>
          <a:p>
            <a:pPr eaLnBrk="0" hangingPunct="0">
              <a:lnSpc>
                <a:spcPct val="200000"/>
              </a:lnSpc>
              <a:buFont typeface="Wingdings" panose="05000000000000000000" pitchFamily="2" charset="2"/>
              <a:buChar char="Ø"/>
            </a:pPr>
            <a:r>
              <a:rPr lang="zh-CN" altLang="en-US" sz="1400" b="1" dirty="0">
                <a:solidFill>
                  <a:srgbClr val="000000"/>
                </a:solidFill>
                <a:latin typeface="Verdana" panose="020B0604030504040204" pitchFamily="34" charset="0"/>
                <a:ea typeface="宋体" panose="02010600030101010101" pitchFamily="2" charset="-122"/>
              </a:rPr>
              <a:t>转换八进制</a:t>
            </a:r>
            <a:endParaRPr lang="en-US" altLang="zh-CN" sz="1400" b="1" dirty="0">
              <a:solidFill>
                <a:srgbClr val="000000"/>
              </a:solidFill>
              <a:latin typeface="Verdana" panose="020B0604030504040204" pitchFamily="34" charset="0"/>
              <a:ea typeface="宋体" panose="02010600030101010101" pitchFamily="2" charset="-122"/>
            </a:endParaRPr>
          </a:p>
          <a:p>
            <a:pPr eaLnBrk="0" hangingPunct="0">
              <a:lnSpc>
                <a:spcPct val="200000"/>
              </a:lnSpc>
              <a:buFont typeface="Wingdings" panose="05000000000000000000" pitchFamily="2" charset="2"/>
              <a:buChar char="Ø"/>
            </a:pPr>
            <a:r>
              <a:rPr lang="zh-CN" altLang="en-US" sz="1400" b="1" dirty="0">
                <a:solidFill>
                  <a:srgbClr val="000000"/>
                </a:solidFill>
                <a:latin typeface="Verdana" panose="020B0604030504040204" pitchFamily="34" charset="0"/>
                <a:ea typeface="宋体" panose="02010600030101010101" pitchFamily="2" charset="-122"/>
              </a:rPr>
              <a:t>转换十进制</a:t>
            </a:r>
            <a:endParaRPr lang="en-US" altLang="zh-CN" sz="1400" b="1" dirty="0">
              <a:solidFill>
                <a:srgbClr val="000000"/>
              </a:solidFill>
              <a:latin typeface="Verdana" panose="020B0604030504040204" pitchFamily="34" charset="0"/>
              <a:ea typeface="宋体" panose="02010600030101010101" pitchFamily="2" charset="-122"/>
            </a:endParaRP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数制转换</a:t>
            </a:r>
            <a:endParaRPr lang="zh-CN" altLang="en-US" dirty="0"/>
          </a:p>
        </p:txBody>
      </p:sp>
      <p:sp>
        <p:nvSpPr>
          <p:cNvPr id="3" name="内容占位符 2"/>
          <p:cNvSpPr>
            <a:spLocks noGrp="1"/>
          </p:cNvSpPr>
          <p:nvPr>
            <p:ph idx="1"/>
          </p:nvPr>
        </p:nvSpPr>
        <p:spPr>
          <a:xfrm>
            <a:off x="457200" y="1349077"/>
            <a:ext cx="8229600" cy="5248275"/>
          </a:xfrm>
        </p:spPr>
        <p:txBody>
          <a:bodyPr/>
          <a:lstStyle/>
          <a:p>
            <a:r>
              <a:rPr lang="zh-CN" altLang="en-US" dirty="0"/>
              <a:t>十进制转换为</a:t>
            </a:r>
            <a:r>
              <a:rPr lang="en-US" altLang="zh-CN" dirty="0"/>
              <a:t>R</a:t>
            </a:r>
            <a:r>
              <a:rPr lang="zh-CN" altLang="en-US" dirty="0"/>
              <a:t>进制</a:t>
            </a:r>
            <a:endParaRPr lang="en-US" altLang="zh-CN" dirty="0"/>
          </a:p>
          <a:p>
            <a:pPr lvl="1"/>
            <a:r>
              <a:rPr lang="zh-CN" altLang="en-US" dirty="0"/>
              <a:t>对整数，除以</a:t>
            </a:r>
            <a:r>
              <a:rPr lang="en-US" altLang="zh-CN" dirty="0"/>
              <a:t>R</a:t>
            </a:r>
            <a:r>
              <a:rPr lang="zh-CN" altLang="en-US" dirty="0"/>
              <a:t>取余，倒排余数</a:t>
            </a:r>
            <a:endParaRPr lang="en-US" altLang="zh-CN" dirty="0"/>
          </a:p>
          <a:p>
            <a:pPr lvl="2"/>
            <a:r>
              <a:rPr lang="en-US" altLang="zh-CN" dirty="0"/>
              <a:t>19</a:t>
            </a:r>
            <a:r>
              <a:rPr lang="zh-CN" altLang="en-US" dirty="0"/>
              <a:t>（</a:t>
            </a:r>
            <a:r>
              <a:rPr lang="en-US" altLang="zh-CN" dirty="0"/>
              <a:t>10</a:t>
            </a:r>
            <a:r>
              <a:rPr lang="zh-CN" altLang="en-US" dirty="0"/>
              <a:t>）</a:t>
            </a:r>
            <a:r>
              <a:rPr lang="en-US" altLang="zh-CN" dirty="0"/>
              <a:t>= </a:t>
            </a:r>
            <a:endParaRPr lang="en-US" altLang="zh-CN" dirty="0"/>
          </a:p>
          <a:p>
            <a:pPr lvl="2"/>
            <a:endParaRPr lang="en-US" altLang="zh-CN" dirty="0"/>
          </a:p>
          <a:p>
            <a:pPr lvl="2"/>
            <a:endParaRPr lang="en-US" altLang="zh-CN" dirty="0"/>
          </a:p>
          <a:p>
            <a:pPr lvl="2"/>
            <a:endParaRPr lang="en-US" altLang="zh-CN" dirty="0"/>
          </a:p>
          <a:p>
            <a:pPr lvl="2"/>
            <a:endParaRPr lang="en-US" altLang="zh-CN" dirty="0"/>
          </a:p>
          <a:p>
            <a:pPr lvl="2"/>
            <a:endParaRPr lang="en-US" altLang="zh-CN" dirty="0"/>
          </a:p>
          <a:p>
            <a:pPr lvl="2"/>
            <a:endParaRPr lang="en-US" altLang="zh-CN" dirty="0"/>
          </a:p>
          <a:p>
            <a:pPr lvl="2"/>
            <a:endParaRPr lang="en-US" altLang="zh-CN" dirty="0"/>
          </a:p>
          <a:p>
            <a:pPr lvl="1"/>
            <a:r>
              <a:rPr lang="zh-CN" altLang="en-US" dirty="0"/>
              <a:t>对小数部分，乘以</a:t>
            </a:r>
            <a:r>
              <a:rPr lang="en-US" altLang="zh-CN" dirty="0"/>
              <a:t>R</a:t>
            </a:r>
            <a:r>
              <a:rPr lang="zh-CN" altLang="en-US" dirty="0"/>
              <a:t>取整</a:t>
            </a:r>
            <a:endParaRPr lang="zh-CN" altLang="en-US" dirty="0"/>
          </a:p>
        </p:txBody>
      </p:sp>
      <p:pic>
        <p:nvPicPr>
          <p:cNvPr id="34" name="Picture 4"/>
          <p:cNvPicPr>
            <a:picLocks noChangeAspect="1" noChangeArrowheads="1"/>
          </p:cNvPicPr>
          <p:nvPr/>
        </p:nvPicPr>
        <p:blipFill>
          <a:blip r:embed="rId1" cstate="print"/>
          <a:srcRect/>
          <a:stretch>
            <a:fillRect/>
          </a:stretch>
        </p:blipFill>
        <p:spPr bwMode="auto">
          <a:xfrm>
            <a:off x="2038351" y="3440888"/>
            <a:ext cx="333375" cy="439737"/>
          </a:xfrm>
          <a:prstGeom prst="rect">
            <a:avLst/>
          </a:prstGeom>
          <a:noFill/>
          <a:ln w="9525">
            <a:miter lim="800000"/>
            <a:headEnd/>
            <a:tailEnd/>
          </a:ln>
          <a:effectLst/>
        </p:spPr>
      </p:pic>
      <p:pic>
        <p:nvPicPr>
          <p:cNvPr id="2057" name="Picture 9"/>
          <p:cNvPicPr>
            <a:picLocks noChangeAspect="1" noChangeArrowheads="1"/>
          </p:cNvPicPr>
          <p:nvPr/>
        </p:nvPicPr>
        <p:blipFill>
          <a:blip r:embed="rId2"/>
          <a:srcRect/>
          <a:stretch>
            <a:fillRect/>
          </a:stretch>
        </p:blipFill>
        <p:spPr bwMode="auto">
          <a:xfrm>
            <a:off x="1252513" y="3504393"/>
            <a:ext cx="9525" cy="371475"/>
          </a:xfrm>
          <a:prstGeom prst="rect">
            <a:avLst/>
          </a:prstGeom>
          <a:noFill/>
          <a:ln w="9525">
            <a:noFill/>
            <a:miter lim="800000"/>
            <a:headEnd/>
            <a:tailEnd/>
          </a:ln>
          <a:effectLst/>
        </p:spPr>
      </p:pic>
      <p:pic>
        <p:nvPicPr>
          <p:cNvPr id="2058" name="Picture 10"/>
          <p:cNvPicPr>
            <a:picLocks noChangeAspect="1" noChangeArrowheads="1"/>
          </p:cNvPicPr>
          <p:nvPr/>
        </p:nvPicPr>
        <p:blipFill>
          <a:blip r:embed="rId3"/>
          <a:srcRect/>
          <a:stretch>
            <a:fillRect/>
          </a:stretch>
        </p:blipFill>
        <p:spPr bwMode="auto">
          <a:xfrm>
            <a:off x="1252513" y="3866343"/>
            <a:ext cx="1095375" cy="9525"/>
          </a:xfrm>
          <a:prstGeom prst="rect">
            <a:avLst/>
          </a:prstGeom>
          <a:noFill/>
          <a:ln w="9525">
            <a:noFill/>
            <a:miter lim="800000"/>
            <a:headEnd/>
            <a:tailEnd/>
          </a:ln>
          <a:effectLst/>
        </p:spPr>
      </p:pic>
      <p:pic>
        <p:nvPicPr>
          <p:cNvPr id="43" name="Picture 11"/>
          <p:cNvPicPr>
            <a:picLocks noChangeAspect="1" noChangeArrowheads="1"/>
          </p:cNvPicPr>
          <p:nvPr/>
        </p:nvPicPr>
        <p:blipFill>
          <a:blip r:embed="rId4" cstate="print"/>
          <a:srcRect/>
          <a:stretch>
            <a:fillRect/>
          </a:stretch>
        </p:blipFill>
        <p:spPr bwMode="auto">
          <a:xfrm>
            <a:off x="1000126" y="3447238"/>
            <a:ext cx="180975" cy="439737"/>
          </a:xfrm>
          <a:prstGeom prst="rect">
            <a:avLst/>
          </a:prstGeom>
          <a:noFill/>
          <a:ln w="9525">
            <a:miter lim="800000"/>
            <a:headEnd/>
            <a:tailEnd/>
          </a:ln>
          <a:effectLst/>
        </p:spPr>
      </p:pic>
      <p:pic>
        <p:nvPicPr>
          <p:cNvPr id="41" name="Picture 12"/>
          <p:cNvPicPr>
            <a:picLocks noChangeAspect="1" noChangeArrowheads="1"/>
          </p:cNvPicPr>
          <p:nvPr/>
        </p:nvPicPr>
        <p:blipFill>
          <a:blip r:embed="rId5" cstate="print"/>
          <a:srcRect/>
          <a:stretch>
            <a:fillRect/>
          </a:stretch>
        </p:blipFill>
        <p:spPr bwMode="auto">
          <a:xfrm>
            <a:off x="2143126" y="3864750"/>
            <a:ext cx="180975" cy="439738"/>
          </a:xfrm>
          <a:prstGeom prst="rect">
            <a:avLst/>
          </a:prstGeom>
          <a:noFill/>
          <a:ln w="9525">
            <a:miter lim="800000"/>
            <a:headEnd/>
            <a:tailEnd/>
          </a:ln>
          <a:effectLst/>
        </p:spPr>
      </p:pic>
      <p:pic>
        <p:nvPicPr>
          <p:cNvPr id="39" name="Picture 13"/>
          <p:cNvPicPr>
            <a:picLocks noChangeAspect="1" noChangeArrowheads="1"/>
          </p:cNvPicPr>
          <p:nvPr/>
        </p:nvPicPr>
        <p:blipFill>
          <a:blip r:embed="rId6" cstate="print"/>
          <a:srcRect/>
          <a:stretch>
            <a:fillRect/>
          </a:stretch>
        </p:blipFill>
        <p:spPr bwMode="auto">
          <a:xfrm>
            <a:off x="2895601" y="2947175"/>
            <a:ext cx="638175" cy="439738"/>
          </a:xfrm>
          <a:prstGeom prst="rect">
            <a:avLst/>
          </a:prstGeom>
          <a:noFill/>
          <a:ln w="9525">
            <a:miter lim="800000"/>
            <a:headEnd/>
            <a:tailEnd/>
          </a:ln>
          <a:effectLst/>
        </p:spPr>
      </p:pic>
      <p:pic>
        <p:nvPicPr>
          <p:cNvPr id="29" name="Picture 14"/>
          <p:cNvPicPr>
            <a:picLocks noChangeAspect="1" noChangeArrowheads="1"/>
          </p:cNvPicPr>
          <p:nvPr/>
        </p:nvPicPr>
        <p:blipFill>
          <a:blip r:embed="rId7" cstate="print"/>
          <a:srcRect/>
          <a:stretch>
            <a:fillRect/>
          </a:stretch>
        </p:blipFill>
        <p:spPr bwMode="auto">
          <a:xfrm>
            <a:off x="3181351" y="3864750"/>
            <a:ext cx="180975" cy="439738"/>
          </a:xfrm>
          <a:prstGeom prst="rect">
            <a:avLst/>
          </a:prstGeom>
          <a:noFill/>
          <a:ln w="9525">
            <a:miter lim="800000"/>
            <a:headEnd/>
            <a:tailEnd/>
          </a:ln>
          <a:effectLst/>
        </p:spPr>
      </p:pic>
      <p:pic>
        <p:nvPicPr>
          <p:cNvPr id="2063" name="Picture 15"/>
          <p:cNvPicPr>
            <a:picLocks noChangeAspect="1" noChangeArrowheads="1"/>
          </p:cNvPicPr>
          <p:nvPr/>
        </p:nvPicPr>
        <p:blipFill>
          <a:blip r:embed="rId2"/>
          <a:srcRect/>
          <a:stretch>
            <a:fillRect/>
          </a:stretch>
        </p:blipFill>
        <p:spPr bwMode="auto">
          <a:xfrm>
            <a:off x="1395389" y="3875868"/>
            <a:ext cx="9525" cy="371475"/>
          </a:xfrm>
          <a:prstGeom prst="rect">
            <a:avLst/>
          </a:prstGeom>
          <a:noFill/>
          <a:ln w="9525">
            <a:noFill/>
            <a:miter lim="800000"/>
            <a:headEnd/>
            <a:tailEnd/>
          </a:ln>
          <a:effectLst/>
        </p:spPr>
      </p:pic>
      <p:pic>
        <p:nvPicPr>
          <p:cNvPr id="28" name="Picture 20"/>
          <p:cNvPicPr>
            <a:picLocks noChangeAspect="1" noChangeArrowheads="1"/>
          </p:cNvPicPr>
          <p:nvPr/>
        </p:nvPicPr>
        <p:blipFill>
          <a:blip r:embed="rId8" cstate="print"/>
          <a:srcRect/>
          <a:stretch>
            <a:fillRect/>
          </a:stretch>
        </p:blipFill>
        <p:spPr bwMode="auto">
          <a:xfrm>
            <a:off x="1181101" y="3864750"/>
            <a:ext cx="180975" cy="439738"/>
          </a:xfrm>
          <a:prstGeom prst="rect">
            <a:avLst/>
          </a:prstGeom>
          <a:noFill/>
          <a:ln w="9525">
            <a:miter lim="800000"/>
            <a:headEnd/>
            <a:tailEnd/>
          </a:ln>
          <a:effectLst/>
        </p:spPr>
      </p:pic>
      <p:pic>
        <p:nvPicPr>
          <p:cNvPr id="2071" name="Picture 23"/>
          <p:cNvPicPr>
            <a:picLocks noChangeAspect="1" noChangeArrowheads="1"/>
          </p:cNvPicPr>
          <p:nvPr/>
        </p:nvPicPr>
        <p:blipFill>
          <a:blip r:embed="rId9" cstate="print"/>
          <a:srcRect/>
          <a:stretch>
            <a:fillRect/>
          </a:stretch>
        </p:blipFill>
        <p:spPr bwMode="auto">
          <a:xfrm>
            <a:off x="1371583" y="4233058"/>
            <a:ext cx="952500" cy="1428750"/>
          </a:xfrm>
          <a:prstGeom prst="rect">
            <a:avLst/>
          </a:prstGeom>
          <a:noFill/>
          <a:ln w="9525">
            <a:noFill/>
            <a:miter lim="800000"/>
            <a:headEnd/>
            <a:tailEnd/>
          </a:ln>
          <a:effectLst/>
        </p:spPr>
      </p:pic>
      <p:pic>
        <p:nvPicPr>
          <p:cNvPr id="2072" name="Picture 24"/>
          <p:cNvPicPr>
            <a:picLocks noChangeAspect="1" noChangeArrowheads="1"/>
          </p:cNvPicPr>
          <p:nvPr/>
        </p:nvPicPr>
        <p:blipFill>
          <a:blip r:embed="rId10" cstate="print"/>
          <a:srcRect/>
          <a:stretch>
            <a:fillRect/>
          </a:stretch>
        </p:blipFill>
        <p:spPr bwMode="auto">
          <a:xfrm>
            <a:off x="3714744" y="3018612"/>
            <a:ext cx="485775" cy="2714644"/>
          </a:xfrm>
          <a:prstGeom prst="rect">
            <a:avLst/>
          </a:prstGeom>
          <a:noFill/>
          <a:ln w="9525">
            <a:noFill/>
            <a:miter lim="800000"/>
            <a:headEnd/>
            <a:tailEnd/>
          </a:ln>
          <a:effectLst/>
        </p:spPr>
      </p:pic>
      <p:pic>
        <p:nvPicPr>
          <p:cNvPr id="42" name="Picture 28"/>
          <p:cNvPicPr>
            <a:picLocks noChangeAspect="1" noChangeArrowheads="1"/>
          </p:cNvPicPr>
          <p:nvPr/>
        </p:nvPicPr>
        <p:blipFill>
          <a:blip r:embed="rId11" cstate="print"/>
          <a:srcRect/>
          <a:stretch>
            <a:fillRect/>
          </a:stretch>
        </p:blipFill>
        <p:spPr bwMode="auto">
          <a:xfrm>
            <a:off x="3175447" y="2383807"/>
            <a:ext cx="198437" cy="406400"/>
          </a:xfrm>
          <a:prstGeom prst="rect">
            <a:avLst/>
          </a:prstGeom>
          <a:noFill/>
          <a:ln w="9525">
            <a:miter lim="800000"/>
            <a:headEnd/>
            <a:tailEnd/>
          </a:ln>
          <a:effectLst/>
        </p:spPr>
      </p:pic>
      <p:pic>
        <p:nvPicPr>
          <p:cNvPr id="40" name="Picture 29"/>
          <p:cNvPicPr>
            <a:picLocks noChangeAspect="1" noChangeArrowheads="1"/>
          </p:cNvPicPr>
          <p:nvPr/>
        </p:nvPicPr>
        <p:blipFill>
          <a:blip r:embed="rId12" cstate="print"/>
          <a:srcRect/>
          <a:stretch>
            <a:fillRect/>
          </a:stretch>
        </p:blipFill>
        <p:spPr bwMode="auto">
          <a:xfrm>
            <a:off x="3316734" y="2383807"/>
            <a:ext cx="744538" cy="406400"/>
          </a:xfrm>
          <a:prstGeom prst="rect">
            <a:avLst/>
          </a:prstGeom>
          <a:noFill/>
          <a:ln w="9525">
            <a:miter lim="800000"/>
            <a:headEnd/>
            <a:tailEnd/>
          </a:ln>
          <a:effectLst/>
        </p:spPr>
      </p:pic>
      <p:pic>
        <p:nvPicPr>
          <p:cNvPr id="30" name="Picture 30"/>
          <p:cNvPicPr>
            <a:picLocks noChangeAspect="1" noChangeArrowheads="1"/>
          </p:cNvPicPr>
          <p:nvPr/>
        </p:nvPicPr>
        <p:blipFill>
          <a:blip r:embed="rId13" cstate="print"/>
          <a:srcRect/>
          <a:stretch>
            <a:fillRect/>
          </a:stretch>
        </p:blipFill>
        <p:spPr bwMode="auto">
          <a:xfrm>
            <a:off x="3176588" y="4221938"/>
            <a:ext cx="180975" cy="439737"/>
          </a:xfrm>
          <a:prstGeom prst="rect">
            <a:avLst/>
          </a:prstGeom>
          <a:noFill/>
          <a:ln w="9525">
            <a:miter lim="800000"/>
            <a:headEnd/>
            <a:tailEnd/>
          </a:ln>
          <a:effectLst/>
        </p:spPr>
      </p:pic>
      <p:pic>
        <p:nvPicPr>
          <p:cNvPr id="32" name="Picture 31"/>
          <p:cNvPicPr>
            <a:picLocks noChangeAspect="1" noChangeArrowheads="1"/>
          </p:cNvPicPr>
          <p:nvPr/>
        </p:nvPicPr>
        <p:blipFill>
          <a:blip r:embed="rId14" cstate="print"/>
          <a:srcRect/>
          <a:stretch>
            <a:fillRect/>
          </a:stretch>
        </p:blipFill>
        <p:spPr bwMode="auto">
          <a:xfrm>
            <a:off x="3176588" y="4579125"/>
            <a:ext cx="180975" cy="439738"/>
          </a:xfrm>
          <a:prstGeom prst="rect">
            <a:avLst/>
          </a:prstGeom>
          <a:noFill/>
          <a:ln w="9525">
            <a:miter lim="800000"/>
            <a:headEnd/>
            <a:tailEnd/>
          </a:ln>
          <a:effectLst/>
        </p:spPr>
      </p:pic>
      <p:pic>
        <p:nvPicPr>
          <p:cNvPr id="35" name="Picture 32"/>
          <p:cNvPicPr>
            <a:picLocks noChangeAspect="1" noChangeArrowheads="1"/>
          </p:cNvPicPr>
          <p:nvPr/>
        </p:nvPicPr>
        <p:blipFill>
          <a:blip r:embed="rId15" cstate="print"/>
          <a:srcRect/>
          <a:stretch>
            <a:fillRect/>
          </a:stretch>
        </p:blipFill>
        <p:spPr bwMode="auto">
          <a:xfrm>
            <a:off x="3176588" y="4936313"/>
            <a:ext cx="180975" cy="439737"/>
          </a:xfrm>
          <a:prstGeom prst="rect">
            <a:avLst/>
          </a:prstGeom>
          <a:noFill/>
          <a:ln w="9525">
            <a:miter lim="800000"/>
            <a:headEnd/>
            <a:tailEnd/>
          </a:ln>
          <a:effectLst/>
        </p:spPr>
      </p:pic>
      <p:pic>
        <p:nvPicPr>
          <p:cNvPr id="37" name="Picture 33"/>
          <p:cNvPicPr>
            <a:picLocks noChangeAspect="1" noChangeArrowheads="1"/>
          </p:cNvPicPr>
          <p:nvPr/>
        </p:nvPicPr>
        <p:blipFill>
          <a:blip r:embed="rId16" cstate="print"/>
          <a:srcRect/>
          <a:stretch>
            <a:fillRect/>
          </a:stretch>
        </p:blipFill>
        <p:spPr bwMode="auto">
          <a:xfrm>
            <a:off x="3176588" y="5233175"/>
            <a:ext cx="180975" cy="439738"/>
          </a:xfrm>
          <a:prstGeom prst="rect">
            <a:avLst/>
          </a:prstGeom>
          <a:noFill/>
          <a:ln w="9525">
            <a:miter lim="800000"/>
            <a:headEnd/>
            <a:tailEnd/>
          </a:ln>
          <a:effectLst/>
        </p:spPr>
      </p:pic>
      <p:pic>
        <p:nvPicPr>
          <p:cNvPr id="38" name="Picture 35"/>
          <p:cNvPicPr>
            <a:picLocks noChangeAspect="1" noChangeArrowheads="1"/>
          </p:cNvPicPr>
          <p:nvPr/>
        </p:nvPicPr>
        <p:blipFill>
          <a:blip r:embed="rId17" cstate="print"/>
          <a:srcRect/>
          <a:stretch>
            <a:fillRect/>
          </a:stretch>
        </p:blipFill>
        <p:spPr bwMode="auto">
          <a:xfrm>
            <a:off x="3246884" y="2348880"/>
            <a:ext cx="180975" cy="439738"/>
          </a:xfrm>
          <a:prstGeom prst="rect">
            <a:avLst/>
          </a:prstGeom>
          <a:noFill/>
          <a:ln w="9525">
            <a:miter lim="800000"/>
            <a:headEnd/>
            <a:tailEnd/>
          </a:ln>
          <a:effectLst/>
        </p:spPr>
      </p:pic>
      <p:pic>
        <p:nvPicPr>
          <p:cNvPr id="36" name="Picture 36"/>
          <p:cNvPicPr>
            <a:picLocks noChangeAspect="1" noChangeArrowheads="1"/>
          </p:cNvPicPr>
          <p:nvPr/>
        </p:nvPicPr>
        <p:blipFill>
          <a:blip r:embed="rId18" cstate="print"/>
          <a:srcRect/>
          <a:stretch>
            <a:fillRect/>
          </a:stretch>
        </p:blipFill>
        <p:spPr bwMode="auto">
          <a:xfrm>
            <a:off x="3494534" y="2348880"/>
            <a:ext cx="180975" cy="439738"/>
          </a:xfrm>
          <a:prstGeom prst="rect">
            <a:avLst/>
          </a:prstGeom>
          <a:noFill/>
          <a:ln w="9525">
            <a:miter lim="800000"/>
            <a:headEnd/>
            <a:tailEnd/>
          </a:ln>
          <a:effectLst/>
        </p:spPr>
      </p:pic>
      <p:pic>
        <p:nvPicPr>
          <p:cNvPr id="33" name="Picture 37"/>
          <p:cNvPicPr>
            <a:picLocks noChangeAspect="1" noChangeArrowheads="1"/>
          </p:cNvPicPr>
          <p:nvPr/>
        </p:nvPicPr>
        <p:blipFill>
          <a:blip r:embed="rId19" cstate="print"/>
          <a:srcRect/>
          <a:stretch>
            <a:fillRect/>
          </a:stretch>
        </p:blipFill>
        <p:spPr bwMode="auto">
          <a:xfrm>
            <a:off x="3746947" y="2348880"/>
            <a:ext cx="180975" cy="439738"/>
          </a:xfrm>
          <a:prstGeom prst="rect">
            <a:avLst/>
          </a:prstGeom>
          <a:noFill/>
          <a:ln w="9525">
            <a:miter lim="800000"/>
            <a:headEnd/>
            <a:tailEnd/>
          </a:ln>
          <a:effectLst/>
        </p:spPr>
      </p:pic>
      <p:pic>
        <p:nvPicPr>
          <p:cNvPr id="31" name="Picture 38"/>
          <p:cNvPicPr>
            <a:picLocks noChangeAspect="1" noChangeArrowheads="1"/>
          </p:cNvPicPr>
          <p:nvPr/>
        </p:nvPicPr>
        <p:blipFill>
          <a:blip r:embed="rId20" cstate="print"/>
          <a:srcRect/>
          <a:stretch>
            <a:fillRect/>
          </a:stretch>
        </p:blipFill>
        <p:spPr bwMode="auto">
          <a:xfrm>
            <a:off x="3994597" y="2348880"/>
            <a:ext cx="180975" cy="439738"/>
          </a:xfrm>
          <a:prstGeom prst="rect">
            <a:avLst/>
          </a:prstGeom>
          <a:noFill/>
          <a:ln w="9525">
            <a:miter lim="800000"/>
            <a:headEnd/>
            <a:tailEnd/>
          </a:ln>
          <a:effectLst/>
        </p:spPr>
      </p:pic>
      <p:pic>
        <p:nvPicPr>
          <p:cNvPr id="44" name="Picture 39"/>
          <p:cNvPicPr>
            <a:picLocks noChangeAspect="1" noChangeArrowheads="1"/>
          </p:cNvPicPr>
          <p:nvPr/>
        </p:nvPicPr>
        <p:blipFill>
          <a:blip r:embed="rId21" cstate="print"/>
          <a:srcRect/>
          <a:stretch>
            <a:fillRect/>
          </a:stretch>
        </p:blipFill>
        <p:spPr bwMode="auto">
          <a:xfrm>
            <a:off x="4247009" y="2348880"/>
            <a:ext cx="180975" cy="439738"/>
          </a:xfrm>
          <a:prstGeom prst="rect">
            <a:avLst/>
          </a:prstGeom>
          <a:noFill/>
          <a:ln w="9525">
            <a:miter lim="800000"/>
            <a:headEnd/>
            <a:tailEnd/>
          </a:ln>
          <a:effectLst/>
        </p:spPr>
      </p:pic>
      <p:sp>
        <p:nvSpPr>
          <p:cNvPr id="27" name="TextBox 26"/>
          <p:cNvSpPr txBox="1"/>
          <p:nvPr/>
        </p:nvSpPr>
        <p:spPr>
          <a:xfrm>
            <a:off x="5429256" y="2319263"/>
            <a:ext cx="3429024" cy="461665"/>
          </a:xfrm>
          <a:prstGeom prst="rect">
            <a:avLst/>
          </a:prstGeom>
          <a:noFill/>
        </p:spPr>
        <p:txBody>
          <a:bodyPr wrap="square" rtlCol="0">
            <a:spAutoFit/>
          </a:bodyPr>
          <a:lstStyle/>
          <a:p>
            <a:pPr>
              <a:buFont typeface="Arial" panose="020B0604020202020204" pitchFamily="34" charset="0"/>
              <a:buChar char="•"/>
            </a:pPr>
            <a:r>
              <a:rPr lang="en-US" altLang="zh-CN" sz="2400" b="1" dirty="0">
                <a:latin typeface="楷体_GB2312" pitchFamily="49" charset="-122"/>
                <a:ea typeface="楷体_GB2312" pitchFamily="49" charset="-122"/>
              </a:rPr>
              <a:t> 140</a:t>
            </a:r>
            <a:r>
              <a:rPr lang="zh-CN" altLang="en-US" sz="2400" b="1" dirty="0">
                <a:latin typeface="楷体_GB2312" pitchFamily="49" charset="-122"/>
                <a:ea typeface="楷体_GB2312" pitchFamily="49" charset="-122"/>
              </a:rPr>
              <a:t>（</a:t>
            </a:r>
            <a:r>
              <a:rPr lang="en-US" altLang="zh-CN" sz="2400" b="1" dirty="0">
                <a:latin typeface="楷体_GB2312" pitchFamily="49" charset="-122"/>
                <a:ea typeface="楷体_GB2312" pitchFamily="49" charset="-122"/>
              </a:rPr>
              <a:t>10</a:t>
            </a:r>
            <a:r>
              <a:rPr lang="zh-CN" altLang="en-US" sz="2400" b="1" dirty="0">
                <a:latin typeface="楷体_GB2312" pitchFamily="49" charset="-122"/>
                <a:ea typeface="楷体_GB2312" pitchFamily="49" charset="-122"/>
              </a:rPr>
              <a:t>）</a:t>
            </a:r>
            <a:r>
              <a:rPr lang="en-US" altLang="zh-CN" sz="2400" b="1" dirty="0">
                <a:latin typeface="楷体_GB2312" pitchFamily="49" charset="-122"/>
                <a:ea typeface="楷体_GB2312" pitchFamily="49" charset="-122"/>
              </a:rPr>
              <a:t>= 8C</a:t>
            </a:r>
            <a:r>
              <a:rPr lang="zh-CN" altLang="en-US" sz="2400" b="1" dirty="0">
                <a:latin typeface="楷体_GB2312" pitchFamily="49" charset="-122"/>
                <a:ea typeface="楷体_GB2312" pitchFamily="49" charset="-122"/>
              </a:rPr>
              <a:t>（</a:t>
            </a:r>
            <a:r>
              <a:rPr lang="en-US" altLang="zh-CN" sz="2400" b="1" dirty="0">
                <a:latin typeface="楷体_GB2312" pitchFamily="49" charset="-122"/>
                <a:ea typeface="楷体_GB2312" pitchFamily="49" charset="-122"/>
              </a:rPr>
              <a:t>16</a:t>
            </a:r>
            <a:r>
              <a:rPr lang="zh-CN" altLang="en-US" sz="2400" b="1" dirty="0">
                <a:latin typeface="楷体_GB2312" pitchFamily="49" charset="-122"/>
                <a:ea typeface="楷体_GB2312" pitchFamily="49" charset="-122"/>
              </a:rPr>
              <a:t>）</a:t>
            </a:r>
            <a:endParaRPr lang="zh-CN" altLang="en-US" sz="2400" b="1" dirty="0">
              <a:latin typeface="楷体_GB2312" pitchFamily="49" charset="-122"/>
              <a:ea typeface="楷体_GB2312" pitchFamily="49" charset="-122"/>
            </a:endParaRPr>
          </a:p>
        </p:txBody>
      </p:sp>
      <p:pic>
        <p:nvPicPr>
          <p:cNvPr id="2089" name="Picture 41"/>
          <p:cNvPicPr>
            <a:picLocks noChangeAspect="1" noChangeArrowheads="1"/>
          </p:cNvPicPr>
          <p:nvPr/>
        </p:nvPicPr>
        <p:blipFill>
          <a:blip r:embed="rId22" cstate="print"/>
          <a:srcRect/>
          <a:stretch>
            <a:fillRect/>
          </a:stretch>
        </p:blipFill>
        <p:spPr bwMode="auto">
          <a:xfrm>
            <a:off x="5500694" y="2947174"/>
            <a:ext cx="3095625" cy="1657350"/>
          </a:xfrm>
          <a:prstGeom prst="rect">
            <a:avLst/>
          </a:prstGeom>
          <a:noFill/>
          <a:ln w="9525">
            <a:noFill/>
            <a:miter lim="800000"/>
            <a:headEnd/>
            <a:tailEnd/>
          </a:ln>
          <a:effec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3" presetClass="entr" presetSubtype="10" fill="hold" nodeType="clickEffect">
                                  <p:stCondLst>
                                    <p:cond delay="0"/>
                                  </p:stCondLst>
                                  <p:childTnLst>
                                    <p:set>
                                      <p:cBhvr>
                                        <p:cTn id="10" dur="1" fill="hold">
                                          <p:stCondLst>
                                            <p:cond delay="0"/>
                                          </p:stCondLst>
                                        </p:cTn>
                                        <p:tgtEl>
                                          <p:spTgt spid="2057"/>
                                        </p:tgtEl>
                                        <p:attrNameLst>
                                          <p:attrName>style.visibility</p:attrName>
                                        </p:attrNameLst>
                                      </p:cBhvr>
                                      <p:to>
                                        <p:strVal val="visible"/>
                                      </p:to>
                                    </p:set>
                                    <p:animEffect transition="in" filter="blinds(horizontal)">
                                      <p:cBhvr>
                                        <p:cTn id="11" dur="500"/>
                                        <p:tgtEl>
                                          <p:spTgt spid="2057"/>
                                        </p:tgtEl>
                                      </p:cBhvr>
                                    </p:animEffect>
                                  </p:childTnLst>
                                </p:cTn>
                              </p:par>
                              <p:par>
                                <p:cTn id="12" presetID="3" presetClass="entr" presetSubtype="10" fill="hold" nodeType="withEffect">
                                  <p:stCondLst>
                                    <p:cond delay="0"/>
                                  </p:stCondLst>
                                  <p:childTnLst>
                                    <p:set>
                                      <p:cBhvr>
                                        <p:cTn id="13" dur="1" fill="hold">
                                          <p:stCondLst>
                                            <p:cond delay="0"/>
                                          </p:stCondLst>
                                        </p:cTn>
                                        <p:tgtEl>
                                          <p:spTgt spid="2058"/>
                                        </p:tgtEl>
                                        <p:attrNameLst>
                                          <p:attrName>style.visibility</p:attrName>
                                        </p:attrNameLst>
                                      </p:cBhvr>
                                      <p:to>
                                        <p:strVal val="visible"/>
                                      </p:to>
                                    </p:set>
                                    <p:animEffect transition="in" filter="blinds(horizontal)">
                                      <p:cBhvr>
                                        <p:cTn id="14" dur="500"/>
                                        <p:tgtEl>
                                          <p:spTgt spid="2058"/>
                                        </p:tgtEl>
                                      </p:cBhvr>
                                    </p:animEffec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3"/>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1"/>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9"/>
                                        </p:tgtEl>
                                        <p:attrNameLst>
                                          <p:attrName>style.visibility</p:attrName>
                                        </p:attrNameLst>
                                      </p:cBhvr>
                                      <p:to>
                                        <p:strVal val="visible"/>
                                      </p:to>
                                    </p:set>
                                  </p:childTnLst>
                                </p:cTn>
                              </p:par>
                              <p:par>
                                <p:cTn id="27" presetID="3" presetClass="entr" presetSubtype="10" fill="hold" nodeType="withEffect">
                                  <p:stCondLst>
                                    <p:cond delay="0"/>
                                  </p:stCondLst>
                                  <p:childTnLst>
                                    <p:set>
                                      <p:cBhvr>
                                        <p:cTn id="28" dur="1" fill="hold">
                                          <p:stCondLst>
                                            <p:cond delay="0"/>
                                          </p:stCondLst>
                                        </p:cTn>
                                        <p:tgtEl>
                                          <p:spTgt spid="29"/>
                                        </p:tgtEl>
                                        <p:attrNameLst>
                                          <p:attrName>style.visibility</p:attrName>
                                        </p:attrNameLst>
                                      </p:cBhvr>
                                      <p:to>
                                        <p:strVal val="visible"/>
                                      </p:to>
                                    </p:set>
                                    <p:animEffect transition="in" filter="blinds(horizontal)">
                                      <p:cBhvr>
                                        <p:cTn id="29" dur="500"/>
                                        <p:tgtEl>
                                          <p:spTgt spid="29"/>
                                        </p:tgtEl>
                                      </p:cBhvr>
                                    </p:animEffect>
                                  </p:childTnLst>
                                </p:cTn>
                              </p:par>
                            </p:childTnLst>
                          </p:cTn>
                        </p:par>
                      </p:childTnLst>
                    </p:cTn>
                  </p:par>
                  <p:par>
                    <p:cTn id="30" fill="hold">
                      <p:stCondLst>
                        <p:cond delay="indefinite"/>
                      </p:stCondLst>
                      <p:childTnLst>
                        <p:par>
                          <p:cTn id="31" fill="hold">
                            <p:stCondLst>
                              <p:cond delay="0"/>
                            </p:stCondLst>
                            <p:childTnLst>
                              <p:par>
                                <p:cTn id="32" presetID="3" presetClass="entr" presetSubtype="10" fill="hold" nodeType="clickEffect">
                                  <p:stCondLst>
                                    <p:cond delay="0"/>
                                  </p:stCondLst>
                                  <p:childTnLst>
                                    <p:set>
                                      <p:cBhvr>
                                        <p:cTn id="33" dur="1" fill="hold">
                                          <p:stCondLst>
                                            <p:cond delay="0"/>
                                          </p:stCondLst>
                                        </p:cTn>
                                        <p:tgtEl>
                                          <p:spTgt spid="2063"/>
                                        </p:tgtEl>
                                        <p:attrNameLst>
                                          <p:attrName>style.visibility</p:attrName>
                                        </p:attrNameLst>
                                      </p:cBhvr>
                                      <p:to>
                                        <p:strVal val="visible"/>
                                      </p:to>
                                    </p:set>
                                    <p:animEffect transition="in" filter="blinds(horizontal)">
                                      <p:cBhvr>
                                        <p:cTn id="34" dur="500"/>
                                        <p:tgtEl>
                                          <p:spTgt spid="2063"/>
                                        </p:tgtEl>
                                      </p:cBhvr>
                                    </p:animEffec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28"/>
                                        </p:tgtEl>
                                        <p:attrNameLst>
                                          <p:attrName>style.visibility</p:attrName>
                                        </p:attrNameLst>
                                      </p:cBhvr>
                                      <p:to>
                                        <p:strVal val="visible"/>
                                      </p:to>
                                    </p:set>
                                  </p:childTnLst>
                                </p:cTn>
                              </p:par>
                              <p:par>
                                <p:cTn id="39" presetID="3" presetClass="entr" presetSubtype="10" fill="hold" nodeType="withEffect">
                                  <p:stCondLst>
                                    <p:cond delay="0"/>
                                  </p:stCondLst>
                                  <p:childTnLst>
                                    <p:set>
                                      <p:cBhvr>
                                        <p:cTn id="40" dur="1" fill="hold">
                                          <p:stCondLst>
                                            <p:cond delay="0"/>
                                          </p:stCondLst>
                                        </p:cTn>
                                        <p:tgtEl>
                                          <p:spTgt spid="2071"/>
                                        </p:tgtEl>
                                        <p:attrNameLst>
                                          <p:attrName>style.visibility</p:attrName>
                                        </p:attrNameLst>
                                      </p:cBhvr>
                                      <p:to>
                                        <p:strVal val="visible"/>
                                      </p:to>
                                    </p:set>
                                    <p:animEffect transition="in" filter="blinds(horizontal)">
                                      <p:cBhvr>
                                        <p:cTn id="41" dur="500"/>
                                        <p:tgtEl>
                                          <p:spTgt spid="2071"/>
                                        </p:tgtEl>
                                      </p:cBhvr>
                                    </p:animEffect>
                                  </p:childTnLst>
                                </p:cTn>
                              </p:par>
                              <p:par>
                                <p:cTn id="42" presetID="3" presetClass="entr" presetSubtype="10" fill="hold" nodeType="withEffect">
                                  <p:stCondLst>
                                    <p:cond delay="0"/>
                                  </p:stCondLst>
                                  <p:childTnLst>
                                    <p:set>
                                      <p:cBhvr>
                                        <p:cTn id="43" dur="1" fill="hold">
                                          <p:stCondLst>
                                            <p:cond delay="0"/>
                                          </p:stCondLst>
                                        </p:cTn>
                                        <p:tgtEl>
                                          <p:spTgt spid="30"/>
                                        </p:tgtEl>
                                        <p:attrNameLst>
                                          <p:attrName>style.visibility</p:attrName>
                                        </p:attrNameLst>
                                      </p:cBhvr>
                                      <p:to>
                                        <p:strVal val="visible"/>
                                      </p:to>
                                    </p:set>
                                    <p:animEffect transition="in" filter="blinds(horizontal)">
                                      <p:cBhvr>
                                        <p:cTn id="44" dur="500"/>
                                        <p:tgtEl>
                                          <p:spTgt spid="30"/>
                                        </p:tgtEl>
                                      </p:cBhvr>
                                    </p:animEffect>
                                  </p:childTnLst>
                                </p:cTn>
                              </p:par>
                              <p:par>
                                <p:cTn id="45" presetID="3" presetClass="entr" presetSubtype="10" fill="hold" nodeType="withEffect">
                                  <p:stCondLst>
                                    <p:cond delay="0"/>
                                  </p:stCondLst>
                                  <p:childTnLst>
                                    <p:set>
                                      <p:cBhvr>
                                        <p:cTn id="46" dur="1" fill="hold">
                                          <p:stCondLst>
                                            <p:cond delay="0"/>
                                          </p:stCondLst>
                                        </p:cTn>
                                        <p:tgtEl>
                                          <p:spTgt spid="32"/>
                                        </p:tgtEl>
                                        <p:attrNameLst>
                                          <p:attrName>style.visibility</p:attrName>
                                        </p:attrNameLst>
                                      </p:cBhvr>
                                      <p:to>
                                        <p:strVal val="visible"/>
                                      </p:to>
                                    </p:set>
                                    <p:animEffect transition="in" filter="blinds(horizontal)">
                                      <p:cBhvr>
                                        <p:cTn id="47" dur="500"/>
                                        <p:tgtEl>
                                          <p:spTgt spid="32"/>
                                        </p:tgtEl>
                                      </p:cBhvr>
                                    </p:animEffect>
                                  </p:childTnLst>
                                </p:cTn>
                              </p:par>
                              <p:par>
                                <p:cTn id="48" presetID="3" presetClass="entr" presetSubtype="10" fill="hold" nodeType="withEffect">
                                  <p:stCondLst>
                                    <p:cond delay="0"/>
                                  </p:stCondLst>
                                  <p:childTnLst>
                                    <p:set>
                                      <p:cBhvr>
                                        <p:cTn id="49" dur="1" fill="hold">
                                          <p:stCondLst>
                                            <p:cond delay="0"/>
                                          </p:stCondLst>
                                        </p:cTn>
                                        <p:tgtEl>
                                          <p:spTgt spid="35"/>
                                        </p:tgtEl>
                                        <p:attrNameLst>
                                          <p:attrName>style.visibility</p:attrName>
                                        </p:attrNameLst>
                                      </p:cBhvr>
                                      <p:to>
                                        <p:strVal val="visible"/>
                                      </p:to>
                                    </p:set>
                                    <p:animEffect transition="in" filter="blinds(horizontal)">
                                      <p:cBhvr>
                                        <p:cTn id="50" dur="500"/>
                                        <p:tgtEl>
                                          <p:spTgt spid="35"/>
                                        </p:tgtEl>
                                      </p:cBhvr>
                                    </p:animEffect>
                                  </p:childTnLst>
                                </p:cTn>
                              </p:par>
                              <p:par>
                                <p:cTn id="51" presetID="3" presetClass="entr" presetSubtype="10" fill="hold" nodeType="withEffect">
                                  <p:stCondLst>
                                    <p:cond delay="0"/>
                                  </p:stCondLst>
                                  <p:childTnLst>
                                    <p:set>
                                      <p:cBhvr>
                                        <p:cTn id="52" dur="1" fill="hold">
                                          <p:stCondLst>
                                            <p:cond delay="0"/>
                                          </p:stCondLst>
                                        </p:cTn>
                                        <p:tgtEl>
                                          <p:spTgt spid="37"/>
                                        </p:tgtEl>
                                        <p:attrNameLst>
                                          <p:attrName>style.visibility</p:attrName>
                                        </p:attrNameLst>
                                      </p:cBhvr>
                                      <p:to>
                                        <p:strVal val="visible"/>
                                      </p:to>
                                    </p:set>
                                    <p:animEffect transition="in" filter="blinds(horizontal)">
                                      <p:cBhvr>
                                        <p:cTn id="53" dur="500"/>
                                        <p:tgtEl>
                                          <p:spTgt spid="37"/>
                                        </p:tgtEl>
                                      </p:cBhvr>
                                    </p:animEffect>
                                  </p:childTnLst>
                                </p:cTn>
                              </p:par>
                            </p:childTnLst>
                          </p:cTn>
                        </p:par>
                      </p:childTnLst>
                    </p:cTn>
                  </p:par>
                  <p:par>
                    <p:cTn id="54" fill="hold">
                      <p:stCondLst>
                        <p:cond delay="indefinite"/>
                      </p:stCondLst>
                      <p:childTnLst>
                        <p:par>
                          <p:cTn id="55" fill="hold">
                            <p:stCondLst>
                              <p:cond delay="0"/>
                            </p:stCondLst>
                            <p:childTnLst>
                              <p:par>
                                <p:cTn id="56" presetID="42" presetClass="entr" presetSubtype="0" fill="hold" nodeType="clickEffect">
                                  <p:stCondLst>
                                    <p:cond delay="0"/>
                                  </p:stCondLst>
                                  <p:childTnLst>
                                    <p:set>
                                      <p:cBhvr>
                                        <p:cTn id="57" dur="1" fill="hold">
                                          <p:stCondLst>
                                            <p:cond delay="0"/>
                                          </p:stCondLst>
                                        </p:cTn>
                                        <p:tgtEl>
                                          <p:spTgt spid="2072"/>
                                        </p:tgtEl>
                                        <p:attrNameLst>
                                          <p:attrName>style.visibility</p:attrName>
                                        </p:attrNameLst>
                                      </p:cBhvr>
                                      <p:to>
                                        <p:strVal val="visible"/>
                                      </p:to>
                                    </p:set>
                                    <p:animEffect transition="in" filter="fade">
                                      <p:cBhvr>
                                        <p:cTn id="58" dur="1000"/>
                                        <p:tgtEl>
                                          <p:spTgt spid="2072"/>
                                        </p:tgtEl>
                                      </p:cBhvr>
                                    </p:animEffect>
                                    <p:anim calcmode="lin" valueType="num">
                                      <p:cBhvr>
                                        <p:cTn id="59" dur="1000" fill="hold"/>
                                        <p:tgtEl>
                                          <p:spTgt spid="2072"/>
                                        </p:tgtEl>
                                        <p:attrNameLst>
                                          <p:attrName>ppt_x</p:attrName>
                                        </p:attrNameLst>
                                      </p:cBhvr>
                                      <p:tavLst>
                                        <p:tav tm="0">
                                          <p:val>
                                            <p:strVal val="#ppt_x"/>
                                          </p:val>
                                        </p:tav>
                                        <p:tav tm="100000">
                                          <p:val>
                                            <p:strVal val="#ppt_x"/>
                                          </p:val>
                                        </p:tav>
                                      </p:tavLst>
                                    </p:anim>
                                    <p:anim calcmode="lin" valueType="num">
                                      <p:cBhvr>
                                        <p:cTn id="60" dur="1000" fill="hold"/>
                                        <p:tgtEl>
                                          <p:spTgt spid="2072"/>
                                        </p:tgtEl>
                                        <p:attrNameLst>
                                          <p:attrName>ppt_y</p:attrName>
                                        </p:attrNameLst>
                                      </p:cBhvr>
                                      <p:tavLst>
                                        <p:tav tm="0">
                                          <p:val>
                                            <p:strVal val="#ppt_y+.1"/>
                                          </p:val>
                                        </p:tav>
                                        <p:tav tm="100000">
                                          <p:val>
                                            <p:strVal val="#ppt_y"/>
                                          </p:val>
                                        </p:tav>
                                      </p:tavLst>
                                    </p:anim>
                                  </p:childTnLst>
                                </p:cTn>
                              </p:par>
                            </p:childTnLst>
                          </p:cTn>
                        </p:par>
                      </p:childTnLst>
                    </p:cTn>
                  </p:par>
                  <p:par>
                    <p:cTn id="61" fill="hold">
                      <p:stCondLst>
                        <p:cond delay="indefinite"/>
                      </p:stCondLst>
                      <p:childTnLst>
                        <p:par>
                          <p:cTn id="62" fill="hold">
                            <p:stCondLst>
                              <p:cond delay="0"/>
                            </p:stCondLst>
                            <p:childTnLst>
                              <p:par>
                                <p:cTn id="63" presetID="3" presetClass="exit" presetSubtype="10" fill="hold" nodeType="clickEffect">
                                  <p:stCondLst>
                                    <p:cond delay="0"/>
                                  </p:stCondLst>
                                  <p:childTnLst>
                                    <p:animEffect transition="out" filter="blinds(horizontal)">
                                      <p:cBhvr>
                                        <p:cTn id="64" dur="500"/>
                                        <p:tgtEl>
                                          <p:spTgt spid="42"/>
                                        </p:tgtEl>
                                      </p:cBhvr>
                                    </p:animEffect>
                                    <p:set>
                                      <p:cBhvr>
                                        <p:cTn id="65" dur="1" fill="hold">
                                          <p:stCondLst>
                                            <p:cond delay="499"/>
                                          </p:stCondLst>
                                        </p:cTn>
                                        <p:tgtEl>
                                          <p:spTgt spid="42"/>
                                        </p:tgtEl>
                                        <p:attrNameLst>
                                          <p:attrName>style.visibility</p:attrName>
                                        </p:attrNameLst>
                                      </p:cBhvr>
                                      <p:to>
                                        <p:strVal val="hidden"/>
                                      </p:to>
                                    </p:set>
                                  </p:childTnLst>
                                </p:cTn>
                              </p:par>
                            </p:childTnLst>
                          </p:cTn>
                        </p:par>
                      </p:childTnLst>
                    </p:cTn>
                  </p:par>
                  <p:par>
                    <p:cTn id="66" fill="hold">
                      <p:stCondLst>
                        <p:cond delay="indefinite"/>
                      </p:stCondLst>
                      <p:childTnLst>
                        <p:par>
                          <p:cTn id="67" fill="hold">
                            <p:stCondLst>
                              <p:cond delay="0"/>
                            </p:stCondLst>
                            <p:childTnLst>
                              <p:par>
                                <p:cTn id="68" presetID="63" presetClass="path" presetSubtype="0" accel="50000" decel="50000" fill="hold" nodeType="clickEffect">
                                  <p:stCondLst>
                                    <p:cond delay="0"/>
                                  </p:stCondLst>
                                  <p:childTnLst>
                                    <p:animMotion origin="layout" path="M 1.11111E-6 -1.85185E-6 L 0.11597 -0.00231 " pathEditMode="relative" rAng="0" ptsTypes="AA">
                                      <p:cBhvr>
                                        <p:cTn id="69" dur="2000" fill="hold"/>
                                        <p:tgtEl>
                                          <p:spTgt spid="40"/>
                                        </p:tgtEl>
                                        <p:attrNameLst>
                                          <p:attrName>ppt_x</p:attrName>
                                          <p:attrName>ppt_y</p:attrName>
                                        </p:attrNameLst>
                                      </p:cBhvr>
                                      <p:rCtr x="5800" y="-100"/>
                                    </p:animMotion>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nodeType="clickEffect">
                                  <p:stCondLst>
                                    <p:cond delay="0"/>
                                  </p:stCondLst>
                                  <p:childTnLst>
                                    <p:set>
                                      <p:cBhvr>
                                        <p:cTn id="73" dur="1" fill="hold">
                                          <p:stCondLst>
                                            <p:cond delay="0"/>
                                          </p:stCondLst>
                                        </p:cTn>
                                        <p:tgtEl>
                                          <p:spTgt spid="38"/>
                                        </p:tgtEl>
                                        <p:attrNameLst>
                                          <p:attrName>style.visibility</p:attrName>
                                        </p:attrNameLst>
                                      </p:cBhvr>
                                      <p:to>
                                        <p:strVal val="visible"/>
                                      </p:to>
                                    </p:set>
                                  </p:childTnLst>
                                </p:cTn>
                              </p:par>
                            </p:childTnLst>
                          </p:cTn>
                        </p:par>
                      </p:childTnLst>
                    </p:cTn>
                  </p:par>
                  <p:par>
                    <p:cTn id="74" fill="hold">
                      <p:stCondLst>
                        <p:cond delay="indefinite"/>
                      </p:stCondLst>
                      <p:childTnLst>
                        <p:par>
                          <p:cTn id="75" fill="hold">
                            <p:stCondLst>
                              <p:cond delay="0"/>
                            </p:stCondLst>
                            <p:childTnLst>
                              <p:par>
                                <p:cTn id="76" presetID="1" presetClass="entr" presetSubtype="0" fill="hold" nodeType="clickEffect">
                                  <p:stCondLst>
                                    <p:cond delay="0"/>
                                  </p:stCondLst>
                                  <p:childTnLst>
                                    <p:set>
                                      <p:cBhvr>
                                        <p:cTn id="77" dur="1" fill="hold">
                                          <p:stCondLst>
                                            <p:cond delay="0"/>
                                          </p:stCondLst>
                                        </p:cTn>
                                        <p:tgtEl>
                                          <p:spTgt spid="36"/>
                                        </p:tgtEl>
                                        <p:attrNameLst>
                                          <p:attrName>style.visibility</p:attrName>
                                        </p:attrNameLst>
                                      </p:cBhvr>
                                      <p:to>
                                        <p:strVal val="visible"/>
                                      </p:to>
                                    </p:set>
                                  </p:childTnLst>
                                </p:cTn>
                              </p:par>
                            </p:childTnLst>
                          </p:cTn>
                        </p:par>
                      </p:childTnLst>
                    </p:cTn>
                  </p:par>
                  <p:par>
                    <p:cTn id="78" fill="hold">
                      <p:stCondLst>
                        <p:cond delay="indefinite"/>
                      </p:stCondLst>
                      <p:childTnLst>
                        <p:par>
                          <p:cTn id="79" fill="hold">
                            <p:stCondLst>
                              <p:cond delay="0"/>
                            </p:stCondLst>
                            <p:childTnLst>
                              <p:par>
                                <p:cTn id="80" presetID="1" presetClass="entr" presetSubtype="0" fill="hold" nodeType="clickEffect">
                                  <p:stCondLst>
                                    <p:cond delay="0"/>
                                  </p:stCondLst>
                                  <p:childTnLst>
                                    <p:set>
                                      <p:cBhvr>
                                        <p:cTn id="81" dur="1" fill="hold">
                                          <p:stCondLst>
                                            <p:cond delay="0"/>
                                          </p:stCondLst>
                                        </p:cTn>
                                        <p:tgtEl>
                                          <p:spTgt spid="33"/>
                                        </p:tgtEl>
                                        <p:attrNameLst>
                                          <p:attrName>style.visibility</p:attrName>
                                        </p:attrNameLst>
                                      </p:cBhvr>
                                      <p:to>
                                        <p:strVal val="visible"/>
                                      </p:to>
                                    </p:set>
                                  </p:childTnLst>
                                </p:cTn>
                              </p:par>
                            </p:childTnLst>
                          </p:cTn>
                        </p:par>
                      </p:childTnLst>
                    </p:cTn>
                  </p:par>
                  <p:par>
                    <p:cTn id="82" fill="hold">
                      <p:stCondLst>
                        <p:cond delay="indefinite"/>
                      </p:stCondLst>
                      <p:childTnLst>
                        <p:par>
                          <p:cTn id="83" fill="hold">
                            <p:stCondLst>
                              <p:cond delay="0"/>
                            </p:stCondLst>
                            <p:childTnLst>
                              <p:par>
                                <p:cTn id="84" presetID="1" presetClass="entr" presetSubtype="0" fill="hold" nodeType="clickEffect">
                                  <p:stCondLst>
                                    <p:cond delay="0"/>
                                  </p:stCondLst>
                                  <p:childTnLst>
                                    <p:set>
                                      <p:cBhvr>
                                        <p:cTn id="85" dur="1" fill="hold">
                                          <p:stCondLst>
                                            <p:cond delay="0"/>
                                          </p:stCondLst>
                                        </p:cTn>
                                        <p:tgtEl>
                                          <p:spTgt spid="31"/>
                                        </p:tgtEl>
                                        <p:attrNameLst>
                                          <p:attrName>style.visibility</p:attrName>
                                        </p:attrNameLst>
                                      </p:cBhvr>
                                      <p:to>
                                        <p:strVal val="visible"/>
                                      </p:to>
                                    </p:set>
                                  </p:childTnLst>
                                </p:cTn>
                              </p:par>
                            </p:childTnLst>
                          </p:cTn>
                        </p:par>
                      </p:childTnLst>
                    </p:cTn>
                  </p:par>
                  <p:par>
                    <p:cTn id="86" fill="hold">
                      <p:stCondLst>
                        <p:cond delay="indefinite"/>
                      </p:stCondLst>
                      <p:childTnLst>
                        <p:par>
                          <p:cTn id="87" fill="hold">
                            <p:stCondLst>
                              <p:cond delay="0"/>
                            </p:stCondLst>
                            <p:childTnLst>
                              <p:par>
                                <p:cTn id="88" presetID="1" presetClass="entr" presetSubtype="0" fill="hold" nodeType="clickEffect">
                                  <p:stCondLst>
                                    <p:cond delay="0"/>
                                  </p:stCondLst>
                                  <p:childTnLst>
                                    <p:set>
                                      <p:cBhvr>
                                        <p:cTn id="89" dur="1" fill="hold">
                                          <p:stCondLst>
                                            <p:cond delay="0"/>
                                          </p:stCondLst>
                                        </p:cTn>
                                        <p:tgtEl>
                                          <p:spTgt spid="44"/>
                                        </p:tgtEl>
                                        <p:attrNameLst>
                                          <p:attrName>style.visibility</p:attrName>
                                        </p:attrNameLst>
                                      </p:cBhvr>
                                      <p:to>
                                        <p:strVal val="visible"/>
                                      </p:to>
                                    </p:set>
                                  </p:childTnLst>
                                </p:cTn>
                              </p:par>
                            </p:childTnLst>
                          </p:cTn>
                        </p:par>
                      </p:childTnLst>
                    </p:cTn>
                  </p:par>
                  <p:par>
                    <p:cTn id="90" fill="hold">
                      <p:stCondLst>
                        <p:cond delay="indefinite"/>
                      </p:stCondLst>
                      <p:childTnLst>
                        <p:par>
                          <p:cTn id="91" fill="hold">
                            <p:stCondLst>
                              <p:cond delay="0"/>
                            </p:stCondLst>
                            <p:childTnLst>
                              <p:par>
                                <p:cTn id="92" presetID="1" presetClass="entr" presetSubtype="0" fill="hold" grpId="0" nodeType="clickEffect">
                                  <p:stCondLst>
                                    <p:cond delay="0"/>
                                  </p:stCondLst>
                                  <p:childTnLst>
                                    <p:set>
                                      <p:cBhvr>
                                        <p:cTn id="93" dur="1" fill="hold">
                                          <p:stCondLst>
                                            <p:cond delay="0"/>
                                          </p:stCondLst>
                                        </p:cTn>
                                        <p:tgtEl>
                                          <p:spTgt spid="27"/>
                                        </p:tgtEl>
                                        <p:attrNameLst>
                                          <p:attrName>style.visibility</p:attrName>
                                        </p:attrNameLst>
                                      </p:cBhvr>
                                      <p:to>
                                        <p:strVal val="visible"/>
                                      </p:to>
                                    </p:set>
                                  </p:childTnLst>
                                </p:cTn>
                              </p:par>
                            </p:childTnLst>
                          </p:cTn>
                        </p:par>
                      </p:childTnLst>
                    </p:cTn>
                  </p:par>
                  <p:par>
                    <p:cTn id="94" fill="hold">
                      <p:stCondLst>
                        <p:cond delay="indefinite"/>
                      </p:stCondLst>
                      <p:childTnLst>
                        <p:par>
                          <p:cTn id="95" fill="hold">
                            <p:stCondLst>
                              <p:cond delay="0"/>
                            </p:stCondLst>
                            <p:childTnLst>
                              <p:par>
                                <p:cTn id="96" presetID="3" presetClass="entr" presetSubtype="10" fill="hold" nodeType="clickEffect">
                                  <p:stCondLst>
                                    <p:cond delay="0"/>
                                  </p:stCondLst>
                                  <p:childTnLst>
                                    <p:set>
                                      <p:cBhvr>
                                        <p:cTn id="97" dur="1" fill="hold">
                                          <p:stCondLst>
                                            <p:cond delay="0"/>
                                          </p:stCondLst>
                                        </p:cTn>
                                        <p:tgtEl>
                                          <p:spTgt spid="2089"/>
                                        </p:tgtEl>
                                        <p:attrNameLst>
                                          <p:attrName>style.visibility</p:attrName>
                                        </p:attrNameLst>
                                      </p:cBhvr>
                                      <p:to>
                                        <p:strVal val="visible"/>
                                      </p:to>
                                    </p:set>
                                    <p:animEffect transition="in" filter="blinds(horizontal)">
                                      <p:cBhvr>
                                        <p:cTn id="98" dur="500"/>
                                        <p:tgtEl>
                                          <p:spTgt spid="2089"/>
                                        </p:tgtEl>
                                      </p:cBhvr>
                                    </p:animEffect>
                                  </p:childTnLst>
                                </p:cTn>
                              </p:par>
                            </p:childTnLst>
                          </p:cTn>
                        </p:par>
                      </p:childTnLst>
                    </p:cTn>
                  </p:par>
                  <p:par>
                    <p:cTn id="99" fill="hold">
                      <p:stCondLst>
                        <p:cond delay="indefinite"/>
                      </p:stCondLst>
                      <p:childTnLst>
                        <p:par>
                          <p:cTn id="100" fill="hold">
                            <p:stCondLst>
                              <p:cond delay="0"/>
                            </p:stCondLst>
                            <p:childTnLst>
                              <p:par>
                                <p:cTn id="101" presetID="1" presetClass="entr" presetSubtype="0" fill="hold" nodeType="clickEffect">
                                  <p:stCondLst>
                                    <p:cond delay="0"/>
                                  </p:stCondLst>
                                  <p:childTnLst>
                                    <p:set>
                                      <p:cBhvr>
                                        <p:cTn id="102" dur="1" fill="hold">
                                          <p:stCondLst>
                                            <p:cond delay="0"/>
                                          </p:stCondLst>
                                        </p:cTn>
                                        <p:tgtEl>
                                          <p:spTgt spid="2057"/>
                                        </p:tgtEl>
                                        <p:attrNameLst>
                                          <p:attrName>style.visibility</p:attrName>
                                        </p:attrNameLst>
                                      </p:cBhvr>
                                      <p:to>
                                        <p:strVal val="visible"/>
                                      </p:to>
                                    </p:set>
                                  </p:childTnLst>
                                </p:cTn>
                              </p:par>
                            </p:childTnLst>
                          </p:cTn>
                        </p:par>
                      </p:childTnLst>
                    </p:cTn>
                  </p:par>
                  <p:par>
                    <p:cTn id="103" fill="hold">
                      <p:stCondLst>
                        <p:cond delay="indefinite"/>
                      </p:stCondLst>
                      <p:childTnLst>
                        <p:par>
                          <p:cTn id="104" fill="hold">
                            <p:stCondLst>
                              <p:cond delay="0"/>
                            </p:stCondLst>
                            <p:childTnLst>
                              <p:par>
                                <p:cTn id="105" presetID="1" presetClass="entr" presetSubtype="0" fill="hold" nodeType="clickEffect">
                                  <p:stCondLst>
                                    <p:cond delay="0"/>
                                  </p:stCondLst>
                                  <p:childTnLst>
                                    <p:set>
                                      <p:cBhvr>
                                        <p:cTn id="106" dur="1" fill="hold">
                                          <p:stCondLst>
                                            <p:cond delay="0"/>
                                          </p:stCondLst>
                                        </p:cTn>
                                        <p:tgtEl>
                                          <p:spTgt spid="205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p:bld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数制转换</a:t>
            </a:r>
            <a:endParaRPr lang="zh-CN" altLang="en-US" dirty="0"/>
          </a:p>
        </p:txBody>
      </p:sp>
      <p:sp>
        <p:nvSpPr>
          <p:cNvPr id="3" name="内容占位符 2"/>
          <p:cNvSpPr>
            <a:spLocks noGrp="1"/>
          </p:cNvSpPr>
          <p:nvPr>
            <p:ph idx="1"/>
          </p:nvPr>
        </p:nvSpPr>
        <p:spPr/>
        <p:txBody>
          <a:bodyPr/>
          <a:lstStyle/>
          <a:p>
            <a:r>
              <a:rPr lang="zh-CN" altLang="en-US" dirty="0"/>
              <a:t>二进制转换为十进制</a:t>
            </a:r>
            <a:endParaRPr lang="en-US" altLang="zh-CN" dirty="0"/>
          </a:p>
          <a:p>
            <a:pPr lvl="1"/>
            <a:r>
              <a:rPr lang="zh-CN" altLang="en-US" dirty="0"/>
              <a:t>按“权”展开，累加求和</a:t>
            </a:r>
            <a:endParaRPr lang="en-US" altLang="zh-CN" dirty="0"/>
          </a:p>
          <a:p>
            <a:r>
              <a:rPr lang="zh-CN" altLang="en-US" dirty="0"/>
              <a:t>二进制转换为八进制</a:t>
            </a:r>
            <a:endParaRPr lang="en-US" altLang="zh-CN" dirty="0"/>
          </a:p>
          <a:p>
            <a:pPr lvl="1"/>
            <a:r>
              <a:rPr lang="zh-CN" altLang="en-US" dirty="0"/>
              <a:t>从小数点位置，整数向左，小数向右，每三位二进制数为一组，不足三位补</a:t>
            </a:r>
            <a:r>
              <a:rPr lang="en-US" altLang="zh-CN" dirty="0"/>
              <a:t>0</a:t>
            </a:r>
            <a:endParaRPr lang="en-US" altLang="zh-CN" dirty="0"/>
          </a:p>
          <a:p>
            <a:pPr lvl="2"/>
            <a:r>
              <a:rPr lang="en-US" altLang="zh-CN" dirty="0"/>
              <a:t>1001</a:t>
            </a:r>
            <a:r>
              <a:rPr lang="zh-CN" altLang="en-US" dirty="0"/>
              <a:t>（</a:t>
            </a:r>
            <a:r>
              <a:rPr lang="en-US" altLang="zh-CN" dirty="0"/>
              <a:t>2</a:t>
            </a:r>
            <a:r>
              <a:rPr lang="zh-CN" altLang="en-US" dirty="0"/>
              <a:t>）</a:t>
            </a:r>
            <a:r>
              <a:rPr lang="en-US" altLang="zh-CN" dirty="0"/>
              <a:t>=&gt;(001)(001)</a:t>
            </a:r>
            <a:endParaRPr lang="en-US" altLang="zh-CN" dirty="0"/>
          </a:p>
          <a:p>
            <a:pPr lvl="1"/>
            <a:r>
              <a:rPr lang="zh-CN" altLang="en-US" dirty="0"/>
              <a:t>将每组三位二进制数转换为相应的八进制数并按顺序排列在一起</a:t>
            </a:r>
            <a:endParaRPr lang="zh-CN" altLang="en-US" dirty="0"/>
          </a:p>
          <a:p>
            <a:pPr lvl="2"/>
            <a:r>
              <a:rPr lang="zh-CN" altLang="en-US" dirty="0"/>
              <a:t>101010111（2）=&gt; (101)(010)(111) =&gt; 527（</a:t>
            </a:r>
            <a:r>
              <a:rPr lang="en-US" altLang="zh-CN" dirty="0"/>
              <a:t>8</a:t>
            </a:r>
            <a:r>
              <a:rPr lang="zh-CN" altLang="en-US" dirty="0"/>
              <a:t>）</a:t>
            </a:r>
            <a:endParaRPr lang="en-US" altLang="zh-CN" dirty="0"/>
          </a:p>
          <a:p>
            <a:pPr lvl="2"/>
            <a:endParaRPr lang="en-US" altLang="zh-CN" dirty="0"/>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数制转换</a:t>
            </a:r>
            <a:endParaRPr lang="zh-CN" altLang="en-US" dirty="0"/>
          </a:p>
        </p:txBody>
      </p:sp>
      <p:sp>
        <p:nvSpPr>
          <p:cNvPr id="3" name="内容占位符 2"/>
          <p:cNvSpPr>
            <a:spLocks noGrp="1"/>
          </p:cNvSpPr>
          <p:nvPr>
            <p:ph idx="1"/>
          </p:nvPr>
        </p:nvSpPr>
        <p:spPr/>
        <p:txBody>
          <a:bodyPr/>
          <a:lstStyle/>
          <a:p>
            <a:r>
              <a:rPr lang="zh-CN" altLang="en-US" dirty="0"/>
              <a:t>二进制与八进制数对照表</a:t>
            </a:r>
            <a:endParaRPr lang="zh-CN" altLang="en-US" dirty="0"/>
          </a:p>
        </p:txBody>
      </p:sp>
      <p:graphicFrame>
        <p:nvGraphicFramePr>
          <p:cNvPr id="4" name="表格 3"/>
          <p:cNvGraphicFramePr>
            <a:graphicFrameLocks noGrp="1"/>
          </p:cNvGraphicFramePr>
          <p:nvPr/>
        </p:nvGraphicFramePr>
        <p:xfrm>
          <a:off x="1524000" y="2428868"/>
          <a:ext cx="6096000" cy="3337560"/>
        </p:xfrm>
        <a:graphic>
          <a:graphicData uri="http://schemas.openxmlformats.org/drawingml/2006/table">
            <a:tbl>
              <a:tblPr firstRow="1" bandRow="1">
                <a:tableStyleId>{21E4AEA4-8DFA-4A89-87EB-49C32662AFE0}</a:tableStyleId>
              </a:tblPr>
              <a:tblGrid>
                <a:gridCol w="3048000"/>
                <a:gridCol w="3048000"/>
              </a:tblGrid>
              <a:tr h="370840">
                <a:tc>
                  <a:txBody>
                    <a:bodyPr/>
                    <a:lstStyle/>
                    <a:p>
                      <a:pPr algn="ctr"/>
                      <a:r>
                        <a:rPr lang="zh-CN" altLang="en-US" dirty="0"/>
                        <a:t>二进制数</a:t>
                      </a:r>
                      <a:endParaRPr lang="zh-CN" altLang="en-US" dirty="0"/>
                    </a:p>
                  </a:txBody>
                  <a:tcPr/>
                </a:tc>
                <a:tc>
                  <a:txBody>
                    <a:bodyPr/>
                    <a:lstStyle/>
                    <a:p>
                      <a:pPr algn="ctr"/>
                      <a:r>
                        <a:rPr lang="zh-CN" altLang="en-US" dirty="0"/>
                        <a:t>八进制数</a:t>
                      </a:r>
                      <a:endParaRPr lang="zh-CN" altLang="en-US" dirty="0"/>
                    </a:p>
                  </a:txBody>
                  <a:tcPr/>
                </a:tc>
              </a:tr>
              <a:tr h="370840">
                <a:tc>
                  <a:txBody>
                    <a:bodyPr/>
                    <a:lstStyle/>
                    <a:p>
                      <a:pPr algn="ctr"/>
                      <a:r>
                        <a:rPr lang="en-US" altLang="zh-CN" dirty="0"/>
                        <a:t>000</a:t>
                      </a:r>
                      <a:endParaRPr lang="zh-CN" altLang="en-US" dirty="0"/>
                    </a:p>
                  </a:txBody>
                  <a:tcPr/>
                </a:tc>
                <a:tc>
                  <a:txBody>
                    <a:bodyPr/>
                    <a:lstStyle/>
                    <a:p>
                      <a:pPr algn="ctr"/>
                      <a:r>
                        <a:rPr lang="en-US" altLang="zh-CN" dirty="0"/>
                        <a:t>0</a:t>
                      </a:r>
                      <a:endParaRPr lang="zh-CN" altLang="en-US" dirty="0"/>
                    </a:p>
                  </a:txBody>
                  <a:tcPr/>
                </a:tc>
              </a:tr>
              <a:tr h="370840">
                <a:tc>
                  <a:txBody>
                    <a:bodyPr/>
                    <a:lstStyle/>
                    <a:p>
                      <a:pPr algn="ctr"/>
                      <a:r>
                        <a:rPr lang="en-US" altLang="zh-CN" dirty="0"/>
                        <a:t>001</a:t>
                      </a:r>
                      <a:endParaRPr lang="zh-CN" altLang="en-US" dirty="0"/>
                    </a:p>
                  </a:txBody>
                  <a:tcPr/>
                </a:tc>
                <a:tc>
                  <a:txBody>
                    <a:bodyPr/>
                    <a:lstStyle/>
                    <a:p>
                      <a:pPr algn="ctr"/>
                      <a:r>
                        <a:rPr lang="en-US" altLang="zh-CN" dirty="0"/>
                        <a:t>1</a:t>
                      </a:r>
                      <a:endParaRPr lang="zh-CN" altLang="en-US" dirty="0"/>
                    </a:p>
                  </a:txBody>
                  <a:tcPr/>
                </a:tc>
              </a:tr>
              <a:tr h="370840">
                <a:tc>
                  <a:txBody>
                    <a:bodyPr/>
                    <a:lstStyle/>
                    <a:p>
                      <a:pPr algn="ctr"/>
                      <a:r>
                        <a:rPr lang="en-US" altLang="zh-CN" dirty="0"/>
                        <a:t>010</a:t>
                      </a:r>
                      <a:endParaRPr lang="zh-CN" altLang="en-US" dirty="0"/>
                    </a:p>
                  </a:txBody>
                  <a:tcPr/>
                </a:tc>
                <a:tc>
                  <a:txBody>
                    <a:bodyPr/>
                    <a:lstStyle/>
                    <a:p>
                      <a:pPr algn="ctr"/>
                      <a:r>
                        <a:rPr lang="en-US" altLang="zh-CN" dirty="0"/>
                        <a:t>2</a:t>
                      </a:r>
                      <a:endParaRPr lang="zh-CN" altLang="en-US" dirty="0"/>
                    </a:p>
                  </a:txBody>
                  <a:tcPr/>
                </a:tc>
              </a:tr>
              <a:tr h="370840">
                <a:tc>
                  <a:txBody>
                    <a:bodyPr/>
                    <a:lstStyle/>
                    <a:p>
                      <a:pPr algn="ctr"/>
                      <a:r>
                        <a:rPr lang="en-US" altLang="zh-CN" dirty="0"/>
                        <a:t>011</a:t>
                      </a:r>
                      <a:endParaRPr lang="zh-CN" altLang="en-US" dirty="0"/>
                    </a:p>
                  </a:txBody>
                  <a:tcPr/>
                </a:tc>
                <a:tc>
                  <a:txBody>
                    <a:bodyPr/>
                    <a:lstStyle/>
                    <a:p>
                      <a:pPr algn="ctr"/>
                      <a:r>
                        <a:rPr lang="en-US" altLang="zh-CN" dirty="0"/>
                        <a:t>3</a:t>
                      </a:r>
                      <a:endParaRPr lang="zh-CN" altLang="en-US" dirty="0"/>
                    </a:p>
                  </a:txBody>
                  <a:tcPr/>
                </a:tc>
              </a:tr>
              <a:tr h="370840">
                <a:tc>
                  <a:txBody>
                    <a:bodyPr/>
                    <a:lstStyle/>
                    <a:p>
                      <a:pPr algn="ctr"/>
                      <a:r>
                        <a:rPr lang="en-US" altLang="zh-CN" dirty="0"/>
                        <a:t>100</a:t>
                      </a:r>
                      <a:endParaRPr lang="zh-CN" altLang="en-US" dirty="0"/>
                    </a:p>
                  </a:txBody>
                  <a:tcPr/>
                </a:tc>
                <a:tc>
                  <a:txBody>
                    <a:bodyPr/>
                    <a:lstStyle/>
                    <a:p>
                      <a:pPr algn="ctr"/>
                      <a:r>
                        <a:rPr lang="en-US" altLang="zh-CN" dirty="0"/>
                        <a:t>4</a:t>
                      </a:r>
                      <a:endParaRPr lang="zh-CN" altLang="en-US" dirty="0"/>
                    </a:p>
                  </a:txBody>
                  <a:tcPr/>
                </a:tc>
              </a:tr>
              <a:tr h="370840">
                <a:tc>
                  <a:txBody>
                    <a:bodyPr/>
                    <a:lstStyle/>
                    <a:p>
                      <a:pPr algn="ctr"/>
                      <a:r>
                        <a:rPr lang="en-US" altLang="zh-CN" dirty="0"/>
                        <a:t>101</a:t>
                      </a:r>
                      <a:endParaRPr lang="zh-CN" altLang="en-US" dirty="0"/>
                    </a:p>
                  </a:txBody>
                  <a:tcPr/>
                </a:tc>
                <a:tc>
                  <a:txBody>
                    <a:bodyPr/>
                    <a:lstStyle/>
                    <a:p>
                      <a:pPr algn="ctr"/>
                      <a:r>
                        <a:rPr lang="en-US" altLang="zh-CN" dirty="0"/>
                        <a:t>5</a:t>
                      </a:r>
                      <a:endParaRPr lang="zh-CN" altLang="en-US" dirty="0"/>
                    </a:p>
                  </a:txBody>
                  <a:tcPr/>
                </a:tc>
              </a:tr>
              <a:tr h="370840">
                <a:tc>
                  <a:txBody>
                    <a:bodyPr/>
                    <a:lstStyle/>
                    <a:p>
                      <a:pPr algn="ctr"/>
                      <a:r>
                        <a:rPr lang="en-US" altLang="zh-CN" dirty="0"/>
                        <a:t>110</a:t>
                      </a:r>
                      <a:endParaRPr lang="zh-CN" altLang="en-US" dirty="0"/>
                    </a:p>
                  </a:txBody>
                  <a:tcPr/>
                </a:tc>
                <a:tc>
                  <a:txBody>
                    <a:bodyPr/>
                    <a:lstStyle/>
                    <a:p>
                      <a:pPr algn="ctr"/>
                      <a:r>
                        <a:rPr lang="en-US" altLang="zh-CN" dirty="0"/>
                        <a:t>6</a:t>
                      </a:r>
                      <a:endParaRPr lang="en-US" altLang="zh-CN" dirty="0"/>
                    </a:p>
                  </a:txBody>
                  <a:tcPr/>
                </a:tc>
              </a:tr>
              <a:tr h="370840">
                <a:tc>
                  <a:txBody>
                    <a:bodyPr/>
                    <a:lstStyle/>
                    <a:p>
                      <a:pPr algn="ctr"/>
                      <a:r>
                        <a:rPr lang="en-US" altLang="zh-CN" dirty="0"/>
                        <a:t>111</a:t>
                      </a:r>
                      <a:endParaRPr lang="zh-CN" altLang="en-US" dirty="0"/>
                    </a:p>
                  </a:txBody>
                  <a:tcPr/>
                </a:tc>
                <a:tc>
                  <a:txBody>
                    <a:bodyPr/>
                    <a:lstStyle/>
                    <a:p>
                      <a:pPr algn="ctr"/>
                      <a:r>
                        <a:rPr lang="en-US" altLang="zh-CN" dirty="0"/>
                        <a:t>7</a:t>
                      </a:r>
                      <a:endParaRPr lang="en-US" altLang="zh-CN" dirty="0"/>
                    </a:p>
                  </a:txBody>
                  <a:tcPr/>
                </a:tc>
              </a:tr>
            </a:tbl>
          </a:graphicData>
        </a:graphic>
      </p:graphicFrame>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数制转换</a:t>
            </a:r>
            <a:endParaRPr lang="zh-CN" altLang="en-US" dirty="0"/>
          </a:p>
        </p:txBody>
      </p:sp>
      <p:sp>
        <p:nvSpPr>
          <p:cNvPr id="3" name="内容占位符 2"/>
          <p:cNvSpPr>
            <a:spLocks noGrp="1"/>
          </p:cNvSpPr>
          <p:nvPr>
            <p:ph idx="1"/>
          </p:nvPr>
        </p:nvSpPr>
        <p:spPr/>
        <p:txBody>
          <a:bodyPr/>
          <a:lstStyle/>
          <a:p>
            <a:r>
              <a:rPr lang="zh-CN" altLang="en-US" dirty="0"/>
              <a:t>二进制转换为十六进制</a:t>
            </a:r>
            <a:endParaRPr lang="en-US" altLang="zh-CN" dirty="0"/>
          </a:p>
          <a:p>
            <a:pPr lvl="1"/>
            <a:r>
              <a:rPr lang="zh-CN" altLang="en-US" dirty="0"/>
              <a:t>从小数点位置，整数向左，小数向右，每四位二进制数为一组，不足四位补</a:t>
            </a:r>
            <a:r>
              <a:rPr lang="en-US" altLang="zh-CN" dirty="0"/>
              <a:t>0</a:t>
            </a:r>
            <a:endParaRPr lang="en-US" altLang="zh-CN" dirty="0"/>
          </a:p>
          <a:p>
            <a:pPr lvl="2"/>
            <a:r>
              <a:rPr lang="en-US" altLang="zh-CN" dirty="0"/>
              <a:t>10010(2) =&gt;(0001)(0010)</a:t>
            </a:r>
            <a:endParaRPr lang="en-US" altLang="zh-CN" dirty="0"/>
          </a:p>
          <a:p>
            <a:pPr lvl="1"/>
            <a:r>
              <a:rPr lang="zh-CN" altLang="en-US" dirty="0"/>
              <a:t>将每组四位二进制数转换为相应的十六进制数并按顺序排列在一起</a:t>
            </a:r>
            <a:endParaRPr lang="zh-CN" altLang="en-US" dirty="0"/>
          </a:p>
          <a:p>
            <a:pPr lvl="2"/>
            <a:r>
              <a:rPr lang="zh-CN" altLang="en-US" dirty="0"/>
              <a:t>100111110010(2) =&gt;(1001)(1111)(0010) =&gt;9</a:t>
            </a:r>
            <a:r>
              <a:rPr lang="en-US" altLang="zh-CN" dirty="0"/>
              <a:t>F2(16)</a:t>
            </a:r>
            <a:endParaRPr lang="en-US" altLang="zh-CN" dirty="0"/>
          </a:p>
          <a:p>
            <a:endParaRPr lang="zh-CN" altLang="en-US" dirty="0"/>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数制转换</a:t>
            </a:r>
            <a:endParaRPr lang="zh-CN" altLang="en-US" dirty="0"/>
          </a:p>
        </p:txBody>
      </p:sp>
      <p:sp>
        <p:nvSpPr>
          <p:cNvPr id="3" name="内容占位符 2"/>
          <p:cNvSpPr>
            <a:spLocks noGrp="1"/>
          </p:cNvSpPr>
          <p:nvPr>
            <p:ph idx="1"/>
          </p:nvPr>
        </p:nvSpPr>
        <p:spPr/>
        <p:txBody>
          <a:bodyPr/>
          <a:lstStyle/>
          <a:p>
            <a:r>
              <a:rPr lang="zh-CN" altLang="en-US" dirty="0"/>
              <a:t>二进制与十六进制数对照表</a:t>
            </a:r>
            <a:endParaRPr lang="zh-CN" altLang="en-US" dirty="0"/>
          </a:p>
        </p:txBody>
      </p:sp>
      <p:graphicFrame>
        <p:nvGraphicFramePr>
          <p:cNvPr id="4" name="表格 3"/>
          <p:cNvGraphicFramePr>
            <a:graphicFrameLocks noGrp="1"/>
          </p:cNvGraphicFramePr>
          <p:nvPr/>
        </p:nvGraphicFramePr>
        <p:xfrm>
          <a:off x="1524000" y="2428868"/>
          <a:ext cx="6096000" cy="3337560"/>
        </p:xfrm>
        <a:graphic>
          <a:graphicData uri="http://schemas.openxmlformats.org/drawingml/2006/table">
            <a:tbl>
              <a:tblPr firstRow="1" bandRow="1">
                <a:tableStyleId>{10A1B5D5-9B99-4C35-A422-299274C87663}</a:tableStyleId>
              </a:tblPr>
              <a:tblGrid>
                <a:gridCol w="1524000"/>
                <a:gridCol w="1524000"/>
                <a:gridCol w="1524000"/>
                <a:gridCol w="1524000"/>
              </a:tblGrid>
              <a:tr h="370840">
                <a:tc>
                  <a:txBody>
                    <a:bodyPr/>
                    <a:lstStyle/>
                    <a:p>
                      <a:pPr algn="ctr"/>
                      <a:r>
                        <a:rPr lang="zh-CN" altLang="en-US" dirty="0"/>
                        <a:t>二进制数</a:t>
                      </a:r>
                      <a:endParaRPr lang="zh-CN" altLang="en-US" dirty="0"/>
                    </a:p>
                  </a:txBody>
                  <a:tcPr/>
                </a:tc>
                <a:tc>
                  <a:txBody>
                    <a:bodyPr/>
                    <a:lstStyle/>
                    <a:p>
                      <a:pPr algn="ctr"/>
                      <a:r>
                        <a:rPr lang="zh-CN" altLang="en-US" dirty="0"/>
                        <a:t>十六进制数</a:t>
                      </a:r>
                      <a:endParaRPr lang="zh-CN" altLang="en-US" dirty="0"/>
                    </a:p>
                  </a:txBody>
                  <a:tcPr/>
                </a:tc>
                <a:tc>
                  <a:txBody>
                    <a:bodyPr/>
                    <a:lstStyle/>
                    <a:p>
                      <a:pPr algn="ctr"/>
                      <a:r>
                        <a:rPr lang="zh-CN" altLang="en-US" dirty="0"/>
                        <a:t>二进制数</a:t>
                      </a:r>
                      <a:endParaRPr lang="zh-CN" altLang="en-US" dirty="0"/>
                    </a:p>
                  </a:txBody>
                  <a:tcPr/>
                </a:tc>
                <a:tc>
                  <a:txBody>
                    <a:bodyPr/>
                    <a:lstStyle/>
                    <a:p>
                      <a:pPr algn="ctr"/>
                      <a:r>
                        <a:rPr lang="zh-CN" altLang="en-US" dirty="0"/>
                        <a:t>十六进制数</a:t>
                      </a:r>
                      <a:endParaRPr lang="zh-CN" altLang="en-US" dirty="0"/>
                    </a:p>
                  </a:txBody>
                  <a:tcPr/>
                </a:tc>
              </a:tr>
              <a:tr h="370840">
                <a:tc>
                  <a:txBody>
                    <a:bodyPr/>
                    <a:lstStyle/>
                    <a:p>
                      <a:pPr algn="ctr"/>
                      <a:r>
                        <a:rPr lang="en-US" altLang="zh-CN" dirty="0"/>
                        <a:t>0000</a:t>
                      </a:r>
                      <a:endParaRPr lang="zh-CN" altLang="en-US" dirty="0"/>
                    </a:p>
                  </a:txBody>
                  <a:tcPr/>
                </a:tc>
                <a:tc>
                  <a:txBody>
                    <a:bodyPr/>
                    <a:lstStyle/>
                    <a:p>
                      <a:pPr algn="ctr"/>
                      <a:r>
                        <a:rPr lang="en-US" altLang="zh-CN" dirty="0"/>
                        <a:t>0</a:t>
                      </a:r>
                      <a:endParaRPr lang="zh-CN" altLang="en-US" dirty="0"/>
                    </a:p>
                  </a:txBody>
                  <a:tcPr/>
                </a:tc>
                <a:tc>
                  <a:txBody>
                    <a:bodyPr/>
                    <a:lstStyle/>
                    <a:p>
                      <a:pPr algn="ctr"/>
                      <a:r>
                        <a:rPr lang="en-US" altLang="zh-CN" dirty="0"/>
                        <a:t>1000</a:t>
                      </a:r>
                      <a:endParaRPr lang="zh-CN" altLang="en-US" dirty="0"/>
                    </a:p>
                  </a:txBody>
                  <a:tcPr/>
                </a:tc>
                <a:tc>
                  <a:txBody>
                    <a:bodyPr/>
                    <a:lstStyle/>
                    <a:p>
                      <a:pPr algn="ctr"/>
                      <a:r>
                        <a:rPr lang="en-US" altLang="zh-CN" dirty="0"/>
                        <a:t>8</a:t>
                      </a:r>
                      <a:endParaRPr lang="zh-CN" altLang="en-US" dirty="0"/>
                    </a:p>
                  </a:txBody>
                  <a:tcPr/>
                </a:tc>
              </a:tr>
              <a:tr h="370840">
                <a:tc>
                  <a:txBody>
                    <a:bodyPr/>
                    <a:lstStyle/>
                    <a:p>
                      <a:pPr algn="ctr"/>
                      <a:r>
                        <a:rPr lang="en-US" altLang="zh-CN" dirty="0"/>
                        <a:t>0001</a:t>
                      </a:r>
                      <a:endParaRPr lang="zh-CN" altLang="en-US" dirty="0"/>
                    </a:p>
                  </a:txBody>
                  <a:tcPr/>
                </a:tc>
                <a:tc>
                  <a:txBody>
                    <a:bodyPr/>
                    <a:lstStyle/>
                    <a:p>
                      <a:pPr algn="ctr"/>
                      <a:r>
                        <a:rPr lang="en-US" altLang="zh-CN" dirty="0"/>
                        <a:t>1</a:t>
                      </a:r>
                      <a:endParaRPr lang="zh-CN" altLang="en-US" dirty="0"/>
                    </a:p>
                  </a:txBody>
                  <a:tcPr/>
                </a:tc>
                <a:tc>
                  <a:txBody>
                    <a:bodyPr/>
                    <a:lstStyle/>
                    <a:p>
                      <a:pPr algn="ctr"/>
                      <a:r>
                        <a:rPr lang="en-US" altLang="zh-CN" dirty="0"/>
                        <a:t>1001</a:t>
                      </a:r>
                      <a:endParaRPr lang="zh-CN" altLang="en-US" dirty="0"/>
                    </a:p>
                  </a:txBody>
                  <a:tcPr/>
                </a:tc>
                <a:tc>
                  <a:txBody>
                    <a:bodyPr/>
                    <a:lstStyle/>
                    <a:p>
                      <a:pPr algn="ctr"/>
                      <a:r>
                        <a:rPr lang="en-US" altLang="zh-CN" dirty="0"/>
                        <a:t>9</a:t>
                      </a:r>
                      <a:endParaRPr lang="zh-CN" altLang="en-US" dirty="0"/>
                    </a:p>
                  </a:txBody>
                  <a:tcPr/>
                </a:tc>
              </a:tr>
              <a:tr h="370840">
                <a:tc>
                  <a:txBody>
                    <a:bodyPr/>
                    <a:lstStyle/>
                    <a:p>
                      <a:pPr algn="ctr"/>
                      <a:r>
                        <a:rPr lang="en-US" altLang="zh-CN" dirty="0"/>
                        <a:t>0010</a:t>
                      </a:r>
                      <a:endParaRPr lang="zh-CN" altLang="en-US" dirty="0"/>
                    </a:p>
                  </a:txBody>
                  <a:tcPr/>
                </a:tc>
                <a:tc>
                  <a:txBody>
                    <a:bodyPr/>
                    <a:lstStyle/>
                    <a:p>
                      <a:pPr algn="ctr"/>
                      <a:r>
                        <a:rPr lang="en-US" altLang="zh-CN" dirty="0"/>
                        <a:t>2</a:t>
                      </a:r>
                      <a:endParaRPr lang="zh-CN" altLang="en-US" dirty="0"/>
                    </a:p>
                  </a:txBody>
                  <a:tcPr/>
                </a:tc>
                <a:tc>
                  <a:txBody>
                    <a:bodyPr/>
                    <a:lstStyle/>
                    <a:p>
                      <a:pPr algn="ctr"/>
                      <a:r>
                        <a:rPr lang="en-US" altLang="zh-CN" dirty="0"/>
                        <a:t>1010</a:t>
                      </a:r>
                      <a:endParaRPr lang="zh-CN" altLang="en-US" dirty="0"/>
                    </a:p>
                  </a:txBody>
                  <a:tcPr/>
                </a:tc>
                <a:tc>
                  <a:txBody>
                    <a:bodyPr/>
                    <a:lstStyle/>
                    <a:p>
                      <a:pPr algn="ctr"/>
                      <a:r>
                        <a:rPr lang="en-US" altLang="zh-CN" dirty="0"/>
                        <a:t>A</a:t>
                      </a:r>
                      <a:endParaRPr lang="zh-CN" altLang="en-US" dirty="0"/>
                    </a:p>
                  </a:txBody>
                  <a:tcPr/>
                </a:tc>
              </a:tr>
              <a:tr h="370840">
                <a:tc>
                  <a:txBody>
                    <a:bodyPr/>
                    <a:lstStyle/>
                    <a:p>
                      <a:pPr algn="ctr"/>
                      <a:r>
                        <a:rPr lang="en-US" altLang="zh-CN" dirty="0"/>
                        <a:t>0011</a:t>
                      </a:r>
                      <a:endParaRPr lang="zh-CN" altLang="en-US" dirty="0"/>
                    </a:p>
                  </a:txBody>
                  <a:tcPr/>
                </a:tc>
                <a:tc>
                  <a:txBody>
                    <a:bodyPr/>
                    <a:lstStyle/>
                    <a:p>
                      <a:pPr algn="ctr"/>
                      <a:r>
                        <a:rPr lang="en-US" altLang="zh-CN" dirty="0"/>
                        <a:t>3</a:t>
                      </a:r>
                      <a:endParaRPr lang="zh-CN" altLang="en-US" dirty="0"/>
                    </a:p>
                  </a:txBody>
                  <a:tcPr/>
                </a:tc>
                <a:tc>
                  <a:txBody>
                    <a:bodyPr/>
                    <a:lstStyle/>
                    <a:p>
                      <a:pPr algn="ctr"/>
                      <a:r>
                        <a:rPr lang="en-US" altLang="zh-CN" dirty="0"/>
                        <a:t>1011</a:t>
                      </a:r>
                      <a:endParaRPr lang="zh-CN" altLang="en-US" dirty="0"/>
                    </a:p>
                  </a:txBody>
                  <a:tcPr/>
                </a:tc>
                <a:tc>
                  <a:txBody>
                    <a:bodyPr/>
                    <a:lstStyle/>
                    <a:p>
                      <a:pPr algn="ctr"/>
                      <a:r>
                        <a:rPr lang="en-US" altLang="zh-CN" dirty="0"/>
                        <a:t>B</a:t>
                      </a:r>
                      <a:endParaRPr lang="zh-CN" altLang="en-US" dirty="0"/>
                    </a:p>
                  </a:txBody>
                  <a:tcPr/>
                </a:tc>
              </a:tr>
              <a:tr h="370840">
                <a:tc>
                  <a:txBody>
                    <a:bodyPr/>
                    <a:lstStyle/>
                    <a:p>
                      <a:pPr algn="ctr"/>
                      <a:r>
                        <a:rPr lang="en-US" altLang="zh-CN" dirty="0"/>
                        <a:t>0100</a:t>
                      </a:r>
                      <a:endParaRPr lang="zh-CN" altLang="en-US" dirty="0"/>
                    </a:p>
                  </a:txBody>
                  <a:tcPr/>
                </a:tc>
                <a:tc>
                  <a:txBody>
                    <a:bodyPr/>
                    <a:lstStyle/>
                    <a:p>
                      <a:pPr algn="ctr"/>
                      <a:r>
                        <a:rPr lang="en-US" altLang="zh-CN" dirty="0"/>
                        <a:t>4</a:t>
                      </a:r>
                      <a:endParaRPr lang="zh-CN" altLang="en-US" dirty="0"/>
                    </a:p>
                  </a:txBody>
                  <a:tcPr/>
                </a:tc>
                <a:tc>
                  <a:txBody>
                    <a:bodyPr/>
                    <a:lstStyle/>
                    <a:p>
                      <a:pPr algn="ctr"/>
                      <a:r>
                        <a:rPr lang="en-US" altLang="zh-CN" dirty="0"/>
                        <a:t>1100</a:t>
                      </a:r>
                      <a:endParaRPr lang="zh-CN" altLang="en-US" dirty="0"/>
                    </a:p>
                  </a:txBody>
                  <a:tcPr/>
                </a:tc>
                <a:tc>
                  <a:txBody>
                    <a:bodyPr/>
                    <a:lstStyle/>
                    <a:p>
                      <a:pPr algn="ctr"/>
                      <a:r>
                        <a:rPr lang="en-US" altLang="zh-CN" dirty="0"/>
                        <a:t>C</a:t>
                      </a:r>
                      <a:endParaRPr lang="zh-CN" altLang="en-US" dirty="0"/>
                    </a:p>
                  </a:txBody>
                  <a:tcPr/>
                </a:tc>
              </a:tr>
              <a:tr h="370840">
                <a:tc>
                  <a:txBody>
                    <a:bodyPr/>
                    <a:lstStyle/>
                    <a:p>
                      <a:pPr algn="ctr"/>
                      <a:r>
                        <a:rPr lang="en-US" altLang="zh-CN" dirty="0"/>
                        <a:t>0101</a:t>
                      </a:r>
                      <a:endParaRPr lang="zh-CN" altLang="en-US" dirty="0"/>
                    </a:p>
                  </a:txBody>
                  <a:tcPr/>
                </a:tc>
                <a:tc>
                  <a:txBody>
                    <a:bodyPr/>
                    <a:lstStyle/>
                    <a:p>
                      <a:pPr algn="ctr"/>
                      <a:r>
                        <a:rPr lang="en-US" altLang="zh-CN" dirty="0"/>
                        <a:t>5</a:t>
                      </a:r>
                      <a:endParaRPr lang="zh-CN" altLang="en-US" dirty="0"/>
                    </a:p>
                  </a:txBody>
                  <a:tcPr/>
                </a:tc>
                <a:tc>
                  <a:txBody>
                    <a:bodyPr/>
                    <a:lstStyle/>
                    <a:p>
                      <a:pPr algn="ctr"/>
                      <a:r>
                        <a:rPr lang="en-US" altLang="zh-CN" dirty="0"/>
                        <a:t>1101</a:t>
                      </a:r>
                      <a:endParaRPr lang="zh-CN" altLang="en-US" dirty="0"/>
                    </a:p>
                  </a:txBody>
                  <a:tcPr/>
                </a:tc>
                <a:tc>
                  <a:txBody>
                    <a:bodyPr/>
                    <a:lstStyle/>
                    <a:p>
                      <a:pPr algn="ctr"/>
                      <a:r>
                        <a:rPr lang="en-US" altLang="zh-CN"/>
                        <a:t>D</a:t>
                      </a:r>
                      <a:endParaRPr lang="zh-CN" altLang="en-US" dirty="0"/>
                    </a:p>
                  </a:txBody>
                  <a:tcPr/>
                </a:tc>
              </a:tr>
              <a:tr h="370840">
                <a:tc>
                  <a:txBody>
                    <a:bodyPr/>
                    <a:lstStyle/>
                    <a:p>
                      <a:pPr algn="ctr"/>
                      <a:r>
                        <a:rPr lang="en-US" altLang="zh-CN" dirty="0"/>
                        <a:t>0110</a:t>
                      </a:r>
                      <a:endParaRPr lang="zh-CN" altLang="en-US" dirty="0"/>
                    </a:p>
                  </a:txBody>
                  <a:tcPr/>
                </a:tc>
                <a:tc>
                  <a:txBody>
                    <a:bodyPr/>
                    <a:lstStyle/>
                    <a:p>
                      <a:pPr algn="ctr"/>
                      <a:r>
                        <a:rPr lang="en-US" altLang="zh-CN" dirty="0"/>
                        <a:t>6</a:t>
                      </a:r>
                      <a:endParaRPr lang="zh-CN" altLang="en-US" dirty="0"/>
                    </a:p>
                  </a:txBody>
                  <a:tcPr/>
                </a:tc>
                <a:tc>
                  <a:txBody>
                    <a:bodyPr/>
                    <a:lstStyle/>
                    <a:p>
                      <a:pPr algn="ctr"/>
                      <a:r>
                        <a:rPr lang="en-US" altLang="zh-CN" dirty="0"/>
                        <a:t>1110</a:t>
                      </a:r>
                      <a:endParaRPr lang="zh-CN" altLang="en-US" dirty="0"/>
                    </a:p>
                  </a:txBody>
                  <a:tcPr/>
                </a:tc>
                <a:tc>
                  <a:txBody>
                    <a:bodyPr/>
                    <a:lstStyle/>
                    <a:p>
                      <a:pPr algn="ctr"/>
                      <a:r>
                        <a:rPr lang="en-US" altLang="zh-CN" dirty="0"/>
                        <a:t>E</a:t>
                      </a:r>
                      <a:endParaRPr lang="zh-CN" altLang="en-US" dirty="0"/>
                    </a:p>
                  </a:txBody>
                  <a:tcPr/>
                </a:tc>
              </a:tr>
              <a:tr h="370840">
                <a:tc>
                  <a:txBody>
                    <a:bodyPr/>
                    <a:lstStyle/>
                    <a:p>
                      <a:pPr algn="ctr"/>
                      <a:r>
                        <a:rPr lang="en-US" altLang="zh-CN" dirty="0"/>
                        <a:t>0111</a:t>
                      </a:r>
                      <a:endParaRPr lang="zh-CN" altLang="en-US" dirty="0"/>
                    </a:p>
                  </a:txBody>
                  <a:tcPr/>
                </a:tc>
                <a:tc>
                  <a:txBody>
                    <a:bodyPr/>
                    <a:lstStyle/>
                    <a:p>
                      <a:pPr algn="ctr"/>
                      <a:r>
                        <a:rPr lang="en-US" altLang="zh-CN" dirty="0"/>
                        <a:t>7</a:t>
                      </a:r>
                      <a:endParaRPr lang="zh-CN" altLang="en-US" dirty="0"/>
                    </a:p>
                  </a:txBody>
                  <a:tcPr/>
                </a:tc>
                <a:tc>
                  <a:txBody>
                    <a:bodyPr/>
                    <a:lstStyle/>
                    <a:p>
                      <a:pPr algn="ctr"/>
                      <a:r>
                        <a:rPr lang="en-US" altLang="zh-CN" dirty="0"/>
                        <a:t>1111</a:t>
                      </a:r>
                      <a:endParaRPr lang="zh-CN" altLang="en-US" dirty="0"/>
                    </a:p>
                  </a:txBody>
                  <a:tcPr/>
                </a:tc>
                <a:tc>
                  <a:txBody>
                    <a:bodyPr/>
                    <a:lstStyle/>
                    <a:p>
                      <a:pPr algn="ctr"/>
                      <a:r>
                        <a:rPr lang="en-US" altLang="zh-CN" dirty="0"/>
                        <a:t>F</a:t>
                      </a:r>
                      <a:endParaRPr lang="zh-CN" altLang="en-US" dirty="0"/>
                    </a:p>
                  </a:txBody>
                  <a:tcPr/>
                </a:tc>
              </a:tr>
            </a:tbl>
          </a:graphicData>
        </a:graphic>
      </p:graphicFrame>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数制转换</a:t>
            </a:r>
            <a:endParaRPr lang="zh-CN" altLang="en-US" dirty="0"/>
          </a:p>
        </p:txBody>
      </p:sp>
      <p:sp>
        <p:nvSpPr>
          <p:cNvPr id="3" name="内容占位符 2"/>
          <p:cNvSpPr>
            <a:spLocks noGrp="1"/>
          </p:cNvSpPr>
          <p:nvPr>
            <p:ph idx="1"/>
          </p:nvPr>
        </p:nvSpPr>
        <p:spPr/>
        <p:txBody>
          <a:bodyPr/>
          <a:lstStyle/>
          <a:p>
            <a:r>
              <a:rPr lang="zh-CN" altLang="en-US" dirty="0"/>
              <a:t>八进制转换二进制</a:t>
            </a:r>
            <a:endParaRPr lang="en-US" altLang="zh-CN" dirty="0"/>
          </a:p>
          <a:p>
            <a:pPr lvl="1"/>
            <a:r>
              <a:rPr lang="zh-CN" altLang="en-US" dirty="0"/>
              <a:t>一位化三位，按序连一起</a:t>
            </a:r>
            <a:endParaRPr lang="en-US" altLang="zh-CN" dirty="0"/>
          </a:p>
          <a:p>
            <a:pPr lvl="2"/>
            <a:r>
              <a:rPr lang="zh-CN" altLang="en-US" dirty="0"/>
              <a:t>527</a:t>
            </a:r>
            <a:r>
              <a:rPr lang="en-US" altLang="zh-CN" dirty="0"/>
              <a:t>(</a:t>
            </a:r>
            <a:r>
              <a:rPr lang="zh-CN" altLang="en-US" dirty="0"/>
              <a:t>8</a:t>
            </a:r>
            <a:r>
              <a:rPr lang="en-US" altLang="zh-CN" dirty="0"/>
              <a:t>)</a:t>
            </a:r>
            <a:r>
              <a:rPr lang="zh-CN" altLang="en-US" dirty="0"/>
              <a:t>=&gt; (101)(010)(111) =&gt; 101010111</a:t>
            </a:r>
            <a:r>
              <a:rPr lang="en-US" altLang="zh-CN" dirty="0"/>
              <a:t>(</a:t>
            </a:r>
            <a:r>
              <a:rPr lang="zh-CN" altLang="en-US" dirty="0"/>
              <a:t>2</a:t>
            </a:r>
            <a:r>
              <a:rPr lang="en-US" altLang="zh-CN" dirty="0"/>
              <a:t>)</a:t>
            </a:r>
            <a:endParaRPr lang="en-US" altLang="zh-CN" dirty="0"/>
          </a:p>
          <a:p>
            <a:r>
              <a:rPr lang="zh-CN" altLang="en-US" dirty="0"/>
              <a:t>十六进制转换二进制</a:t>
            </a:r>
            <a:endParaRPr lang="en-US" altLang="zh-CN" dirty="0"/>
          </a:p>
          <a:p>
            <a:pPr lvl="1"/>
            <a:r>
              <a:rPr lang="zh-CN" altLang="en-US" dirty="0"/>
              <a:t>一位化四位，按序连一起</a:t>
            </a:r>
            <a:endParaRPr lang="en-US" altLang="zh-CN" dirty="0"/>
          </a:p>
          <a:p>
            <a:pPr lvl="2"/>
            <a:r>
              <a:rPr lang="zh-CN" altLang="en-US" dirty="0"/>
              <a:t>9</a:t>
            </a:r>
            <a:r>
              <a:rPr lang="en-US" altLang="zh-CN" dirty="0"/>
              <a:t>F2(16) =&gt;(1001)(1111)(0010) =&gt;100111110010(2)</a:t>
            </a:r>
            <a:endParaRPr lang="en-US" altLang="zh-CN" dirty="0"/>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数制转换</a:t>
            </a:r>
            <a:endParaRPr lang="zh-CN" altLang="en-US" dirty="0"/>
          </a:p>
        </p:txBody>
      </p:sp>
      <p:sp>
        <p:nvSpPr>
          <p:cNvPr id="3" name="内容占位符 2"/>
          <p:cNvSpPr>
            <a:spLocks noGrp="1"/>
          </p:cNvSpPr>
          <p:nvPr>
            <p:ph idx="1"/>
          </p:nvPr>
        </p:nvSpPr>
        <p:spPr/>
        <p:txBody>
          <a:bodyPr/>
          <a:lstStyle/>
          <a:p>
            <a:r>
              <a:rPr lang="zh-CN" altLang="en-US" dirty="0"/>
              <a:t>八进制转换十六进制</a:t>
            </a:r>
            <a:endParaRPr lang="en-US" altLang="zh-CN" dirty="0"/>
          </a:p>
          <a:p>
            <a:pPr lvl="1"/>
            <a:r>
              <a:rPr lang="zh-CN" altLang="en-US" dirty="0"/>
              <a:t>先转换成十进制，再转换为十六进制</a:t>
            </a:r>
            <a:endParaRPr lang="en-US" altLang="zh-CN" dirty="0"/>
          </a:p>
          <a:p>
            <a:r>
              <a:rPr lang="zh-CN" altLang="en-US" dirty="0"/>
              <a:t>十六进制转换八进制</a:t>
            </a:r>
            <a:endParaRPr lang="en-US" altLang="zh-CN" dirty="0"/>
          </a:p>
          <a:p>
            <a:pPr lvl="1"/>
            <a:r>
              <a:rPr lang="zh-CN" altLang="en-US" dirty="0"/>
              <a:t>先转换成十进制，再转换为八进制</a:t>
            </a:r>
            <a:endParaRPr lang="zh-CN" altLang="en-US" dirty="0"/>
          </a:p>
          <a:p>
            <a:endParaRPr lang="zh-CN" altLang="en-US" dirty="0"/>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带符号数的表示</a:t>
            </a:r>
            <a:endParaRPr lang="zh-CN" altLang="en-US" dirty="0"/>
          </a:p>
        </p:txBody>
      </p:sp>
      <p:sp>
        <p:nvSpPr>
          <p:cNvPr id="3" name="内容占位符 2"/>
          <p:cNvSpPr>
            <a:spLocks noGrp="1"/>
          </p:cNvSpPr>
          <p:nvPr>
            <p:ph idx="1"/>
          </p:nvPr>
        </p:nvSpPr>
        <p:spPr/>
        <p:txBody>
          <a:bodyPr/>
          <a:lstStyle/>
          <a:p>
            <a:r>
              <a:rPr lang="zh-CN" altLang="en-US" dirty="0"/>
              <a:t>机器数</a:t>
            </a:r>
            <a:endParaRPr lang="en-US" altLang="zh-CN" dirty="0"/>
          </a:p>
          <a:p>
            <a:pPr lvl="1"/>
            <a:r>
              <a:rPr lang="zh-CN" altLang="en-US" dirty="0"/>
              <a:t>将一个数在机器中的表现形式，即编码称为机器数</a:t>
            </a:r>
            <a:endParaRPr lang="en-US" altLang="zh-CN" dirty="0"/>
          </a:p>
          <a:p>
            <a:r>
              <a:rPr lang="zh-CN" altLang="en-US" dirty="0"/>
              <a:t>真值</a:t>
            </a:r>
            <a:endParaRPr lang="en-US" altLang="zh-CN" dirty="0"/>
          </a:p>
          <a:p>
            <a:pPr lvl="1"/>
            <a:r>
              <a:rPr lang="zh-CN" altLang="en-US" dirty="0"/>
              <a:t>将数本身称为真值</a:t>
            </a:r>
            <a:endParaRPr lang="en-US" altLang="zh-CN" dirty="0"/>
          </a:p>
          <a:p>
            <a:r>
              <a:rPr lang="zh-CN" altLang="en-US" dirty="0"/>
              <a:t>常用的机器数有三种</a:t>
            </a:r>
            <a:endParaRPr lang="en-US" altLang="zh-CN" dirty="0"/>
          </a:p>
          <a:p>
            <a:pPr lvl="1"/>
            <a:r>
              <a:rPr lang="zh-CN" altLang="en-US" dirty="0"/>
              <a:t>原码</a:t>
            </a:r>
            <a:endParaRPr lang="en-US" altLang="zh-CN" dirty="0"/>
          </a:p>
          <a:p>
            <a:pPr lvl="1"/>
            <a:r>
              <a:rPr lang="zh-CN" altLang="en-US" dirty="0"/>
              <a:t>补码</a:t>
            </a:r>
            <a:endParaRPr lang="en-US" altLang="zh-CN" dirty="0"/>
          </a:p>
          <a:p>
            <a:pPr lvl="1"/>
            <a:r>
              <a:rPr lang="zh-CN" altLang="en-US" dirty="0"/>
              <a:t>反码</a:t>
            </a:r>
            <a:endParaRPr lang="zh-CN" altLang="en-US" dirty="0"/>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dirty="0"/>
              <a:t>原码</a:t>
            </a:r>
            <a:endParaRPr kumimoji="1" lang="zh-CN" altLang="en-US" dirty="0"/>
          </a:p>
        </p:txBody>
      </p:sp>
      <p:sp>
        <p:nvSpPr>
          <p:cNvPr id="3" name="内容占位符 2"/>
          <p:cNvSpPr>
            <a:spLocks noGrp="1"/>
          </p:cNvSpPr>
          <p:nvPr>
            <p:ph idx="1"/>
          </p:nvPr>
        </p:nvSpPr>
        <p:spPr/>
        <p:txBody>
          <a:bodyPr/>
          <a:lstStyle/>
          <a:p>
            <a:r>
              <a:rPr kumimoji="1" lang="zh-CN" altLang="en-US" dirty="0"/>
              <a:t>用一个二进制位表示符号</a:t>
            </a:r>
            <a:endParaRPr kumimoji="1" lang="en-US" altLang="zh-CN" dirty="0"/>
          </a:p>
          <a:p>
            <a:pPr lvl="1"/>
            <a:r>
              <a:rPr kumimoji="1" lang="zh-CN" altLang="en-US" dirty="0"/>
              <a:t>对正数，该位取</a:t>
            </a:r>
            <a:r>
              <a:rPr kumimoji="1" lang="en-US" altLang="zh-CN" dirty="0"/>
              <a:t>0</a:t>
            </a:r>
            <a:r>
              <a:rPr kumimoji="1" lang="zh-CN" altLang="en-US" dirty="0"/>
              <a:t>；对负数，该位取</a:t>
            </a:r>
            <a:r>
              <a:rPr kumimoji="1" lang="en-US" altLang="zh-CN" dirty="0"/>
              <a:t>1</a:t>
            </a:r>
            <a:endParaRPr kumimoji="1" lang="en-US" altLang="zh-CN" dirty="0"/>
          </a:p>
          <a:p>
            <a:pPr lvl="1"/>
            <a:r>
              <a:rPr kumimoji="1" lang="zh-CN" altLang="en-US" dirty="0"/>
              <a:t>数值部分保持数的原有形式（高位补</a:t>
            </a:r>
            <a:r>
              <a:rPr kumimoji="1" lang="en-US" altLang="zh-CN" dirty="0"/>
              <a:t>0</a:t>
            </a:r>
            <a:r>
              <a:rPr kumimoji="1" lang="zh-CN" altLang="en-US" dirty="0"/>
              <a:t>）</a:t>
            </a:r>
            <a:endParaRPr kumimoji="1" lang="en-US" altLang="zh-CN" dirty="0"/>
          </a:p>
          <a:p>
            <a:r>
              <a:rPr kumimoji="1" lang="en-US" altLang="zh-CN" dirty="0"/>
              <a:t>X=+1001010,Y=-1001010,Z=-1110</a:t>
            </a:r>
            <a:endParaRPr kumimoji="1" lang="en-US" altLang="zh-CN" dirty="0"/>
          </a:p>
          <a:p>
            <a:r>
              <a:rPr kumimoji="1" lang="zh-CN" altLang="en-US" dirty="0"/>
              <a:t>当原码为</a:t>
            </a:r>
            <a:r>
              <a:rPr kumimoji="1" lang="en-US" altLang="zh-CN" dirty="0"/>
              <a:t>8</a:t>
            </a:r>
            <a:r>
              <a:rPr kumimoji="1" lang="zh-CN" altLang="en-US" dirty="0"/>
              <a:t>位时，</a:t>
            </a:r>
            <a:r>
              <a:rPr kumimoji="1" lang="en-US" altLang="zh-CN" dirty="0"/>
              <a:t>X</a:t>
            </a:r>
            <a:r>
              <a:rPr kumimoji="1" lang="zh-CN" altLang="en-US" dirty="0"/>
              <a:t>、</a:t>
            </a:r>
            <a:r>
              <a:rPr kumimoji="1" lang="en-US" altLang="zh-CN" dirty="0" err="1"/>
              <a:t>Y</a:t>
            </a:r>
            <a:r>
              <a:rPr kumimoji="1" lang="en-US" altLang="en-US" dirty="0" err="1"/>
              <a:t>和Z的原码分别是</a:t>
            </a:r>
            <a:endParaRPr kumimoji="1" lang="en-US" altLang="en-US" dirty="0"/>
          </a:p>
          <a:p>
            <a:pPr lvl="1"/>
            <a:r>
              <a:rPr kumimoji="1" lang="en-US" altLang="zh-CN" dirty="0"/>
              <a:t>[X]</a:t>
            </a:r>
            <a:r>
              <a:rPr kumimoji="1" lang="zh-CN" altLang="en-US" baseline="-25000" dirty="0"/>
              <a:t>原</a:t>
            </a:r>
            <a:r>
              <a:rPr kumimoji="1" lang="en-US" altLang="zh-CN" dirty="0"/>
              <a:t>=</a:t>
            </a:r>
            <a:r>
              <a:rPr kumimoji="1" lang="en-US" altLang="zh-CN" u="sng" dirty="0"/>
              <a:t>0</a:t>
            </a:r>
            <a:r>
              <a:rPr kumimoji="1" lang="en-US" altLang="zh-CN" dirty="0"/>
              <a:t>1001010</a:t>
            </a:r>
            <a:endParaRPr kumimoji="1" lang="en-US" altLang="zh-CN" dirty="0"/>
          </a:p>
          <a:p>
            <a:pPr lvl="1"/>
            <a:r>
              <a:rPr kumimoji="1" lang="en-US" altLang="zh-CN" dirty="0"/>
              <a:t>[Y]</a:t>
            </a:r>
            <a:r>
              <a:rPr kumimoji="1" lang="zh-CN" altLang="en-US" baseline="-25000" dirty="0"/>
              <a:t>原</a:t>
            </a:r>
            <a:r>
              <a:rPr kumimoji="1" lang="en-US" altLang="zh-CN" dirty="0"/>
              <a:t>=</a:t>
            </a:r>
            <a:r>
              <a:rPr kumimoji="1" lang="en-US" altLang="zh-CN" u="sng" dirty="0"/>
              <a:t>1</a:t>
            </a:r>
            <a:r>
              <a:rPr kumimoji="1" lang="en-US" altLang="zh-CN" dirty="0"/>
              <a:t>1001010</a:t>
            </a:r>
            <a:endParaRPr kumimoji="1" lang="en-US" altLang="zh-CN" dirty="0"/>
          </a:p>
          <a:p>
            <a:pPr lvl="1"/>
            <a:r>
              <a:rPr kumimoji="1" lang="en-US" altLang="zh-CN" dirty="0"/>
              <a:t>[Z]</a:t>
            </a:r>
            <a:r>
              <a:rPr kumimoji="1" lang="zh-CN" altLang="en-US" baseline="-25000" dirty="0"/>
              <a:t>原</a:t>
            </a:r>
            <a:r>
              <a:rPr kumimoji="1" lang="en-US" altLang="zh-CN" dirty="0"/>
              <a:t>=</a:t>
            </a:r>
            <a:r>
              <a:rPr kumimoji="1" lang="en-US" altLang="zh-CN" u="sng" dirty="0"/>
              <a:t>1</a:t>
            </a:r>
            <a:r>
              <a:rPr kumimoji="1" lang="en-US" altLang="zh-CN" dirty="0"/>
              <a:t>0001110</a:t>
            </a:r>
            <a:endParaRPr kumimoji="1" lang="en-US" altLang="zh-CN" dirty="0"/>
          </a:p>
          <a:p>
            <a:r>
              <a:rPr kumimoji="1" lang="zh-CN" altLang="en-US" dirty="0"/>
              <a:t>其中最高位为符号位</a:t>
            </a:r>
            <a:endParaRPr kumimoji="1" lang="en-US" altLang="zh-CN" dirty="0"/>
          </a:p>
          <a:p>
            <a:pPr lvl="1"/>
            <a:endParaRPr kumimoji="1" lang="zh-CN" altLang="en-US" u="sng" dirty="0"/>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en-US" altLang="en-US" dirty="0"/>
              <a:t>补码</a:t>
            </a:r>
            <a:endParaRPr kumimoji="1" lang="zh-CN" altLang="en-US" dirty="0"/>
          </a:p>
        </p:txBody>
      </p:sp>
      <p:sp>
        <p:nvSpPr>
          <p:cNvPr id="3" name="内容占位符 2"/>
          <p:cNvSpPr>
            <a:spLocks noGrp="1"/>
          </p:cNvSpPr>
          <p:nvPr>
            <p:ph idx="1"/>
          </p:nvPr>
        </p:nvSpPr>
        <p:spPr>
          <a:xfrm>
            <a:off x="251520" y="1241425"/>
            <a:ext cx="8712968" cy="5248275"/>
          </a:xfrm>
        </p:spPr>
        <p:txBody>
          <a:bodyPr/>
          <a:lstStyle/>
          <a:p>
            <a:r>
              <a:rPr kumimoji="1" lang="zh-CN" altLang="en-US" sz="2800" dirty="0"/>
              <a:t>所有运算中，加减运算占到</a:t>
            </a:r>
            <a:r>
              <a:rPr kumimoji="1" lang="en-US" altLang="zh-CN" sz="2800" dirty="0"/>
              <a:t>80%</a:t>
            </a:r>
            <a:r>
              <a:rPr kumimoji="1" lang="zh-CN" altLang="en-US" sz="2800" dirty="0"/>
              <a:t>以上</a:t>
            </a:r>
            <a:endParaRPr kumimoji="1" lang="en-US" altLang="zh-CN" sz="2800" dirty="0"/>
          </a:p>
          <a:p>
            <a:r>
              <a:rPr kumimoji="1" lang="zh-CN" altLang="en-US" sz="2800" dirty="0"/>
              <a:t>例：指针式钟表，现时针指向</a:t>
            </a:r>
            <a:r>
              <a:rPr kumimoji="1" lang="en-US" altLang="zh-CN" sz="2800" dirty="0"/>
              <a:t>11</a:t>
            </a:r>
            <a:r>
              <a:rPr kumimoji="1" lang="zh-CN" altLang="en-US" sz="2800" dirty="0"/>
              <a:t>点，要使其指向</a:t>
            </a:r>
            <a:r>
              <a:rPr kumimoji="1" lang="en-US" altLang="zh-CN" sz="2800" dirty="0"/>
              <a:t>6</a:t>
            </a:r>
            <a:r>
              <a:rPr kumimoji="1" lang="zh-CN" altLang="en-US" sz="2800" dirty="0"/>
              <a:t>点</a:t>
            </a:r>
            <a:endParaRPr kumimoji="1" lang="en-US" altLang="zh-CN" sz="2800" dirty="0"/>
          </a:p>
          <a:p>
            <a:pPr lvl="1"/>
            <a:r>
              <a:rPr kumimoji="1" lang="zh-CN" altLang="en-US" dirty="0"/>
              <a:t>有两种方法</a:t>
            </a:r>
            <a:r>
              <a:rPr kumimoji="1" lang="en-US" altLang="en-US" dirty="0">
                <a:sym typeface="Wingdings" panose="05000000000000000000"/>
              </a:rPr>
              <a:t>：1)正拨7格，2)反拨5格钟表看成计算器，</a:t>
            </a:r>
            <a:r>
              <a:rPr kumimoji="1" lang="zh-CN" altLang="en-US" dirty="0">
                <a:sym typeface="Wingdings" panose="05000000000000000000"/>
              </a:rPr>
              <a:t>正拨看成加运算，反拨看成减运算</a:t>
            </a:r>
            <a:endParaRPr kumimoji="1" lang="en-US" altLang="zh-CN" dirty="0">
              <a:sym typeface="Wingdings" panose="05000000000000000000"/>
            </a:endParaRPr>
          </a:p>
          <a:p>
            <a:pPr lvl="1"/>
            <a:r>
              <a:rPr kumimoji="1" lang="zh-CN" altLang="en-US" dirty="0">
                <a:sym typeface="Wingdings" panose="05000000000000000000"/>
              </a:rPr>
              <a:t>则</a:t>
            </a:r>
            <a:r>
              <a:rPr kumimoji="1" lang="en-US" altLang="zh-CN" dirty="0">
                <a:sym typeface="Wingdings" panose="05000000000000000000"/>
              </a:rPr>
              <a:t>11-5=11+7</a:t>
            </a:r>
            <a:r>
              <a:rPr kumimoji="1" lang="zh-CN" altLang="en-US" dirty="0">
                <a:sym typeface="Wingdings" panose="05000000000000000000"/>
              </a:rPr>
              <a:t>，即</a:t>
            </a:r>
            <a:r>
              <a:rPr kumimoji="1" lang="en-US" altLang="zh-CN" dirty="0">
                <a:sym typeface="Wingdings" panose="05000000000000000000"/>
              </a:rPr>
              <a:t>11+(-5)=11+7</a:t>
            </a:r>
            <a:endParaRPr kumimoji="1" lang="en-US" altLang="zh-CN" dirty="0">
              <a:sym typeface="Wingdings" panose="05000000000000000000"/>
            </a:endParaRPr>
          </a:p>
          <a:p>
            <a:pPr lvl="2"/>
            <a:r>
              <a:rPr kumimoji="1" lang="zh-CN" altLang="en-US" dirty="0">
                <a:sym typeface="Wingdings" panose="05000000000000000000"/>
              </a:rPr>
              <a:t>因为</a:t>
            </a:r>
            <a:r>
              <a:rPr kumimoji="1" lang="en-US" altLang="zh-CN" dirty="0">
                <a:sym typeface="Wingdings" panose="05000000000000000000"/>
              </a:rPr>
              <a:t>11+7=12+6</a:t>
            </a:r>
            <a:r>
              <a:rPr kumimoji="1" lang="zh-CN" altLang="en-US" dirty="0">
                <a:sym typeface="Wingdings" panose="05000000000000000000"/>
              </a:rPr>
              <a:t>，</a:t>
            </a:r>
            <a:r>
              <a:rPr kumimoji="1" lang="en-US" altLang="zh-CN" dirty="0">
                <a:sym typeface="Wingdings" panose="05000000000000000000"/>
              </a:rPr>
              <a:t>12</a:t>
            </a:r>
            <a:r>
              <a:rPr kumimoji="1" lang="zh-CN" altLang="en-US" dirty="0">
                <a:sym typeface="Wingdings" panose="05000000000000000000"/>
              </a:rPr>
              <a:t>相当于</a:t>
            </a:r>
            <a:r>
              <a:rPr kumimoji="1" lang="en-US" altLang="zh-CN" dirty="0">
                <a:sym typeface="Wingdings" panose="05000000000000000000"/>
              </a:rPr>
              <a:t>0</a:t>
            </a:r>
            <a:r>
              <a:rPr kumimoji="1" lang="zh-CN" altLang="en-US" dirty="0">
                <a:sym typeface="Wingdings" panose="05000000000000000000"/>
              </a:rPr>
              <a:t>，超过</a:t>
            </a:r>
            <a:r>
              <a:rPr kumimoji="1" lang="en-US" altLang="zh-CN" dirty="0">
                <a:sym typeface="Wingdings" panose="05000000000000000000"/>
              </a:rPr>
              <a:t>12</a:t>
            </a:r>
            <a:r>
              <a:rPr kumimoji="1" lang="zh-CN" altLang="en-US" dirty="0">
                <a:sym typeface="Wingdings" panose="05000000000000000000"/>
              </a:rPr>
              <a:t>，</a:t>
            </a:r>
            <a:r>
              <a:rPr kumimoji="1" lang="en-US" altLang="zh-CN" dirty="0">
                <a:sym typeface="Wingdings" panose="05000000000000000000"/>
              </a:rPr>
              <a:t>12</a:t>
            </a:r>
            <a:r>
              <a:rPr kumimoji="1" lang="zh-CN" altLang="en-US" dirty="0">
                <a:sym typeface="Wingdings" panose="05000000000000000000"/>
              </a:rPr>
              <a:t>丢失</a:t>
            </a:r>
            <a:endParaRPr kumimoji="1" lang="en-US" altLang="zh-CN" dirty="0">
              <a:sym typeface="Wingdings" panose="05000000000000000000"/>
            </a:endParaRPr>
          </a:p>
          <a:p>
            <a:pPr lvl="2"/>
            <a:r>
              <a:rPr kumimoji="1" lang="en-US" altLang="en-US" dirty="0">
                <a:sym typeface="Wingdings" panose="05000000000000000000"/>
              </a:rPr>
              <a:t>按模运算，钟表的模为12，除以模求余数，mod</a:t>
            </a:r>
            <a:endParaRPr kumimoji="1" lang="en-US" altLang="en-US" dirty="0">
              <a:sym typeface="Wingdings" panose="05000000000000000000"/>
            </a:endParaRPr>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en-US" altLang="en-US" dirty="0"/>
              <a:t>补码的引入</a:t>
            </a:r>
            <a:endParaRPr kumimoji="1" lang="zh-CN" altLang="en-US" dirty="0"/>
          </a:p>
        </p:txBody>
      </p:sp>
      <p:sp>
        <p:nvSpPr>
          <p:cNvPr id="3" name="内容占位符 2"/>
          <p:cNvSpPr>
            <a:spLocks noGrp="1"/>
          </p:cNvSpPr>
          <p:nvPr>
            <p:ph idx="1"/>
          </p:nvPr>
        </p:nvSpPr>
        <p:spPr>
          <a:xfrm>
            <a:off x="216024" y="1241425"/>
            <a:ext cx="8820472" cy="5248275"/>
          </a:xfrm>
        </p:spPr>
        <p:txBody>
          <a:bodyPr/>
          <a:lstStyle/>
          <a:p>
            <a:r>
              <a:rPr kumimoji="1" lang="zh-CN" altLang="en-US" dirty="0"/>
              <a:t>例：字节型数据为</a:t>
            </a:r>
            <a:r>
              <a:rPr kumimoji="1" lang="en-US" altLang="zh-CN" dirty="0"/>
              <a:t>8</a:t>
            </a:r>
            <a:r>
              <a:rPr kumimoji="1" lang="zh-CN" altLang="en-US" dirty="0"/>
              <a:t>位，模为</a:t>
            </a:r>
            <a:r>
              <a:rPr kumimoji="1" lang="en-US" altLang="zh-CN" dirty="0"/>
              <a:t>2</a:t>
            </a:r>
            <a:r>
              <a:rPr kumimoji="1" lang="en-US" altLang="zh-CN" baseline="30000" dirty="0"/>
              <a:t>8</a:t>
            </a:r>
            <a:r>
              <a:rPr kumimoji="1" lang="en-US" altLang="zh-CN" dirty="0"/>
              <a:t>=256</a:t>
            </a:r>
            <a:endParaRPr kumimoji="1" lang="en-US" altLang="zh-CN" dirty="0"/>
          </a:p>
          <a:p>
            <a:pPr lvl="1"/>
            <a:r>
              <a:rPr kumimoji="1" lang="zh-CN" altLang="en-US" dirty="0"/>
              <a:t>要将</a:t>
            </a:r>
            <a:r>
              <a:rPr kumimoji="1" lang="en-US" altLang="zh-CN" dirty="0"/>
              <a:t>+0001111(15)</a:t>
            </a:r>
            <a:r>
              <a:rPr kumimoji="1" lang="zh-CN" altLang="en-US" dirty="0"/>
              <a:t>和</a:t>
            </a:r>
            <a:r>
              <a:rPr kumimoji="1" lang="en-US" altLang="zh-CN" dirty="0"/>
              <a:t>-0001100(-12)</a:t>
            </a:r>
            <a:r>
              <a:rPr kumimoji="1" lang="zh-CN" altLang="en-US" dirty="0"/>
              <a:t>相加，等同</a:t>
            </a:r>
            <a:r>
              <a:rPr kumimoji="1" lang="en-US" altLang="zh-CN" dirty="0"/>
              <a:t>，</a:t>
            </a:r>
            <a:r>
              <a:rPr kumimoji="1" lang="zh-CN" altLang="en-US" dirty="0"/>
              <a:t>先将</a:t>
            </a:r>
            <a:r>
              <a:rPr kumimoji="1" lang="en-US" altLang="zh-CN" dirty="0"/>
              <a:t>-0001100</a:t>
            </a:r>
            <a:r>
              <a:rPr kumimoji="1" lang="zh-CN" altLang="en-US" dirty="0"/>
              <a:t>与模</a:t>
            </a:r>
            <a:r>
              <a:rPr kumimoji="1" lang="en-US" altLang="zh-CN" dirty="0"/>
              <a:t>100000000(256)</a:t>
            </a:r>
            <a:r>
              <a:rPr kumimoji="1" lang="zh-CN" altLang="en-US" dirty="0"/>
              <a:t>相加，得</a:t>
            </a:r>
            <a:r>
              <a:rPr kumimoji="1" lang="en-US" altLang="zh-CN" dirty="0"/>
              <a:t>11110100(-12+256=244)</a:t>
            </a:r>
            <a:r>
              <a:rPr kumimoji="1" lang="zh-CN" altLang="en-US" dirty="0"/>
              <a:t>，再拿原被加数</a:t>
            </a:r>
            <a:r>
              <a:rPr kumimoji="1" lang="en-US" altLang="zh-CN" dirty="0"/>
              <a:t>0001111</a:t>
            </a:r>
            <a:r>
              <a:rPr kumimoji="1" lang="zh-CN" altLang="en-US" dirty="0"/>
              <a:t>和</a:t>
            </a:r>
            <a:r>
              <a:rPr kumimoji="1" lang="en-US" altLang="zh-CN" dirty="0"/>
              <a:t>11110100</a:t>
            </a:r>
            <a:r>
              <a:rPr kumimoji="1" lang="zh-CN" altLang="en-US" dirty="0"/>
              <a:t>相加，得</a:t>
            </a:r>
            <a:r>
              <a:rPr kumimoji="1" lang="en-US" altLang="zh-CN" dirty="0"/>
              <a:t>00000011(15+244=256+3=3)</a:t>
            </a:r>
            <a:endParaRPr kumimoji="1" lang="en-US" altLang="zh-CN" dirty="0"/>
          </a:p>
          <a:p>
            <a:r>
              <a:rPr kumimoji="1" lang="zh-CN" altLang="en-US" dirty="0"/>
              <a:t>在计算机中，负数加模就可以转化成正数，使正数加负数转化成正数加正数</a:t>
            </a:r>
            <a:endParaRPr kumimoji="1" lang="en-US" altLang="zh-CN" dirty="0"/>
          </a:p>
          <a:p>
            <a:r>
              <a:rPr kumimoji="1" lang="zh-CN" altLang="en-US" dirty="0"/>
              <a:t>把一个</a:t>
            </a:r>
            <a:r>
              <a:rPr kumimoji="1" lang="zh-CN" altLang="en-US" dirty="0">
                <a:solidFill>
                  <a:srgbClr val="FF0000"/>
                </a:solidFill>
              </a:rPr>
              <a:t>负数加模</a:t>
            </a:r>
            <a:r>
              <a:rPr kumimoji="1" lang="zh-CN" altLang="en-US" dirty="0"/>
              <a:t>的结果称为该负数的</a:t>
            </a:r>
            <a:r>
              <a:rPr kumimoji="1" lang="zh-CN" altLang="en-US" dirty="0">
                <a:solidFill>
                  <a:srgbClr val="FF0000"/>
                </a:solidFill>
              </a:rPr>
              <a:t>补码</a:t>
            </a:r>
            <a:endParaRPr kumimoji="1" lang="en-US" altLang="zh-CN" dirty="0">
              <a:solidFill>
                <a:srgbClr val="FF0000"/>
              </a:solidFill>
            </a:endParaRPr>
          </a:p>
          <a:p>
            <a:r>
              <a:rPr kumimoji="1" lang="zh-CN" altLang="en-US" dirty="0"/>
              <a:t>定义正数的补码是它本身，符号位取</a:t>
            </a:r>
            <a:r>
              <a:rPr kumimoji="1" lang="en-US" altLang="zh-CN" dirty="0"/>
              <a:t>0</a:t>
            </a:r>
            <a:r>
              <a:rPr kumimoji="1" lang="zh-CN" altLang="en-US" dirty="0"/>
              <a:t>，和原码相同</a:t>
            </a:r>
            <a:endParaRPr kumimoji="1" lang="zh-CN" altLang="en-US" dirty="0"/>
          </a:p>
          <a:p>
            <a:endParaRPr kumimoji="1" lang="zh-CN" altLang="en-US" dirty="0"/>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dirty="0"/>
              <a:t>补码的求法</a:t>
            </a:r>
            <a:endParaRPr kumimoji="1" lang="zh-CN" altLang="en-US" dirty="0"/>
          </a:p>
        </p:txBody>
      </p:sp>
      <p:sp>
        <p:nvSpPr>
          <p:cNvPr id="3" name="内容占位符 2"/>
          <p:cNvSpPr>
            <a:spLocks noGrp="1"/>
          </p:cNvSpPr>
          <p:nvPr>
            <p:ph idx="1"/>
          </p:nvPr>
        </p:nvSpPr>
        <p:spPr/>
        <p:txBody>
          <a:bodyPr/>
          <a:lstStyle/>
          <a:p>
            <a:r>
              <a:rPr kumimoji="1" lang="zh-CN" altLang="en-US" sz="2600" dirty="0"/>
              <a:t>对正数，补码同原码</a:t>
            </a:r>
            <a:endParaRPr kumimoji="1" lang="en-US" altLang="zh-CN" sz="2600" dirty="0"/>
          </a:p>
          <a:p>
            <a:r>
              <a:rPr kumimoji="1" lang="zh-CN" altLang="en-US" sz="2600" dirty="0"/>
              <a:t>对负数，由定义求补码，需做减法，不方便。</a:t>
            </a:r>
            <a:endParaRPr kumimoji="1" lang="en-US" altLang="zh-CN" sz="2600" dirty="0"/>
          </a:p>
          <a:p>
            <a:r>
              <a:rPr kumimoji="1" lang="zh-CN" altLang="en-US" sz="2600" dirty="0"/>
              <a:t>经推导可知，负数的补码等于其原码除符号位外</a:t>
            </a:r>
            <a:r>
              <a:rPr kumimoji="1" lang="zh-CN" altLang="en-US" sz="2600" dirty="0">
                <a:solidFill>
                  <a:srgbClr val="FF0000"/>
                </a:solidFill>
              </a:rPr>
              <a:t>按位求反</a:t>
            </a:r>
            <a:r>
              <a:rPr kumimoji="1" lang="zh-CN" altLang="en-US" sz="2600" dirty="0"/>
              <a:t>（</a:t>
            </a:r>
            <a:r>
              <a:rPr kumimoji="1" lang="en-US" altLang="zh-CN" sz="2600" dirty="0"/>
              <a:t>1</a:t>
            </a:r>
            <a:r>
              <a:rPr kumimoji="1" lang="zh-CN" altLang="en-US" sz="2600" dirty="0"/>
              <a:t>变</a:t>
            </a:r>
            <a:r>
              <a:rPr kumimoji="1" lang="en-US" altLang="zh-CN" sz="2600" dirty="0"/>
              <a:t>0</a:t>
            </a:r>
            <a:r>
              <a:rPr kumimoji="1" lang="zh-CN" altLang="en-US" sz="2600" dirty="0"/>
              <a:t>，</a:t>
            </a:r>
            <a:r>
              <a:rPr kumimoji="1" lang="en-US" altLang="zh-CN" sz="2600" dirty="0"/>
              <a:t>0</a:t>
            </a:r>
            <a:r>
              <a:rPr kumimoji="1" lang="zh-CN" altLang="en-US" sz="2600" dirty="0"/>
              <a:t>变</a:t>
            </a:r>
            <a:r>
              <a:rPr kumimoji="1" lang="en-US" altLang="zh-CN" sz="2600" dirty="0"/>
              <a:t>1</a:t>
            </a:r>
            <a:r>
              <a:rPr kumimoji="1" lang="zh-CN" altLang="en-US" sz="2600" dirty="0"/>
              <a:t>），</a:t>
            </a:r>
            <a:r>
              <a:rPr kumimoji="1" lang="zh-CN" altLang="en-US" sz="2600" dirty="0">
                <a:solidFill>
                  <a:srgbClr val="FF0000"/>
                </a:solidFill>
              </a:rPr>
              <a:t>末位再加</a:t>
            </a:r>
            <a:r>
              <a:rPr kumimoji="1" lang="en-US" altLang="zh-CN" sz="2600" dirty="0">
                <a:solidFill>
                  <a:srgbClr val="FF0000"/>
                </a:solidFill>
              </a:rPr>
              <a:t>1</a:t>
            </a:r>
            <a:endParaRPr kumimoji="1" lang="en-US" altLang="zh-CN" sz="2600" dirty="0">
              <a:solidFill>
                <a:srgbClr val="FF0000"/>
              </a:solidFill>
            </a:endParaRPr>
          </a:p>
          <a:p>
            <a:pPr lvl="1"/>
            <a:r>
              <a:rPr kumimoji="1" lang="zh-CN" altLang="en-US" sz="2600" b="1" dirty="0">
                <a:solidFill>
                  <a:schemeClr val="tx2"/>
                </a:solidFill>
              </a:rPr>
              <a:t>例：</a:t>
            </a:r>
            <a:r>
              <a:rPr kumimoji="1" lang="en-US" altLang="zh-CN" sz="2600" b="1" dirty="0">
                <a:solidFill>
                  <a:schemeClr val="tx2"/>
                </a:solidFill>
              </a:rPr>
              <a:t>Y=-0001100</a:t>
            </a:r>
            <a:endParaRPr kumimoji="1" lang="en-US" altLang="zh-CN" sz="2600" b="1" dirty="0">
              <a:solidFill>
                <a:schemeClr val="tx2"/>
              </a:solidFill>
            </a:endParaRPr>
          </a:p>
          <a:p>
            <a:pPr lvl="1"/>
            <a:r>
              <a:rPr kumimoji="1" lang="en-US" altLang="zh-CN" sz="2600" b="1" dirty="0">
                <a:solidFill>
                  <a:schemeClr val="tx2"/>
                </a:solidFill>
              </a:rPr>
              <a:t>    [Y]</a:t>
            </a:r>
            <a:r>
              <a:rPr kumimoji="1" lang="zh-CN" altLang="en-US" sz="2600" b="1" baseline="-25000" dirty="0">
                <a:solidFill>
                  <a:schemeClr val="tx2"/>
                </a:solidFill>
              </a:rPr>
              <a:t>原</a:t>
            </a:r>
            <a:r>
              <a:rPr kumimoji="1" lang="en-US" altLang="zh-CN" sz="2600" b="1" dirty="0">
                <a:solidFill>
                  <a:schemeClr val="tx2"/>
                </a:solidFill>
              </a:rPr>
              <a:t>=</a:t>
            </a:r>
            <a:r>
              <a:rPr kumimoji="1" lang="en-US" altLang="zh-CN" sz="2600" b="1" u="sng" dirty="0">
                <a:solidFill>
                  <a:schemeClr val="tx2"/>
                </a:solidFill>
              </a:rPr>
              <a:t>1</a:t>
            </a:r>
            <a:r>
              <a:rPr kumimoji="1" lang="en-US" altLang="zh-CN" sz="2600" b="1" dirty="0">
                <a:solidFill>
                  <a:schemeClr val="tx2"/>
                </a:solidFill>
              </a:rPr>
              <a:t>0001100, </a:t>
            </a:r>
            <a:endParaRPr kumimoji="1" lang="en-US" altLang="zh-CN" sz="2600" b="1" dirty="0">
              <a:solidFill>
                <a:schemeClr val="tx2"/>
              </a:solidFill>
            </a:endParaRPr>
          </a:p>
          <a:p>
            <a:pPr marL="457200" lvl="1" indent="0">
              <a:buNone/>
            </a:pPr>
            <a:r>
              <a:rPr kumimoji="1" lang="en-US" altLang="zh-CN" sz="2600" b="1" dirty="0">
                <a:solidFill>
                  <a:schemeClr val="tx2"/>
                </a:solidFill>
              </a:rPr>
              <a:t>      [Y]</a:t>
            </a:r>
            <a:r>
              <a:rPr kumimoji="1" lang="en-US" altLang="en-US" sz="2600" b="1" baseline="-25000" dirty="0">
                <a:solidFill>
                  <a:schemeClr val="tx2"/>
                </a:solidFill>
              </a:rPr>
              <a:t>补</a:t>
            </a:r>
            <a:r>
              <a:rPr kumimoji="1" lang="en-US" altLang="zh-CN" sz="2600" b="1" dirty="0">
                <a:solidFill>
                  <a:schemeClr val="tx2"/>
                </a:solidFill>
              </a:rPr>
              <a:t>=</a:t>
            </a:r>
            <a:r>
              <a:rPr kumimoji="1" lang="en-US" altLang="zh-CN" sz="2600" b="1" u="sng" dirty="0">
                <a:solidFill>
                  <a:schemeClr val="tx2"/>
                </a:solidFill>
              </a:rPr>
              <a:t>1</a:t>
            </a:r>
            <a:r>
              <a:rPr kumimoji="1" lang="en-US" altLang="zh-CN" sz="2600" b="1" dirty="0">
                <a:solidFill>
                  <a:srgbClr val="FF0000"/>
                </a:solidFill>
              </a:rPr>
              <a:t>1110011</a:t>
            </a:r>
            <a:r>
              <a:rPr kumimoji="1" lang="en-US" altLang="zh-CN" sz="2600" b="1" dirty="0">
                <a:solidFill>
                  <a:schemeClr val="tx2"/>
                </a:solidFill>
              </a:rPr>
              <a:t>+</a:t>
            </a:r>
            <a:r>
              <a:rPr kumimoji="1" lang="en-US" altLang="zh-CN" sz="2600" b="1" dirty="0">
                <a:solidFill>
                  <a:srgbClr val="FF0000"/>
                </a:solidFill>
              </a:rPr>
              <a:t>1</a:t>
            </a:r>
            <a:r>
              <a:rPr kumimoji="1" lang="en-US" altLang="zh-CN" sz="2600" b="1" dirty="0">
                <a:solidFill>
                  <a:schemeClr val="tx2"/>
                </a:solidFill>
              </a:rPr>
              <a:t>=</a:t>
            </a:r>
            <a:r>
              <a:rPr kumimoji="1" lang="en-US" altLang="zh-CN" sz="2600" b="1" u="sng" dirty="0">
                <a:solidFill>
                  <a:schemeClr val="tx2"/>
                </a:solidFill>
              </a:rPr>
              <a:t>1</a:t>
            </a:r>
            <a:r>
              <a:rPr kumimoji="1" lang="en-US" altLang="zh-CN" sz="2600" b="1" dirty="0">
                <a:solidFill>
                  <a:schemeClr val="tx2"/>
                </a:solidFill>
              </a:rPr>
              <a:t>1110100</a:t>
            </a:r>
            <a:endParaRPr kumimoji="1" lang="en-US" altLang="zh-CN" sz="2600" b="1" dirty="0">
              <a:solidFill>
                <a:schemeClr val="tx2"/>
              </a:solidFill>
            </a:endParaRPr>
          </a:p>
          <a:p>
            <a:r>
              <a:rPr kumimoji="1" lang="zh-CN" altLang="en-US" sz="2600" dirty="0"/>
              <a:t>心算求补：从最低位开始至找到的第一个</a:t>
            </a:r>
            <a:r>
              <a:rPr kumimoji="1" lang="en-US" altLang="zh-CN" sz="2600" dirty="0"/>
              <a:t>1</a:t>
            </a:r>
            <a:r>
              <a:rPr kumimoji="1" lang="zh-CN" altLang="en-US" sz="2600" dirty="0"/>
              <a:t>均不变，符号位不变，这之间的各位</a:t>
            </a:r>
            <a:r>
              <a:rPr kumimoji="1" lang="en-US" altLang="zh-CN" sz="2600" dirty="0"/>
              <a:t>“</a:t>
            </a:r>
            <a:r>
              <a:rPr kumimoji="1" lang="zh-CN" altLang="en-US" sz="2600" dirty="0"/>
              <a:t>求反</a:t>
            </a:r>
            <a:r>
              <a:rPr kumimoji="1" lang="en-US" altLang="zh-CN" sz="2600" dirty="0"/>
              <a:t>”</a:t>
            </a:r>
            <a:endParaRPr kumimoji="1" lang="en-US" altLang="zh-CN" sz="2600" b="1" dirty="0">
              <a:solidFill>
                <a:schemeClr val="tx2"/>
              </a:solidFill>
            </a:endParaRPr>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数制转换</a:t>
            </a:r>
            <a:endParaRPr lang="zh-CN" altLang="en-US" dirty="0"/>
          </a:p>
        </p:txBody>
      </p:sp>
      <p:sp>
        <p:nvSpPr>
          <p:cNvPr id="3" name="内容占位符 2"/>
          <p:cNvSpPr>
            <a:spLocks noGrp="1"/>
          </p:cNvSpPr>
          <p:nvPr>
            <p:ph idx="1"/>
          </p:nvPr>
        </p:nvSpPr>
        <p:spPr/>
        <p:txBody>
          <a:bodyPr/>
          <a:lstStyle/>
          <a:p>
            <a:r>
              <a:rPr lang="zh-CN" altLang="en-US" dirty="0"/>
              <a:t>十进制负数转换为二进制数</a:t>
            </a:r>
            <a:endParaRPr lang="zh-CN" altLang="en-US" dirty="0"/>
          </a:p>
          <a:p>
            <a:pPr lvl="1"/>
            <a:r>
              <a:rPr lang="zh-CN" altLang="en-US" dirty="0"/>
              <a:t>将十进制负数</a:t>
            </a:r>
            <a:r>
              <a:rPr lang="en-US" altLang="zh-CN" dirty="0"/>
              <a:t>-22</a:t>
            </a:r>
            <a:r>
              <a:rPr lang="zh-CN" altLang="en-US" dirty="0"/>
              <a:t>转换为二进制数</a:t>
            </a:r>
            <a:endParaRPr lang="en-US" altLang="zh-CN" dirty="0"/>
          </a:p>
          <a:p>
            <a:pPr lvl="2"/>
            <a:r>
              <a:rPr lang="zh-CN" altLang="en-US" dirty="0"/>
              <a:t>将</a:t>
            </a:r>
            <a:r>
              <a:rPr lang="en-US" altLang="zh-CN" dirty="0"/>
              <a:t>22</a:t>
            </a:r>
            <a:r>
              <a:rPr lang="zh-CN" altLang="en-US" dirty="0"/>
              <a:t>转换为二进制数</a:t>
            </a:r>
            <a:endParaRPr lang="en-US" altLang="zh-CN" dirty="0"/>
          </a:p>
          <a:p>
            <a:pPr lvl="3"/>
            <a:r>
              <a:rPr lang="en-US" altLang="zh-CN" dirty="0">
                <a:solidFill>
                  <a:srgbClr val="C00000"/>
                </a:solidFill>
              </a:rPr>
              <a:t>00000000 00000000 00000000 00010110</a:t>
            </a:r>
            <a:endParaRPr lang="en-US" altLang="zh-CN" dirty="0">
              <a:solidFill>
                <a:srgbClr val="C00000"/>
              </a:solidFill>
            </a:endParaRPr>
          </a:p>
          <a:p>
            <a:pPr lvl="2"/>
            <a:r>
              <a:rPr lang="zh-CN" altLang="en-US" dirty="0"/>
              <a:t>补足八位（根据系统中整数存储的位数），按位取反</a:t>
            </a:r>
            <a:endParaRPr lang="en-US" altLang="zh-CN" dirty="0"/>
          </a:p>
          <a:p>
            <a:pPr lvl="3"/>
            <a:r>
              <a:rPr lang="en-US" altLang="zh-CN" dirty="0"/>
              <a:t>00000000 00000000 00000000 00010110</a:t>
            </a:r>
            <a:endParaRPr lang="en-US" altLang="zh-CN" dirty="0"/>
          </a:p>
          <a:p>
            <a:pPr lvl="3"/>
            <a:r>
              <a:rPr lang="en-US" altLang="zh-CN" dirty="0">
                <a:solidFill>
                  <a:srgbClr val="C00000"/>
                </a:solidFill>
              </a:rPr>
              <a:t>11111111 11111111 11111111 11101001</a:t>
            </a:r>
            <a:endParaRPr lang="en-US" altLang="zh-CN" dirty="0">
              <a:solidFill>
                <a:srgbClr val="C00000"/>
              </a:solidFill>
            </a:endParaRPr>
          </a:p>
          <a:p>
            <a:pPr lvl="2"/>
            <a:r>
              <a:rPr lang="zh-CN" altLang="en-US" dirty="0"/>
              <a:t>加</a:t>
            </a:r>
            <a:r>
              <a:rPr lang="en-US" altLang="zh-CN" dirty="0"/>
              <a:t>1</a:t>
            </a:r>
            <a:endParaRPr lang="en-US" altLang="zh-CN" dirty="0"/>
          </a:p>
          <a:p>
            <a:pPr lvl="3"/>
            <a:r>
              <a:rPr lang="en-US" altLang="zh-CN" dirty="0"/>
              <a:t>11111111 11111111 11111111 11101001+1</a:t>
            </a:r>
            <a:endParaRPr lang="en-US" altLang="zh-CN" dirty="0"/>
          </a:p>
          <a:p>
            <a:pPr marL="1371600" lvl="3" indent="0">
              <a:buNone/>
            </a:pPr>
            <a:r>
              <a:rPr lang="en-US" altLang="zh-CN" dirty="0"/>
              <a:t> =</a:t>
            </a:r>
            <a:r>
              <a:rPr lang="en-US" altLang="zh-CN" dirty="0">
                <a:solidFill>
                  <a:srgbClr val="C00000"/>
                </a:solidFill>
              </a:rPr>
              <a:t>11111111 11111111 11111111 11101010</a:t>
            </a:r>
            <a:endParaRPr lang="zh-CN" altLang="en-US" dirty="0">
              <a:solidFill>
                <a:srgbClr val="C00000"/>
              </a:solidFill>
            </a:endParaRPr>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dirty="0"/>
              <a:t>反码</a:t>
            </a:r>
            <a:endParaRPr kumimoji="1" lang="zh-CN" altLang="en-US" dirty="0"/>
          </a:p>
        </p:txBody>
      </p:sp>
      <p:sp>
        <p:nvSpPr>
          <p:cNvPr id="3" name="内容占位符 2"/>
          <p:cNvSpPr>
            <a:spLocks noGrp="1"/>
          </p:cNvSpPr>
          <p:nvPr>
            <p:ph idx="1"/>
          </p:nvPr>
        </p:nvSpPr>
        <p:spPr/>
        <p:txBody>
          <a:bodyPr/>
          <a:lstStyle/>
          <a:p>
            <a:r>
              <a:rPr kumimoji="1" lang="en-US" altLang="en-US" dirty="0"/>
              <a:t>对正数，</a:t>
            </a:r>
            <a:r>
              <a:rPr kumimoji="1" lang="en-US" altLang="en-US" dirty="0">
                <a:solidFill>
                  <a:srgbClr val="FF0000"/>
                </a:solidFill>
              </a:rPr>
              <a:t>反码与原码相同，也与补码相同</a:t>
            </a:r>
            <a:endParaRPr kumimoji="1" lang="en-US" altLang="en-US" dirty="0">
              <a:solidFill>
                <a:srgbClr val="FF0000"/>
              </a:solidFill>
            </a:endParaRPr>
          </a:p>
          <a:p>
            <a:r>
              <a:rPr kumimoji="1" lang="en-US" altLang="en-US" dirty="0"/>
              <a:t>对负数，反码等于原码除符号位外，按位取反</a:t>
            </a:r>
            <a:endParaRPr kumimoji="1" lang="en-US" altLang="en-US" dirty="0"/>
          </a:p>
          <a:p>
            <a:endParaRPr kumimoji="1" lang="en-US" altLang="zh-CN" dirty="0"/>
          </a:p>
          <a:p>
            <a:r>
              <a:rPr kumimoji="1" lang="en-US" altLang="zh-CN" dirty="0">
                <a:solidFill>
                  <a:srgbClr val="FF0000"/>
                </a:solidFill>
              </a:rPr>
              <a:t>[X]</a:t>
            </a:r>
            <a:r>
              <a:rPr kumimoji="1" lang="zh-CN" altLang="en-US" baseline="-25000" dirty="0">
                <a:solidFill>
                  <a:srgbClr val="FF0000"/>
                </a:solidFill>
              </a:rPr>
              <a:t>补</a:t>
            </a:r>
            <a:r>
              <a:rPr kumimoji="1" lang="en-US" altLang="zh-CN" dirty="0">
                <a:solidFill>
                  <a:srgbClr val="FF0000"/>
                </a:solidFill>
              </a:rPr>
              <a:t>=[X]</a:t>
            </a:r>
            <a:r>
              <a:rPr kumimoji="1" lang="zh-CN" altLang="en-US" baseline="-25000" dirty="0">
                <a:solidFill>
                  <a:srgbClr val="FF0000"/>
                </a:solidFill>
              </a:rPr>
              <a:t>反</a:t>
            </a:r>
            <a:r>
              <a:rPr kumimoji="1" lang="en-US" altLang="zh-CN" dirty="0">
                <a:solidFill>
                  <a:srgbClr val="FF0000"/>
                </a:solidFill>
              </a:rPr>
              <a:t>+1</a:t>
            </a:r>
            <a:endParaRPr kumimoji="1" lang="en-US" altLang="zh-CN" dirty="0">
              <a:solidFill>
                <a:srgbClr val="FF0000"/>
              </a:solidFill>
            </a:endParaRPr>
          </a:p>
          <a:p>
            <a:endParaRPr kumimoji="1" lang="en-US" altLang="zh-CN" dirty="0"/>
          </a:p>
          <a:p>
            <a:r>
              <a:rPr kumimoji="1" lang="zh-CN" altLang="en-US" dirty="0"/>
              <a:t>利用反码也可使带符号数的加减法转成加法，但麻烦一些</a:t>
            </a:r>
            <a:endParaRPr kumimoji="1" lang="zh-CN" altLang="en-US" dirty="0"/>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数制的选择</a:t>
            </a:r>
            <a:endParaRPr lang="zh-CN" altLang="en-US" dirty="0"/>
          </a:p>
        </p:txBody>
      </p:sp>
      <p:sp>
        <p:nvSpPr>
          <p:cNvPr id="3" name="内容占位符 2"/>
          <p:cNvSpPr>
            <a:spLocks noGrp="1"/>
          </p:cNvSpPr>
          <p:nvPr>
            <p:ph idx="1"/>
          </p:nvPr>
        </p:nvSpPr>
        <p:spPr/>
        <p:txBody>
          <a:bodyPr/>
          <a:lstStyle/>
          <a:p>
            <a:r>
              <a:rPr lang="zh-CN" altLang="en-US" dirty="0"/>
              <a:t>计算机内部采用二进制</a:t>
            </a:r>
            <a:endParaRPr lang="en-US" altLang="zh-CN" dirty="0"/>
          </a:p>
          <a:p>
            <a:pPr lvl="2"/>
            <a:r>
              <a:rPr lang="zh-CN" altLang="en-US" dirty="0"/>
              <a:t>技术实现简单，计算机是由逻辑电路组成，逻辑电路通常只有两个状态，开关的接通与断开，这两种状态正好可以用“</a:t>
            </a:r>
            <a:r>
              <a:rPr lang="en-US" altLang="zh-CN" dirty="0"/>
              <a:t>1”</a:t>
            </a:r>
            <a:r>
              <a:rPr lang="zh-CN" altLang="en-US" dirty="0"/>
              <a:t>和“</a:t>
            </a:r>
            <a:r>
              <a:rPr lang="en-US" altLang="zh-CN" dirty="0"/>
              <a:t>0”</a:t>
            </a:r>
            <a:r>
              <a:rPr lang="zh-CN" altLang="en-US" dirty="0"/>
              <a:t>表示。</a:t>
            </a:r>
            <a:endParaRPr lang="zh-CN" altLang="en-US" dirty="0"/>
          </a:p>
          <a:p>
            <a:pPr lvl="2"/>
            <a:r>
              <a:rPr lang="zh-CN" altLang="en-US" dirty="0"/>
              <a:t>简化运算规则：两个二进制数和、积运算组合各有三种，运算规则简单，有利于简化计算机内部结构，提高运算速度。</a:t>
            </a:r>
            <a:endParaRPr lang="zh-CN" altLang="en-US" dirty="0"/>
          </a:p>
          <a:p>
            <a:pPr lvl="2"/>
            <a:r>
              <a:rPr lang="zh-CN" altLang="en-US" dirty="0"/>
              <a:t>适合逻辑运算：逻辑代数是逻辑运算的理论依据，二进制只有两个数码，正好与逻辑代数中的“真”和“假”相吻合。</a:t>
            </a:r>
            <a:endParaRPr lang="zh-CN" altLang="en-US" dirty="0"/>
          </a:p>
          <a:p>
            <a:pPr lvl="2"/>
            <a:r>
              <a:rPr lang="zh-CN" altLang="en-US" dirty="0"/>
              <a:t>易于进行转换，二进制与十进制数易于转换。</a:t>
            </a:r>
            <a:endParaRPr lang="en-US" altLang="zh-CN" dirty="0"/>
          </a:p>
          <a:p>
            <a:pPr lvl="2"/>
            <a:r>
              <a:rPr lang="zh-CN" altLang="en-US" dirty="0"/>
              <a:t>八进制和十六进制是计算机的辅助数进制，用于缩短二进制数的长度</a:t>
            </a:r>
            <a:endParaRPr lang="zh-CN" altLang="en-US" dirty="0"/>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2"/>
          <p:cNvSpPr>
            <a:spLocks noGrp="1" noChangeArrowheads="1"/>
          </p:cNvSpPr>
          <p:nvPr>
            <p:ph type="title"/>
          </p:nvPr>
        </p:nvSpPr>
        <p:spPr/>
        <p:txBody>
          <a:bodyPr/>
          <a:lstStyle/>
          <a:p>
            <a:r>
              <a:rPr lang="zh-CN" altLang="en-US" dirty="0"/>
              <a:t>使用二进制数</a:t>
            </a:r>
            <a:endParaRPr lang="en-US" altLang="zh-CN" dirty="0"/>
          </a:p>
        </p:txBody>
      </p:sp>
      <p:sp>
        <p:nvSpPr>
          <p:cNvPr id="3" name="内容占位符 2"/>
          <p:cNvSpPr>
            <a:spLocks noGrp="1"/>
          </p:cNvSpPr>
          <p:nvPr>
            <p:ph idx="1"/>
          </p:nvPr>
        </p:nvSpPr>
        <p:spPr/>
        <p:txBody>
          <a:bodyPr/>
          <a:lstStyle/>
          <a:p>
            <a:endParaRPr kumimoji="1" lang="zh-CN" altLang="en-US"/>
          </a:p>
        </p:txBody>
      </p:sp>
      <p:grpSp>
        <p:nvGrpSpPr>
          <p:cNvPr id="2" name="Group 3"/>
          <p:cNvGrpSpPr/>
          <p:nvPr/>
        </p:nvGrpSpPr>
        <p:grpSpPr bwMode="auto">
          <a:xfrm>
            <a:off x="2895600" y="2057400"/>
            <a:ext cx="3197225" cy="2890838"/>
            <a:chOff x="1872" y="1824"/>
            <a:chExt cx="2014" cy="1821"/>
          </a:xfrm>
        </p:grpSpPr>
        <p:sp>
          <p:nvSpPr>
            <p:cNvPr id="46084" name="AutoShape 4"/>
            <p:cNvSpPr>
              <a:spLocks noChangeArrowheads="1"/>
            </p:cNvSpPr>
            <p:nvPr/>
          </p:nvSpPr>
          <p:spPr bwMode="gray">
            <a:xfrm rot="16200000" flipH="1">
              <a:off x="1820" y="2528"/>
              <a:ext cx="309" cy="206"/>
            </a:xfrm>
            <a:prstGeom prst="upArrow">
              <a:avLst>
                <a:gd name="adj1" fmla="val 51676"/>
                <a:gd name="adj2" fmla="val 100000"/>
              </a:avLst>
            </a:prstGeom>
            <a:gradFill rotWithShape="1">
              <a:gsLst>
                <a:gs pos="0">
                  <a:schemeClr val="tx2"/>
                </a:gs>
                <a:gs pos="100000">
                  <a:schemeClr val="tx2">
                    <a:gamma/>
                    <a:tint val="39216"/>
                    <a:invGamma/>
                  </a:schemeClr>
                </a:gs>
              </a:gsLst>
              <a:lin ang="0" scaled="1"/>
            </a:gradFill>
            <a:ln w="9525" algn="ctr">
              <a:noFill/>
              <a:miter lim="800000"/>
            </a:ln>
            <a:effectLst/>
          </p:spPr>
          <p:txBody>
            <a:bodyPr wrap="none" anchor="ctr"/>
            <a:lstStyle/>
            <a:p>
              <a:endParaRPr lang="zh-CN" altLang="en-US"/>
            </a:p>
          </p:txBody>
        </p:sp>
        <p:sp>
          <p:nvSpPr>
            <p:cNvPr id="46085" name="AutoShape 5"/>
            <p:cNvSpPr>
              <a:spLocks noChangeArrowheads="1"/>
            </p:cNvSpPr>
            <p:nvPr/>
          </p:nvSpPr>
          <p:spPr bwMode="gray">
            <a:xfrm rot="5400000" flipH="1">
              <a:off x="3628" y="2494"/>
              <a:ext cx="309" cy="206"/>
            </a:xfrm>
            <a:prstGeom prst="upArrow">
              <a:avLst>
                <a:gd name="adj1" fmla="val 51676"/>
                <a:gd name="adj2" fmla="val 100000"/>
              </a:avLst>
            </a:prstGeom>
            <a:gradFill rotWithShape="1">
              <a:gsLst>
                <a:gs pos="0">
                  <a:schemeClr val="tx2"/>
                </a:gs>
                <a:gs pos="100000">
                  <a:schemeClr val="tx2">
                    <a:gamma/>
                    <a:tint val="39216"/>
                    <a:invGamma/>
                  </a:schemeClr>
                </a:gs>
              </a:gsLst>
              <a:lin ang="0" scaled="1"/>
            </a:gradFill>
            <a:ln w="9525" algn="ctr">
              <a:noFill/>
              <a:miter lim="800000"/>
            </a:ln>
            <a:effectLst/>
          </p:spPr>
          <p:txBody>
            <a:bodyPr wrap="none" anchor="ctr"/>
            <a:lstStyle/>
            <a:p>
              <a:endParaRPr lang="zh-CN" altLang="en-US"/>
            </a:p>
          </p:txBody>
        </p:sp>
        <p:sp>
          <p:nvSpPr>
            <p:cNvPr id="46086" name="AutoShape 6"/>
            <p:cNvSpPr>
              <a:spLocks noChangeArrowheads="1"/>
            </p:cNvSpPr>
            <p:nvPr/>
          </p:nvSpPr>
          <p:spPr bwMode="gray">
            <a:xfrm rot="10800000" flipH="1">
              <a:off x="2725" y="3439"/>
              <a:ext cx="308" cy="206"/>
            </a:xfrm>
            <a:prstGeom prst="upArrow">
              <a:avLst>
                <a:gd name="adj1" fmla="val 51676"/>
                <a:gd name="adj2" fmla="val 100000"/>
              </a:avLst>
            </a:prstGeom>
            <a:gradFill rotWithShape="1">
              <a:gsLst>
                <a:gs pos="0">
                  <a:schemeClr val="tx2"/>
                </a:gs>
                <a:gs pos="100000">
                  <a:schemeClr val="tx2">
                    <a:gamma/>
                    <a:tint val="39216"/>
                    <a:invGamma/>
                  </a:schemeClr>
                </a:gs>
              </a:gsLst>
              <a:lin ang="0" scaled="1"/>
            </a:gradFill>
            <a:ln w="9525" algn="ctr">
              <a:noFill/>
              <a:miter lim="800000"/>
            </a:ln>
            <a:effectLst/>
          </p:spPr>
          <p:txBody>
            <a:bodyPr wrap="none" anchor="ctr"/>
            <a:lstStyle/>
            <a:p>
              <a:endParaRPr lang="zh-CN" altLang="en-US"/>
            </a:p>
          </p:txBody>
        </p:sp>
        <p:sp>
          <p:nvSpPr>
            <p:cNvPr id="46087" name="Oval 7"/>
            <p:cNvSpPr>
              <a:spLocks noChangeArrowheads="1"/>
            </p:cNvSpPr>
            <p:nvPr/>
          </p:nvSpPr>
          <p:spPr bwMode="gray">
            <a:xfrm>
              <a:off x="2078" y="1824"/>
              <a:ext cx="1615" cy="1615"/>
            </a:xfrm>
            <a:prstGeom prst="ellipse">
              <a:avLst/>
            </a:prstGeom>
            <a:gradFill rotWithShape="1">
              <a:gsLst>
                <a:gs pos="0">
                  <a:srgbClr val="FFFFFF">
                    <a:gamma/>
                    <a:shade val="46275"/>
                    <a:invGamma/>
                  </a:srgbClr>
                </a:gs>
                <a:gs pos="50000">
                  <a:srgbClr val="FFFFFF"/>
                </a:gs>
                <a:gs pos="100000">
                  <a:srgbClr val="FFFFFF">
                    <a:gamma/>
                    <a:shade val="46275"/>
                    <a:invGamma/>
                  </a:srgbClr>
                </a:gs>
              </a:gsLst>
              <a:lin ang="5400000" scaled="1"/>
            </a:gradFill>
            <a:ln w="57150" algn="ctr">
              <a:solidFill>
                <a:schemeClr val="bg1"/>
              </a:solidFill>
              <a:round/>
            </a:ln>
            <a:effectLst/>
          </p:spPr>
          <p:txBody>
            <a:bodyPr wrap="none" anchor="ctr"/>
            <a:lstStyle/>
            <a:p>
              <a:endParaRPr lang="zh-CN" altLang="en-US"/>
            </a:p>
          </p:txBody>
        </p:sp>
        <p:sp>
          <p:nvSpPr>
            <p:cNvPr id="46088" name="Oval 8"/>
            <p:cNvSpPr>
              <a:spLocks noChangeArrowheads="1"/>
            </p:cNvSpPr>
            <p:nvPr/>
          </p:nvSpPr>
          <p:spPr bwMode="gray">
            <a:xfrm>
              <a:off x="2170" y="1915"/>
              <a:ext cx="1430" cy="1430"/>
            </a:xfrm>
            <a:prstGeom prst="ellipse">
              <a:avLst/>
            </a:prstGeom>
            <a:gradFill rotWithShape="1">
              <a:gsLst>
                <a:gs pos="0">
                  <a:srgbClr val="FFFFFF">
                    <a:gamma/>
                    <a:shade val="63529"/>
                    <a:invGamma/>
                  </a:srgbClr>
                </a:gs>
                <a:gs pos="50000">
                  <a:srgbClr val="FFFFFF"/>
                </a:gs>
                <a:gs pos="100000">
                  <a:srgbClr val="FFFFFF">
                    <a:gamma/>
                    <a:shade val="63529"/>
                    <a:invGamma/>
                  </a:srgbClr>
                </a:gs>
              </a:gsLst>
              <a:lin ang="0" scaled="1"/>
            </a:gradFill>
            <a:ln w="9525" algn="ctr">
              <a:noFill/>
              <a:round/>
            </a:ln>
            <a:effectLst/>
          </p:spPr>
          <p:txBody>
            <a:bodyPr wrap="none" anchor="ctr"/>
            <a:lstStyle/>
            <a:p>
              <a:endParaRPr lang="zh-CN" altLang="en-US"/>
            </a:p>
          </p:txBody>
        </p:sp>
        <p:sp>
          <p:nvSpPr>
            <p:cNvPr id="46089" name="Oval 9"/>
            <p:cNvSpPr>
              <a:spLocks noChangeArrowheads="1"/>
            </p:cNvSpPr>
            <p:nvPr/>
          </p:nvSpPr>
          <p:spPr bwMode="gray">
            <a:xfrm>
              <a:off x="2254" y="2000"/>
              <a:ext cx="1262" cy="1264"/>
            </a:xfrm>
            <a:prstGeom prst="ellipse">
              <a:avLst/>
            </a:prstGeom>
            <a:gradFill rotWithShape="1">
              <a:gsLst>
                <a:gs pos="0">
                  <a:schemeClr val="hlink">
                    <a:gamma/>
                    <a:tint val="0"/>
                    <a:invGamma/>
                  </a:schemeClr>
                </a:gs>
                <a:gs pos="50000">
                  <a:schemeClr val="hlink"/>
                </a:gs>
                <a:gs pos="100000">
                  <a:schemeClr val="hlink">
                    <a:gamma/>
                    <a:tint val="0"/>
                    <a:invGamma/>
                  </a:schemeClr>
                </a:gs>
              </a:gsLst>
              <a:lin ang="2700000" scaled="1"/>
            </a:gradFill>
            <a:ln w="38100" algn="ctr">
              <a:noFill/>
              <a:round/>
            </a:ln>
            <a:effectLst/>
          </p:spPr>
          <p:txBody>
            <a:bodyPr wrap="none" anchor="ctr">
              <a:spAutoFit/>
            </a:bodyPr>
            <a:lstStyle/>
            <a:p>
              <a:endParaRPr lang="zh-CN" altLang="en-US"/>
            </a:p>
          </p:txBody>
        </p:sp>
        <p:sp>
          <p:nvSpPr>
            <p:cNvPr id="46090" name="Oval 10"/>
            <p:cNvSpPr>
              <a:spLocks noChangeArrowheads="1"/>
            </p:cNvSpPr>
            <p:nvPr/>
          </p:nvSpPr>
          <p:spPr bwMode="gray">
            <a:xfrm>
              <a:off x="2254" y="2000"/>
              <a:ext cx="1262" cy="1264"/>
            </a:xfrm>
            <a:prstGeom prst="ellipse">
              <a:avLst/>
            </a:prstGeom>
            <a:gradFill rotWithShape="1">
              <a:gsLst>
                <a:gs pos="0">
                  <a:srgbClr val="FFCC00">
                    <a:gamma/>
                    <a:shade val="0"/>
                    <a:invGamma/>
                  </a:srgbClr>
                </a:gs>
                <a:gs pos="100000">
                  <a:srgbClr val="FFCC00"/>
                </a:gs>
              </a:gsLst>
              <a:lin ang="2700000" scaled="1"/>
            </a:gradFill>
            <a:ln w="38100" algn="ctr">
              <a:noFill/>
              <a:round/>
            </a:ln>
            <a:effectLst/>
          </p:spPr>
          <p:txBody>
            <a:bodyPr wrap="none" anchor="ctr">
              <a:spAutoFit/>
            </a:bodyPr>
            <a:lstStyle/>
            <a:p>
              <a:endParaRPr lang="zh-CN" altLang="en-US"/>
            </a:p>
          </p:txBody>
        </p:sp>
        <p:sp>
          <p:nvSpPr>
            <p:cNvPr id="46091" name="Oval 11"/>
            <p:cNvSpPr>
              <a:spLocks noChangeArrowheads="1"/>
            </p:cNvSpPr>
            <p:nvPr/>
          </p:nvSpPr>
          <p:spPr bwMode="gray">
            <a:xfrm>
              <a:off x="2337" y="2083"/>
              <a:ext cx="1096" cy="1098"/>
            </a:xfrm>
            <a:prstGeom prst="ellipse">
              <a:avLst/>
            </a:prstGeom>
            <a:gradFill rotWithShape="1">
              <a:gsLst>
                <a:gs pos="0">
                  <a:schemeClr val="hlink">
                    <a:gamma/>
                    <a:shade val="54118"/>
                    <a:invGamma/>
                  </a:schemeClr>
                </a:gs>
                <a:gs pos="50000">
                  <a:schemeClr val="hlink"/>
                </a:gs>
                <a:gs pos="100000">
                  <a:schemeClr val="hlink">
                    <a:gamma/>
                    <a:shade val="54118"/>
                    <a:invGamma/>
                  </a:schemeClr>
                </a:gs>
              </a:gsLst>
              <a:lin ang="18900000" scaled="1"/>
            </a:gradFill>
            <a:ln w="38100" algn="ctr">
              <a:noFill/>
              <a:round/>
            </a:ln>
            <a:effectLst/>
          </p:spPr>
          <p:txBody>
            <a:bodyPr anchor="ctr">
              <a:spAutoFit/>
            </a:bodyPr>
            <a:lstStyle/>
            <a:p>
              <a:endParaRPr lang="zh-CN" altLang="en-US"/>
            </a:p>
          </p:txBody>
        </p:sp>
        <p:sp>
          <p:nvSpPr>
            <p:cNvPr id="46092" name="Oval 12"/>
            <p:cNvSpPr>
              <a:spLocks noChangeArrowheads="1"/>
            </p:cNvSpPr>
            <p:nvPr/>
          </p:nvSpPr>
          <p:spPr bwMode="gray">
            <a:xfrm>
              <a:off x="2337" y="2083"/>
              <a:ext cx="1096" cy="1098"/>
            </a:xfrm>
            <a:prstGeom prst="ellipse">
              <a:avLst/>
            </a:prstGeom>
            <a:gradFill rotWithShape="1">
              <a:gsLst>
                <a:gs pos="0">
                  <a:srgbClr val="FFCC00"/>
                </a:gs>
                <a:gs pos="100000">
                  <a:srgbClr val="FFCC00">
                    <a:gamma/>
                    <a:shade val="48627"/>
                    <a:invGamma/>
                  </a:srgbClr>
                </a:gs>
              </a:gsLst>
              <a:lin ang="2700000" scaled="1"/>
            </a:gradFill>
            <a:ln w="38100" algn="ctr">
              <a:noFill/>
              <a:round/>
            </a:ln>
            <a:effectLst/>
          </p:spPr>
          <p:txBody>
            <a:bodyPr anchor="ctr">
              <a:spAutoFit/>
            </a:bodyPr>
            <a:lstStyle/>
            <a:p>
              <a:endParaRPr lang="zh-CN" altLang="en-US"/>
            </a:p>
          </p:txBody>
        </p:sp>
      </p:grpSp>
      <p:sp>
        <p:nvSpPr>
          <p:cNvPr id="46093" name="AutoShape 13"/>
          <p:cNvSpPr>
            <a:spLocks noChangeArrowheads="1"/>
          </p:cNvSpPr>
          <p:nvPr/>
        </p:nvSpPr>
        <p:spPr bwMode="gray">
          <a:xfrm>
            <a:off x="838200" y="3657600"/>
            <a:ext cx="1828800" cy="609600"/>
          </a:xfrm>
          <a:prstGeom prst="can">
            <a:avLst>
              <a:gd name="adj" fmla="val 25000"/>
            </a:avLst>
          </a:prstGeom>
          <a:gradFill rotWithShape="1">
            <a:gsLst>
              <a:gs pos="0">
                <a:schemeClr val="folHlink">
                  <a:gamma/>
                  <a:shade val="46275"/>
                  <a:invGamma/>
                </a:schemeClr>
              </a:gs>
              <a:gs pos="50000">
                <a:schemeClr val="folHlink"/>
              </a:gs>
              <a:gs pos="100000">
                <a:schemeClr val="folHlink">
                  <a:gamma/>
                  <a:shade val="46275"/>
                  <a:invGamma/>
                </a:schemeClr>
              </a:gs>
            </a:gsLst>
            <a:lin ang="0" scaled="1"/>
          </a:gradFill>
          <a:ln w="9525">
            <a:noFill/>
            <a:round/>
          </a:ln>
          <a:effectLst/>
        </p:spPr>
        <p:txBody>
          <a:bodyPr wrap="none" anchor="ctr"/>
          <a:lstStyle/>
          <a:p>
            <a:endParaRPr lang="zh-CN" altLang="en-US"/>
          </a:p>
        </p:txBody>
      </p:sp>
      <p:sp>
        <p:nvSpPr>
          <p:cNvPr id="46094" name="AutoShape 14"/>
          <p:cNvSpPr>
            <a:spLocks noChangeArrowheads="1"/>
          </p:cNvSpPr>
          <p:nvPr/>
        </p:nvSpPr>
        <p:spPr bwMode="gray">
          <a:xfrm>
            <a:off x="838200" y="3124200"/>
            <a:ext cx="1828800" cy="609600"/>
          </a:xfrm>
          <a:prstGeom prst="can">
            <a:avLst>
              <a:gd name="adj" fmla="val 25000"/>
            </a:avLst>
          </a:prstGeom>
          <a:gradFill rotWithShape="1">
            <a:gsLst>
              <a:gs pos="0">
                <a:schemeClr val="folHlink">
                  <a:gamma/>
                  <a:shade val="46275"/>
                  <a:invGamma/>
                </a:schemeClr>
              </a:gs>
              <a:gs pos="50000">
                <a:schemeClr val="folHlink"/>
              </a:gs>
              <a:gs pos="100000">
                <a:schemeClr val="folHlink">
                  <a:gamma/>
                  <a:shade val="46275"/>
                  <a:invGamma/>
                </a:schemeClr>
              </a:gs>
            </a:gsLst>
            <a:lin ang="0" scaled="1"/>
          </a:gradFill>
          <a:ln w="9525">
            <a:noFill/>
            <a:round/>
          </a:ln>
          <a:effectLst/>
        </p:spPr>
        <p:txBody>
          <a:bodyPr wrap="none" anchor="ctr"/>
          <a:lstStyle/>
          <a:p>
            <a:endParaRPr lang="zh-CN" altLang="en-US"/>
          </a:p>
        </p:txBody>
      </p:sp>
      <p:sp>
        <p:nvSpPr>
          <p:cNvPr id="46095" name="AutoShape 15"/>
          <p:cNvSpPr>
            <a:spLocks noChangeArrowheads="1"/>
          </p:cNvSpPr>
          <p:nvPr/>
        </p:nvSpPr>
        <p:spPr bwMode="gray">
          <a:xfrm>
            <a:off x="838200" y="2590800"/>
            <a:ext cx="1828800" cy="609600"/>
          </a:xfrm>
          <a:prstGeom prst="can">
            <a:avLst>
              <a:gd name="adj" fmla="val 25000"/>
            </a:avLst>
          </a:prstGeom>
          <a:gradFill rotWithShape="1">
            <a:gsLst>
              <a:gs pos="0">
                <a:schemeClr val="folHlink">
                  <a:gamma/>
                  <a:shade val="46275"/>
                  <a:invGamma/>
                </a:schemeClr>
              </a:gs>
              <a:gs pos="50000">
                <a:schemeClr val="folHlink"/>
              </a:gs>
              <a:gs pos="100000">
                <a:schemeClr val="folHlink">
                  <a:gamma/>
                  <a:shade val="46275"/>
                  <a:invGamma/>
                </a:schemeClr>
              </a:gs>
            </a:gsLst>
            <a:lin ang="0" scaled="1"/>
          </a:gradFill>
          <a:ln w="9525">
            <a:noFill/>
            <a:round/>
          </a:ln>
          <a:effectLst/>
        </p:spPr>
        <p:txBody>
          <a:bodyPr wrap="none" anchor="ctr"/>
          <a:lstStyle/>
          <a:p>
            <a:endParaRPr lang="zh-CN" altLang="en-US"/>
          </a:p>
        </p:txBody>
      </p:sp>
      <p:sp>
        <p:nvSpPr>
          <p:cNvPr id="46096" name="AutoShape 16"/>
          <p:cNvSpPr>
            <a:spLocks noChangeArrowheads="1"/>
          </p:cNvSpPr>
          <p:nvPr/>
        </p:nvSpPr>
        <p:spPr bwMode="gray">
          <a:xfrm>
            <a:off x="6324600" y="3657600"/>
            <a:ext cx="1905000" cy="609600"/>
          </a:xfrm>
          <a:prstGeom prst="can">
            <a:avLst>
              <a:gd name="adj" fmla="val 25000"/>
            </a:avLst>
          </a:prstGeom>
          <a:gradFill rotWithShape="1">
            <a:gsLst>
              <a:gs pos="0">
                <a:schemeClr val="accent1">
                  <a:gamma/>
                  <a:shade val="46275"/>
                  <a:invGamma/>
                </a:schemeClr>
              </a:gs>
              <a:gs pos="50000">
                <a:schemeClr val="accent1"/>
              </a:gs>
              <a:gs pos="100000">
                <a:schemeClr val="accent1">
                  <a:gamma/>
                  <a:shade val="46275"/>
                  <a:invGamma/>
                </a:schemeClr>
              </a:gs>
            </a:gsLst>
            <a:lin ang="0" scaled="1"/>
          </a:gradFill>
          <a:ln w="9525">
            <a:noFill/>
            <a:round/>
          </a:ln>
          <a:effectLst/>
        </p:spPr>
        <p:txBody>
          <a:bodyPr wrap="none" anchor="ctr"/>
          <a:lstStyle/>
          <a:p>
            <a:endParaRPr lang="zh-CN" altLang="en-US"/>
          </a:p>
        </p:txBody>
      </p:sp>
      <p:sp>
        <p:nvSpPr>
          <p:cNvPr id="46097" name="AutoShape 17"/>
          <p:cNvSpPr>
            <a:spLocks noChangeArrowheads="1"/>
          </p:cNvSpPr>
          <p:nvPr/>
        </p:nvSpPr>
        <p:spPr bwMode="gray">
          <a:xfrm>
            <a:off x="6324600" y="3124200"/>
            <a:ext cx="1905000" cy="609600"/>
          </a:xfrm>
          <a:prstGeom prst="can">
            <a:avLst>
              <a:gd name="adj" fmla="val 25000"/>
            </a:avLst>
          </a:prstGeom>
          <a:gradFill rotWithShape="1">
            <a:gsLst>
              <a:gs pos="0">
                <a:schemeClr val="accent1">
                  <a:gamma/>
                  <a:shade val="46275"/>
                  <a:invGamma/>
                </a:schemeClr>
              </a:gs>
              <a:gs pos="50000">
                <a:schemeClr val="accent1"/>
              </a:gs>
              <a:gs pos="100000">
                <a:schemeClr val="accent1">
                  <a:gamma/>
                  <a:shade val="46275"/>
                  <a:invGamma/>
                </a:schemeClr>
              </a:gs>
            </a:gsLst>
            <a:lin ang="0" scaled="1"/>
          </a:gradFill>
          <a:ln w="9525">
            <a:noFill/>
            <a:round/>
          </a:ln>
          <a:effectLst/>
        </p:spPr>
        <p:txBody>
          <a:bodyPr wrap="none" anchor="ctr"/>
          <a:lstStyle/>
          <a:p>
            <a:endParaRPr lang="zh-CN" altLang="en-US"/>
          </a:p>
        </p:txBody>
      </p:sp>
      <p:sp>
        <p:nvSpPr>
          <p:cNvPr id="46098" name="AutoShape 18"/>
          <p:cNvSpPr>
            <a:spLocks noChangeArrowheads="1"/>
          </p:cNvSpPr>
          <p:nvPr/>
        </p:nvSpPr>
        <p:spPr bwMode="gray">
          <a:xfrm>
            <a:off x="6324600" y="2590800"/>
            <a:ext cx="1905000" cy="609600"/>
          </a:xfrm>
          <a:prstGeom prst="can">
            <a:avLst>
              <a:gd name="adj" fmla="val 25000"/>
            </a:avLst>
          </a:prstGeom>
          <a:gradFill rotWithShape="1">
            <a:gsLst>
              <a:gs pos="0">
                <a:schemeClr val="accent1">
                  <a:gamma/>
                  <a:shade val="46275"/>
                  <a:invGamma/>
                </a:schemeClr>
              </a:gs>
              <a:gs pos="50000">
                <a:schemeClr val="accent1"/>
              </a:gs>
              <a:gs pos="100000">
                <a:schemeClr val="accent1">
                  <a:gamma/>
                  <a:shade val="46275"/>
                  <a:invGamma/>
                </a:schemeClr>
              </a:gs>
            </a:gsLst>
            <a:lin ang="0" scaled="1"/>
          </a:gradFill>
          <a:ln w="9525">
            <a:noFill/>
            <a:round/>
          </a:ln>
          <a:effectLst/>
        </p:spPr>
        <p:txBody>
          <a:bodyPr wrap="none" anchor="ctr"/>
          <a:lstStyle/>
          <a:p>
            <a:endParaRPr lang="zh-CN" altLang="en-US"/>
          </a:p>
        </p:txBody>
      </p:sp>
      <p:sp>
        <p:nvSpPr>
          <p:cNvPr id="46099" name="Text Box 19"/>
          <p:cNvSpPr txBox="1">
            <a:spLocks noChangeArrowheads="1"/>
          </p:cNvSpPr>
          <p:nvPr/>
        </p:nvSpPr>
        <p:spPr bwMode="gray">
          <a:xfrm>
            <a:off x="3800582" y="3124200"/>
            <a:ext cx="1422185" cy="461665"/>
          </a:xfrm>
          <a:prstGeom prst="rect">
            <a:avLst/>
          </a:prstGeom>
          <a:noFill/>
          <a:ln w="9525">
            <a:noFill/>
            <a:miter lim="800000"/>
          </a:ln>
          <a:effectLst/>
        </p:spPr>
        <p:txBody>
          <a:bodyPr wrap="none">
            <a:spAutoFit/>
          </a:bodyPr>
          <a:lstStyle/>
          <a:p>
            <a:pPr algn="ctr" eaLnBrk="0" hangingPunct="0"/>
            <a:r>
              <a:rPr lang="zh-CN" altLang="en-US" sz="2400" b="1" dirty="0">
                <a:solidFill>
                  <a:schemeClr val="bg1"/>
                </a:solidFill>
                <a:ea typeface="宋体" panose="02010600030101010101" pitchFamily="2" charset="-122"/>
              </a:rPr>
              <a:t>二进制数</a:t>
            </a:r>
            <a:endParaRPr lang="en-US" altLang="zh-CN" sz="2400" b="1" dirty="0">
              <a:solidFill>
                <a:schemeClr val="bg1"/>
              </a:solidFill>
              <a:ea typeface="宋体" panose="02010600030101010101" pitchFamily="2" charset="-122"/>
            </a:endParaRPr>
          </a:p>
        </p:txBody>
      </p:sp>
      <p:sp>
        <p:nvSpPr>
          <p:cNvPr id="46100" name="AutoShape 20"/>
          <p:cNvSpPr>
            <a:spLocks noChangeArrowheads="1"/>
          </p:cNvSpPr>
          <p:nvPr/>
        </p:nvSpPr>
        <p:spPr bwMode="auto">
          <a:xfrm>
            <a:off x="2557463" y="5105400"/>
            <a:ext cx="3886200" cy="533400"/>
          </a:xfrm>
          <a:prstGeom prst="roundRect">
            <a:avLst>
              <a:gd name="adj" fmla="val 50000"/>
            </a:avLst>
          </a:prstGeom>
          <a:gradFill rotWithShape="1">
            <a:gsLst>
              <a:gs pos="0">
                <a:schemeClr val="accent1"/>
              </a:gs>
              <a:gs pos="50000">
                <a:schemeClr val="accent1">
                  <a:gamma/>
                  <a:tint val="3137"/>
                  <a:invGamma/>
                </a:schemeClr>
              </a:gs>
              <a:gs pos="100000">
                <a:schemeClr val="accent1"/>
              </a:gs>
            </a:gsLst>
            <a:lin ang="0" scaled="1"/>
          </a:gradFill>
          <a:ln w="38100">
            <a:solidFill>
              <a:schemeClr val="tx2"/>
            </a:solidFill>
            <a:round/>
          </a:ln>
          <a:effectLst/>
        </p:spPr>
        <p:txBody>
          <a:bodyPr wrap="none" anchor="ctr"/>
          <a:lstStyle/>
          <a:p>
            <a:pPr algn="ctr" eaLnBrk="0" hangingPunct="0"/>
            <a:r>
              <a:rPr lang="zh-CN" altLang="en-US" dirty="0">
                <a:latin typeface="Verdana" panose="020B0604030504040204" pitchFamily="34" charset="0"/>
                <a:ea typeface="宋体" panose="02010600030101010101" pitchFamily="2" charset="-122"/>
              </a:rPr>
              <a:t>指令系统</a:t>
            </a:r>
            <a:endParaRPr lang="en-US" altLang="zh-CN" dirty="0">
              <a:latin typeface="Verdana" panose="020B0604030504040204" pitchFamily="34" charset="0"/>
              <a:ea typeface="宋体" panose="02010600030101010101" pitchFamily="2" charset="-122"/>
            </a:endParaRPr>
          </a:p>
        </p:txBody>
      </p:sp>
      <p:sp>
        <p:nvSpPr>
          <p:cNvPr id="46101" name="Text Box 21"/>
          <p:cNvSpPr txBox="1">
            <a:spLocks noChangeArrowheads="1"/>
          </p:cNvSpPr>
          <p:nvPr/>
        </p:nvSpPr>
        <p:spPr bwMode="gray">
          <a:xfrm>
            <a:off x="1362759" y="2747963"/>
            <a:ext cx="646332" cy="369332"/>
          </a:xfrm>
          <a:prstGeom prst="rect">
            <a:avLst/>
          </a:prstGeom>
          <a:noFill/>
          <a:ln w="9525">
            <a:noFill/>
            <a:miter lim="800000"/>
          </a:ln>
          <a:effectLst/>
        </p:spPr>
        <p:txBody>
          <a:bodyPr wrap="none">
            <a:spAutoFit/>
          </a:bodyPr>
          <a:lstStyle/>
          <a:p>
            <a:pPr algn="ctr" eaLnBrk="0" hangingPunct="0"/>
            <a:r>
              <a:rPr lang="zh-CN" altLang="en-US" dirty="0">
                <a:solidFill>
                  <a:schemeClr val="bg1"/>
                </a:solidFill>
                <a:ea typeface="宋体" panose="02010600030101010101" pitchFamily="2" charset="-122"/>
              </a:rPr>
              <a:t>指令</a:t>
            </a:r>
            <a:endParaRPr lang="en-US" altLang="zh-CN" dirty="0">
              <a:solidFill>
                <a:schemeClr val="bg1"/>
              </a:solidFill>
              <a:ea typeface="宋体" panose="02010600030101010101" pitchFamily="2" charset="-122"/>
            </a:endParaRPr>
          </a:p>
        </p:txBody>
      </p:sp>
      <p:sp>
        <p:nvSpPr>
          <p:cNvPr id="46102" name="Text Box 22"/>
          <p:cNvSpPr txBox="1">
            <a:spLocks noChangeArrowheads="1"/>
          </p:cNvSpPr>
          <p:nvPr/>
        </p:nvSpPr>
        <p:spPr bwMode="gray">
          <a:xfrm>
            <a:off x="1362759" y="3281363"/>
            <a:ext cx="646332" cy="369332"/>
          </a:xfrm>
          <a:prstGeom prst="rect">
            <a:avLst/>
          </a:prstGeom>
          <a:noFill/>
          <a:ln w="9525">
            <a:noFill/>
            <a:miter lim="800000"/>
          </a:ln>
          <a:effectLst/>
        </p:spPr>
        <p:txBody>
          <a:bodyPr wrap="none">
            <a:spAutoFit/>
          </a:bodyPr>
          <a:lstStyle/>
          <a:p>
            <a:pPr algn="ctr" eaLnBrk="0" hangingPunct="0"/>
            <a:r>
              <a:rPr lang="zh-CN" altLang="en-US" dirty="0">
                <a:solidFill>
                  <a:schemeClr val="bg1"/>
                </a:solidFill>
                <a:ea typeface="宋体" panose="02010600030101010101" pitchFamily="2" charset="-122"/>
              </a:rPr>
              <a:t>指令</a:t>
            </a:r>
            <a:endParaRPr lang="en-US" altLang="zh-CN" dirty="0">
              <a:solidFill>
                <a:schemeClr val="bg1"/>
              </a:solidFill>
              <a:ea typeface="宋体" panose="02010600030101010101" pitchFamily="2" charset="-122"/>
            </a:endParaRPr>
          </a:p>
        </p:txBody>
      </p:sp>
      <p:sp>
        <p:nvSpPr>
          <p:cNvPr id="46103" name="Text Box 23"/>
          <p:cNvSpPr txBox="1">
            <a:spLocks noChangeArrowheads="1"/>
          </p:cNvSpPr>
          <p:nvPr/>
        </p:nvSpPr>
        <p:spPr bwMode="gray">
          <a:xfrm>
            <a:off x="1362758" y="3814763"/>
            <a:ext cx="646332" cy="369332"/>
          </a:xfrm>
          <a:prstGeom prst="rect">
            <a:avLst/>
          </a:prstGeom>
          <a:noFill/>
          <a:ln w="9525">
            <a:noFill/>
            <a:miter lim="800000"/>
          </a:ln>
          <a:effectLst/>
        </p:spPr>
        <p:txBody>
          <a:bodyPr wrap="none">
            <a:spAutoFit/>
          </a:bodyPr>
          <a:lstStyle/>
          <a:p>
            <a:pPr algn="ctr" eaLnBrk="0" hangingPunct="0"/>
            <a:r>
              <a:rPr lang="en-US" altLang="zh-CN" dirty="0">
                <a:solidFill>
                  <a:schemeClr val="bg1"/>
                </a:solidFill>
                <a:ea typeface="宋体" panose="02010600030101010101" pitchFamily="2" charset="-122"/>
              </a:rPr>
              <a:t>……</a:t>
            </a:r>
            <a:endParaRPr lang="en-US" altLang="zh-CN" dirty="0">
              <a:solidFill>
                <a:schemeClr val="bg1"/>
              </a:solidFill>
              <a:ea typeface="宋体" panose="02010600030101010101" pitchFamily="2" charset="-122"/>
            </a:endParaRPr>
          </a:p>
        </p:txBody>
      </p:sp>
      <p:sp>
        <p:nvSpPr>
          <p:cNvPr id="46104" name="Text Box 24"/>
          <p:cNvSpPr txBox="1">
            <a:spLocks noChangeArrowheads="1"/>
          </p:cNvSpPr>
          <p:nvPr/>
        </p:nvSpPr>
        <p:spPr bwMode="gray">
          <a:xfrm>
            <a:off x="6982509" y="2747963"/>
            <a:ext cx="646332" cy="369332"/>
          </a:xfrm>
          <a:prstGeom prst="rect">
            <a:avLst/>
          </a:prstGeom>
          <a:noFill/>
          <a:ln w="9525">
            <a:noFill/>
            <a:miter lim="800000"/>
          </a:ln>
          <a:effectLst/>
        </p:spPr>
        <p:txBody>
          <a:bodyPr wrap="none">
            <a:spAutoFit/>
          </a:bodyPr>
          <a:lstStyle/>
          <a:p>
            <a:pPr algn="ctr" eaLnBrk="0" hangingPunct="0"/>
            <a:r>
              <a:rPr lang="zh-CN" altLang="en-US" dirty="0">
                <a:solidFill>
                  <a:schemeClr val="bg1"/>
                </a:solidFill>
                <a:ea typeface="宋体" panose="02010600030101010101" pitchFamily="2" charset="-122"/>
              </a:rPr>
              <a:t>数据</a:t>
            </a:r>
            <a:endParaRPr lang="en-US" altLang="zh-CN" dirty="0">
              <a:solidFill>
                <a:schemeClr val="bg1"/>
              </a:solidFill>
              <a:ea typeface="宋体" panose="02010600030101010101" pitchFamily="2" charset="-122"/>
            </a:endParaRPr>
          </a:p>
        </p:txBody>
      </p:sp>
      <p:sp>
        <p:nvSpPr>
          <p:cNvPr id="46105" name="Text Box 25"/>
          <p:cNvSpPr txBox="1">
            <a:spLocks noChangeArrowheads="1"/>
          </p:cNvSpPr>
          <p:nvPr/>
        </p:nvSpPr>
        <p:spPr bwMode="gray">
          <a:xfrm>
            <a:off x="6982509" y="3281363"/>
            <a:ext cx="646332" cy="369332"/>
          </a:xfrm>
          <a:prstGeom prst="rect">
            <a:avLst/>
          </a:prstGeom>
          <a:noFill/>
          <a:ln w="9525">
            <a:noFill/>
            <a:miter lim="800000"/>
          </a:ln>
          <a:effectLst/>
        </p:spPr>
        <p:txBody>
          <a:bodyPr wrap="none">
            <a:spAutoFit/>
          </a:bodyPr>
          <a:lstStyle/>
          <a:p>
            <a:pPr algn="ctr" eaLnBrk="0" hangingPunct="0"/>
            <a:r>
              <a:rPr lang="zh-CN" altLang="en-US" dirty="0">
                <a:solidFill>
                  <a:schemeClr val="bg1"/>
                </a:solidFill>
                <a:ea typeface="宋体" panose="02010600030101010101" pitchFamily="2" charset="-122"/>
              </a:rPr>
              <a:t>数据</a:t>
            </a:r>
            <a:endParaRPr lang="en-US" altLang="zh-CN" dirty="0">
              <a:solidFill>
                <a:schemeClr val="bg1"/>
              </a:solidFill>
              <a:ea typeface="宋体" panose="02010600030101010101" pitchFamily="2" charset="-122"/>
            </a:endParaRPr>
          </a:p>
        </p:txBody>
      </p:sp>
      <p:sp>
        <p:nvSpPr>
          <p:cNvPr id="46106" name="Text Box 26"/>
          <p:cNvSpPr txBox="1">
            <a:spLocks noChangeArrowheads="1"/>
          </p:cNvSpPr>
          <p:nvPr/>
        </p:nvSpPr>
        <p:spPr bwMode="gray">
          <a:xfrm>
            <a:off x="6982509" y="3814763"/>
            <a:ext cx="646332" cy="369332"/>
          </a:xfrm>
          <a:prstGeom prst="rect">
            <a:avLst/>
          </a:prstGeom>
          <a:noFill/>
          <a:ln w="9525">
            <a:noFill/>
            <a:miter lim="800000"/>
          </a:ln>
          <a:effectLst/>
        </p:spPr>
        <p:txBody>
          <a:bodyPr wrap="none">
            <a:spAutoFit/>
          </a:bodyPr>
          <a:lstStyle/>
          <a:p>
            <a:pPr algn="ctr" eaLnBrk="0" hangingPunct="0"/>
            <a:r>
              <a:rPr lang="en-US" altLang="zh-CN" dirty="0">
                <a:solidFill>
                  <a:schemeClr val="bg1"/>
                </a:solidFill>
                <a:ea typeface="宋体" panose="02010600030101010101" pitchFamily="2" charset="-122"/>
              </a:rPr>
              <a:t>……</a:t>
            </a:r>
            <a:endParaRPr lang="en-US" altLang="zh-CN" dirty="0">
              <a:solidFill>
                <a:schemeClr val="bg1"/>
              </a:solidFill>
              <a:ea typeface="宋体" panose="02010600030101010101" pitchFamily="2" charset="-122"/>
            </a:endParaRPr>
          </a:p>
        </p:txBody>
      </p:sp>
      <p:sp>
        <p:nvSpPr>
          <p:cNvPr id="29" name="TextBox 28"/>
          <p:cNvSpPr txBox="1"/>
          <p:nvPr/>
        </p:nvSpPr>
        <p:spPr>
          <a:xfrm>
            <a:off x="1142976" y="2059536"/>
            <a:ext cx="1214446" cy="369332"/>
          </a:xfrm>
          <a:prstGeom prst="rect">
            <a:avLst/>
          </a:prstGeom>
          <a:noFill/>
        </p:spPr>
        <p:txBody>
          <a:bodyPr wrap="square" rtlCol="0">
            <a:spAutoFit/>
          </a:bodyPr>
          <a:lstStyle/>
          <a:p>
            <a:r>
              <a:rPr lang="zh-CN" altLang="en-US" dirty="0"/>
              <a:t>存储单元</a:t>
            </a:r>
            <a:endParaRPr lang="zh-CN" altLang="en-US" dirty="0"/>
          </a:p>
        </p:txBody>
      </p:sp>
      <p:sp>
        <p:nvSpPr>
          <p:cNvPr id="30" name="TextBox 29"/>
          <p:cNvSpPr txBox="1"/>
          <p:nvPr/>
        </p:nvSpPr>
        <p:spPr>
          <a:xfrm>
            <a:off x="6715140" y="2130974"/>
            <a:ext cx="1214446" cy="369332"/>
          </a:xfrm>
          <a:prstGeom prst="rect">
            <a:avLst/>
          </a:prstGeom>
          <a:noFill/>
        </p:spPr>
        <p:txBody>
          <a:bodyPr wrap="square" rtlCol="0">
            <a:spAutoFit/>
          </a:bodyPr>
          <a:lstStyle/>
          <a:p>
            <a:r>
              <a:rPr lang="zh-CN" altLang="en-US" dirty="0"/>
              <a:t>存储单元</a:t>
            </a:r>
            <a:endParaRPr lang="zh-CN" altLang="en-US" dirty="0"/>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存储器单元</a:t>
            </a:r>
            <a:endParaRPr lang="zh-CN" altLang="en-US" dirty="0"/>
          </a:p>
        </p:txBody>
      </p:sp>
      <p:sp>
        <p:nvSpPr>
          <p:cNvPr id="3" name="内容占位符 2"/>
          <p:cNvSpPr>
            <a:spLocks noGrp="1"/>
          </p:cNvSpPr>
          <p:nvPr>
            <p:ph idx="1"/>
          </p:nvPr>
        </p:nvSpPr>
        <p:spPr/>
        <p:txBody>
          <a:bodyPr/>
          <a:lstStyle/>
          <a:p>
            <a:r>
              <a:rPr lang="zh-CN" altLang="en-US" dirty="0"/>
              <a:t>字节（</a:t>
            </a:r>
            <a:r>
              <a:rPr lang="en-US" altLang="zh-CN" dirty="0"/>
              <a:t>Byte</a:t>
            </a:r>
            <a:r>
              <a:rPr lang="zh-CN" altLang="en-US" dirty="0"/>
              <a:t>）</a:t>
            </a:r>
            <a:endParaRPr lang="en-US" altLang="zh-CN" dirty="0"/>
          </a:p>
          <a:p>
            <a:pPr lvl="1"/>
            <a:r>
              <a:rPr lang="en-US" altLang="zh-CN" dirty="0"/>
              <a:t>8</a:t>
            </a:r>
            <a:r>
              <a:rPr lang="zh-CN" altLang="en-US" dirty="0"/>
              <a:t>个二进制数位（</a:t>
            </a:r>
            <a:r>
              <a:rPr lang="en-US" altLang="zh-CN" dirty="0"/>
              <a:t>bit</a:t>
            </a:r>
            <a:r>
              <a:rPr lang="zh-CN" altLang="en-US" dirty="0"/>
              <a:t>）为一个字节</a:t>
            </a:r>
            <a:endParaRPr lang="en-US" altLang="zh-CN" dirty="0"/>
          </a:p>
          <a:p>
            <a:pPr lvl="1"/>
            <a:r>
              <a:rPr lang="en-US" altLang="zh-CN" dirty="0"/>
              <a:t>1</a:t>
            </a:r>
            <a:r>
              <a:rPr lang="zh-CN" altLang="en-US" dirty="0"/>
              <a:t>个字节可以表示的范围</a:t>
            </a:r>
            <a:endParaRPr lang="en-US" altLang="zh-CN" dirty="0"/>
          </a:p>
          <a:p>
            <a:pPr lvl="2"/>
            <a:r>
              <a:rPr lang="en-US" altLang="zh-CN" dirty="0"/>
              <a:t>0</a:t>
            </a:r>
            <a:r>
              <a:rPr lang="zh-CN" altLang="en-US" dirty="0"/>
              <a:t>（</a:t>
            </a:r>
            <a:r>
              <a:rPr lang="en-US" altLang="zh-CN" dirty="0"/>
              <a:t> 00000000</a:t>
            </a:r>
            <a:r>
              <a:rPr lang="zh-CN" altLang="en-US" dirty="0"/>
              <a:t>）至</a:t>
            </a:r>
            <a:r>
              <a:rPr lang="en-US" altLang="zh-CN" dirty="0"/>
              <a:t>255</a:t>
            </a:r>
            <a:r>
              <a:rPr lang="zh-CN" altLang="en-US" dirty="0"/>
              <a:t>（</a:t>
            </a:r>
            <a:r>
              <a:rPr lang="en-US" altLang="zh-CN" dirty="0"/>
              <a:t>11111111</a:t>
            </a:r>
            <a:r>
              <a:rPr lang="zh-CN" altLang="en-US" dirty="0"/>
              <a:t>）</a:t>
            </a:r>
            <a:endParaRPr lang="en-US" altLang="zh-CN" dirty="0"/>
          </a:p>
          <a:p>
            <a:pPr lvl="1"/>
            <a:r>
              <a:rPr lang="zh-CN" altLang="en-US" dirty="0"/>
              <a:t>字节是计算机中指令和数据的基本存储单元</a:t>
            </a:r>
            <a:endParaRPr lang="en-US" altLang="zh-CN" dirty="0"/>
          </a:p>
          <a:p>
            <a:pPr lvl="2"/>
            <a:r>
              <a:rPr lang="zh-CN" altLang="en-US" dirty="0"/>
              <a:t>不同类型的指令使用不同的字节数</a:t>
            </a:r>
            <a:endParaRPr lang="en-US" altLang="zh-CN" dirty="0"/>
          </a:p>
          <a:p>
            <a:pPr lvl="2"/>
            <a:r>
              <a:rPr lang="zh-CN" altLang="en-US" dirty="0"/>
              <a:t>不同类型的数据用不同的字节数存储</a:t>
            </a:r>
            <a:endParaRPr lang="zh-CN" altLang="en-US" dirty="0"/>
          </a:p>
        </p:txBody>
      </p:sp>
      <p:pic>
        <p:nvPicPr>
          <p:cNvPr id="1026" name="Picture 2"/>
          <p:cNvPicPr>
            <a:picLocks noChangeAspect="1" noChangeArrowheads="1"/>
          </p:cNvPicPr>
          <p:nvPr/>
        </p:nvPicPr>
        <p:blipFill>
          <a:blip r:embed="rId1" cstate="print"/>
          <a:srcRect/>
          <a:stretch>
            <a:fillRect/>
          </a:stretch>
        </p:blipFill>
        <p:spPr bwMode="auto">
          <a:xfrm>
            <a:off x="1428728" y="4797152"/>
            <a:ext cx="5209479" cy="428628"/>
          </a:xfrm>
          <a:prstGeom prst="rect">
            <a:avLst/>
          </a:prstGeom>
          <a:noFill/>
          <a:ln w="9525">
            <a:noFill/>
            <a:miter lim="800000"/>
            <a:headEnd/>
            <a:tailEnd/>
          </a:ln>
        </p:spPr>
      </p:pic>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存储器单元</a:t>
            </a:r>
            <a:endParaRPr lang="zh-CN" altLang="en-US" dirty="0"/>
          </a:p>
        </p:txBody>
      </p:sp>
      <p:sp>
        <p:nvSpPr>
          <p:cNvPr id="3" name="内容占位符 2"/>
          <p:cNvSpPr>
            <a:spLocks noGrp="1"/>
          </p:cNvSpPr>
          <p:nvPr>
            <p:ph idx="1"/>
          </p:nvPr>
        </p:nvSpPr>
        <p:spPr/>
        <p:txBody>
          <a:bodyPr/>
          <a:lstStyle/>
          <a:p>
            <a:r>
              <a:rPr lang="zh-CN" altLang="en-US" dirty="0"/>
              <a:t>存储器单元</a:t>
            </a:r>
            <a:endParaRPr lang="en-US" altLang="zh-CN" dirty="0"/>
          </a:p>
          <a:p>
            <a:pPr lvl="1"/>
            <a:r>
              <a:rPr lang="zh-CN" altLang="en-US" dirty="0"/>
              <a:t>按字节安排</a:t>
            </a:r>
            <a:endParaRPr lang="en-US" altLang="zh-CN" dirty="0"/>
          </a:p>
          <a:p>
            <a:r>
              <a:rPr lang="zh-CN" altLang="en-US" dirty="0"/>
              <a:t>存储地址</a:t>
            </a:r>
            <a:endParaRPr lang="en-US" altLang="zh-CN" dirty="0"/>
          </a:p>
          <a:p>
            <a:pPr lvl="1"/>
            <a:r>
              <a:rPr lang="zh-CN" altLang="en-US" dirty="0"/>
              <a:t>顺序号，为每个存储器单元指定一个序号</a:t>
            </a:r>
            <a:endParaRPr lang="en-US" altLang="zh-CN" dirty="0"/>
          </a:p>
        </p:txBody>
      </p:sp>
      <p:pic>
        <p:nvPicPr>
          <p:cNvPr id="2050" name="Picture 2"/>
          <p:cNvPicPr>
            <a:picLocks noChangeAspect="1" noChangeArrowheads="1"/>
          </p:cNvPicPr>
          <p:nvPr/>
        </p:nvPicPr>
        <p:blipFill>
          <a:blip r:embed="rId1" cstate="print"/>
          <a:srcRect/>
          <a:stretch>
            <a:fillRect/>
          </a:stretch>
        </p:blipFill>
        <p:spPr bwMode="auto">
          <a:xfrm>
            <a:off x="2428860" y="3929066"/>
            <a:ext cx="4071966" cy="1774960"/>
          </a:xfrm>
          <a:prstGeom prst="rect">
            <a:avLst/>
          </a:prstGeom>
          <a:noFill/>
          <a:ln w="9525">
            <a:noFill/>
            <a:miter lim="800000"/>
            <a:headEnd/>
            <a:tailEnd/>
          </a:ln>
          <a:effectLst/>
        </p:spPr>
      </p:pic>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WordArt 5"/>
          <p:cNvSpPr>
            <a:spLocks noChangeArrowheads="1" noChangeShapeType="1" noTextEdit="1"/>
          </p:cNvSpPr>
          <p:nvPr/>
        </p:nvSpPr>
        <p:spPr bwMode="gray">
          <a:xfrm>
            <a:off x="1447800" y="1676400"/>
            <a:ext cx="3887787" cy="1728192"/>
          </a:xfrm>
          <a:prstGeom prst="rect">
            <a:avLst/>
          </a:prstGeom>
        </p:spPr>
        <p:txBody>
          <a:bodyPr wrap="none" fromWordArt="1">
            <a:prstTxWarp prst="textDeflate">
              <a:avLst>
                <a:gd name="adj" fmla="val 0"/>
              </a:avLst>
            </a:prstTxWarp>
          </a:bodyPr>
          <a:lstStyle/>
          <a:p>
            <a:pPr algn="ctr"/>
            <a:r>
              <a:rPr lang="en-US" altLang="zh-CN" sz="3600" b="1" kern="10" dirty="0">
                <a:ln w="19050">
                  <a:solidFill>
                    <a:schemeClr val="bg1"/>
                  </a:solidFill>
                  <a:round/>
                </a:ln>
                <a:gradFill rotWithShape="1">
                  <a:gsLst>
                    <a:gs pos="0">
                      <a:schemeClr val="tx2"/>
                    </a:gs>
                    <a:gs pos="100000">
                      <a:schemeClr val="hlink"/>
                    </a:gs>
                  </a:gsLst>
                  <a:lin ang="0" scaled="1"/>
                </a:gradFill>
                <a:effectLst>
                  <a:outerShdw dist="63500" dir="2212194" algn="ctr" rotWithShape="0">
                    <a:srgbClr val="868686">
                      <a:alpha val="50000"/>
                    </a:srgbClr>
                  </a:outerShdw>
                </a:effectLst>
                <a:cs typeface="Arial" panose="020B0604020202020204" pitchFamily="34" charset="0"/>
              </a:rPr>
              <a:t>Q&amp;A!</a:t>
            </a:r>
            <a:endParaRPr lang="zh-CN" altLang="en-US" sz="3600" b="1" kern="10" dirty="0">
              <a:ln w="19050">
                <a:solidFill>
                  <a:schemeClr val="bg1"/>
                </a:solidFill>
                <a:round/>
              </a:ln>
              <a:gradFill rotWithShape="1">
                <a:gsLst>
                  <a:gs pos="0">
                    <a:schemeClr val="tx2"/>
                  </a:gs>
                  <a:gs pos="100000">
                    <a:schemeClr val="hlink"/>
                  </a:gs>
                </a:gsLst>
                <a:lin ang="0" scaled="1"/>
              </a:gradFill>
              <a:effectLst>
                <a:outerShdw dist="63500" dir="2212194" algn="ctr" rotWithShape="0">
                  <a:srgbClr val="868686">
                    <a:alpha val="50000"/>
                  </a:srgbClr>
                </a:outerShdw>
              </a:effectLst>
              <a:cs typeface="Arial" panose="020B060402020202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tags/tag1.xml><?xml version="1.0" encoding="utf-8"?>
<p:tagLst xmlns:p="http://schemas.openxmlformats.org/presentationml/2006/main">
  <p:tag name="KSO_WM_UNIT_TABLE_BEAUTIFY" val="smartTable{cd43ea66-342e-41f0-a03c-bb21ea404b98}"/>
  <p:tag name="TABLE_ENDDRAG_ORIGIN_RECT" val="619*348"/>
  <p:tag name="TABLE_ENDDRAG_RECT" val="60*130*619*348"/>
</p:tagLst>
</file>

<file path=ppt/tags/tag2.xml><?xml version="1.0" encoding="utf-8"?>
<p:tagLst xmlns:p="http://schemas.openxmlformats.org/presentationml/2006/main">
  <p:tag name="COMMONDATA" val="eyJoZGlkIjoiNzUyNTk3ZGVhNjdkNDkxMTcyNzY1OTFmNGY3NDlhMDMifQ=="/>
</p:tagLst>
</file>

<file path=ppt/theme/theme1.xml><?xml version="1.0" encoding="utf-8"?>
<a:theme xmlns:a="http://schemas.openxmlformats.org/drawingml/2006/main" name="Office 主题">
  <a:themeElements>
    <a:clrScheme name="Office 主题 3">
      <a:dk1>
        <a:srgbClr val="000000"/>
      </a:dk1>
      <a:lt1>
        <a:srgbClr val="FFFFFF"/>
      </a:lt1>
      <a:dk2>
        <a:srgbClr val="37399B"/>
      </a:dk2>
      <a:lt2>
        <a:srgbClr val="C0C0C0"/>
      </a:lt2>
      <a:accent1>
        <a:srgbClr val="699DE9"/>
      </a:accent1>
      <a:accent2>
        <a:srgbClr val="EFB049"/>
      </a:accent2>
      <a:accent3>
        <a:srgbClr val="FFFFFF"/>
      </a:accent3>
      <a:accent4>
        <a:srgbClr val="000000"/>
      </a:accent4>
      <a:accent5>
        <a:srgbClr val="B9CCF2"/>
      </a:accent5>
      <a:accent6>
        <a:srgbClr val="D99F41"/>
      </a:accent6>
      <a:hlink>
        <a:srgbClr val="7476DC"/>
      </a:hlink>
      <a:folHlink>
        <a:srgbClr val="9AC664"/>
      </a:folHlink>
    </a:clrScheme>
    <a:fontScheme name="Office 主题">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Office 主题 1">
        <a:dk1>
          <a:srgbClr val="000000"/>
        </a:dk1>
        <a:lt1>
          <a:srgbClr val="FFFFFF"/>
        </a:lt1>
        <a:dk2>
          <a:srgbClr val="000066"/>
        </a:dk2>
        <a:lt2>
          <a:srgbClr val="969696"/>
        </a:lt2>
        <a:accent1>
          <a:srgbClr val="6F4EE6"/>
        </a:accent1>
        <a:accent2>
          <a:srgbClr val="69BFF9"/>
        </a:accent2>
        <a:accent3>
          <a:srgbClr val="FFFFFF"/>
        </a:accent3>
        <a:accent4>
          <a:srgbClr val="000000"/>
        </a:accent4>
        <a:accent5>
          <a:srgbClr val="BBB2F0"/>
        </a:accent5>
        <a:accent6>
          <a:srgbClr val="5EADE2"/>
        </a:accent6>
        <a:hlink>
          <a:srgbClr val="D17FB6"/>
        </a:hlink>
        <a:folHlink>
          <a:srgbClr val="76B749"/>
        </a:folHlink>
      </a:clrScheme>
      <a:clrMap bg1="lt1" tx1="dk1" bg2="lt2" tx2="dk2" accent1="accent1" accent2="accent2" accent3="accent3" accent4="accent4" accent5="accent5" accent6="accent6" hlink="hlink" folHlink="folHlink"/>
    </a:extraClrScheme>
    <a:extraClrScheme>
      <a:clrScheme name="Office 主题 2">
        <a:dk1>
          <a:srgbClr val="000000"/>
        </a:dk1>
        <a:lt1>
          <a:srgbClr val="FFFFFF"/>
        </a:lt1>
        <a:dk2>
          <a:srgbClr val="165E86"/>
        </a:dk2>
        <a:lt2>
          <a:srgbClr val="969696"/>
        </a:lt2>
        <a:accent1>
          <a:srgbClr val="33C5A9"/>
        </a:accent1>
        <a:accent2>
          <a:srgbClr val="90DE88"/>
        </a:accent2>
        <a:accent3>
          <a:srgbClr val="FFFFFF"/>
        </a:accent3>
        <a:accent4>
          <a:srgbClr val="000000"/>
        </a:accent4>
        <a:accent5>
          <a:srgbClr val="ADDFD1"/>
        </a:accent5>
        <a:accent6>
          <a:srgbClr val="82C97B"/>
        </a:accent6>
        <a:hlink>
          <a:srgbClr val="7D96D3"/>
        </a:hlink>
        <a:folHlink>
          <a:srgbClr val="DEDB70"/>
        </a:folHlink>
      </a:clrScheme>
      <a:clrMap bg1="lt1" tx1="dk1" bg2="lt2" tx2="dk2" accent1="accent1" accent2="accent2" accent3="accent3" accent4="accent4" accent5="accent5" accent6="accent6" hlink="hlink" folHlink="folHlink"/>
    </a:extraClrScheme>
    <a:extraClrScheme>
      <a:clrScheme name="Office 主题 3">
        <a:dk1>
          <a:srgbClr val="000000"/>
        </a:dk1>
        <a:lt1>
          <a:srgbClr val="FFFFFF"/>
        </a:lt1>
        <a:dk2>
          <a:srgbClr val="37399B"/>
        </a:dk2>
        <a:lt2>
          <a:srgbClr val="C0C0C0"/>
        </a:lt2>
        <a:accent1>
          <a:srgbClr val="699DE9"/>
        </a:accent1>
        <a:accent2>
          <a:srgbClr val="EFB049"/>
        </a:accent2>
        <a:accent3>
          <a:srgbClr val="FFFFFF"/>
        </a:accent3>
        <a:accent4>
          <a:srgbClr val="000000"/>
        </a:accent4>
        <a:accent5>
          <a:srgbClr val="B9CCF2"/>
        </a:accent5>
        <a:accent6>
          <a:srgbClr val="D99F41"/>
        </a:accent6>
        <a:hlink>
          <a:srgbClr val="7476DC"/>
        </a:hlink>
        <a:folHlink>
          <a:srgbClr val="9AC664"/>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9573</Words>
  <Application>WPS 演示</Application>
  <PresentationFormat>全屏显示(4:3)</PresentationFormat>
  <Paragraphs>1037</Paragraphs>
  <Slides>82</Slides>
  <Notes>10</Notes>
  <HiddenSlides>0</HiddenSlides>
  <MMClips>0</MMClips>
  <ScaleCrop>false</ScaleCrop>
  <HeadingPairs>
    <vt:vector size="8" baseType="variant">
      <vt:variant>
        <vt:lpstr>已用的字体</vt:lpstr>
      </vt:variant>
      <vt:variant>
        <vt:i4>20</vt:i4>
      </vt:variant>
      <vt:variant>
        <vt:lpstr>主题</vt:lpstr>
      </vt:variant>
      <vt:variant>
        <vt:i4>1</vt:i4>
      </vt:variant>
      <vt:variant>
        <vt:lpstr>嵌入 OLE 服务器</vt:lpstr>
      </vt:variant>
      <vt:variant>
        <vt:i4>1</vt:i4>
      </vt:variant>
      <vt:variant>
        <vt:lpstr>幻灯片标题</vt:lpstr>
      </vt:variant>
      <vt:variant>
        <vt:i4>82</vt:i4>
      </vt:variant>
    </vt:vector>
  </HeadingPairs>
  <TitlesOfParts>
    <vt:vector size="104" baseType="lpstr">
      <vt:lpstr>Arial</vt:lpstr>
      <vt:lpstr>宋体</vt:lpstr>
      <vt:lpstr>Wingdings</vt:lpstr>
      <vt:lpstr>Baskerville Old Face</vt:lpstr>
      <vt:lpstr>华文楷体</vt:lpstr>
      <vt:lpstr>Comic Sans MS</vt:lpstr>
      <vt:lpstr>黑体</vt:lpstr>
      <vt:lpstr>楷体</vt:lpstr>
      <vt:lpstr>华文新魏</vt:lpstr>
      <vt:lpstr>Times New Roman</vt:lpstr>
      <vt:lpstr>仿宋</vt:lpstr>
      <vt:lpstr>Book Antiqua</vt:lpstr>
      <vt:lpstr>微软雅黑</vt:lpstr>
      <vt:lpstr>Arial Unicode MS</vt:lpstr>
      <vt:lpstr>Calibri</vt:lpstr>
      <vt:lpstr>楷体_GB2312</vt:lpstr>
      <vt:lpstr>新宋体</vt:lpstr>
      <vt:lpstr>Courier New</vt:lpstr>
      <vt:lpstr>Verdana</vt:lpstr>
      <vt:lpstr>Wingdings</vt:lpstr>
      <vt:lpstr>Office 主题</vt:lpstr>
      <vt:lpstr>Photoshop.Image.6</vt:lpstr>
      <vt:lpstr>高级语言程序设计</vt:lpstr>
      <vt:lpstr>PowerPoint 演示文稿</vt:lpstr>
      <vt:lpstr>无处不在的软件</vt:lpstr>
      <vt:lpstr>课程简介</vt:lpstr>
      <vt:lpstr>课程目标</vt:lpstr>
      <vt:lpstr>PowerPoint 演示文稿</vt:lpstr>
      <vt:lpstr>课程安排</vt:lpstr>
      <vt:lpstr>教学用书</vt:lpstr>
      <vt:lpstr>绪论</vt:lpstr>
      <vt:lpstr>计算机与程序设计</vt:lpstr>
      <vt:lpstr>计算机与程序设计</vt:lpstr>
      <vt:lpstr>计算机与程序设计</vt:lpstr>
      <vt:lpstr>计算机组成</vt:lpstr>
      <vt:lpstr>计算机组成</vt:lpstr>
      <vt:lpstr>计算机组成</vt:lpstr>
      <vt:lpstr>计算机组成</vt:lpstr>
      <vt:lpstr>程序设计</vt:lpstr>
      <vt:lpstr>绪论</vt:lpstr>
      <vt:lpstr>程序设计语言</vt:lpstr>
      <vt:lpstr>机器指令</vt:lpstr>
      <vt:lpstr>机器指令</vt:lpstr>
      <vt:lpstr>机器指令</vt:lpstr>
      <vt:lpstr>低级编程语言</vt:lpstr>
      <vt:lpstr>高级程序设计语言</vt:lpstr>
      <vt:lpstr>高级程序设计语言</vt:lpstr>
      <vt:lpstr>程序设计方法学的发展</vt:lpstr>
      <vt:lpstr>程序设计方法学的发展</vt:lpstr>
      <vt:lpstr>面向对象程序设计阶段</vt:lpstr>
      <vt:lpstr>面向对象程序设计阶段</vt:lpstr>
      <vt:lpstr>面向对象程序设计阶段</vt:lpstr>
      <vt:lpstr>面向对象程序设计阶段</vt:lpstr>
      <vt:lpstr>程序设计的范型</vt:lpstr>
      <vt:lpstr>绪论</vt:lpstr>
      <vt:lpstr>C++语言概述</vt:lpstr>
      <vt:lpstr>C++语言概述</vt:lpstr>
      <vt:lpstr>C++语言概述</vt:lpstr>
      <vt:lpstr>C++程序简介</vt:lpstr>
      <vt:lpstr>过程型结构</vt:lpstr>
      <vt:lpstr>函数型结构</vt:lpstr>
      <vt:lpstr>面向对象型结构</vt:lpstr>
      <vt:lpstr>C++程序设计的一般步骤</vt:lpstr>
      <vt:lpstr>C++程序设计的一般步骤</vt:lpstr>
      <vt:lpstr>C++程序设计的一般步骤</vt:lpstr>
      <vt:lpstr>程序设计的四个层次</vt:lpstr>
      <vt:lpstr>绪论</vt:lpstr>
      <vt:lpstr>教学重点</vt:lpstr>
      <vt:lpstr>教学内容安排 2-1</vt:lpstr>
      <vt:lpstr>教学内容安排 2-1</vt:lpstr>
      <vt:lpstr>教学内容安排 2-2</vt:lpstr>
      <vt:lpstr>教学内容安排 2-2</vt:lpstr>
      <vt:lpstr>主讲教师</vt:lpstr>
      <vt:lpstr>绪论</vt:lpstr>
      <vt:lpstr>数的进制</vt:lpstr>
      <vt:lpstr>十进制回顾</vt:lpstr>
      <vt:lpstr>二进制数</vt:lpstr>
      <vt:lpstr>为什么采用二进制</vt:lpstr>
      <vt:lpstr>二进制数</vt:lpstr>
      <vt:lpstr>数制转换</vt:lpstr>
      <vt:lpstr>数制转换</vt:lpstr>
      <vt:lpstr>数制转换</vt:lpstr>
      <vt:lpstr>八进制数</vt:lpstr>
      <vt:lpstr>十六进制数</vt:lpstr>
      <vt:lpstr>数制转换</vt:lpstr>
      <vt:lpstr>数制转换</vt:lpstr>
      <vt:lpstr>数制转换</vt:lpstr>
      <vt:lpstr>数制转换</vt:lpstr>
      <vt:lpstr>数制转换</vt:lpstr>
      <vt:lpstr>数制转换</vt:lpstr>
      <vt:lpstr>数制转换</vt:lpstr>
      <vt:lpstr>数制转换</vt:lpstr>
      <vt:lpstr>带符号数的表示</vt:lpstr>
      <vt:lpstr>原码</vt:lpstr>
      <vt:lpstr>补码</vt:lpstr>
      <vt:lpstr>补码的引入</vt:lpstr>
      <vt:lpstr>补码的求法</vt:lpstr>
      <vt:lpstr>数制转换</vt:lpstr>
      <vt:lpstr>反码</vt:lpstr>
      <vt:lpstr>数制的选择</vt:lpstr>
      <vt:lpstr>使用二进制数</vt:lpstr>
      <vt:lpstr>存储器单元</vt:lpstr>
      <vt:lpstr>存储器单元</vt:lpstr>
      <vt:lpstr>PowerPoint 演示文稿</vt:lpstr>
    </vt:vector>
  </TitlesOfParts>
  <Company>Guilddesign</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智能所介绍</dc:title>
  <dc:creator>xujing</dc:creator>
  <cp:lastModifiedBy>许静</cp:lastModifiedBy>
  <cp:revision>270</cp:revision>
  <dcterms:created xsi:type="dcterms:W3CDTF">2004-07-21T02:43:00Z</dcterms:created>
  <dcterms:modified xsi:type="dcterms:W3CDTF">2022-09-27T12:22:25Z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2052-11.1.0.12358</vt:lpwstr>
  </property>
  <property fmtid="{D5CDD505-2E9C-101B-9397-08002B2CF9AE}" pid="3" name="ICV">
    <vt:lpwstr>5F1D6163957A4F3E876D282281E01F36</vt:lpwstr>
  </property>
</Properties>
</file>