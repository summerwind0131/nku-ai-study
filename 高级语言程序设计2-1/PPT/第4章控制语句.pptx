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67" r:id="rId3"/>
    <p:sldId id="362" r:id="rId4"/>
    <p:sldId id="363" r:id="rId5"/>
    <p:sldId id="364" r:id="rId7"/>
    <p:sldId id="365" r:id="rId8"/>
    <p:sldId id="366" r:id="rId9"/>
    <p:sldId id="368" r:id="rId10"/>
    <p:sldId id="679" r:id="rId11"/>
    <p:sldId id="680" r:id="rId12"/>
    <p:sldId id="369" r:id="rId13"/>
    <p:sldId id="370" r:id="rId14"/>
    <p:sldId id="371" r:id="rId15"/>
    <p:sldId id="681" r:id="rId16"/>
    <p:sldId id="335" r:id="rId17"/>
    <p:sldId id="313" r:id="rId18"/>
    <p:sldId id="319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0" r:id="rId48"/>
    <p:sldId id="401" r:id="rId49"/>
    <p:sldId id="402" r:id="rId50"/>
    <p:sldId id="404" r:id="rId51"/>
    <p:sldId id="403" r:id="rId52"/>
    <p:sldId id="409" r:id="rId53"/>
    <p:sldId id="405" r:id="rId54"/>
    <p:sldId id="406" r:id="rId55"/>
    <p:sldId id="407" r:id="rId56"/>
    <p:sldId id="408" r:id="rId57"/>
    <p:sldId id="410" r:id="rId58"/>
    <p:sldId id="411" r:id="rId59"/>
    <p:sldId id="412" r:id="rId60"/>
    <p:sldId id="413" r:id="rId61"/>
    <p:sldId id="414" r:id="rId62"/>
    <p:sldId id="415" r:id="rId63"/>
    <p:sldId id="418" r:id="rId64"/>
    <p:sldId id="582" r:id="rId65"/>
    <p:sldId id="583" r:id="rId66"/>
    <p:sldId id="584" r:id="rId67"/>
    <p:sldId id="585" r:id="rId68"/>
    <p:sldId id="586" r:id="rId69"/>
    <p:sldId id="587" r:id="rId70"/>
    <p:sldId id="588" r:id="rId71"/>
    <p:sldId id="589" r:id="rId72"/>
    <p:sldId id="590" r:id="rId73"/>
    <p:sldId id="591" r:id="rId74"/>
    <p:sldId id="592" r:id="rId75"/>
    <p:sldId id="593" r:id="rId76"/>
    <p:sldId id="594" r:id="rId77"/>
    <p:sldId id="595" r:id="rId78"/>
    <p:sldId id="596" r:id="rId79"/>
    <p:sldId id="597" r:id="rId80"/>
    <p:sldId id="598" r:id="rId81"/>
    <p:sldId id="599" r:id="rId82"/>
    <p:sldId id="674" r:id="rId83"/>
    <p:sldId id="675" r:id="rId84"/>
    <p:sldId id="676" r:id="rId85"/>
    <p:sldId id="677" r:id="rId86"/>
    <p:sldId id="678" r:id="rId87"/>
    <p:sldId id="600" r:id="rId88"/>
    <p:sldId id="601" r:id="rId89"/>
    <p:sldId id="602" r:id="rId90"/>
    <p:sldId id="603" r:id="rId91"/>
    <p:sldId id="604" r:id="rId92"/>
    <p:sldId id="605" r:id="rId93"/>
    <p:sldId id="606" r:id="rId94"/>
    <p:sldId id="607" r:id="rId95"/>
    <p:sldId id="672" r:id="rId96"/>
    <p:sldId id="673" r:id="rId97"/>
    <p:sldId id="608" r:id="rId98"/>
    <p:sldId id="609" r:id="rId99"/>
    <p:sldId id="610" r:id="rId100"/>
    <p:sldId id="662" r:id="rId101"/>
    <p:sldId id="663" r:id="rId102"/>
    <p:sldId id="664" r:id="rId103"/>
    <p:sldId id="665" r:id="rId104"/>
    <p:sldId id="666" r:id="rId105"/>
    <p:sldId id="611" r:id="rId106"/>
    <p:sldId id="612" r:id="rId107"/>
    <p:sldId id="661" r:id="rId108"/>
    <p:sldId id="613" r:id="rId109"/>
    <p:sldId id="614" r:id="rId110"/>
    <p:sldId id="615" r:id="rId111"/>
    <p:sldId id="643" r:id="rId112"/>
    <p:sldId id="644" r:id="rId113"/>
    <p:sldId id="645" r:id="rId114"/>
    <p:sldId id="646" r:id="rId115"/>
    <p:sldId id="647" r:id="rId116"/>
    <p:sldId id="648" r:id="rId117"/>
    <p:sldId id="616" r:id="rId118"/>
    <p:sldId id="617" r:id="rId119"/>
    <p:sldId id="618" r:id="rId120"/>
    <p:sldId id="619" r:id="rId121"/>
    <p:sldId id="620" r:id="rId122"/>
    <p:sldId id="621" r:id="rId123"/>
    <p:sldId id="622" r:id="rId124"/>
    <p:sldId id="623" r:id="rId125"/>
    <p:sldId id="624" r:id="rId126"/>
    <p:sldId id="625" r:id="rId127"/>
    <p:sldId id="626" r:id="rId128"/>
    <p:sldId id="627" r:id="rId129"/>
    <p:sldId id="628" r:id="rId130"/>
    <p:sldId id="629" r:id="rId131"/>
    <p:sldId id="463" r:id="rId132"/>
    <p:sldId id="464" r:id="rId133"/>
    <p:sldId id="472" r:id="rId134"/>
    <p:sldId id="473" r:id="rId135"/>
    <p:sldId id="474" r:id="rId136"/>
    <p:sldId id="475" r:id="rId137"/>
    <p:sldId id="476" r:id="rId138"/>
    <p:sldId id="477" r:id="rId139"/>
    <p:sldId id="478" r:id="rId140"/>
    <p:sldId id="479" r:id="rId141"/>
    <p:sldId id="480" r:id="rId142"/>
    <p:sldId id="481" r:id="rId143"/>
    <p:sldId id="482" r:id="rId144"/>
    <p:sldId id="483" r:id="rId145"/>
    <p:sldId id="484" r:id="rId146"/>
    <p:sldId id="485" r:id="rId147"/>
    <p:sldId id="486" r:id="rId148"/>
    <p:sldId id="487" r:id="rId149"/>
    <p:sldId id="488" r:id="rId150"/>
    <p:sldId id="489" r:id="rId151"/>
    <p:sldId id="490" r:id="rId152"/>
    <p:sldId id="491" r:id="rId153"/>
    <p:sldId id="492" r:id="rId154"/>
    <p:sldId id="493" r:id="rId155"/>
    <p:sldId id="494" r:id="rId156"/>
    <p:sldId id="495" r:id="rId157"/>
    <p:sldId id="496" r:id="rId158"/>
    <p:sldId id="497" r:id="rId159"/>
    <p:sldId id="498" r:id="rId160"/>
    <p:sldId id="499" r:id="rId161"/>
    <p:sldId id="500" r:id="rId162"/>
    <p:sldId id="501" r:id="rId163"/>
    <p:sldId id="502" r:id="rId164"/>
    <p:sldId id="503" r:id="rId165"/>
    <p:sldId id="504" r:id="rId166"/>
    <p:sldId id="505" r:id="rId167"/>
    <p:sldId id="506" r:id="rId168"/>
    <p:sldId id="507" r:id="rId169"/>
    <p:sldId id="508" r:id="rId170"/>
    <p:sldId id="509" r:id="rId171"/>
    <p:sldId id="510" r:id="rId172"/>
    <p:sldId id="511" r:id="rId173"/>
    <p:sldId id="512" r:id="rId174"/>
    <p:sldId id="513" r:id="rId175"/>
    <p:sldId id="514" r:id="rId176"/>
    <p:sldId id="515" r:id="rId177"/>
    <p:sldId id="516" r:id="rId178"/>
    <p:sldId id="517" r:id="rId179"/>
    <p:sldId id="518" r:id="rId180"/>
    <p:sldId id="519" r:id="rId181"/>
    <p:sldId id="520" r:id="rId182"/>
    <p:sldId id="521" r:id="rId183"/>
    <p:sldId id="522" r:id="rId184"/>
    <p:sldId id="523" r:id="rId185"/>
    <p:sldId id="524" r:id="rId186"/>
    <p:sldId id="525" r:id="rId187"/>
    <p:sldId id="526" r:id="rId188"/>
    <p:sldId id="527" r:id="rId189"/>
    <p:sldId id="528" r:id="rId190"/>
    <p:sldId id="529" r:id="rId191"/>
    <p:sldId id="530" r:id="rId192"/>
    <p:sldId id="531" r:id="rId193"/>
    <p:sldId id="532" r:id="rId194"/>
    <p:sldId id="533" r:id="rId195"/>
    <p:sldId id="534" r:id="rId196"/>
    <p:sldId id="535" r:id="rId197"/>
    <p:sldId id="536" r:id="rId198"/>
    <p:sldId id="537" r:id="rId199"/>
    <p:sldId id="538" r:id="rId200"/>
    <p:sldId id="539" r:id="rId201"/>
    <p:sldId id="540" r:id="rId202"/>
    <p:sldId id="541" r:id="rId203"/>
    <p:sldId id="542" r:id="rId204"/>
    <p:sldId id="543" r:id="rId205"/>
    <p:sldId id="544" r:id="rId206"/>
    <p:sldId id="545" r:id="rId207"/>
    <p:sldId id="546" r:id="rId208"/>
    <p:sldId id="547" r:id="rId209"/>
    <p:sldId id="548" r:id="rId210"/>
    <p:sldId id="549" r:id="rId211"/>
    <p:sldId id="550" r:id="rId212"/>
    <p:sldId id="551" r:id="rId213"/>
    <p:sldId id="552" r:id="rId214"/>
    <p:sldId id="553" r:id="rId215"/>
    <p:sldId id="554" r:id="rId216"/>
    <p:sldId id="555" r:id="rId217"/>
    <p:sldId id="556" r:id="rId218"/>
    <p:sldId id="557" r:id="rId219"/>
    <p:sldId id="558" r:id="rId220"/>
    <p:sldId id="559" r:id="rId221"/>
    <p:sldId id="560" r:id="rId222"/>
    <p:sldId id="561" r:id="rId223"/>
    <p:sldId id="562" r:id="rId224"/>
    <p:sldId id="563" r:id="rId225"/>
    <p:sldId id="564" r:id="rId226"/>
    <p:sldId id="565" r:id="rId227"/>
    <p:sldId id="449" r:id="rId228"/>
    <p:sldId id="566" r:id="rId229"/>
    <p:sldId id="567" r:id="rId230"/>
    <p:sldId id="568" r:id="rId231"/>
    <p:sldId id="569" r:id="rId232"/>
    <p:sldId id="570" r:id="rId233"/>
    <p:sldId id="571" r:id="rId234"/>
    <p:sldId id="572" r:id="rId235"/>
    <p:sldId id="573" r:id="rId236"/>
    <p:sldId id="574" r:id="rId237"/>
    <p:sldId id="575" r:id="rId238"/>
    <p:sldId id="275" r:id="rId239"/>
  </p:sldIdLst>
  <p:sldSz cx="9144000" cy="6858000" type="screen4x3"/>
  <p:notesSz cx="6858000" cy="9144000"/>
  <p:custDataLst>
    <p:tags r:id="rId24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CCFF"/>
    <a:srgbClr val="E8EDFE"/>
    <a:srgbClr val="E2E9FE"/>
    <a:srgbClr val="ECF0FE"/>
    <a:srgbClr val="C4D1FC"/>
    <a:srgbClr val="BDDE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3" autoAdjust="0"/>
    <p:restoredTop sz="80024"/>
  </p:normalViewPr>
  <p:slideViewPr>
    <p:cSldViewPr showGuides="1">
      <p:cViewPr varScale="1">
        <p:scale>
          <a:sx n="65" d="100"/>
          <a:sy n="65" d="100"/>
        </p:scale>
        <p:origin x="77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3" Type="http://schemas.openxmlformats.org/officeDocument/2006/relationships/tags" Target="tags/tag1.xml"/><Relationship Id="rId242" Type="http://schemas.openxmlformats.org/officeDocument/2006/relationships/tableStyles" Target="tableStyles.xml"/><Relationship Id="rId241" Type="http://schemas.openxmlformats.org/officeDocument/2006/relationships/viewProps" Target="viewProps.xml"/><Relationship Id="rId240" Type="http://schemas.openxmlformats.org/officeDocument/2006/relationships/presProps" Target="presProps.xml"/><Relationship Id="rId24" Type="http://schemas.openxmlformats.org/officeDocument/2006/relationships/slide" Target="slides/slide21.xml"/><Relationship Id="rId239" Type="http://schemas.openxmlformats.org/officeDocument/2006/relationships/slide" Target="slides/slide236.xml"/><Relationship Id="rId238" Type="http://schemas.openxmlformats.org/officeDocument/2006/relationships/slide" Target="slides/slide235.xml"/><Relationship Id="rId237" Type="http://schemas.openxmlformats.org/officeDocument/2006/relationships/slide" Target="slides/slide234.xml"/><Relationship Id="rId236" Type="http://schemas.openxmlformats.org/officeDocument/2006/relationships/slide" Target="slides/slide233.xml"/><Relationship Id="rId235" Type="http://schemas.openxmlformats.org/officeDocument/2006/relationships/slide" Target="slides/slide232.xml"/><Relationship Id="rId234" Type="http://schemas.openxmlformats.org/officeDocument/2006/relationships/slide" Target="slides/slide231.xml"/><Relationship Id="rId233" Type="http://schemas.openxmlformats.org/officeDocument/2006/relationships/slide" Target="slides/slide230.xml"/><Relationship Id="rId232" Type="http://schemas.openxmlformats.org/officeDocument/2006/relationships/slide" Target="slides/slide229.xml"/><Relationship Id="rId231" Type="http://schemas.openxmlformats.org/officeDocument/2006/relationships/slide" Target="slides/slide228.xml"/><Relationship Id="rId230" Type="http://schemas.openxmlformats.org/officeDocument/2006/relationships/slide" Target="slides/slide227.xml"/><Relationship Id="rId23" Type="http://schemas.openxmlformats.org/officeDocument/2006/relationships/slide" Target="slides/slide20.xml"/><Relationship Id="rId229" Type="http://schemas.openxmlformats.org/officeDocument/2006/relationships/slide" Target="slides/slide226.xml"/><Relationship Id="rId228" Type="http://schemas.openxmlformats.org/officeDocument/2006/relationships/slide" Target="slides/slide225.xml"/><Relationship Id="rId227" Type="http://schemas.openxmlformats.org/officeDocument/2006/relationships/slide" Target="slides/slide224.xml"/><Relationship Id="rId226" Type="http://schemas.openxmlformats.org/officeDocument/2006/relationships/slide" Target="slides/slide223.xml"/><Relationship Id="rId225" Type="http://schemas.openxmlformats.org/officeDocument/2006/relationships/slide" Target="slides/slide222.xml"/><Relationship Id="rId224" Type="http://schemas.openxmlformats.org/officeDocument/2006/relationships/slide" Target="slides/slide221.xml"/><Relationship Id="rId223" Type="http://schemas.openxmlformats.org/officeDocument/2006/relationships/slide" Target="slides/slide220.xml"/><Relationship Id="rId222" Type="http://schemas.openxmlformats.org/officeDocument/2006/relationships/slide" Target="slides/slide219.xml"/><Relationship Id="rId221" Type="http://schemas.openxmlformats.org/officeDocument/2006/relationships/slide" Target="slides/slide218.xml"/><Relationship Id="rId220" Type="http://schemas.openxmlformats.org/officeDocument/2006/relationships/slide" Target="slides/slide217.xml"/><Relationship Id="rId22" Type="http://schemas.openxmlformats.org/officeDocument/2006/relationships/slide" Target="slides/slide19.xml"/><Relationship Id="rId219" Type="http://schemas.openxmlformats.org/officeDocument/2006/relationships/slide" Target="slides/slide216.xml"/><Relationship Id="rId218" Type="http://schemas.openxmlformats.org/officeDocument/2006/relationships/slide" Target="slides/slide215.xml"/><Relationship Id="rId217" Type="http://schemas.openxmlformats.org/officeDocument/2006/relationships/slide" Target="slides/slide214.xml"/><Relationship Id="rId216" Type="http://schemas.openxmlformats.org/officeDocument/2006/relationships/slide" Target="slides/slide213.xml"/><Relationship Id="rId215" Type="http://schemas.openxmlformats.org/officeDocument/2006/relationships/slide" Target="slides/slide212.xml"/><Relationship Id="rId214" Type="http://schemas.openxmlformats.org/officeDocument/2006/relationships/slide" Target="slides/slide211.xml"/><Relationship Id="rId213" Type="http://schemas.openxmlformats.org/officeDocument/2006/relationships/slide" Target="slides/slide210.xml"/><Relationship Id="rId212" Type="http://schemas.openxmlformats.org/officeDocument/2006/relationships/slide" Target="slides/slide209.xml"/><Relationship Id="rId211" Type="http://schemas.openxmlformats.org/officeDocument/2006/relationships/slide" Target="slides/slide208.xml"/><Relationship Id="rId210" Type="http://schemas.openxmlformats.org/officeDocument/2006/relationships/slide" Target="slides/slide207.xml"/><Relationship Id="rId21" Type="http://schemas.openxmlformats.org/officeDocument/2006/relationships/slide" Target="slides/slide18.xml"/><Relationship Id="rId209" Type="http://schemas.openxmlformats.org/officeDocument/2006/relationships/slide" Target="slides/slide206.xml"/><Relationship Id="rId208" Type="http://schemas.openxmlformats.org/officeDocument/2006/relationships/slide" Target="slides/slide205.xml"/><Relationship Id="rId207" Type="http://schemas.openxmlformats.org/officeDocument/2006/relationships/slide" Target="slides/slide204.xml"/><Relationship Id="rId206" Type="http://schemas.openxmlformats.org/officeDocument/2006/relationships/slide" Target="slides/slide203.xml"/><Relationship Id="rId205" Type="http://schemas.openxmlformats.org/officeDocument/2006/relationships/slide" Target="slides/slide202.xml"/><Relationship Id="rId204" Type="http://schemas.openxmlformats.org/officeDocument/2006/relationships/slide" Target="slides/slide201.xml"/><Relationship Id="rId203" Type="http://schemas.openxmlformats.org/officeDocument/2006/relationships/slide" Target="slides/slide200.xml"/><Relationship Id="rId202" Type="http://schemas.openxmlformats.org/officeDocument/2006/relationships/slide" Target="slides/slide199.xml"/><Relationship Id="rId201" Type="http://schemas.openxmlformats.org/officeDocument/2006/relationships/slide" Target="slides/slide198.xml"/><Relationship Id="rId200" Type="http://schemas.openxmlformats.org/officeDocument/2006/relationships/slide" Target="slides/slide197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9" Type="http://schemas.openxmlformats.org/officeDocument/2006/relationships/slide" Target="slides/slide196.xml"/><Relationship Id="rId198" Type="http://schemas.openxmlformats.org/officeDocument/2006/relationships/slide" Target="slides/slide195.xml"/><Relationship Id="rId197" Type="http://schemas.openxmlformats.org/officeDocument/2006/relationships/slide" Target="slides/slide194.xml"/><Relationship Id="rId196" Type="http://schemas.openxmlformats.org/officeDocument/2006/relationships/slide" Target="slides/slide193.xml"/><Relationship Id="rId195" Type="http://schemas.openxmlformats.org/officeDocument/2006/relationships/slide" Target="slides/slide192.xml"/><Relationship Id="rId194" Type="http://schemas.openxmlformats.org/officeDocument/2006/relationships/slide" Target="slides/slide191.xml"/><Relationship Id="rId193" Type="http://schemas.openxmlformats.org/officeDocument/2006/relationships/slide" Target="slides/slide190.xml"/><Relationship Id="rId192" Type="http://schemas.openxmlformats.org/officeDocument/2006/relationships/slide" Target="slides/slide189.xml"/><Relationship Id="rId191" Type="http://schemas.openxmlformats.org/officeDocument/2006/relationships/slide" Target="slides/slide188.xml"/><Relationship Id="rId190" Type="http://schemas.openxmlformats.org/officeDocument/2006/relationships/slide" Target="slides/slide187.xml"/><Relationship Id="rId19" Type="http://schemas.openxmlformats.org/officeDocument/2006/relationships/slide" Target="slides/slide16.xml"/><Relationship Id="rId189" Type="http://schemas.openxmlformats.org/officeDocument/2006/relationships/slide" Target="slides/slide186.xml"/><Relationship Id="rId188" Type="http://schemas.openxmlformats.org/officeDocument/2006/relationships/slide" Target="slides/slide185.xml"/><Relationship Id="rId187" Type="http://schemas.openxmlformats.org/officeDocument/2006/relationships/slide" Target="slides/slide184.xml"/><Relationship Id="rId186" Type="http://schemas.openxmlformats.org/officeDocument/2006/relationships/slide" Target="slides/slide183.xml"/><Relationship Id="rId185" Type="http://schemas.openxmlformats.org/officeDocument/2006/relationships/slide" Target="slides/slide182.xml"/><Relationship Id="rId184" Type="http://schemas.openxmlformats.org/officeDocument/2006/relationships/slide" Target="slides/slide181.xml"/><Relationship Id="rId183" Type="http://schemas.openxmlformats.org/officeDocument/2006/relationships/slide" Target="slides/slide180.xml"/><Relationship Id="rId182" Type="http://schemas.openxmlformats.org/officeDocument/2006/relationships/slide" Target="slides/slide179.xml"/><Relationship Id="rId181" Type="http://schemas.openxmlformats.org/officeDocument/2006/relationships/slide" Target="slides/slide178.xml"/><Relationship Id="rId180" Type="http://schemas.openxmlformats.org/officeDocument/2006/relationships/slide" Target="slides/slide177.xml"/><Relationship Id="rId18" Type="http://schemas.openxmlformats.org/officeDocument/2006/relationships/slide" Target="slides/slide15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4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3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A0B39C-FEB4-4FFE-BED5-C2BA12422EF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34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84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EBEE0D7E-E91E-4996-B959-1AB1DFB70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44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斐波那契数列</a:t>
            </a:r>
            <a:endParaRPr lang="zh-CN" altLang="en-US"/>
          </a:p>
        </p:txBody>
      </p:sp>
      <p:sp>
        <p:nvSpPr>
          <p:cNvPr id="18944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F01D8397-ADD9-4B3B-9586-8247E594B1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CCA8CE-652F-40C0-A998-F40DF04AA7E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/>
              <a:t>例题中含有排序的知识，因此放在这里比较合适。前文讲一讲冒泡排序和插入排序算法，为下学期链表做准备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3DEB01-5DB6-4226-B412-F9036C9A92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31"/>
          <p:cNvSpPr/>
          <p:nvPr/>
        </p:nvSpPr>
        <p:spPr bwMode="gray">
          <a:xfrm>
            <a:off x="0" y="3481388"/>
            <a:ext cx="9155113" cy="3376613"/>
          </a:xfrm>
          <a:custGeom>
            <a:avLst/>
            <a:gdLst>
              <a:gd name="T0" fmla="*/ 0 w 5767"/>
              <a:gd name="T1" fmla="*/ 2147483647 h 2127"/>
              <a:gd name="T2" fmla="*/ 2147483647 w 5767"/>
              <a:gd name="T3" fmla="*/ 0 h 2127"/>
              <a:gd name="T4" fmla="*/ 2147483647 w 5767"/>
              <a:gd name="T5" fmla="*/ 2147483647 h 2127"/>
              <a:gd name="T6" fmla="*/ 0 w 5767"/>
              <a:gd name="T7" fmla="*/ 2147483647 h 2127"/>
              <a:gd name="T8" fmla="*/ 0 w 5767"/>
              <a:gd name="T9" fmla="*/ 2147483647 h 2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7" h="2127">
                <a:moveTo>
                  <a:pt x="0" y="1760"/>
                </a:moveTo>
                <a:lnTo>
                  <a:pt x="5767" y="0"/>
                </a:lnTo>
                <a:lnTo>
                  <a:pt x="5760" y="2127"/>
                </a:lnTo>
                <a:lnTo>
                  <a:pt x="0" y="2127"/>
                </a:lnTo>
                <a:lnTo>
                  <a:pt x="0" y="176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32" descr="06"/>
          <p:cNvSpPr>
            <a:spLocks noChangeArrowheads="1"/>
          </p:cNvSpPr>
          <p:nvPr/>
        </p:nvSpPr>
        <p:spPr bwMode="gray">
          <a:xfrm rot="20584390">
            <a:off x="-141287" y="5310188"/>
            <a:ext cx="2541588" cy="573088"/>
          </a:xfrm>
          <a:prstGeom prst="parallelogram">
            <a:avLst>
              <a:gd name="adj" fmla="val 30059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AutoShape 33" descr="05"/>
          <p:cNvSpPr>
            <a:spLocks noChangeArrowheads="1"/>
          </p:cNvSpPr>
          <p:nvPr/>
        </p:nvSpPr>
        <p:spPr bwMode="gray">
          <a:xfrm rot="20584390">
            <a:off x="2154238" y="4610100"/>
            <a:ext cx="2546350" cy="573088"/>
          </a:xfrm>
          <a:prstGeom prst="parallelogram">
            <a:avLst>
              <a:gd name="adj" fmla="val 3011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AutoShape 34" descr="03"/>
          <p:cNvSpPr>
            <a:spLocks noChangeArrowheads="1"/>
          </p:cNvSpPr>
          <p:nvPr/>
        </p:nvSpPr>
        <p:spPr bwMode="gray">
          <a:xfrm rot="20584390">
            <a:off x="4448175" y="3908425"/>
            <a:ext cx="2552700" cy="573088"/>
          </a:xfrm>
          <a:prstGeom prst="parallelogram">
            <a:avLst>
              <a:gd name="adj" fmla="val 3019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AutoShape 35" descr="02"/>
          <p:cNvSpPr>
            <a:spLocks noChangeArrowheads="1"/>
          </p:cNvSpPr>
          <p:nvPr/>
        </p:nvSpPr>
        <p:spPr bwMode="gray">
          <a:xfrm rot="20584390">
            <a:off x="6751638" y="3206750"/>
            <a:ext cx="2533650" cy="573088"/>
          </a:xfrm>
          <a:prstGeom prst="parallelogram">
            <a:avLst>
              <a:gd name="adj" fmla="val 29965"/>
            </a:avLst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Picture 6" descr="imiweblogo4副本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8600" y="228600"/>
            <a:ext cx="1057275" cy="63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457200" y="2133600"/>
            <a:ext cx="54752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371600"/>
            <a:ext cx="8077200" cy="682625"/>
          </a:xfrm>
        </p:spPr>
        <p:txBody>
          <a:bodyPr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20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0767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295400"/>
            <a:ext cx="40767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28600"/>
            <a:ext cx="207645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7695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295400"/>
            <a:ext cx="83058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7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jpeg"/><Relationship Id="rId15" Type="http://schemas.openxmlformats.org/officeDocument/2006/relationships/image" Target="../media/image6.png"/><Relationship Id="rId14" Type="http://schemas.openxmlformats.org/officeDocument/2006/relationships/oleObject" Target="../embeddings/oleObject1.bin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5"/>
          <p:cNvGraphicFramePr>
            <a:graphicFrameLocks noChangeAspect="1"/>
          </p:cNvGraphicFramePr>
          <p:nvPr/>
        </p:nvGraphicFramePr>
        <p:xfrm>
          <a:off x="0" y="0"/>
          <a:ext cx="914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4" imgW="13004800" imgH="1612900" progId="Photoshop.Image.6">
                  <p:embed/>
                </p:oleObj>
              </mc:Choice>
              <mc:Fallback>
                <p:oleObj name="" r:id="rId14" imgW="13004800" imgH="16129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0" name="Freeform 36"/>
          <p:cNvSpPr/>
          <p:nvPr/>
        </p:nvSpPr>
        <p:spPr bwMode="ltGray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488" y="0"/>
              </a:cxn>
              <a:cxn ang="0">
                <a:pos x="564" y="617"/>
              </a:cxn>
              <a:cxn ang="0">
                <a:pos x="0" y="1734"/>
              </a:cxn>
              <a:cxn ang="0">
                <a:pos x="0" y="4320"/>
              </a:cxn>
              <a:cxn ang="0">
                <a:pos x="5760" y="4320"/>
              </a:cxn>
              <a:cxn ang="0">
                <a:pos x="5760" y="0"/>
              </a:cxn>
              <a:cxn ang="0">
                <a:pos x="1488" y="0"/>
              </a:cxn>
            </a:cxnLst>
            <a:rect l="0" t="0" r="r" b="b"/>
            <a:pathLst>
              <a:path w="5760" h="4320">
                <a:moveTo>
                  <a:pt x="1488" y="0"/>
                </a:moveTo>
                <a:cubicBezTo>
                  <a:pt x="1093" y="94"/>
                  <a:pt x="670" y="476"/>
                  <a:pt x="564" y="617"/>
                </a:cubicBezTo>
                <a:cubicBezTo>
                  <a:pt x="458" y="758"/>
                  <a:pt x="94" y="1117"/>
                  <a:pt x="0" y="1734"/>
                </a:cubicBez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1488" y="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alpha val="39000"/>
                </a:schemeClr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37"/>
          <p:cNvGrpSpPr/>
          <p:nvPr/>
        </p:nvGrpSpPr>
        <p:grpSpPr>
          <a:xfrm>
            <a:off x="0" y="914400"/>
            <a:ext cx="9144000" cy="350838"/>
            <a:chOff x="0" y="672"/>
            <a:chExt cx="5760" cy="221"/>
          </a:xfrm>
        </p:grpSpPr>
        <p:sp>
          <p:nvSpPr>
            <p:cNvPr id="2" name="AutoShape 38" descr="06"/>
            <p:cNvSpPr>
              <a:spLocks noChangeArrowheads="1"/>
            </p:cNvSpPr>
            <p:nvPr/>
          </p:nvSpPr>
          <p:spPr bwMode="gray">
            <a:xfrm>
              <a:off x="0" y="674"/>
              <a:ext cx="1443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16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AutoShape 39" descr="05"/>
            <p:cNvSpPr>
              <a:spLocks noChangeArrowheads="1"/>
            </p:cNvSpPr>
            <p:nvPr/>
          </p:nvSpPr>
          <p:spPr bwMode="gray">
            <a:xfrm>
              <a:off x="1434" y="674"/>
              <a:ext cx="1446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17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AutoShape 40" descr="03"/>
            <p:cNvSpPr>
              <a:spLocks noChangeArrowheads="1"/>
            </p:cNvSpPr>
            <p:nvPr/>
          </p:nvSpPr>
          <p:spPr bwMode="gray">
            <a:xfrm>
              <a:off x="2876" y="674"/>
              <a:ext cx="1449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18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AutoShape 41" descr="02"/>
            <p:cNvSpPr>
              <a:spLocks noChangeArrowheads="1"/>
            </p:cNvSpPr>
            <p:nvPr/>
          </p:nvSpPr>
          <p:spPr bwMode="gray">
            <a:xfrm>
              <a:off x="4322" y="672"/>
              <a:ext cx="1438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19" cstate="screen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3"/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8305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3" name="TextBox 13"/>
          <p:cNvSpPr txBox="1">
            <a:spLocks noChangeArrowheads="1"/>
          </p:cNvSpPr>
          <p:nvPr/>
        </p:nvSpPr>
        <p:spPr bwMode="auto">
          <a:xfrm>
            <a:off x="4419600" y="6400800"/>
            <a:ext cx="42672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anose="02020602080505020303" pitchFamily="18" charset="0"/>
                <a:ea typeface="华文楷体" panose="02010600040101010101" pitchFamily="2" charset="-122"/>
                <a:cs typeface="+mn-cs"/>
              </a:rPr>
              <a:t>Institute of Machine Intelligence, Nankai University</a:t>
            </a:r>
            <a:endParaRPr kumimoji="0" lang="zh-CN" altLang="en-US" sz="14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anose="02020602080505020303" pitchFamily="18" charset="0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033" name="Picture 6" descr="imiweblogo4副本2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152400"/>
            <a:ext cx="1057275" cy="635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image" Target="../media/image17.png"/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emf"/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image" Target="../media/image69.wmf"/><Relationship Id="rId7" Type="http://schemas.openxmlformats.org/officeDocument/2006/relationships/image" Target="../media/image68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5.wmf"/><Relationship Id="rId13" Type="http://schemas.openxmlformats.org/officeDocument/2006/relationships/image" Target="../media/image74.png"/><Relationship Id="rId12" Type="http://schemas.openxmlformats.org/officeDocument/2006/relationships/image" Target="../media/image73.wmf"/><Relationship Id="rId11" Type="http://schemas.openxmlformats.org/officeDocument/2006/relationships/image" Target="../media/image72.wmf"/><Relationship Id="rId10" Type="http://schemas.openxmlformats.org/officeDocument/2006/relationships/image" Target="../media/image71.wmf"/><Relationship Id="rId1" Type="http://schemas.openxmlformats.org/officeDocument/2006/relationships/image" Target="../media/image6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emf"/><Relationship Id="rId1" Type="http://schemas.openxmlformats.org/officeDocument/2006/relationships/image" Target="../media/image77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wmf"/><Relationship Id="rId1" Type="http://schemas.openxmlformats.org/officeDocument/2006/relationships/oleObject" Target="../embeddings/oleObject2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e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88.emf"/><Relationship Id="rId7" Type="http://schemas.openxmlformats.org/officeDocument/2006/relationships/image" Target="../media/image87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9.emf"/><Relationship Id="rId1" Type="http://schemas.openxmlformats.org/officeDocument/2006/relationships/image" Target="../media/image81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emf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emf"/><Relationship Id="rId8" Type="http://schemas.openxmlformats.org/officeDocument/2006/relationships/image" Target="../media/image98.emf"/><Relationship Id="rId7" Type="http://schemas.openxmlformats.org/officeDocument/2006/relationships/image" Target="../media/image97.e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00.emf"/><Relationship Id="rId10" Type="http://schemas.openxmlformats.org/officeDocument/2006/relationships/image" Target="../media/image74.png"/><Relationship Id="rId1" Type="http://schemas.openxmlformats.org/officeDocument/2006/relationships/image" Target="../media/image91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e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5.emf"/><Relationship Id="rId1" Type="http://schemas.openxmlformats.org/officeDocument/2006/relationships/image" Target="../media/image104.emf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6.emf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emf"/><Relationship Id="rId8" Type="http://schemas.openxmlformats.org/officeDocument/2006/relationships/image" Target="../media/image114.emf"/><Relationship Id="rId7" Type="http://schemas.openxmlformats.org/officeDocument/2006/relationships/image" Target="../media/image113.emf"/><Relationship Id="rId6" Type="http://schemas.openxmlformats.org/officeDocument/2006/relationships/image" Target="../media/image112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18.emf"/><Relationship Id="rId11" Type="http://schemas.openxmlformats.org/officeDocument/2006/relationships/image" Target="../media/image117.emf"/><Relationship Id="rId10" Type="http://schemas.openxmlformats.org/officeDocument/2006/relationships/image" Target="../media/image116.emf"/><Relationship Id="rId1" Type="http://schemas.openxmlformats.org/officeDocument/2006/relationships/image" Target="../media/image107.e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emf"/><Relationship Id="rId8" Type="http://schemas.openxmlformats.org/officeDocument/2006/relationships/image" Target="../media/image121.emf"/><Relationship Id="rId7" Type="http://schemas.openxmlformats.org/officeDocument/2006/relationships/image" Target="../media/image120.emf"/><Relationship Id="rId6" Type="http://schemas.openxmlformats.org/officeDocument/2006/relationships/image" Target="../media/image115.emf"/><Relationship Id="rId5" Type="http://schemas.openxmlformats.org/officeDocument/2006/relationships/image" Target="../media/image113.emf"/><Relationship Id="rId4" Type="http://schemas.openxmlformats.org/officeDocument/2006/relationships/image" Target="../media/image111.emf"/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9.png"/><Relationship Id="rId15" Type="http://schemas.openxmlformats.org/officeDocument/2006/relationships/image" Target="../media/image128.emf"/><Relationship Id="rId14" Type="http://schemas.openxmlformats.org/officeDocument/2006/relationships/image" Target="../media/image127.emf"/><Relationship Id="rId13" Type="http://schemas.openxmlformats.org/officeDocument/2006/relationships/image" Target="../media/image126.emf"/><Relationship Id="rId12" Type="http://schemas.openxmlformats.org/officeDocument/2006/relationships/image" Target="../media/image125.emf"/><Relationship Id="rId11" Type="http://schemas.openxmlformats.org/officeDocument/2006/relationships/image" Target="../media/image124.emf"/><Relationship Id="rId10" Type="http://schemas.openxmlformats.org/officeDocument/2006/relationships/image" Target="../media/image123.emf"/><Relationship Id="rId1" Type="http://schemas.openxmlformats.org/officeDocument/2006/relationships/image" Target="../media/image119.emf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0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3.emf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4.emf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5.png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2.png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3.png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4.png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5.png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jpe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8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9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5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5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52.png"/></Relationships>
</file>

<file path=ppt/slides/_rels/slide1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7.png"/><Relationship Id="rId2" Type="http://schemas.openxmlformats.org/officeDocument/2006/relationships/image" Target="../media/image154.png"/><Relationship Id="rId1" Type="http://schemas.openxmlformats.org/officeDocument/2006/relationships/image" Target="../media/image153.png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7.emf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9.png"/><Relationship Id="rId1" Type="http://schemas.openxmlformats.org/officeDocument/2006/relationships/image" Target="../media/image158.emf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0.emf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1.emf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2.emf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3.png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4.emf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5.emf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6858000" cy="682625"/>
          </a:xfrm>
        </p:spPr>
        <p:txBody>
          <a:bodyPr/>
          <a:lstStyle/>
          <a:p>
            <a:r>
              <a:rPr lang="zh-CN" altLang="en-US" sz="4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高级语言程序设计</a:t>
            </a:r>
            <a:endParaRPr lang="en-US" altLang="zh-CN" sz="4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219200" y="2362200"/>
            <a:ext cx="47160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许静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人工智能学院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机器智能所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19600" y="5181600"/>
            <a:ext cx="426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13920892351</a:t>
            </a:r>
            <a:endParaRPr lang="en-US" altLang="zh-CN" sz="2800" dirty="0"/>
          </a:p>
          <a:p>
            <a:r>
              <a:rPr lang="zh-CN" altLang="en-US" sz="2800" dirty="0"/>
              <a:t>人工智能学院南楼</a:t>
            </a:r>
            <a:r>
              <a:rPr lang="en-US" altLang="zh-CN" sz="2800" dirty="0"/>
              <a:t>401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339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14380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1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340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14377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8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1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>
                <a:solidFill>
                  <a:srgbClr val="C00000"/>
                </a:solidFill>
              </a:rPr>
              <a:t>C++</a:t>
            </a:r>
            <a:r>
              <a:rPr lang="zh-CN" altLang="en-US" sz="3200" b="1">
                <a:solidFill>
                  <a:srgbClr val="C00000"/>
                </a:solidFill>
              </a:rPr>
              <a:t>语句概述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4343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4344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分支语句</a:t>
            </a:r>
            <a:endParaRPr lang="en-US" altLang="zh-CN" sz="3200" b="1"/>
          </a:p>
        </p:txBody>
      </p:sp>
      <p:sp>
        <p:nvSpPr>
          <p:cNvPr id="14346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4347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14374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348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14371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9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循环语句</a:t>
            </a:r>
            <a:endParaRPr lang="en-US" altLang="zh-CN" sz="3200" b="1"/>
          </a:p>
        </p:txBody>
      </p:sp>
      <p:sp>
        <p:nvSpPr>
          <p:cNvPr id="14351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4352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无条件转向语句</a:t>
            </a:r>
            <a:endParaRPr lang="en-US" altLang="zh-CN" sz="3200" b="1"/>
          </a:p>
        </p:txBody>
      </p:sp>
      <p:sp>
        <p:nvSpPr>
          <p:cNvPr id="14354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4357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1436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358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14365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6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59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0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导出数据类型和数组</a:t>
            </a:r>
            <a:endParaRPr lang="en-US" altLang="zh-CN" sz="3200" b="1"/>
          </a:p>
        </p:txBody>
      </p:sp>
      <p:sp>
        <p:nvSpPr>
          <p:cNvPr id="14361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4362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3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结构类型与联合类型</a:t>
            </a:r>
            <a:endParaRPr lang="en-US" altLang="zh-CN" sz="3200" b="1"/>
          </a:p>
        </p:txBody>
      </p:sp>
      <p:sp>
        <p:nvSpPr>
          <p:cNvPr id="14364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语句的分类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00B050"/>
                </a:solidFill>
              </a:rPr>
              <a:t>说明语句（</a:t>
            </a:r>
            <a:r>
              <a:rPr lang="en-US" altLang="zh-CN">
                <a:solidFill>
                  <a:srgbClr val="00B050"/>
                </a:solidFill>
              </a:rPr>
              <a:t>Declaration statement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 lang="en-US" altLang="zh-CN">
              <a:solidFill>
                <a:srgbClr val="00B050"/>
              </a:solidFill>
            </a:endParaRPr>
          </a:p>
          <a:p>
            <a:pPr lvl="1" eaLnBrk="1" hangingPunct="1"/>
            <a:r>
              <a:rPr lang="zh-CN" altLang="en-US"/>
              <a:t>表达式语句（</a:t>
            </a:r>
            <a:r>
              <a:rPr lang="en-US" altLang="zh-CN"/>
              <a:t>Expression statement</a:t>
            </a:r>
            <a:r>
              <a:rPr lang="zh-CN" altLang="en-US"/>
              <a:t>）</a:t>
            </a:r>
            <a:endParaRPr lang="en-US" altLang="zh-CN"/>
          </a:p>
          <a:p>
            <a:pPr lvl="2" eaLnBrk="1" hangingPunct="1"/>
            <a:r>
              <a:rPr lang="zh-CN" altLang="en-US"/>
              <a:t>空语句（</a:t>
            </a:r>
            <a:r>
              <a:rPr lang="en-US" altLang="zh-CN"/>
              <a:t>Null statement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zh-CN" altLang="en-US"/>
              <a:t>控制语句</a:t>
            </a:r>
            <a:endParaRPr lang="en-US" altLang="zh-CN"/>
          </a:p>
          <a:p>
            <a:pPr lvl="2" eaLnBrk="1" hangingPunct="1"/>
            <a:r>
              <a:rPr lang="zh-CN" altLang="en-US"/>
              <a:t>分支语句（</a:t>
            </a:r>
            <a:r>
              <a:rPr lang="en-US" altLang="zh-CN"/>
              <a:t>Selection statement</a:t>
            </a:r>
            <a:r>
              <a:rPr lang="zh-CN" altLang="en-US"/>
              <a:t>）</a:t>
            </a:r>
            <a:endParaRPr lang="en-US" altLang="zh-CN"/>
          </a:p>
          <a:p>
            <a:pPr lvl="2" eaLnBrk="1" hangingPunct="1"/>
            <a:r>
              <a:rPr lang="zh-CN" altLang="en-US"/>
              <a:t>循环语句（</a:t>
            </a:r>
            <a:r>
              <a:rPr lang="en-US" altLang="zh-CN"/>
              <a:t>iteration statement</a:t>
            </a:r>
            <a:r>
              <a:rPr lang="zh-CN" altLang="en-US"/>
              <a:t>）</a:t>
            </a:r>
            <a:endParaRPr lang="en-US" altLang="zh-CN"/>
          </a:p>
          <a:p>
            <a:pPr lvl="2" eaLnBrk="1" hangingPunct="1"/>
            <a:r>
              <a:rPr lang="zh-CN" altLang="en-US"/>
              <a:t>无条件转向语句（</a:t>
            </a:r>
            <a:r>
              <a:rPr lang="en-US" altLang="zh-CN"/>
              <a:t>Jump statement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zh-CN" altLang="en-US"/>
              <a:t>复合语句（</a:t>
            </a:r>
            <a:r>
              <a:rPr lang="en-US" altLang="zh-CN"/>
              <a:t>Compound statement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zh-CN" altLang="en-US"/>
              <a:t>标签语句（</a:t>
            </a:r>
            <a:r>
              <a:rPr lang="en-US" altLang="zh-CN"/>
              <a:t>Labeled statement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表达式语句</a:t>
            </a:r>
            <a:endParaRPr lang="en-US" altLang="zh-CN"/>
          </a:p>
          <a:p>
            <a:pPr lvl="1" eaLnBrk="1" hangingPunct="1"/>
            <a:r>
              <a:rPr lang="zh-CN" altLang="en-US"/>
              <a:t>任意有效表达式都可以作为表达式语句</a:t>
            </a:r>
            <a:endParaRPr lang="en-US" altLang="zh-CN"/>
          </a:p>
          <a:p>
            <a:pPr lvl="2" eaLnBrk="1" hangingPunct="1"/>
            <a:r>
              <a:rPr lang="zh-CN" altLang="en-US"/>
              <a:t>在表达式后面加上“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zh-CN" altLang="en-US"/>
              <a:t>”</a:t>
            </a:r>
            <a:endParaRPr lang="en-US" altLang="zh-CN"/>
          </a:p>
          <a:p>
            <a:pPr lvl="1" eaLnBrk="1" hangingPunct="1"/>
            <a:r>
              <a:rPr lang="zh-CN" altLang="en-US"/>
              <a:t>当表达式语句中不包含表达式时，该语句是</a:t>
            </a:r>
            <a:r>
              <a:rPr lang="zh-CN" altLang="en-US">
                <a:solidFill>
                  <a:srgbClr val="C00000"/>
                </a:solidFill>
              </a:rPr>
              <a:t>空语句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什么也不做</a:t>
            </a:r>
            <a:endParaRPr lang="en-US" altLang="zh-CN"/>
          </a:p>
          <a:p>
            <a:pPr lvl="2" eaLnBrk="1" hangingPunct="1"/>
            <a:r>
              <a:rPr lang="zh-CN" altLang="en-US"/>
              <a:t>只由分割符“</a:t>
            </a:r>
            <a:r>
              <a:rPr lang="en-US" altLang="zh-CN">
                <a:latin typeface="Courier New" panose="02070309020205020404" pitchFamily="49" charset="0"/>
              </a:rPr>
              <a:t>;</a:t>
            </a:r>
            <a:r>
              <a:rPr lang="zh-CN" altLang="en-US"/>
              <a:t>”构成</a:t>
            </a:r>
            <a:endParaRPr lang="en-US" altLang="zh-CN"/>
          </a:p>
          <a:p>
            <a:pPr lvl="1" eaLnBrk="1" hangingPunct="1"/>
            <a:r>
              <a:rPr lang="zh-CN" altLang="en-US"/>
              <a:t>常见的表达式语句</a:t>
            </a:r>
            <a:endParaRPr lang="en-US" altLang="zh-CN"/>
          </a:p>
          <a:p>
            <a:pPr lvl="2" eaLnBrk="1" hangingPunct="1"/>
            <a:r>
              <a:rPr lang="zh-CN" altLang="en-US"/>
              <a:t>赋值表达式语句</a:t>
            </a:r>
            <a:endParaRPr lang="en-US" altLang="zh-CN"/>
          </a:p>
          <a:p>
            <a:pPr lvl="2" eaLnBrk="1" hangingPunct="1"/>
            <a:r>
              <a:rPr lang="zh-CN" altLang="en-US"/>
              <a:t>函数调用语句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控制语句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0033CC"/>
                </a:solidFill>
              </a:rPr>
              <a:t>用来控制程序中各语句执行的次序</a:t>
            </a:r>
            <a:endParaRPr lang="en-US" altLang="zh-CN">
              <a:solidFill>
                <a:srgbClr val="0033CC"/>
              </a:solidFill>
            </a:endParaRPr>
          </a:p>
          <a:p>
            <a:pPr lvl="1" eaLnBrk="1" hangingPunct="1"/>
            <a:r>
              <a:rPr lang="zh-CN" altLang="en-US">
                <a:solidFill>
                  <a:srgbClr val="0033CC"/>
                </a:solidFill>
              </a:rPr>
              <a:t>分类</a:t>
            </a:r>
            <a:endParaRPr lang="en-US" altLang="zh-CN">
              <a:solidFill>
                <a:srgbClr val="0033CC"/>
              </a:solidFill>
            </a:endParaRPr>
          </a:p>
          <a:p>
            <a:pPr lvl="2" eaLnBrk="1" hangingPunct="1"/>
            <a:r>
              <a:rPr lang="zh-CN" altLang="en-US"/>
              <a:t>条件控制语句</a:t>
            </a:r>
            <a:endParaRPr lang="en-US" altLang="zh-CN"/>
          </a:p>
          <a:p>
            <a:pPr lvl="3" eaLnBrk="1" hangingPunct="1"/>
            <a:r>
              <a:rPr lang="zh-CN" altLang="en-US"/>
              <a:t>分支语句</a:t>
            </a:r>
            <a:endParaRPr lang="en-US" altLang="zh-CN"/>
          </a:p>
          <a:p>
            <a:pPr lvl="3" eaLnBrk="1" hangingPunct="1"/>
            <a:r>
              <a:rPr lang="zh-CN" altLang="en-US"/>
              <a:t>循环语句</a:t>
            </a:r>
            <a:endParaRPr lang="en-US" altLang="zh-CN"/>
          </a:p>
          <a:p>
            <a:pPr lvl="2" eaLnBrk="1" hangingPunct="1"/>
            <a:r>
              <a:rPr lang="zh-CN" altLang="en-US"/>
              <a:t>无条件控制语句</a:t>
            </a:r>
            <a:endParaRPr lang="en-US" altLang="zh-CN"/>
          </a:p>
        </p:txBody>
      </p:sp>
      <p:pic>
        <p:nvPicPr>
          <p:cNvPr id="1741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57625" y="2357438"/>
            <a:ext cx="5176838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57200" y="1319361"/>
            <a:ext cx="8153400" cy="5133975"/>
          </a:xfrm>
        </p:spPr>
        <p:txBody>
          <a:bodyPr/>
          <a:lstStyle/>
          <a:p>
            <a:pPr eaLnBrk="1" hangingPunct="1"/>
            <a:r>
              <a:rPr lang="zh-CN" altLang="en-US" dirty="0"/>
              <a:t>控制语句的引入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4.1】</a:t>
            </a:r>
            <a:r>
              <a:rPr lang="zh-CN" altLang="en-US" dirty="0">
                <a:solidFill>
                  <a:srgbClr val="C00000"/>
                </a:solidFill>
              </a:rPr>
              <a:t>设计一个计算器程序，实现整数的加法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r>
              <a:rPr lang="zh-CN" altLang="en-US" dirty="0"/>
              <a:t>此程序功能很差</a:t>
            </a:r>
            <a:endParaRPr lang="en-US" altLang="zh-CN" dirty="0"/>
          </a:p>
        </p:txBody>
      </p:sp>
      <p:pic>
        <p:nvPicPr>
          <p:cNvPr id="184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6518" y="2636912"/>
            <a:ext cx="6430963" cy="324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控制语句的引入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为程序增加更多的功能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简化解决问题的过程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例如，在计算器程序中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通过使用开关语句增加运算的种类</a:t>
            </a:r>
            <a:endParaRPr lang="en-US" altLang="zh-CN" dirty="0"/>
          </a:p>
          <a:p>
            <a:pPr lvl="3" eaLnBrk="1" hangingPunct="1"/>
            <a:r>
              <a:rPr lang="zh-CN" altLang="en-US" dirty="0"/>
              <a:t>教材</a:t>
            </a:r>
            <a:r>
              <a:rPr lang="en-US" altLang="zh-CN" dirty="0"/>
              <a:t>P98</a:t>
            </a:r>
            <a:r>
              <a:rPr lang="zh-CN" altLang="en-US" dirty="0"/>
              <a:t>，</a:t>
            </a:r>
            <a:r>
              <a:rPr lang="en-US" altLang="zh-CN" dirty="0"/>
              <a:t>program4-4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通过使用循环语句控制程序的执行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179512" y="620688"/>
            <a:ext cx="4263331" cy="50405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#include&lt;iostream&gt;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using namespace std;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void main() {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int 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char op;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&lt;&lt;“first integer:”;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&gt;&gt;x;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&lt;&lt;“second integer:”;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&gt;&gt;y;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&lt;&lt;“operator(+,-,*,/):”;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&gt;&gt;op;</a:t>
            </a:r>
            <a:endParaRPr lang="zh-CN" altLang="en-US" sz="2000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>
          <a:xfrm>
            <a:off x="4283968" y="404664"/>
            <a:ext cx="4860032" cy="492090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Switch(op) {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</a:t>
            </a:r>
            <a:r>
              <a:rPr lang="en-US" altLang="zh-CN" sz="1800" dirty="0"/>
              <a:t>case’+’: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&lt;&lt;x&lt;&lt;“+”&lt;&lt;y&lt;&lt;“=“&lt;&lt;</a:t>
            </a:r>
            <a:r>
              <a:rPr lang="en-US" altLang="zh-CN" sz="1800" dirty="0" err="1"/>
              <a:t>x+y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break;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case’-’: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&lt;&lt;x&lt;&lt;“-”&lt;&lt;y&lt;&lt;“=“&lt;&lt;x-y;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break;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case’*’: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&lt;&lt;x&lt;&lt;“*”&lt;&lt;y&lt;&lt;“=“&lt;&lt;x*y;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break;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case’/’: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</a:t>
            </a:r>
            <a:r>
              <a:rPr lang="en-US" altLang="zh-CN" sz="1600" dirty="0"/>
              <a:t>if(y!=0){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&lt;&lt;x&lt;&lt;“/”&lt;&lt;y&lt;&lt;“=“&lt;&lt;x/y;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800" dirty="0"/>
              <a:t>      break;}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default: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&lt;&lt;“wrong!”;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}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复合语句</a:t>
            </a:r>
            <a:endParaRPr lang="en-US" altLang="zh-CN"/>
          </a:p>
          <a:p>
            <a:pPr lvl="1" eaLnBrk="1" hangingPunct="1"/>
            <a:r>
              <a:rPr lang="zh-CN" altLang="en-US"/>
              <a:t>也称为块语句、语句块（</a:t>
            </a:r>
            <a:r>
              <a:rPr lang="en-US" altLang="zh-CN"/>
              <a:t>block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zh-CN" altLang="en-US"/>
              <a:t>若干语句的组合</a:t>
            </a:r>
            <a:endParaRPr lang="en-US" altLang="zh-CN"/>
          </a:p>
          <a:p>
            <a:pPr lvl="1" eaLnBrk="1" hangingPunct="1"/>
            <a:r>
              <a:rPr lang="zh-CN" altLang="en-US"/>
              <a:t>由分割符“</a:t>
            </a:r>
            <a:r>
              <a:rPr lang="en-US" altLang="zh-CN"/>
              <a:t>{</a:t>
            </a:r>
            <a:r>
              <a:rPr lang="zh-CN" altLang="en-US"/>
              <a:t>”和“</a:t>
            </a:r>
            <a:r>
              <a:rPr lang="en-US" altLang="zh-CN"/>
              <a:t>}</a:t>
            </a:r>
            <a:r>
              <a:rPr lang="zh-CN" altLang="en-US"/>
              <a:t>”界定</a:t>
            </a:r>
            <a:endParaRPr lang="en-US" altLang="zh-CN"/>
          </a:p>
          <a:p>
            <a:pPr lvl="1" eaLnBrk="1" hangingPunct="1"/>
            <a:r>
              <a:rPr lang="zh-CN" altLang="en-US"/>
              <a:t>构成复合语句的语句</a:t>
            </a:r>
            <a:endParaRPr lang="en-US" altLang="zh-CN"/>
          </a:p>
          <a:p>
            <a:pPr lvl="2" eaLnBrk="1" hangingPunct="1"/>
            <a:r>
              <a:rPr lang="zh-CN" altLang="en-US"/>
              <a:t>说明语句</a:t>
            </a:r>
            <a:endParaRPr lang="en-US" altLang="zh-CN"/>
          </a:p>
          <a:p>
            <a:pPr lvl="2" eaLnBrk="1" hangingPunct="1"/>
            <a:r>
              <a:rPr lang="zh-CN" altLang="en-US"/>
              <a:t>表达式语句</a:t>
            </a:r>
            <a:endParaRPr lang="en-US" altLang="zh-CN"/>
          </a:p>
          <a:p>
            <a:pPr lvl="2" eaLnBrk="1" hangingPunct="1"/>
            <a:r>
              <a:rPr lang="zh-CN" altLang="en-US"/>
              <a:t>控制语句</a:t>
            </a:r>
            <a:endParaRPr lang="en-US" altLang="zh-CN"/>
          </a:p>
          <a:p>
            <a:pPr lvl="2" eaLnBrk="1" hangingPunct="1"/>
            <a:r>
              <a:rPr lang="zh-CN" altLang="en-US"/>
              <a:t>复合语句</a:t>
            </a:r>
            <a:endParaRPr lang="en-US" altLang="zh-CN"/>
          </a:p>
          <a:p>
            <a:pPr lvl="2" eaLnBrk="1" hangingPunct="1"/>
            <a:r>
              <a:rPr lang="zh-CN" altLang="en-US"/>
              <a:t>空语句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复合语句</a:t>
            </a:r>
            <a:endParaRPr lang="en-US" altLang="zh-CN"/>
          </a:p>
          <a:p>
            <a:pPr lvl="1" eaLnBrk="1" hangingPunct="1"/>
            <a:r>
              <a:rPr lang="zh-CN" altLang="en-US"/>
              <a:t>主要出现位置</a:t>
            </a:r>
            <a:endParaRPr lang="en-US" altLang="zh-CN"/>
          </a:p>
          <a:p>
            <a:pPr lvl="2" eaLnBrk="1" hangingPunct="1"/>
            <a:r>
              <a:rPr lang="zh-CN" altLang="en-US"/>
              <a:t>函数体</a:t>
            </a:r>
            <a:endParaRPr lang="en-US" altLang="zh-CN"/>
          </a:p>
          <a:p>
            <a:pPr lvl="2" eaLnBrk="1" hangingPunct="1"/>
            <a:r>
              <a:rPr lang="zh-CN" altLang="en-US"/>
              <a:t>循环体</a:t>
            </a:r>
            <a:endParaRPr lang="en-US" altLang="zh-CN"/>
          </a:p>
          <a:p>
            <a:pPr lvl="2" eaLnBrk="1" hangingPunct="1"/>
            <a:r>
              <a:rPr lang="zh-CN" altLang="en-US"/>
              <a:t>分支语句的分支</a:t>
            </a:r>
            <a:endParaRPr lang="en-US" altLang="zh-CN"/>
          </a:p>
          <a:p>
            <a:pPr lvl="2" eaLnBrk="1" hangingPunct="1"/>
            <a:r>
              <a:rPr lang="en-US" altLang="zh-CN"/>
              <a:t>……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语句概述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标签语句</a:t>
            </a:r>
            <a:endParaRPr lang="en-US" altLang="zh-CN"/>
          </a:p>
          <a:p>
            <a:pPr lvl="1" eaLnBrk="1" hangingPunct="1"/>
            <a:r>
              <a:rPr lang="zh-CN" altLang="en-US"/>
              <a:t>标签是为语句起的“名字”</a:t>
            </a:r>
            <a:endParaRPr lang="en-US" altLang="zh-CN"/>
          </a:p>
          <a:p>
            <a:pPr lvl="1" eaLnBrk="1" hangingPunct="1"/>
            <a:r>
              <a:rPr lang="zh-CN" altLang="en-US"/>
              <a:t>语句的标签为标识符</a:t>
            </a:r>
            <a:endParaRPr lang="en-US" altLang="zh-CN"/>
          </a:p>
          <a:p>
            <a:pPr lvl="1" eaLnBrk="1" hangingPunct="1"/>
            <a:r>
              <a:rPr lang="zh-CN" altLang="en-US"/>
              <a:t>标签加在语句所在程序代码行，用分割符“</a:t>
            </a:r>
            <a:r>
              <a:rPr lang="en-US" altLang="zh-CN"/>
              <a:t>:</a:t>
            </a:r>
            <a:r>
              <a:rPr lang="zh-CN" altLang="en-US"/>
              <a:t>”与标号指示的语句分开</a:t>
            </a:r>
            <a:endParaRPr lang="en-US" altLang="zh-CN"/>
          </a:p>
          <a:p>
            <a:pPr lvl="2" eaLnBrk="1" hangingPunct="1"/>
            <a:r>
              <a:rPr lang="en-US" altLang="zh-CN">
                <a:solidFill>
                  <a:srgbClr val="C00000"/>
                </a:solidFill>
              </a:rPr>
              <a:t>L</a:t>
            </a:r>
            <a:r>
              <a:rPr lang="en-US" altLang="zh-CN">
                <a:solidFill>
                  <a:srgbClr val="00B050"/>
                </a:solidFill>
              </a:rPr>
              <a:t>:</a:t>
            </a:r>
            <a:r>
              <a:rPr lang="en-US" altLang="zh-CN"/>
              <a:t> int a = 5;</a:t>
            </a:r>
            <a:endParaRPr lang="en-US" altLang="zh-CN"/>
          </a:p>
          <a:p>
            <a:pPr lvl="3" eaLnBrk="1" hangingPunct="1"/>
            <a:r>
              <a:rPr lang="en-US" altLang="zh-CN"/>
              <a:t>L</a:t>
            </a:r>
            <a:r>
              <a:rPr lang="zh-CN" altLang="en-US"/>
              <a:t>是语句的标号</a:t>
            </a:r>
            <a:endParaRPr lang="en-US" altLang="zh-CN"/>
          </a:p>
          <a:p>
            <a:pPr lvl="1" eaLnBrk="1" hangingPunct="1"/>
            <a:endParaRPr lang="en-US" altLang="zh-CN"/>
          </a:p>
          <a:p>
            <a:pPr lvl="3" eaLnBrk="1" hangingPunct="1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555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23596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7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3556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23593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3557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/>
              <a:t>C++</a:t>
            </a:r>
            <a:r>
              <a:rPr lang="zh-CN" altLang="en-US" sz="3200" b="1"/>
              <a:t>语句概述</a:t>
            </a:r>
            <a:endParaRPr lang="en-US" altLang="zh-CN" sz="3200" b="1"/>
          </a:p>
        </p:txBody>
      </p:sp>
      <p:sp>
        <p:nvSpPr>
          <p:cNvPr id="23559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23560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C00000"/>
                </a:solidFill>
              </a:rPr>
              <a:t>分支语句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23562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23563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23590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1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3564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23587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3565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循环语句</a:t>
            </a:r>
            <a:endParaRPr lang="en-US" altLang="zh-CN" sz="3200" b="1"/>
          </a:p>
        </p:txBody>
      </p:sp>
      <p:sp>
        <p:nvSpPr>
          <p:cNvPr id="23567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23568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无条件转向语句</a:t>
            </a:r>
            <a:endParaRPr lang="en-US" altLang="zh-CN" sz="3200" b="1"/>
          </a:p>
        </p:txBody>
      </p:sp>
      <p:sp>
        <p:nvSpPr>
          <p:cNvPr id="23570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23573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23584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3574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23581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3575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6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导出数据类型和数组</a:t>
            </a:r>
            <a:endParaRPr lang="en-US" altLang="zh-CN" sz="3200" b="1"/>
          </a:p>
        </p:txBody>
      </p:sp>
      <p:sp>
        <p:nvSpPr>
          <p:cNvPr id="23577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23578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9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结构类型与联合类型</a:t>
            </a:r>
            <a:endParaRPr lang="en-US" altLang="zh-CN" sz="3200" b="1"/>
          </a:p>
        </p:txBody>
      </p:sp>
      <p:sp>
        <p:nvSpPr>
          <p:cNvPr id="23580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4491831"/>
          </a:xfrm>
        </p:spPr>
        <p:txBody>
          <a:bodyPr/>
          <a:lstStyle/>
          <a:p>
            <a:r>
              <a:rPr lang="zh-CN" altLang="en-US" dirty="0"/>
              <a:t>程序的基本结构</a:t>
            </a:r>
            <a:endParaRPr lang="en-US" altLang="zh-CN" dirty="0"/>
          </a:p>
          <a:p>
            <a:pPr lvl="1"/>
            <a:r>
              <a:rPr lang="zh-CN" altLang="en-US" dirty="0"/>
              <a:t>顺序结构</a:t>
            </a:r>
            <a:endParaRPr lang="en-US" altLang="zh-CN" dirty="0"/>
          </a:p>
          <a:p>
            <a:pPr lvl="1"/>
            <a:r>
              <a:rPr lang="zh-CN" altLang="en-US" dirty="0"/>
              <a:t>分支结构</a:t>
            </a:r>
            <a:endParaRPr lang="en-US" altLang="zh-CN" dirty="0"/>
          </a:p>
          <a:p>
            <a:pPr lvl="1"/>
            <a:r>
              <a:rPr lang="zh-CN" altLang="en-US" dirty="0"/>
              <a:t>循环结构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任何复杂结构都是由这几种结构组成的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递归结构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1363663" y="3495675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kumimoji="1" lang="zh-CN" altLang="en-US" sz="1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400" u="sng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6083" name="Group 3"/>
          <p:cNvGrpSpPr/>
          <p:nvPr/>
        </p:nvGrpSpPr>
        <p:grpSpPr bwMode="auto">
          <a:xfrm>
            <a:off x="609600" y="304800"/>
            <a:ext cx="7993063" cy="6165850"/>
            <a:chOff x="417" y="0"/>
            <a:chExt cx="5343" cy="4309"/>
          </a:xfrm>
        </p:grpSpPr>
        <p:pic>
          <p:nvPicPr>
            <p:cNvPr id="46085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0"/>
              <a:ext cx="5280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8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" y="2005"/>
              <a:ext cx="5343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1225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4582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en-US" altLang="zh-CN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24579" name="AutoShape 3"/>
          <p:cNvSpPr>
            <a:spLocks noChangeArrowheads="1"/>
          </p:cNvSpPr>
          <p:nvPr/>
        </p:nvSpPr>
        <p:spPr bwMode="auto">
          <a:xfrm>
            <a:off x="55626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anose="020B0604030504040204" pitchFamily="34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715000" y="3429000"/>
            <a:ext cx="2057400" cy="170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692AA2"/>
                </a:solidFill>
                <a:latin typeface="楷体_GB2312" pitchFamily="49" charset="-122"/>
                <a:ea typeface="楷体_GB2312" pitchFamily="49" charset="-122"/>
              </a:rPr>
              <a:t>开关语句</a:t>
            </a:r>
            <a:endParaRPr lang="en-US" altLang="zh-CN" sz="2400" b="1">
              <a:solidFill>
                <a:srgbClr val="692AA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switch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case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default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11430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anose="020B0604030504040204" pitchFamily="34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238250" y="3390900"/>
            <a:ext cx="2038350" cy="2538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692AA2"/>
                </a:solidFill>
                <a:latin typeface="楷体_GB2312" pitchFamily="49" charset="-122"/>
                <a:ea typeface="楷体_GB2312" pitchFamily="49" charset="-122"/>
              </a:rPr>
              <a:t>条件语句</a:t>
            </a:r>
            <a:endParaRPr lang="zh-CN" altLang="en-US" sz="2400" b="1">
              <a:solidFill>
                <a:srgbClr val="692AA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if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语句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if…else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语句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上述两种语句都可以再嵌套条件语句</a:t>
            </a:r>
            <a:endParaRPr lang="en-US" altLang="zh-CN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6" name="Freeform 8"/>
          <p:cNvSpPr/>
          <p:nvPr/>
        </p:nvSpPr>
        <p:spPr bwMode="gray">
          <a:xfrm>
            <a:off x="3222625" y="3179763"/>
            <a:ext cx="9032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24584" name="AutoShape 9"/>
          <p:cNvSpPr>
            <a:spLocks noChangeAspect="1" noChangeArrowheads="1" noTextEdit="1"/>
          </p:cNvSpPr>
          <p:nvPr/>
        </p:nvSpPr>
        <p:spPr bwMode="gray">
          <a:xfrm flipH="1">
            <a:off x="4868863" y="3176588"/>
            <a:ext cx="909637" cy="1244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8" name="Freeform 10"/>
          <p:cNvSpPr/>
          <p:nvPr/>
        </p:nvSpPr>
        <p:spPr bwMode="gray">
          <a:xfrm flipH="1">
            <a:off x="4875213" y="3179763"/>
            <a:ext cx="903287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grpSp>
        <p:nvGrpSpPr>
          <p:cNvPr id="24586" name="Group 11"/>
          <p:cNvGrpSpPr/>
          <p:nvPr/>
        </p:nvGrpSpPr>
        <p:grpSpPr bwMode="auto">
          <a:xfrm>
            <a:off x="3048000" y="1552575"/>
            <a:ext cx="2998788" cy="1601788"/>
            <a:chOff x="1997" y="1314"/>
            <a:chExt cx="1889" cy="1009"/>
          </a:xfrm>
        </p:grpSpPr>
        <p:grpSp>
          <p:nvGrpSpPr>
            <p:cNvPr id="24590" name="Group 12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43021" name="Oval 13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3022" name="Oval 14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43023" name="Oval 15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4" name="Oval 16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5" name="Oval 17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6" name="Oval 18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3714750" y="1824038"/>
            <a:ext cx="1627188" cy="52387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分支语句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由关键字</a:t>
            </a:r>
            <a:r>
              <a:rPr lang="en-US" altLang="zh-CN"/>
              <a:t>if</a:t>
            </a:r>
            <a:r>
              <a:rPr lang="zh-CN" altLang="en-US"/>
              <a:t>和</a:t>
            </a:r>
            <a:r>
              <a:rPr lang="en-US" altLang="zh-CN"/>
              <a:t>else</a:t>
            </a:r>
            <a:r>
              <a:rPr lang="zh-CN" altLang="en-US"/>
              <a:t>组成</a:t>
            </a:r>
            <a:endParaRPr lang="en-US" altLang="zh-CN"/>
          </a:p>
          <a:p>
            <a:pPr lvl="2" eaLnBrk="1" hangingPunct="1"/>
            <a:r>
              <a:rPr lang="en-US" altLang="zh-CN">
                <a:solidFill>
                  <a:srgbClr val="C00000"/>
                </a:solidFill>
              </a:rPr>
              <a:t>if</a:t>
            </a:r>
            <a:r>
              <a:rPr lang="en-US" altLang="zh-CN">
                <a:solidFill>
                  <a:srgbClr val="00B050"/>
                </a:solidFill>
              </a:rPr>
              <a:t>(</a:t>
            </a:r>
            <a:r>
              <a:rPr lang="en-US" altLang="zh-CN"/>
              <a:t>&lt;</a:t>
            </a:r>
            <a:r>
              <a:rPr lang="zh-CN" altLang="en-US"/>
              <a:t>表达式</a:t>
            </a:r>
            <a:r>
              <a:rPr lang="en-US" altLang="zh-CN"/>
              <a:t>E&gt;</a:t>
            </a:r>
            <a:r>
              <a:rPr lang="en-US" altLang="zh-CN">
                <a:solidFill>
                  <a:srgbClr val="00B050"/>
                </a:solidFill>
              </a:rPr>
              <a:t>)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{</a:t>
            </a:r>
            <a:r>
              <a:rPr lang="en-US" altLang="zh-CN"/>
              <a:t>&lt;</a:t>
            </a:r>
            <a:r>
              <a:rPr lang="zh-CN" altLang="en-US"/>
              <a:t>语句</a:t>
            </a:r>
            <a:r>
              <a:rPr lang="en-US" altLang="zh-CN"/>
              <a:t>S&gt;</a:t>
            </a:r>
            <a:r>
              <a:rPr lang="en-US" altLang="zh-CN">
                <a:solidFill>
                  <a:srgbClr val="00B050"/>
                </a:solidFill>
              </a:rPr>
              <a:t>}</a:t>
            </a:r>
            <a:endParaRPr lang="en-US" altLang="zh-CN">
              <a:solidFill>
                <a:srgbClr val="00B050"/>
              </a:solidFill>
            </a:endParaRPr>
          </a:p>
          <a:p>
            <a:pPr lvl="2" eaLnBrk="1" hangingPunct="1"/>
            <a:r>
              <a:rPr lang="en-US" altLang="zh-CN">
                <a:solidFill>
                  <a:srgbClr val="C00000"/>
                </a:solidFill>
              </a:rPr>
              <a:t>if</a:t>
            </a:r>
            <a:r>
              <a:rPr lang="en-US" altLang="zh-CN">
                <a:solidFill>
                  <a:srgbClr val="00B050"/>
                </a:solidFill>
              </a:rPr>
              <a:t>(</a:t>
            </a:r>
            <a:r>
              <a:rPr lang="en-US" altLang="zh-CN"/>
              <a:t>&lt;</a:t>
            </a:r>
            <a:r>
              <a:rPr lang="zh-CN" altLang="en-US"/>
              <a:t>表达式</a:t>
            </a:r>
            <a:r>
              <a:rPr lang="en-US" altLang="zh-CN"/>
              <a:t>E&gt;</a:t>
            </a:r>
            <a:r>
              <a:rPr lang="en-US" altLang="zh-CN">
                <a:solidFill>
                  <a:srgbClr val="00B050"/>
                </a:solidFill>
              </a:rPr>
              <a:t>)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{</a:t>
            </a:r>
            <a:r>
              <a:rPr lang="en-US" altLang="zh-CN"/>
              <a:t>&lt;</a:t>
            </a:r>
            <a:r>
              <a:rPr lang="zh-CN" altLang="en-US"/>
              <a:t>语句</a:t>
            </a:r>
            <a:r>
              <a:rPr lang="en-US" altLang="zh-CN"/>
              <a:t>S1&gt;</a:t>
            </a:r>
            <a:r>
              <a:rPr lang="en-US" altLang="zh-CN">
                <a:solidFill>
                  <a:srgbClr val="00B050"/>
                </a:solidFill>
              </a:rPr>
              <a:t>}</a:t>
            </a:r>
            <a:r>
              <a:rPr lang="en-US" altLang="zh-CN"/>
              <a:t> </a:t>
            </a:r>
            <a:r>
              <a:rPr lang="en-US" altLang="zh-CN">
                <a:solidFill>
                  <a:srgbClr val="C00000"/>
                </a:solidFill>
              </a:rPr>
              <a:t>else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{</a:t>
            </a:r>
            <a:r>
              <a:rPr lang="en-US" altLang="zh-CN"/>
              <a:t>&lt;</a:t>
            </a:r>
            <a:r>
              <a:rPr lang="zh-CN" altLang="en-US"/>
              <a:t>语句</a:t>
            </a:r>
            <a:r>
              <a:rPr lang="en-US" altLang="zh-CN"/>
              <a:t>S2&gt;</a:t>
            </a:r>
            <a:r>
              <a:rPr lang="en-US" altLang="zh-CN">
                <a:solidFill>
                  <a:srgbClr val="00B050"/>
                </a:solidFill>
              </a:rPr>
              <a:t>}</a:t>
            </a:r>
            <a:endParaRPr lang="en-US" altLang="zh-CN">
              <a:solidFill>
                <a:srgbClr val="00B050"/>
              </a:solidFill>
            </a:endParaRPr>
          </a:p>
          <a:p>
            <a:pPr lvl="2" eaLnBrk="1" hangingPunct="1"/>
            <a:r>
              <a:rPr lang="zh-CN" altLang="en-US"/>
              <a:t>表达式</a:t>
            </a:r>
            <a:r>
              <a:rPr lang="en-US" altLang="zh-CN"/>
              <a:t>E</a:t>
            </a:r>
            <a:endParaRPr lang="en-US" altLang="zh-CN"/>
          </a:p>
          <a:p>
            <a:pPr lvl="3" eaLnBrk="1" hangingPunct="1"/>
            <a:r>
              <a:rPr lang="zh-CN" altLang="en-US"/>
              <a:t>其值能够等价为逻辑值的任何表达式</a:t>
            </a:r>
            <a:endParaRPr lang="en-US" altLang="zh-CN"/>
          </a:p>
          <a:p>
            <a:pPr lvl="2" eaLnBrk="1" hangingPunct="1"/>
            <a:r>
              <a:rPr lang="zh-CN" altLang="en-US"/>
              <a:t>语句</a:t>
            </a:r>
            <a:r>
              <a:rPr lang="en-US" altLang="zh-CN"/>
              <a:t>S</a:t>
            </a:r>
            <a:r>
              <a:rPr lang="zh-CN" altLang="en-US"/>
              <a:t>、</a:t>
            </a:r>
            <a:r>
              <a:rPr lang="en-US" altLang="zh-CN"/>
              <a:t>S1</a:t>
            </a:r>
            <a:r>
              <a:rPr lang="zh-CN" altLang="en-US"/>
              <a:t>和</a:t>
            </a:r>
            <a:r>
              <a:rPr lang="en-US" altLang="zh-CN"/>
              <a:t>S2</a:t>
            </a:r>
            <a:endParaRPr lang="en-US" altLang="zh-CN"/>
          </a:p>
          <a:p>
            <a:pPr lvl="3" eaLnBrk="1" hangingPunct="1"/>
            <a:r>
              <a:rPr lang="zh-CN" altLang="en-US"/>
              <a:t>任何类型的语句</a:t>
            </a:r>
            <a:endParaRPr lang="en-US" altLang="zh-CN"/>
          </a:p>
          <a:p>
            <a:pPr lvl="2" eaLnBrk="1" hangingPunct="1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76350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执行流程</a:t>
            </a:r>
            <a:endParaRPr lang="zh-CN" altLang="en-US"/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46077" y="3027363"/>
            <a:ext cx="27749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5202" y="3000375"/>
            <a:ext cx="16668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6139" y="3454400"/>
            <a:ext cx="13477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箭头1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0577" y="2786063"/>
            <a:ext cx="2286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4639" y="4214813"/>
            <a:ext cx="1347788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 descr="箭头2.pn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552" y="2786063"/>
            <a:ext cx="2049462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44"/>
          <p:cNvGrpSpPr/>
          <p:nvPr/>
        </p:nvGrpSpPr>
        <p:grpSpPr>
          <a:xfrm>
            <a:off x="6588224" y="2996952"/>
            <a:ext cx="1968358" cy="2376264"/>
            <a:chOff x="6928284" y="2708920"/>
            <a:chExt cx="1968358" cy="2376264"/>
          </a:xfrm>
        </p:grpSpPr>
        <p:sp>
          <p:nvSpPr>
            <p:cNvPr id="19" name="流程图: 决策 7"/>
            <p:cNvSpPr/>
            <p:nvPr/>
          </p:nvSpPr>
          <p:spPr>
            <a:xfrm>
              <a:off x="6928284" y="3018438"/>
              <a:ext cx="1728192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164288" y="3933056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164288" y="472514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直接箭头连接符 10"/>
            <p:cNvCxnSpPr>
              <a:endCxn id="19" idx="0"/>
            </p:cNvCxnSpPr>
            <p:nvPr/>
          </p:nvCxnSpPr>
          <p:spPr>
            <a:xfrm>
              <a:off x="7792380" y="2708920"/>
              <a:ext cx="0" cy="309518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11"/>
            <p:cNvCxnSpPr>
              <a:stCxn id="19" idx="2"/>
              <a:endCxn id="20" idx="0"/>
            </p:cNvCxnSpPr>
            <p:nvPr/>
          </p:nvCxnSpPr>
          <p:spPr>
            <a:xfrm>
              <a:off x="7792380" y="3594502"/>
              <a:ext cx="0" cy="33855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12"/>
            <p:cNvCxnSpPr>
              <a:stCxn id="20" idx="2"/>
              <a:endCxn id="21" idx="0"/>
            </p:cNvCxnSpPr>
            <p:nvPr/>
          </p:nvCxnSpPr>
          <p:spPr>
            <a:xfrm>
              <a:off x="7792380" y="4293096"/>
              <a:ext cx="0" cy="432048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>
              <a:stCxn id="19" idx="3"/>
              <a:endCxn id="21" idx="0"/>
            </p:cNvCxnSpPr>
            <p:nvPr/>
          </p:nvCxnSpPr>
          <p:spPr>
            <a:xfrm flipH="1">
              <a:off x="7792380" y="3306470"/>
              <a:ext cx="864096" cy="1418674"/>
            </a:xfrm>
            <a:prstGeom prst="bentConnector4">
              <a:avLst>
                <a:gd name="adj1" fmla="val -26455"/>
                <a:gd name="adj2" fmla="val 8197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7768250" y="355327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32440" y="299782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4.2】</a:t>
            </a:r>
            <a:r>
              <a:rPr lang="zh-CN" altLang="en-US">
                <a:solidFill>
                  <a:srgbClr val="C00000"/>
                </a:solidFill>
              </a:rPr>
              <a:t>如果输入字符为字母，则输出“</a:t>
            </a:r>
            <a:r>
              <a:rPr lang="en-US" altLang="zh-CN">
                <a:solidFill>
                  <a:srgbClr val="C00000"/>
                </a:solidFill>
              </a:rPr>
              <a:t>YES”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276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5813" y="2786063"/>
            <a:ext cx="7500937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04913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执行流程</a:t>
            </a:r>
            <a:endParaRPr lang="zh-CN" altLang="en-US"/>
          </a:p>
        </p:txBody>
      </p:sp>
      <p:pic>
        <p:nvPicPr>
          <p:cNvPr id="286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12318" y="2643188"/>
            <a:ext cx="27749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5255" y="2643188"/>
            <a:ext cx="166687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图片 13" descr="箭头3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9693" y="2373313"/>
            <a:ext cx="1955800" cy="98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箭头4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2428875"/>
            <a:ext cx="212090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12380" y="4187825"/>
            <a:ext cx="14795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40943" y="3044825"/>
            <a:ext cx="14795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图片 17" descr="箭头5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12255" y="3214688"/>
            <a:ext cx="939800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图片 18" descr="箭头6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55318" y="4357688"/>
            <a:ext cx="121443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701" name="组 28700"/>
          <p:cNvGrpSpPr/>
          <p:nvPr/>
        </p:nvGrpSpPr>
        <p:grpSpPr>
          <a:xfrm>
            <a:off x="6084168" y="2492896"/>
            <a:ext cx="2932348" cy="3600400"/>
            <a:chOff x="6084168" y="2492896"/>
            <a:chExt cx="2932348" cy="3600400"/>
          </a:xfrm>
        </p:grpSpPr>
        <p:grpSp>
          <p:nvGrpSpPr>
            <p:cNvPr id="28699" name="组 28698"/>
            <p:cNvGrpSpPr/>
            <p:nvPr/>
          </p:nvGrpSpPr>
          <p:grpSpPr>
            <a:xfrm>
              <a:off x="6084168" y="2492896"/>
              <a:ext cx="2932348" cy="3240360"/>
              <a:chOff x="6084168" y="2492896"/>
              <a:chExt cx="2932348" cy="3240360"/>
            </a:xfrm>
          </p:grpSpPr>
          <p:grpSp>
            <p:nvGrpSpPr>
              <p:cNvPr id="13" name="组合 44"/>
              <p:cNvGrpSpPr/>
              <p:nvPr/>
            </p:nvGrpSpPr>
            <p:grpSpPr>
              <a:xfrm>
                <a:off x="6084168" y="2492896"/>
                <a:ext cx="2932348" cy="2088232"/>
                <a:chOff x="6136196" y="2348880"/>
                <a:chExt cx="2932348" cy="2088232"/>
              </a:xfrm>
            </p:grpSpPr>
            <p:sp>
              <p:nvSpPr>
                <p:cNvPr id="23" name="流程图: 决策 7"/>
                <p:cNvSpPr/>
                <p:nvPr/>
              </p:nvSpPr>
              <p:spPr>
                <a:xfrm>
                  <a:off x="6784268" y="3018438"/>
                  <a:ext cx="1584176" cy="576064"/>
                </a:xfrm>
                <a:prstGeom prst="flowChartDecision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rgbClr val="000000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  <a:cs typeface="Courier New" panose="02070309020205020404" pitchFamily="49" charset="0"/>
                    </a:rPr>
                    <a:t>表达式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E</a:t>
                  </a:r>
                  <a:endParaRPr lang="zh-CN" altLang="en-US" sz="16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6136196" y="4077072"/>
                  <a:ext cx="1008112" cy="3600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rIns="36000"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rgbClr val="000000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  <a:cs typeface="Courier New" panose="02070309020205020404" pitchFamily="49" charset="0"/>
                    </a:rPr>
                    <a:t>语句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S1</a:t>
                  </a:r>
                  <a:endParaRPr lang="zh-CN" altLang="en-US" sz="16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8152420" y="4077072"/>
                  <a:ext cx="916124" cy="3600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rIns="36000"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rgbClr val="000000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  <a:cs typeface="Courier New" panose="02070309020205020404" pitchFamily="49" charset="0"/>
                    </a:rPr>
                    <a:t>语句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S2</a:t>
                  </a:r>
                  <a:endParaRPr lang="zh-CN" altLang="en-US" sz="16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26" name="直接箭头连接符 10"/>
                <p:cNvCxnSpPr/>
                <p:nvPr/>
              </p:nvCxnSpPr>
              <p:spPr>
                <a:xfrm>
                  <a:off x="7576356" y="2348880"/>
                  <a:ext cx="0" cy="669558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肘形连接符 28"/>
                <p:cNvCxnSpPr>
                  <a:stCxn id="23" idx="1"/>
                  <a:endCxn id="24" idx="0"/>
                </p:cNvCxnSpPr>
                <p:nvPr/>
              </p:nvCxnSpPr>
              <p:spPr>
                <a:xfrm rot="10800000" flipV="1">
                  <a:off x="6640252" y="3306470"/>
                  <a:ext cx="144016" cy="770602"/>
                </a:xfrm>
                <a:prstGeom prst="bentConnector2">
                  <a:avLst/>
                </a:prstGeom>
                <a:ln w="12700">
                  <a:solidFill>
                    <a:srgbClr val="0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肘形连接符 29"/>
                <p:cNvCxnSpPr>
                  <a:stCxn id="23" idx="3"/>
                  <a:endCxn id="25" idx="0"/>
                </p:cNvCxnSpPr>
                <p:nvPr/>
              </p:nvCxnSpPr>
              <p:spPr>
                <a:xfrm>
                  <a:off x="8368444" y="3306470"/>
                  <a:ext cx="242038" cy="770602"/>
                </a:xfrm>
                <a:prstGeom prst="bentConnector2">
                  <a:avLst/>
                </a:prstGeom>
                <a:ln w="12700">
                  <a:solidFill>
                    <a:srgbClr val="0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文本框 30"/>
                <p:cNvSpPr txBox="1"/>
                <p:nvPr/>
              </p:nvSpPr>
              <p:spPr>
                <a:xfrm>
                  <a:off x="6564082" y="2996952"/>
                  <a:ext cx="3642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rgbClr val="000000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真</a:t>
                  </a:r>
                  <a:endParaRPr lang="zh-CN" altLang="en-US" sz="14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8292274" y="3049215"/>
                  <a:ext cx="3642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rgbClr val="000000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假</a:t>
                  </a:r>
                  <a:endParaRPr lang="zh-CN" altLang="en-US" sz="14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50" name="肘形连接符 49"/>
              <p:cNvCxnSpPr>
                <a:stCxn id="24" idx="2"/>
              </p:cNvCxnSpPr>
              <p:nvPr/>
            </p:nvCxnSpPr>
            <p:spPr>
              <a:xfrm rot="16200000" flipH="1">
                <a:off x="6768244" y="4401108"/>
                <a:ext cx="576064" cy="936104"/>
              </a:xfrm>
              <a:prstGeom prst="bentConnector2">
                <a:avLst/>
              </a:prstGeom>
              <a:ln w="127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肘形连接符 54"/>
              <p:cNvCxnSpPr>
                <a:stCxn id="25" idx="2"/>
              </p:cNvCxnSpPr>
              <p:nvPr/>
            </p:nvCxnSpPr>
            <p:spPr>
              <a:xfrm rot="5400000">
                <a:off x="7465327" y="4640129"/>
                <a:ext cx="1152128" cy="1034126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矩形 62"/>
            <p:cNvSpPr/>
            <p:nvPr/>
          </p:nvSpPr>
          <p:spPr>
            <a:xfrm>
              <a:off x="7020272" y="5733256"/>
              <a:ext cx="1008112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347788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4.3】</a:t>
            </a:r>
            <a:r>
              <a:rPr lang="zh-CN" altLang="en-US">
                <a:solidFill>
                  <a:srgbClr val="C00000"/>
                </a:solidFill>
              </a:rPr>
              <a:t>输出数值型变量</a:t>
            </a:r>
            <a:r>
              <a:rPr lang="en-US" altLang="zh-CN">
                <a:solidFill>
                  <a:srgbClr val="C00000"/>
                </a:solidFill>
              </a:rPr>
              <a:t>a</a:t>
            </a:r>
            <a:r>
              <a:rPr lang="zh-CN" altLang="en-US">
                <a:solidFill>
                  <a:srgbClr val="C00000"/>
                </a:solidFill>
              </a:rPr>
              <a:t>与</a:t>
            </a:r>
            <a:r>
              <a:rPr lang="en-US" altLang="zh-CN">
                <a:solidFill>
                  <a:srgbClr val="C00000"/>
                </a:solidFill>
              </a:rPr>
              <a:t>b</a:t>
            </a:r>
            <a:r>
              <a:rPr lang="zh-CN" altLang="en-US">
                <a:solidFill>
                  <a:srgbClr val="C00000"/>
                </a:solidFill>
              </a:rPr>
              <a:t>中的较大者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2970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43125" y="2428875"/>
            <a:ext cx="47148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05413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4.4】</a:t>
            </a:r>
            <a:r>
              <a:rPr lang="zh-CN" altLang="en-US">
                <a:solidFill>
                  <a:srgbClr val="C00000"/>
                </a:solidFill>
              </a:rPr>
              <a:t>输入一个年份，判断是否为闰年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输入年份</a:t>
            </a:r>
            <a:endParaRPr lang="en-US" altLang="zh-CN"/>
          </a:p>
          <a:p>
            <a:pPr lvl="3" eaLnBrk="1" hangingPunct="1"/>
            <a:r>
              <a:rPr lang="zh-CN" altLang="en-US"/>
              <a:t>可以限定范围，如</a:t>
            </a:r>
            <a:r>
              <a:rPr lang="en-US" altLang="zh-CN"/>
              <a:t>0</a:t>
            </a:r>
            <a:r>
              <a:rPr lang="zh-CN" altLang="en-US"/>
              <a:t>至</a:t>
            </a:r>
            <a:r>
              <a:rPr lang="en-US" altLang="zh-CN"/>
              <a:t>9999</a:t>
            </a:r>
            <a:r>
              <a:rPr lang="zh-CN" altLang="en-US"/>
              <a:t>年</a:t>
            </a:r>
            <a:endParaRPr lang="en-US" altLang="zh-CN"/>
          </a:p>
          <a:p>
            <a:pPr lvl="2" eaLnBrk="1" hangingPunct="1"/>
            <a:r>
              <a:rPr lang="zh-CN" altLang="en-US"/>
              <a:t>判断是否为闰年的条件</a:t>
            </a:r>
            <a:endParaRPr lang="en-US" altLang="zh-CN"/>
          </a:p>
          <a:p>
            <a:pPr lvl="3" eaLnBrk="1" hangingPunct="1"/>
            <a:r>
              <a:rPr lang="zh-CN" altLang="en-US"/>
              <a:t>条件</a:t>
            </a:r>
            <a:r>
              <a:rPr lang="en-US" altLang="zh-CN"/>
              <a:t>1</a:t>
            </a:r>
            <a:endParaRPr lang="en-US" altLang="zh-CN"/>
          </a:p>
          <a:p>
            <a:pPr lvl="4" eaLnBrk="1" hangingPunct="1"/>
            <a:r>
              <a:rPr lang="zh-CN" altLang="en-US"/>
              <a:t>能够被</a:t>
            </a:r>
            <a:r>
              <a:rPr lang="en-US" altLang="zh-CN"/>
              <a:t>4</a:t>
            </a:r>
            <a:r>
              <a:rPr lang="zh-CN" altLang="en-US"/>
              <a:t>整除</a:t>
            </a:r>
            <a:endParaRPr lang="en-US" altLang="zh-CN"/>
          </a:p>
          <a:p>
            <a:pPr lvl="4" eaLnBrk="1" hangingPunct="1"/>
            <a:r>
              <a:rPr lang="zh-CN" altLang="en-US"/>
              <a:t>不能够被</a:t>
            </a:r>
            <a:r>
              <a:rPr lang="en-US" altLang="zh-CN"/>
              <a:t>100</a:t>
            </a:r>
            <a:r>
              <a:rPr lang="zh-CN" altLang="en-US"/>
              <a:t>整除</a:t>
            </a:r>
            <a:endParaRPr lang="en-US" altLang="zh-CN"/>
          </a:p>
          <a:p>
            <a:pPr lvl="3" eaLnBrk="1" hangingPunct="1"/>
            <a:r>
              <a:rPr lang="zh-CN" altLang="en-US"/>
              <a:t>条件</a:t>
            </a:r>
            <a:r>
              <a:rPr lang="en-US" altLang="zh-CN"/>
              <a:t>2</a:t>
            </a:r>
            <a:endParaRPr lang="en-US" altLang="zh-CN"/>
          </a:p>
          <a:p>
            <a:pPr lvl="4" eaLnBrk="1" hangingPunct="1"/>
            <a:r>
              <a:rPr lang="zh-CN" altLang="en-US"/>
              <a:t>能够被</a:t>
            </a:r>
            <a:r>
              <a:rPr lang="en-US" altLang="zh-CN"/>
              <a:t>400</a:t>
            </a:r>
            <a:r>
              <a:rPr lang="zh-CN" altLang="en-US"/>
              <a:t>整除</a:t>
            </a:r>
            <a:endParaRPr lang="en-US" altLang="zh-CN"/>
          </a:p>
          <a:p>
            <a:pPr lvl="3" eaLnBrk="1" hangingPunct="1"/>
            <a:r>
              <a:rPr lang="zh-CN" altLang="en-US"/>
              <a:t>上述两个条件满足其一即可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74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57250" y="1357313"/>
            <a:ext cx="7286625" cy="50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4.5】</a:t>
            </a:r>
            <a:r>
              <a:rPr lang="zh-CN" altLang="en-US">
                <a:solidFill>
                  <a:srgbClr val="C00000"/>
                </a:solidFill>
              </a:rPr>
              <a:t>若</a:t>
            </a:r>
            <a:r>
              <a:rPr lang="en-US" altLang="zh-CN">
                <a:solidFill>
                  <a:srgbClr val="C00000"/>
                </a:solidFill>
              </a:rPr>
              <a:t>int</a:t>
            </a:r>
            <a:r>
              <a:rPr lang="zh-CN" altLang="en-US">
                <a:solidFill>
                  <a:srgbClr val="C00000"/>
                </a:solidFill>
              </a:rPr>
              <a:t>型变量</a:t>
            </a:r>
            <a:r>
              <a:rPr lang="en-US" altLang="zh-CN">
                <a:solidFill>
                  <a:srgbClr val="C00000"/>
                </a:solidFill>
              </a:rPr>
              <a:t>x</a:t>
            </a:r>
            <a:r>
              <a:rPr lang="zh-CN" altLang="en-US">
                <a:solidFill>
                  <a:srgbClr val="C00000"/>
                </a:solidFill>
              </a:rPr>
              <a:t>的值小于</a:t>
            </a:r>
            <a:r>
              <a:rPr lang="en-US" altLang="zh-CN">
                <a:solidFill>
                  <a:srgbClr val="C00000"/>
                </a:solidFill>
              </a:rPr>
              <a:t>y</a:t>
            </a:r>
            <a:r>
              <a:rPr lang="zh-CN" altLang="en-US">
                <a:solidFill>
                  <a:srgbClr val="C00000"/>
                </a:solidFill>
              </a:rPr>
              <a:t>的值时，则将</a:t>
            </a:r>
            <a:r>
              <a:rPr lang="en-US" altLang="zh-CN">
                <a:solidFill>
                  <a:srgbClr val="C00000"/>
                </a:solidFill>
              </a:rPr>
              <a:t>x</a:t>
            </a:r>
            <a:r>
              <a:rPr lang="zh-CN" altLang="en-US">
                <a:solidFill>
                  <a:srgbClr val="C00000"/>
                </a:solidFill>
              </a:rPr>
              <a:t>与</a:t>
            </a:r>
            <a:r>
              <a:rPr lang="en-US" altLang="zh-CN">
                <a:solidFill>
                  <a:srgbClr val="C00000"/>
                </a:solidFill>
              </a:rPr>
              <a:t>y</a:t>
            </a:r>
            <a:r>
              <a:rPr lang="zh-CN" altLang="en-US">
                <a:solidFill>
                  <a:srgbClr val="C00000"/>
                </a:solidFill>
              </a:rPr>
              <a:t>的值互换；否则，将</a:t>
            </a:r>
            <a:r>
              <a:rPr lang="en-US" altLang="zh-CN">
                <a:solidFill>
                  <a:srgbClr val="C00000"/>
                </a:solidFill>
              </a:rPr>
              <a:t>x</a:t>
            </a:r>
            <a:r>
              <a:rPr lang="zh-CN" altLang="en-US">
                <a:solidFill>
                  <a:srgbClr val="C00000"/>
                </a:solidFill>
              </a:rPr>
              <a:t>与</a:t>
            </a:r>
            <a:r>
              <a:rPr lang="en-US" altLang="zh-CN">
                <a:solidFill>
                  <a:srgbClr val="C00000"/>
                </a:solidFill>
              </a:rPr>
              <a:t>y</a:t>
            </a:r>
            <a:r>
              <a:rPr lang="zh-CN" altLang="en-US">
                <a:solidFill>
                  <a:srgbClr val="C00000"/>
                </a:solidFill>
              </a:rPr>
              <a:t>的值各加上100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3277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00125" y="3214688"/>
            <a:ext cx="75850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4.6】</a:t>
            </a:r>
            <a:r>
              <a:rPr lang="zh-CN" altLang="en-US">
                <a:solidFill>
                  <a:srgbClr val="C00000"/>
                </a:solidFill>
              </a:rPr>
              <a:t>从键盘上输入三个整数，输出其中最大的数</a:t>
            </a:r>
            <a:endParaRPr lang="en-US" altLang="zh-CN"/>
          </a:p>
          <a:p>
            <a:pPr lvl="2" eaLnBrk="1" hangingPunct="1"/>
            <a:r>
              <a:rPr lang="zh-CN" altLang="en-US"/>
              <a:t>输入三个数</a:t>
            </a:r>
            <a:endParaRPr lang="en-US" altLang="zh-CN"/>
          </a:p>
          <a:p>
            <a:pPr lvl="2" eaLnBrk="1" hangingPunct="1"/>
            <a:r>
              <a:rPr lang="zh-CN" altLang="en-US"/>
              <a:t>比较前两个数，得到最大数</a:t>
            </a:r>
            <a:endParaRPr lang="en-US" altLang="zh-CN"/>
          </a:p>
          <a:p>
            <a:pPr lvl="2" eaLnBrk="1" hangingPunct="1"/>
            <a:r>
              <a:rPr lang="zh-CN" altLang="en-US"/>
              <a:t>用第三个数与最大数比较</a:t>
            </a:r>
            <a:endParaRPr lang="en-US" altLang="zh-CN"/>
          </a:p>
          <a:p>
            <a:pPr lvl="3" eaLnBrk="1" hangingPunct="1"/>
            <a:r>
              <a:rPr lang="zh-CN" altLang="en-US"/>
              <a:t>第三个数大，则输出该数</a:t>
            </a:r>
            <a:endParaRPr lang="en-US" altLang="zh-CN"/>
          </a:p>
          <a:p>
            <a:pPr lvl="3" eaLnBrk="1" hangingPunct="1"/>
            <a:r>
              <a:rPr lang="zh-CN" altLang="en-US"/>
              <a:t>“最大数”大，则输出“最大数”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#include&lt;iostream&gt;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using namespace std;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int main()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int </a:t>
            </a:r>
            <a:r>
              <a:rPr lang="en-US" altLang="zh-CN" sz="2000" dirty="0" err="1"/>
              <a:t>a,b,c,max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&lt;&lt;"input 3 integer:";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&gt;&gt;a&gt;&gt;b&gt;&gt;c;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&lt;&lt;"a="&lt;&lt;a&lt;&lt;'\t'&lt;&lt;"b="&lt;&lt;b&lt;&lt;'\t'&lt;&lt;"c="&lt;&lt;c&lt;&lt;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if(a&gt;b) max=a; else max=b;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if(c&gt;max) max=c;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&lt;&lt;"the max number is"&lt;&lt;max&lt;&lt;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return 0;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990725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条件语句的嵌套</a:t>
            </a:r>
            <a:endParaRPr lang="en-US" altLang="zh-CN"/>
          </a:p>
          <a:p>
            <a:pPr lvl="2" eaLnBrk="1" hangingPunct="1"/>
            <a:r>
              <a:rPr lang="zh-CN" altLang="en-US"/>
              <a:t>条件语句中的某个分支（</a:t>
            </a:r>
            <a:r>
              <a:rPr lang="en-US" altLang="zh-CN"/>
              <a:t>if</a:t>
            </a:r>
            <a:r>
              <a:rPr lang="zh-CN" altLang="en-US"/>
              <a:t>语句块或</a:t>
            </a:r>
            <a:r>
              <a:rPr lang="en-US" altLang="zh-CN"/>
              <a:t>else</a:t>
            </a:r>
            <a:r>
              <a:rPr lang="zh-CN" altLang="en-US"/>
              <a:t>语句块）中仍包含条件语句</a:t>
            </a:r>
            <a:endParaRPr lang="zh-CN" altLang="en-US"/>
          </a:p>
        </p:txBody>
      </p:sp>
      <p:pic>
        <p:nvPicPr>
          <p:cNvPr id="358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14688" y="3286125"/>
            <a:ext cx="27749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en-US" altLang="zh-CN"/>
              <a:t>if</a:t>
            </a:r>
            <a:r>
              <a:rPr lang="zh-CN" altLang="en-US"/>
              <a:t>与</a:t>
            </a:r>
            <a:r>
              <a:rPr lang="en-US" altLang="zh-CN"/>
              <a:t>else</a:t>
            </a:r>
            <a:r>
              <a:rPr lang="zh-CN" altLang="en-US"/>
              <a:t>的匹配原则</a:t>
            </a:r>
            <a:endParaRPr lang="en-US" altLang="zh-CN"/>
          </a:p>
          <a:p>
            <a:pPr lvl="2" eaLnBrk="1" hangingPunct="1"/>
            <a:r>
              <a:rPr lang="en-US" altLang="zh-CN"/>
              <a:t>else</a:t>
            </a:r>
            <a:r>
              <a:rPr lang="zh-CN" altLang="en-US"/>
              <a:t>总是与其前面最近的</a:t>
            </a:r>
            <a:r>
              <a:rPr lang="en-US" altLang="zh-CN"/>
              <a:t>if</a:t>
            </a:r>
            <a:r>
              <a:rPr lang="zh-CN" altLang="en-US"/>
              <a:t>匹配</a:t>
            </a:r>
            <a:endParaRPr lang="en-US" altLang="zh-CN"/>
          </a:p>
          <a:p>
            <a:pPr lvl="1" eaLnBrk="1" hangingPunct="1"/>
            <a:r>
              <a:rPr lang="zh-CN" altLang="en-US"/>
              <a:t>建议：</a:t>
            </a:r>
            <a:endParaRPr lang="en-US" altLang="zh-CN"/>
          </a:p>
          <a:p>
            <a:pPr lvl="2" eaLnBrk="1" hangingPunct="1"/>
            <a:r>
              <a:rPr lang="en-US" altLang="zh-CN"/>
              <a:t>if</a:t>
            </a:r>
            <a:r>
              <a:rPr lang="zh-CN" altLang="en-US"/>
              <a:t>和</a:t>
            </a:r>
            <a:r>
              <a:rPr lang="en-US" altLang="zh-CN"/>
              <a:t>else</a:t>
            </a:r>
            <a:r>
              <a:rPr lang="zh-CN" altLang="en-US"/>
              <a:t>的语句块最好用“</a:t>
            </a:r>
            <a:r>
              <a:rPr lang="en-US" altLang="zh-CN"/>
              <a:t>{</a:t>
            </a:r>
            <a:r>
              <a:rPr lang="zh-CN" altLang="en-US"/>
              <a:t>”和“</a:t>
            </a:r>
            <a:r>
              <a:rPr lang="en-US" altLang="zh-CN"/>
              <a:t>}</a:t>
            </a:r>
            <a:r>
              <a:rPr lang="zh-CN" altLang="en-US"/>
              <a:t>”界定</a:t>
            </a:r>
            <a:endParaRPr lang="en-US" altLang="zh-CN"/>
          </a:p>
          <a:p>
            <a:pPr lvl="2" eaLnBrk="1" hangingPunct="1"/>
            <a:r>
              <a:rPr lang="zh-CN" altLang="en-US"/>
              <a:t>当</a:t>
            </a:r>
            <a:r>
              <a:rPr lang="en-US" altLang="zh-CN"/>
              <a:t>if</a:t>
            </a:r>
            <a:r>
              <a:rPr lang="zh-CN" altLang="en-US"/>
              <a:t>或</a:t>
            </a:r>
            <a:r>
              <a:rPr lang="en-US" altLang="zh-CN"/>
              <a:t>else</a:t>
            </a:r>
            <a:r>
              <a:rPr lang="zh-CN" altLang="en-US"/>
              <a:t>的语句只有一句时，可以不加花括号</a:t>
            </a:r>
            <a:endParaRPr lang="en-US" altLang="zh-CN"/>
          </a:p>
          <a:p>
            <a:pPr lvl="3" eaLnBrk="1" hangingPunct="1"/>
            <a:r>
              <a:rPr lang="zh-CN" altLang="en-US"/>
              <a:t>建议只用一条语句也加上花括号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76350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两种语句的区别</a:t>
            </a:r>
            <a:endParaRPr lang="zh-CN" altLang="en-US"/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2857500"/>
            <a:ext cx="277495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857500"/>
            <a:ext cx="277495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65738" y="2876550"/>
            <a:ext cx="259238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65738" y="2876550"/>
            <a:ext cx="259238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直接连接符 16"/>
          <p:cNvCxnSpPr/>
          <p:nvPr/>
        </p:nvCxnSpPr>
        <p:spPr>
          <a:xfrm rot="5400000">
            <a:off x="2892425" y="4249738"/>
            <a:ext cx="3214687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133475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两种条件语句举例</a:t>
            </a:r>
            <a:endParaRPr lang="zh-CN" altLang="en-US"/>
          </a:p>
        </p:txBody>
      </p:sp>
      <p:pic>
        <p:nvPicPr>
          <p:cNvPr id="3891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2938" y="2786063"/>
            <a:ext cx="80105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76350"/>
          </a:xfrm>
        </p:spPr>
        <p:txBody>
          <a:bodyPr/>
          <a:lstStyle/>
          <a:p>
            <a:pPr eaLnBrk="1" hangingPunct="1"/>
            <a:r>
              <a:rPr lang="zh-CN" altLang="en-US"/>
              <a:t>条件语句</a:t>
            </a:r>
            <a:endParaRPr lang="en-US" altLang="zh-CN"/>
          </a:p>
          <a:p>
            <a:pPr lvl="1" eaLnBrk="1" hangingPunct="1"/>
            <a:r>
              <a:rPr lang="zh-CN" altLang="en-US"/>
              <a:t>两种条件语句举例</a:t>
            </a:r>
            <a:endParaRPr lang="zh-CN" altLang="en-US"/>
          </a:p>
        </p:txBody>
      </p:sp>
      <p:pic>
        <p:nvPicPr>
          <p:cNvPr id="39942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0188" y="2928938"/>
            <a:ext cx="62103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704975"/>
          </a:xfrm>
        </p:spPr>
        <p:txBody>
          <a:bodyPr/>
          <a:lstStyle/>
          <a:p>
            <a:pPr eaLnBrk="1" hangingPunct="1"/>
            <a:r>
              <a:rPr lang="zh-CN" altLang="en-US"/>
              <a:t>条件语句的嵌套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4.7】</a:t>
            </a:r>
            <a:r>
              <a:rPr lang="zh-CN" altLang="en-US">
                <a:solidFill>
                  <a:srgbClr val="C00000"/>
                </a:solidFill>
              </a:rPr>
              <a:t>用条件语句嵌套实现</a:t>
            </a:r>
            <a:r>
              <a:rPr lang="zh-CN" altLang="en-US"/>
              <a:t>例</a:t>
            </a:r>
            <a:r>
              <a:rPr lang="en-US" altLang="zh-CN"/>
              <a:t>4.6</a:t>
            </a:r>
            <a:endParaRPr lang="en-US" altLang="zh-CN"/>
          </a:p>
          <a:p>
            <a:pPr lvl="2" eaLnBrk="1" hangingPunct="1"/>
            <a:r>
              <a:rPr lang="zh-CN" altLang="en-US"/>
              <a:t>在</a:t>
            </a:r>
            <a:r>
              <a:rPr lang="en-US" altLang="zh-CN"/>
              <a:t>if</a:t>
            </a:r>
            <a:r>
              <a:rPr lang="zh-CN" altLang="en-US"/>
              <a:t>子句中嵌套</a:t>
            </a:r>
            <a:endParaRPr lang="en-US" altLang="zh-CN">
              <a:solidFill>
                <a:srgbClr val="C00000"/>
              </a:solidFill>
            </a:endParaRPr>
          </a:p>
        </p:txBody>
      </p:sp>
      <p:pic>
        <p:nvPicPr>
          <p:cNvPr id="40966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71625" y="2786063"/>
            <a:ext cx="6357938" cy="377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1500188"/>
            <a:ext cx="4202113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704975"/>
          </a:xfrm>
        </p:spPr>
        <p:txBody>
          <a:bodyPr/>
          <a:lstStyle/>
          <a:p>
            <a:pPr eaLnBrk="1" hangingPunct="1"/>
            <a:r>
              <a:rPr lang="zh-CN" altLang="en-US"/>
              <a:t>条件语句的嵌套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4.7】</a:t>
            </a:r>
            <a:r>
              <a:rPr lang="zh-CN" altLang="en-US">
                <a:solidFill>
                  <a:srgbClr val="C00000"/>
                </a:solidFill>
              </a:rPr>
              <a:t>用条件语句嵌套实现</a:t>
            </a:r>
            <a:r>
              <a:rPr lang="zh-CN" altLang="en-US"/>
              <a:t>例</a:t>
            </a:r>
            <a:r>
              <a:rPr lang="en-US" altLang="zh-CN"/>
              <a:t>4.6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在</a:t>
            </a:r>
            <a:r>
              <a:rPr lang="en-US" altLang="zh-CN"/>
              <a:t>else</a:t>
            </a:r>
            <a:r>
              <a:rPr lang="zh-CN" altLang="en-US"/>
              <a:t>子句中嵌套</a:t>
            </a:r>
            <a:endParaRPr lang="en-US" altLang="zh-CN">
              <a:solidFill>
                <a:srgbClr val="C00000"/>
              </a:solidFill>
            </a:endParaRPr>
          </a:p>
        </p:txBody>
      </p:sp>
      <p:pic>
        <p:nvPicPr>
          <p:cNvPr id="430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0188" y="2786063"/>
            <a:ext cx="630396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条件语句的嵌套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4.8】</a:t>
            </a:r>
            <a:r>
              <a:rPr lang="zh-CN" altLang="en-US" dirty="0">
                <a:solidFill>
                  <a:srgbClr val="C00000"/>
                </a:solidFill>
              </a:rPr>
              <a:t>编程序，输入一个温度值，若输入的是摄氏值则将其转换为华氏值，若输入的是华氏值则将其转换为摄氏值，并将转换结果显示出来</a:t>
            </a:r>
            <a:endParaRPr lang="en-US" altLang="zh-CN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dirty="0">
                <a:solidFill>
                  <a:srgbClr val="0000FF"/>
                </a:solidFill>
              </a:rPr>
              <a:t>转换公式如下（其中</a:t>
            </a:r>
            <a:r>
              <a:rPr lang="en-US" altLang="zh-CN" dirty="0">
                <a:solidFill>
                  <a:srgbClr val="0000FF"/>
                </a:solidFill>
              </a:rPr>
              <a:t>tc</a:t>
            </a:r>
            <a:r>
              <a:rPr lang="zh-CN" altLang="en-US" dirty="0">
                <a:solidFill>
                  <a:srgbClr val="0000FF"/>
                </a:solidFill>
              </a:rPr>
              <a:t>表示摄氏度，</a:t>
            </a:r>
            <a:r>
              <a:rPr lang="en-US" altLang="zh-CN" dirty="0">
                <a:solidFill>
                  <a:srgbClr val="0000FF"/>
                </a:solidFill>
              </a:rPr>
              <a:t>tf</a:t>
            </a:r>
            <a:r>
              <a:rPr lang="zh-CN" altLang="en-US" dirty="0">
                <a:solidFill>
                  <a:srgbClr val="0000FF"/>
                </a:solidFill>
              </a:rPr>
              <a:t>表示华氏度）</a:t>
            </a:r>
            <a:endParaRPr lang="en-US" altLang="zh-CN" dirty="0">
              <a:solidFill>
                <a:srgbClr val="0000FF"/>
              </a:solidFill>
            </a:endParaRPr>
          </a:p>
          <a:p>
            <a:pPr lvl="3" eaLnBrk="1" hangingPunct="1">
              <a:buFontTx/>
              <a:buNone/>
            </a:pPr>
            <a:r>
              <a:rPr lang="en-US" altLang="zh-CN" sz="3600" dirty="0"/>
              <a:t>tf = tc * 1.8 + 32；</a:t>
            </a:r>
            <a:endParaRPr lang="en-US" altLang="zh-CN" sz="3600" dirty="0"/>
          </a:p>
          <a:p>
            <a:pPr lvl="3" eaLnBrk="1" hangingPunct="1">
              <a:buFontTx/>
              <a:buNone/>
            </a:pPr>
            <a:r>
              <a:rPr lang="en-US" altLang="zh-CN" sz="3600" dirty="0"/>
              <a:t>tc = (tf-32) / 1.8。</a:t>
            </a:r>
            <a:endParaRPr lang="zh-CN" altLang="en-US" sz="3600" dirty="0"/>
          </a:p>
          <a:p>
            <a:pPr lvl="1" eaLnBrk="1" hangingPunct="1"/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06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1563" y="1143000"/>
            <a:ext cx="7000875" cy="525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条件语句的嵌套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4.9】</a:t>
            </a:r>
            <a:r>
              <a:rPr lang="zh-CN" altLang="en-US">
                <a:solidFill>
                  <a:srgbClr val="C00000"/>
                </a:solidFill>
              </a:rPr>
              <a:t>某商场优惠活动规定，某种商品单价为</a:t>
            </a:r>
            <a:r>
              <a:rPr lang="en-US" altLang="zh-CN">
                <a:solidFill>
                  <a:srgbClr val="C00000"/>
                </a:solidFill>
              </a:rPr>
              <a:t>80</a:t>
            </a:r>
            <a:r>
              <a:rPr lang="zh-CN" altLang="en-US">
                <a:solidFill>
                  <a:srgbClr val="C00000"/>
                </a:solidFill>
              </a:rPr>
              <a:t>元，一次购买</a:t>
            </a:r>
            <a:r>
              <a:rPr lang="en-US" altLang="zh-CN">
                <a:solidFill>
                  <a:srgbClr val="C00000"/>
                </a:solidFill>
              </a:rPr>
              <a:t>5</a:t>
            </a:r>
            <a:r>
              <a:rPr lang="zh-CN" altLang="en-US">
                <a:solidFill>
                  <a:srgbClr val="C00000"/>
                </a:solidFill>
              </a:rPr>
              <a:t>件以上（包含</a:t>
            </a:r>
            <a:r>
              <a:rPr lang="en-US" altLang="zh-CN">
                <a:solidFill>
                  <a:srgbClr val="C00000"/>
                </a:solidFill>
              </a:rPr>
              <a:t>5</a:t>
            </a:r>
            <a:r>
              <a:rPr lang="zh-CN" altLang="en-US">
                <a:solidFill>
                  <a:srgbClr val="C00000"/>
                </a:solidFill>
              </a:rPr>
              <a:t>件）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件以下（不包含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件）打</a:t>
            </a:r>
            <a:r>
              <a:rPr lang="en-US" altLang="zh-CN">
                <a:solidFill>
                  <a:srgbClr val="C00000"/>
                </a:solidFill>
              </a:rPr>
              <a:t>9</a:t>
            </a:r>
            <a:r>
              <a:rPr lang="zh-CN" altLang="en-US">
                <a:solidFill>
                  <a:srgbClr val="C00000"/>
                </a:solidFill>
              </a:rPr>
              <a:t>折，一次购买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件以上（包含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件）打</a:t>
            </a:r>
            <a:r>
              <a:rPr lang="en-US" altLang="zh-CN">
                <a:solidFill>
                  <a:srgbClr val="C00000"/>
                </a:solidFill>
              </a:rPr>
              <a:t>8</a:t>
            </a:r>
            <a:r>
              <a:rPr lang="zh-CN" altLang="en-US">
                <a:solidFill>
                  <a:srgbClr val="C00000"/>
                </a:solidFill>
              </a:rPr>
              <a:t>折。设计程序根据客户的购买量计算总价</a:t>
            </a:r>
            <a:endParaRPr lang="en-US" altLang="zh-CN">
              <a:solidFill>
                <a:srgbClr val="C00000"/>
              </a:solidFill>
            </a:endParaRPr>
          </a:p>
          <a:p>
            <a:pPr lvl="2" algn="just" eaLnBrk="1" hangingPunct="1">
              <a:spcBef>
                <a:spcPct val="0"/>
              </a:spcBef>
            </a:pPr>
            <a:r>
              <a:rPr lang="zh-CN" altLang="en-US"/>
              <a:t>输入购买件数</a:t>
            </a:r>
            <a:r>
              <a:rPr lang="en-US" altLang="zh-CN"/>
              <a:t>count</a:t>
            </a:r>
            <a:r>
              <a:rPr lang="zh-CN" altLang="en-US"/>
              <a:t>，设置单价</a:t>
            </a:r>
            <a:r>
              <a:rPr lang="en-US" altLang="zh-CN"/>
              <a:t>price=80(</a:t>
            </a:r>
            <a:r>
              <a:rPr lang="zh-CN" altLang="en-US"/>
              <a:t>元</a:t>
            </a:r>
            <a:r>
              <a:rPr lang="en-US" altLang="zh-CN"/>
              <a:t>)</a:t>
            </a:r>
            <a:endParaRPr lang="en-US" altLang="zh-CN"/>
          </a:p>
          <a:p>
            <a:pPr lvl="2" algn="just" eaLnBrk="1" hangingPunct="1">
              <a:spcBef>
                <a:spcPct val="0"/>
              </a:spcBef>
            </a:pPr>
            <a:r>
              <a:rPr lang="zh-CN" altLang="en-US"/>
              <a:t>根据</a:t>
            </a:r>
            <a:r>
              <a:rPr lang="en-US" altLang="zh-CN"/>
              <a:t>count</a:t>
            </a:r>
            <a:r>
              <a:rPr lang="zh-CN" altLang="en-US"/>
              <a:t>值确定折扣率</a:t>
            </a:r>
            <a:r>
              <a:rPr lang="en-US" altLang="zh-CN"/>
              <a:t>discount</a:t>
            </a:r>
            <a:endParaRPr lang="en-US" altLang="zh-CN"/>
          </a:p>
          <a:p>
            <a:pPr lvl="2" algn="just" eaLnBrk="1" hangingPunct="1">
              <a:spcBef>
                <a:spcPct val="0"/>
              </a:spcBef>
            </a:pPr>
            <a:r>
              <a:rPr lang="zh-CN" altLang="en-US"/>
              <a:t>实际售价</a:t>
            </a:r>
            <a:r>
              <a:rPr lang="en-US" altLang="zh-CN"/>
              <a:t>amount=price*count*discount</a:t>
            </a:r>
            <a:endParaRPr lang="en-US" altLang="zh-CN"/>
          </a:p>
          <a:p>
            <a:pPr lvl="2" algn="just" eaLnBrk="1" hangingPunct="1">
              <a:spcBef>
                <a:spcPct val="0"/>
              </a:spcBef>
            </a:pPr>
            <a:r>
              <a:rPr lang="zh-CN" altLang="en-US"/>
              <a:t>输出</a:t>
            </a:r>
            <a:r>
              <a:rPr lang="en-US" altLang="zh-CN"/>
              <a:t>amount</a:t>
            </a:r>
            <a:r>
              <a:rPr lang="zh-CN" altLang="en-US"/>
              <a:t>的值。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14375" y="1196752"/>
            <a:ext cx="7858125" cy="526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条件语句的嵌套</a:t>
            </a:r>
            <a:endParaRPr lang="en-US" altLang="zh-CN"/>
          </a:p>
          <a:p>
            <a:pPr lvl="1" algn="just" eaLnBrk="1" hangingPunct="1">
              <a:spcBef>
                <a:spcPct val="0"/>
              </a:spcBef>
            </a:pPr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4.10】</a:t>
            </a:r>
            <a:r>
              <a:rPr lang="zh-CN" altLang="en-US"/>
              <a:t>求一元二次方程</a:t>
            </a:r>
            <a:r>
              <a:rPr lang="en-US" altLang="zh-CN">
                <a:solidFill>
                  <a:srgbClr val="FF0000"/>
                </a:solidFill>
              </a:rPr>
              <a:t>ax</a:t>
            </a:r>
            <a:r>
              <a:rPr lang="en-US" altLang="zh-CN" baseline="30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</a:rPr>
              <a:t>+bx+c=0</a:t>
            </a:r>
            <a:r>
              <a:rPr lang="zh-CN" altLang="en-US"/>
              <a:t>的根。其中系数</a:t>
            </a:r>
            <a:r>
              <a:rPr lang="en-US" altLang="zh-CN"/>
              <a:t>a(a≠0)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的值由键盘输入</a:t>
            </a:r>
            <a:endParaRPr lang="en-US" altLang="zh-CN"/>
          </a:p>
          <a:p>
            <a:pPr lvl="2" algn="just" eaLnBrk="1" hangingPunct="1">
              <a:spcBef>
                <a:spcPct val="0"/>
              </a:spcBef>
            </a:pPr>
            <a:r>
              <a:rPr lang="zh-CN" altLang="en-US"/>
              <a:t>输入系数</a:t>
            </a:r>
            <a:r>
              <a:rPr lang="en-US" altLang="zh-CN"/>
              <a:t>a(a≠0)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后，令</a:t>
            </a:r>
            <a:r>
              <a:rPr lang="en-US" altLang="zh-CN"/>
              <a:t>delta= b</a:t>
            </a:r>
            <a:r>
              <a:rPr lang="en-US" altLang="zh-CN" baseline="30000"/>
              <a:t>2</a:t>
            </a:r>
            <a:r>
              <a:rPr lang="en-US" altLang="zh-CN"/>
              <a:t>–4ac,</a:t>
            </a:r>
            <a:r>
              <a:rPr lang="zh-CN" altLang="en-US"/>
              <a:t>结果有三种情况</a:t>
            </a:r>
            <a:endParaRPr lang="en-US" altLang="zh-CN"/>
          </a:p>
          <a:p>
            <a:pPr lvl="3" algn="just" eaLnBrk="1" hangingPunct="1">
              <a:spcBef>
                <a:spcPct val="0"/>
              </a:spcBef>
            </a:pPr>
            <a:r>
              <a:rPr lang="zh-CN" altLang="en-US"/>
              <a:t>若</a:t>
            </a:r>
            <a:r>
              <a:rPr lang="en-US" altLang="zh-CN"/>
              <a:t>delta=0</a:t>
            </a:r>
            <a:r>
              <a:rPr lang="zh-CN" altLang="en-US"/>
              <a:t>，方程有两个相同实根；</a:t>
            </a:r>
            <a:endParaRPr lang="en-US" altLang="zh-CN"/>
          </a:p>
          <a:p>
            <a:pPr lvl="3" algn="just" eaLnBrk="1" hangingPunct="1">
              <a:spcBef>
                <a:spcPct val="0"/>
              </a:spcBef>
            </a:pPr>
            <a:r>
              <a:rPr lang="zh-CN" altLang="en-US"/>
              <a:t>若</a:t>
            </a:r>
            <a:r>
              <a:rPr lang="en-US" altLang="zh-CN"/>
              <a:t>delta&gt;0</a:t>
            </a:r>
            <a:r>
              <a:rPr lang="zh-CN" altLang="en-US"/>
              <a:t>，方程有两个不同实根；</a:t>
            </a:r>
            <a:endParaRPr lang="en-US" altLang="zh-CN"/>
          </a:p>
          <a:p>
            <a:pPr lvl="3" algn="just" eaLnBrk="1" hangingPunct="1">
              <a:spcBef>
                <a:spcPct val="0"/>
              </a:spcBef>
            </a:pPr>
            <a:r>
              <a:rPr lang="zh-CN" altLang="en-US"/>
              <a:t>若</a:t>
            </a:r>
            <a:r>
              <a:rPr lang="en-US" altLang="zh-CN"/>
              <a:t>delta&lt;0</a:t>
            </a:r>
            <a:r>
              <a:rPr lang="zh-CN" altLang="en-US"/>
              <a:t>，方程无实根。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157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14375" y="1785938"/>
            <a:ext cx="7796213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0181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1214438"/>
            <a:ext cx="68580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457200" y="1295400"/>
            <a:ext cx="8153400" cy="633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3200" b="1" kern="0" dirty="0">
                <a:solidFill>
                  <a:srgbClr val="692AA2"/>
                </a:solidFill>
                <a:latin typeface="楷体_GB2312" pitchFamily="49" charset="-122"/>
                <a:ea typeface="楷体_GB2312" pitchFamily="49" charset="-122"/>
              </a:rPr>
              <a:t>条件语句处理多分支的情况</a:t>
            </a:r>
            <a:endParaRPr lang="en-US" altLang="zh-CN" sz="3200" b="1" kern="0" dirty="0">
              <a:solidFill>
                <a:srgbClr val="692AA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1206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0063" y="2000250"/>
            <a:ext cx="8091487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062538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/>
              <a:t>由关键字</a:t>
            </a:r>
            <a:r>
              <a:rPr lang="en-US" altLang="zh-CN"/>
              <a:t>switch</a:t>
            </a:r>
            <a:r>
              <a:rPr lang="zh-CN" altLang="en-US"/>
              <a:t>、</a:t>
            </a:r>
            <a:r>
              <a:rPr lang="en-US" altLang="zh-CN"/>
              <a:t>case</a:t>
            </a:r>
            <a:r>
              <a:rPr lang="zh-CN" altLang="en-US"/>
              <a:t>和</a:t>
            </a:r>
            <a:r>
              <a:rPr lang="en-US" altLang="zh-CN"/>
              <a:t>default</a:t>
            </a:r>
            <a:r>
              <a:rPr lang="zh-CN" altLang="en-US"/>
              <a:t>构成</a:t>
            </a:r>
            <a:endParaRPr lang="en-US" altLang="zh-CN"/>
          </a:p>
          <a:p>
            <a:pPr lvl="2" eaLnBrk="1" hangingPunct="1"/>
            <a:r>
              <a:rPr lang="zh-CN" altLang="en-US"/>
              <a:t>与</a:t>
            </a:r>
            <a:r>
              <a:rPr lang="en-US" altLang="zh-CN"/>
              <a:t>break</a:t>
            </a:r>
            <a:r>
              <a:rPr lang="zh-CN" altLang="en-US"/>
              <a:t>语句结合使用</a:t>
            </a:r>
            <a:endParaRPr lang="en-US" altLang="zh-CN"/>
          </a:p>
          <a:p>
            <a:pPr lvl="1" eaLnBrk="1" hangingPunct="1"/>
            <a:r>
              <a:rPr lang="zh-CN" altLang="en-US"/>
              <a:t>多分支语句</a:t>
            </a:r>
            <a:endParaRPr lang="en-US" altLang="zh-CN"/>
          </a:p>
          <a:p>
            <a:pPr lvl="2" eaLnBrk="1" hangingPunct="1"/>
            <a:r>
              <a:rPr lang="en-US" altLang="zh-CN"/>
              <a:t>if</a:t>
            </a:r>
            <a:r>
              <a:rPr lang="zh-CN" altLang="en-US"/>
              <a:t>语句是两个分支的语句</a:t>
            </a:r>
            <a:endParaRPr lang="en-US" altLang="zh-CN"/>
          </a:p>
          <a:p>
            <a:pPr lvl="3" eaLnBrk="1" hangingPunct="1"/>
            <a:r>
              <a:rPr lang="zh-CN" altLang="en-US"/>
              <a:t>实现多分支很复杂</a:t>
            </a:r>
            <a:endParaRPr lang="en-US" altLang="zh-CN"/>
          </a:p>
          <a:p>
            <a:pPr lvl="4" eaLnBrk="1" hangingPunct="1"/>
            <a:r>
              <a:rPr lang="en-US" altLang="zh-CN"/>
              <a:t>if...else...</a:t>
            </a:r>
            <a:r>
              <a:rPr lang="zh-CN" altLang="en-US"/>
              <a:t>语句的多重嵌套</a:t>
            </a:r>
            <a:endParaRPr lang="en-US" altLang="zh-CN"/>
          </a:p>
          <a:p>
            <a:pPr lvl="1" eaLnBrk="1" hangingPunct="1"/>
            <a:r>
              <a:rPr lang="zh-CN" altLang="en-US"/>
              <a:t>形式多样</a:t>
            </a:r>
            <a:endParaRPr lang="en-US" altLang="zh-CN"/>
          </a:p>
          <a:p>
            <a:pPr lvl="2" eaLnBrk="1" hangingPunct="1"/>
            <a:r>
              <a:rPr lang="zh-CN" altLang="en-US"/>
              <a:t>带</a:t>
            </a:r>
            <a:r>
              <a:rPr lang="en-US" altLang="zh-CN"/>
              <a:t>break</a:t>
            </a:r>
            <a:r>
              <a:rPr lang="zh-CN" altLang="en-US"/>
              <a:t>语句与不带</a:t>
            </a:r>
            <a:r>
              <a:rPr lang="en-US" altLang="zh-CN"/>
              <a:t>break</a:t>
            </a:r>
            <a:r>
              <a:rPr lang="zh-CN" altLang="en-US"/>
              <a:t>语句</a:t>
            </a:r>
            <a:endParaRPr lang="en-US" altLang="zh-CN"/>
          </a:p>
          <a:p>
            <a:pPr lvl="2" eaLnBrk="1" hangingPunct="1"/>
            <a:r>
              <a:rPr lang="zh-CN" altLang="en-US"/>
              <a:t>带</a:t>
            </a:r>
            <a:r>
              <a:rPr lang="en-US" altLang="zh-CN"/>
              <a:t>default</a:t>
            </a:r>
            <a:r>
              <a:rPr lang="zh-CN" altLang="en-US"/>
              <a:t>与不带</a:t>
            </a:r>
            <a:r>
              <a:rPr lang="en-US" altLang="zh-CN"/>
              <a:t>default</a:t>
            </a:r>
            <a:endParaRPr lang="en-US" altLang="zh-CN"/>
          </a:p>
          <a:p>
            <a:pPr lvl="2" eaLnBrk="1" hangingPunct="1"/>
            <a:r>
              <a:rPr lang="en-US" altLang="zh-CN"/>
              <a:t>case</a:t>
            </a:r>
            <a:r>
              <a:rPr lang="zh-CN" altLang="en-US"/>
              <a:t>空语句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04913"/>
          </a:xfrm>
        </p:spPr>
        <p:txBody>
          <a:bodyPr/>
          <a:lstStyle/>
          <a:p>
            <a:pPr eaLnBrk="1" hangingPunct="1"/>
            <a:r>
              <a:rPr lang="zh-CN" altLang="en-US" dirty="0"/>
              <a:t>开关语句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使用方法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条件表达式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&gt;)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常量表达式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1&gt;:&lt;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语句组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1&gt;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常量表达式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2&gt;:&lt;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语句组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2&gt;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常量表达式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n&gt;:&lt;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语句组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n&gt;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:&lt;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语句组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n+1&gt;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 eaLnBrk="1" hangingPunct="1">
              <a:buNone/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FF0000"/>
                </a:solidFill>
              </a:rPr>
              <a:t>&lt;条件表达式&gt;</a:t>
            </a:r>
            <a:r>
              <a:rPr lang="zh-CN" altLang="en-US"/>
              <a:t>给出进行分支的条件，其</a:t>
            </a:r>
            <a:r>
              <a:rPr lang="zh-CN" altLang="en-US">
                <a:solidFill>
                  <a:srgbClr val="FF0000"/>
                </a:solidFill>
              </a:rPr>
              <a:t>值</a:t>
            </a:r>
            <a:r>
              <a:rPr lang="zh-CN" altLang="en-US"/>
              <a:t>必须是一个整型、字符型或枚举型的表达式</a:t>
            </a:r>
            <a:endParaRPr lang="en-US" altLang="zh-CN"/>
          </a:p>
          <a:p>
            <a:pPr lvl="1" eaLnBrk="1" hangingPunct="1"/>
            <a:r>
              <a:rPr lang="zh-CN" altLang="en-US"/>
              <a:t>关键字</a:t>
            </a:r>
            <a:r>
              <a:rPr lang="en-US" altLang="zh-CN"/>
              <a:t>case</a:t>
            </a:r>
            <a:r>
              <a:rPr lang="zh-CN" altLang="en-US"/>
              <a:t>用于引出一个分支。</a:t>
            </a:r>
            <a:r>
              <a:rPr lang="en-US" altLang="zh-CN"/>
              <a:t>case</a:t>
            </a:r>
            <a:r>
              <a:rPr lang="zh-CN" altLang="en-US"/>
              <a:t>后的各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/>
              <a:t>&lt;常量表达式&gt;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/>
              <a:t> 均为</a:t>
            </a:r>
            <a:r>
              <a:rPr lang="en-US" altLang="zh-CN"/>
              <a:t>switch</a:t>
            </a:r>
            <a:r>
              <a:rPr lang="zh-CN" altLang="en-US"/>
              <a:t>后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/>
              <a:t>&lt;条件表达式&gt;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/>
              <a:t>的一个可能值（两者的类型应该相同）。实际上，每个“</a:t>
            </a:r>
            <a:r>
              <a:rPr lang="en-US" altLang="zh-CN">
                <a:solidFill>
                  <a:srgbClr val="FF0000"/>
                </a:solidFill>
              </a:rPr>
              <a:t>case &lt;</a:t>
            </a:r>
            <a:r>
              <a:rPr lang="zh-CN" altLang="en-US">
                <a:solidFill>
                  <a:srgbClr val="FF0000"/>
                </a:solidFill>
              </a:rPr>
              <a:t>常量表达式</a:t>
            </a:r>
            <a:r>
              <a:rPr lang="en-US" altLang="zh-CN">
                <a:solidFill>
                  <a:srgbClr val="FF0000"/>
                </a:solidFill>
              </a:rPr>
              <a:t>i&gt; :</a:t>
            </a:r>
            <a:r>
              <a:rPr lang="en-US" altLang="zh-CN"/>
              <a:t>”</a:t>
            </a:r>
            <a:r>
              <a:rPr lang="zh-CN" altLang="en-US"/>
              <a:t>都只起一个</a:t>
            </a:r>
            <a:r>
              <a:rPr lang="zh-CN" altLang="en-US">
                <a:solidFill>
                  <a:srgbClr val="FF0000"/>
                </a:solidFill>
              </a:rPr>
              <a:t>语句标号</a:t>
            </a:r>
            <a:r>
              <a:rPr lang="zh-CN" altLang="en-US"/>
              <a:t>的作用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>
              <a:spcBef>
                <a:spcPts val="0"/>
              </a:spcBef>
            </a:pPr>
            <a:r>
              <a:rPr lang="zh-CN" altLang="en-US"/>
              <a:t>若</a:t>
            </a:r>
            <a:r>
              <a:rPr lang="en-US" altLang="zh-CN"/>
              <a:t>switch</a:t>
            </a:r>
            <a:r>
              <a:rPr lang="zh-CN" altLang="en-US"/>
              <a:t>后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/>
              <a:t>&lt;条件表达式&gt;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/>
              <a:t>的取值恰与某个 “&lt;常量表达式</a:t>
            </a:r>
            <a:r>
              <a:rPr lang="en-US" altLang="zh-CN"/>
              <a:t>i&gt;”</a:t>
            </a:r>
            <a:r>
              <a:rPr lang="zh-CN" altLang="en-US"/>
              <a:t>的值相同, 则直接跳转到“</a:t>
            </a:r>
            <a:r>
              <a:rPr lang="en-US" altLang="zh-CN"/>
              <a:t>case &lt;</a:t>
            </a:r>
            <a:r>
              <a:rPr lang="zh-CN" altLang="en-US"/>
              <a:t>常量表达式</a:t>
            </a:r>
            <a:r>
              <a:rPr lang="en-US" altLang="zh-CN"/>
              <a:t>i&gt; :”</a:t>
            </a:r>
            <a:r>
              <a:rPr lang="zh-CN" altLang="en-US"/>
              <a:t>后的那一分支的起始点处去执行（直到遇到</a:t>
            </a:r>
            <a:r>
              <a:rPr lang="en-US" altLang="zh-CN"/>
              <a:t>break</a:t>
            </a:r>
            <a:r>
              <a:rPr lang="zh-CN" altLang="en-US"/>
              <a:t>语句或者遇到了</a:t>
            </a:r>
            <a:r>
              <a:rPr lang="en-US" altLang="zh-CN"/>
              <a:t>switch</a:t>
            </a:r>
            <a:r>
              <a:rPr lang="zh-CN" altLang="en-US"/>
              <a:t>语句体的右花括号后结束本</a:t>
            </a:r>
            <a:r>
              <a:rPr lang="en-US" altLang="zh-CN"/>
              <a:t>switch</a:t>
            </a:r>
            <a:r>
              <a:rPr lang="zh-CN" altLang="en-US"/>
              <a:t>句）。</a:t>
            </a:r>
            <a:endParaRPr lang="en-US" altLang="zh-CN"/>
          </a:p>
          <a:p>
            <a:pPr lvl="1" eaLnBrk="1" hangingPunct="1">
              <a:spcBef>
                <a:spcPts val="0"/>
              </a:spcBef>
            </a:pPr>
            <a:r>
              <a:rPr lang="zh-CN" altLang="en-US"/>
              <a:t>若“&lt;条件表达式&gt;”的值与任一个“&lt;常量表达式</a:t>
            </a:r>
            <a:r>
              <a:rPr lang="en-US" altLang="zh-CN"/>
              <a:t>i&gt;”</a:t>
            </a:r>
            <a:r>
              <a:rPr lang="zh-CN" altLang="en-US"/>
              <a:t>的值都不相同, 那么: 若有</a:t>
            </a:r>
            <a:r>
              <a:rPr lang="en-US" altLang="zh-CN"/>
              <a:t>default</a:t>
            </a:r>
            <a:r>
              <a:rPr lang="zh-CN" altLang="en-US"/>
              <a:t>分支, 则跳转到“</a:t>
            </a:r>
            <a:r>
              <a:rPr lang="en-US" altLang="zh-CN"/>
              <a:t>default:”</a:t>
            </a:r>
            <a:r>
              <a:rPr lang="zh-CN" altLang="en-US"/>
              <a:t>后的那一分支的起始点处去执行, 否则什么都不执行(而结束本</a:t>
            </a:r>
            <a:r>
              <a:rPr lang="en-US" altLang="zh-CN"/>
              <a:t>switch</a:t>
            </a:r>
            <a:r>
              <a:rPr lang="zh-CN" altLang="en-US"/>
              <a:t>句)</a:t>
            </a:r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3114675" cy="5029200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/>
              <a:t>不带</a:t>
            </a:r>
            <a:r>
              <a:rPr lang="en-US" altLang="zh-CN">
                <a:solidFill>
                  <a:srgbClr val="C00000"/>
                </a:solidFill>
              </a:rPr>
              <a:t>break</a:t>
            </a:r>
            <a:r>
              <a:rPr lang="zh-CN" altLang="en-US"/>
              <a:t>的开关语句</a:t>
            </a:r>
            <a:endParaRPr lang="zh-CN" altLang="en-US"/>
          </a:p>
        </p:txBody>
      </p:sp>
      <p:pic>
        <p:nvPicPr>
          <p:cNvPr id="57350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57625" y="1428750"/>
            <a:ext cx="4533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3257550" cy="3848100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/>
              <a:t>与</a:t>
            </a:r>
            <a:r>
              <a:rPr lang="en-US" altLang="zh-CN">
                <a:solidFill>
                  <a:srgbClr val="C00000"/>
                </a:solidFill>
              </a:rPr>
              <a:t>break</a:t>
            </a:r>
            <a:r>
              <a:rPr lang="zh-CN" altLang="en-US">
                <a:solidFill>
                  <a:srgbClr val="C00000"/>
                </a:solidFill>
              </a:rPr>
              <a:t>语句</a:t>
            </a:r>
            <a:r>
              <a:rPr lang="zh-CN" altLang="en-US"/>
              <a:t>一起使用的开关语句</a:t>
            </a:r>
            <a:endParaRPr lang="zh-CN" altLang="en-US"/>
          </a:p>
        </p:txBody>
      </p:sp>
      <p:pic>
        <p:nvPicPr>
          <p:cNvPr id="56326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29063" y="1285875"/>
            <a:ext cx="44672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2328863" cy="3276600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/>
              <a:t>不含</a:t>
            </a:r>
            <a:r>
              <a:rPr lang="en-US" altLang="zh-CN">
                <a:solidFill>
                  <a:srgbClr val="C00000"/>
                </a:solidFill>
              </a:rPr>
              <a:t>default</a:t>
            </a:r>
            <a:r>
              <a:rPr lang="zh-CN" altLang="en-US"/>
              <a:t>语句的情况</a:t>
            </a:r>
            <a:endParaRPr lang="zh-CN" altLang="en-US"/>
          </a:p>
        </p:txBody>
      </p:sp>
      <p:pic>
        <p:nvPicPr>
          <p:cNvPr id="624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71813" y="1143000"/>
            <a:ext cx="56102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58175" cy="2490788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4.11】</a:t>
            </a:r>
            <a:r>
              <a:rPr lang="zh-CN" altLang="en-US">
                <a:solidFill>
                  <a:srgbClr val="C00000"/>
                </a:solidFill>
              </a:rPr>
              <a:t>若</a:t>
            </a:r>
            <a:r>
              <a:rPr lang="en-US" altLang="zh-CN">
                <a:solidFill>
                  <a:srgbClr val="C00000"/>
                </a:solidFill>
              </a:rPr>
              <a:t>int</a:t>
            </a:r>
            <a:r>
              <a:rPr lang="zh-CN" altLang="en-US">
                <a:solidFill>
                  <a:srgbClr val="C00000"/>
                </a:solidFill>
              </a:rPr>
              <a:t>型变量</a:t>
            </a:r>
            <a:r>
              <a:rPr lang="en-US" altLang="zh-CN">
                <a:solidFill>
                  <a:srgbClr val="C00000"/>
                </a:solidFill>
              </a:rPr>
              <a:t>i=2, </a:t>
            </a:r>
            <a:r>
              <a:rPr lang="zh-CN" altLang="en-US">
                <a:solidFill>
                  <a:srgbClr val="C00000"/>
                </a:solidFill>
              </a:rPr>
              <a:t>执行下述</a:t>
            </a:r>
            <a:r>
              <a:rPr lang="en-US" altLang="zh-CN">
                <a:solidFill>
                  <a:srgbClr val="C00000"/>
                </a:solidFill>
              </a:rPr>
              <a:t>switch</a:t>
            </a:r>
            <a:r>
              <a:rPr lang="zh-CN" altLang="en-US">
                <a:solidFill>
                  <a:srgbClr val="C00000"/>
                </a:solidFill>
              </a:rPr>
              <a:t>语句后, 将输出 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i=2</a:t>
            </a:r>
            <a:r>
              <a:rPr lang="zh-CN" altLang="en-US">
                <a:solidFill>
                  <a:srgbClr val="C00000"/>
                </a:solidFill>
              </a:rPr>
              <a:t>”以及“</a:t>
            </a:r>
            <a:r>
              <a:rPr lang="en-US" altLang="zh-CN">
                <a:solidFill>
                  <a:srgbClr val="C00000"/>
                </a:solidFill>
              </a:rPr>
              <a:t>i=2</a:t>
            </a:r>
            <a:r>
              <a:rPr lang="zh-CN" altLang="en-US">
                <a:solidFill>
                  <a:srgbClr val="C00000"/>
                </a:solidFill>
              </a:rPr>
              <a:t>”两行；若</a:t>
            </a:r>
            <a:r>
              <a:rPr lang="en-US" altLang="zh-CN">
                <a:solidFill>
                  <a:srgbClr val="C00000"/>
                </a:solidFill>
              </a:rPr>
              <a:t>i=5，</a:t>
            </a:r>
            <a:r>
              <a:rPr lang="zh-CN" altLang="en-US">
                <a:solidFill>
                  <a:srgbClr val="C00000"/>
                </a:solidFill>
              </a:rPr>
              <a:t>则什么也不输出（而结束该</a:t>
            </a:r>
            <a:r>
              <a:rPr lang="en-US" altLang="zh-CN">
                <a:solidFill>
                  <a:srgbClr val="C00000"/>
                </a:solidFill>
              </a:rPr>
              <a:t>switch</a:t>
            </a:r>
            <a:r>
              <a:rPr lang="zh-CN" altLang="en-US">
                <a:solidFill>
                  <a:srgbClr val="C00000"/>
                </a:solidFill>
              </a:rPr>
              <a:t>句）；若</a:t>
            </a:r>
            <a:r>
              <a:rPr lang="en-US" altLang="zh-CN">
                <a:solidFill>
                  <a:srgbClr val="C00000"/>
                </a:solidFill>
              </a:rPr>
              <a:t>i=1</a:t>
            </a:r>
            <a:r>
              <a:rPr lang="zh-CN" altLang="en-US">
                <a:solidFill>
                  <a:srgbClr val="C00000"/>
                </a:solidFill>
              </a:rPr>
              <a:t>时，要输出3行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i=1</a:t>
            </a:r>
            <a:r>
              <a:rPr lang="zh-CN" altLang="en-US">
                <a:solidFill>
                  <a:srgbClr val="C00000"/>
                </a:solidFill>
              </a:rPr>
              <a:t>”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583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71750" y="3643313"/>
            <a:ext cx="42862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2709863"/>
            <a:ext cx="5068887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2709863"/>
            <a:ext cx="5068887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6763" y="3428999"/>
            <a:ext cx="5068887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04913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zh-CN" altLang="en-US"/>
              <a:t>多个</a:t>
            </a:r>
            <a:r>
              <a:rPr lang="en-US" altLang="zh-CN"/>
              <a:t>case</a:t>
            </a:r>
            <a:r>
              <a:rPr lang="zh-CN" altLang="en-US"/>
              <a:t>并列的情况</a:t>
            </a:r>
            <a:endParaRPr lang="zh-CN" altLang="en-US"/>
          </a:p>
        </p:txBody>
      </p:sp>
      <p:pic>
        <p:nvPicPr>
          <p:cNvPr id="593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8875" y="2357438"/>
            <a:ext cx="4371975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357188" y="1295400"/>
            <a:ext cx="8501062" cy="5029200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4.12】</a:t>
            </a:r>
            <a:r>
              <a:rPr lang="zh-CN" altLang="en-US">
                <a:solidFill>
                  <a:srgbClr val="C00000"/>
                </a:solidFill>
              </a:rPr>
              <a:t>输入成绩，输出成绩的等级。例如成绩</a:t>
            </a:r>
            <a:r>
              <a:rPr lang="en-US" altLang="zh-CN">
                <a:solidFill>
                  <a:srgbClr val="C00000"/>
                </a:solidFill>
              </a:rPr>
              <a:t>score=86, </a:t>
            </a:r>
            <a:r>
              <a:rPr lang="zh-CN" altLang="en-US">
                <a:solidFill>
                  <a:srgbClr val="C00000"/>
                </a:solidFill>
              </a:rPr>
              <a:t>运行程序后, 将输出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grade=B</a:t>
            </a:r>
            <a:r>
              <a:rPr lang="zh-CN" altLang="en-US">
                <a:solidFill>
                  <a:srgbClr val="C00000"/>
                </a:solidFill>
              </a:rPr>
              <a:t>”</a:t>
            </a:r>
            <a:r>
              <a:rPr lang="en-US" altLang="zh-CN">
                <a:solidFill>
                  <a:srgbClr val="C00000"/>
                </a:solidFill>
              </a:rPr>
              <a:t>；</a:t>
            </a:r>
            <a:r>
              <a:rPr lang="zh-CN" altLang="en-US">
                <a:solidFill>
                  <a:srgbClr val="C00000"/>
                </a:solidFill>
              </a:rPr>
              <a:t>若</a:t>
            </a:r>
            <a:r>
              <a:rPr lang="en-US" altLang="zh-CN">
                <a:solidFill>
                  <a:srgbClr val="C00000"/>
                </a:solidFill>
              </a:rPr>
              <a:t>score</a:t>
            </a:r>
            <a:r>
              <a:rPr lang="zh-CN" altLang="en-US">
                <a:solidFill>
                  <a:srgbClr val="C00000"/>
                </a:solidFill>
              </a:rPr>
              <a:t>处于90到100之间，将输出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grade=A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C00000"/>
                </a:solidFill>
              </a:rPr>
              <a:t>； </a:t>
            </a:r>
            <a:endParaRPr lang="en-US" altLang="zh-CN">
              <a:solidFill>
                <a:srgbClr val="C0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</a:rPr>
              <a:t> 	... ；</a:t>
            </a:r>
            <a:r>
              <a:rPr lang="zh-CN" altLang="en-US">
                <a:solidFill>
                  <a:srgbClr val="C00000"/>
                </a:solidFill>
              </a:rPr>
              <a:t>若</a:t>
            </a:r>
            <a:r>
              <a:rPr lang="en-US" altLang="zh-CN">
                <a:solidFill>
                  <a:srgbClr val="C00000"/>
                </a:solidFill>
              </a:rPr>
              <a:t>score/10</a:t>
            </a:r>
            <a:r>
              <a:rPr lang="zh-CN" altLang="en-US">
                <a:solidFill>
                  <a:srgbClr val="C00000"/>
                </a:solidFill>
              </a:rPr>
              <a:t>不处于6到10之间（如, </a:t>
            </a:r>
            <a:r>
              <a:rPr lang="en-US" altLang="zh-CN">
                <a:solidFill>
                  <a:srgbClr val="C00000"/>
                </a:solidFill>
              </a:rPr>
              <a:t>score</a:t>
            </a:r>
            <a:r>
              <a:rPr lang="zh-CN" altLang="en-US">
                <a:solidFill>
                  <a:srgbClr val="C00000"/>
                </a:solidFill>
              </a:rPr>
              <a:t>为59, 0, 123, -12等）, 将输出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grade=E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</a:rPr>
              <a:t>”</a:t>
            </a:r>
            <a:r>
              <a:rPr lang="en-US" altLang="zh-CN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144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0" y="1143000"/>
            <a:ext cx="3786188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4.13】</a:t>
            </a:r>
            <a:r>
              <a:rPr lang="zh-CN" altLang="en-US">
                <a:solidFill>
                  <a:srgbClr val="C00000"/>
                </a:solidFill>
              </a:rPr>
              <a:t>利用开关语句设计计算器程序，实现运算：</a:t>
            </a:r>
            <a:r>
              <a:rPr lang="en-US" altLang="zh-CN">
                <a:solidFill>
                  <a:srgbClr val="C00000"/>
                </a:solidFill>
              </a:rPr>
              <a:t>+</a:t>
            </a:r>
            <a:r>
              <a:rPr lang="zh-CN" altLang="en-US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-</a:t>
            </a:r>
            <a:r>
              <a:rPr lang="zh-CN" altLang="en-US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*</a:t>
            </a:r>
            <a:r>
              <a:rPr lang="zh-CN" altLang="en-US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/</a:t>
            </a:r>
            <a:r>
              <a:rPr lang="zh-CN" altLang="en-US">
                <a:solidFill>
                  <a:srgbClr val="C00000"/>
                </a:solidFill>
              </a:rPr>
              <a:t>和</a:t>
            </a:r>
            <a:r>
              <a:rPr lang="en-US" altLang="zh-CN">
                <a:solidFill>
                  <a:srgbClr val="C00000"/>
                </a:solidFill>
              </a:rPr>
              <a:t>%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由不同的运算产生分支</a:t>
            </a:r>
            <a:endParaRPr lang="en-US" altLang="zh-CN"/>
          </a:p>
          <a:p>
            <a:pPr lvl="3" eaLnBrk="1" hangingPunct="1"/>
            <a:r>
              <a:rPr lang="zh-CN" altLang="en-US"/>
              <a:t>多个分支</a:t>
            </a:r>
            <a:endParaRPr lang="zh-CN" altLang="en-US"/>
          </a:p>
        </p:txBody>
      </p:sp>
      <p:pic>
        <p:nvPicPr>
          <p:cNvPr id="634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57438" y="3643313"/>
            <a:ext cx="3643312" cy="260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451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35175" y="1238969"/>
            <a:ext cx="5633169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76850"/>
          </a:xfrm>
        </p:spPr>
        <p:txBody>
          <a:bodyPr/>
          <a:lstStyle/>
          <a:p>
            <a:pPr eaLnBrk="1" hangingPunct="1"/>
            <a:r>
              <a:rPr lang="zh-CN" altLang="en-US"/>
              <a:t>开关语句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4.14】</a:t>
            </a:r>
            <a:r>
              <a:rPr lang="zh-CN" altLang="en-US">
                <a:solidFill>
                  <a:srgbClr val="C00000"/>
                </a:solidFill>
              </a:rPr>
              <a:t>运输公司对所运货物实行分段计费。设运输里程为</a:t>
            </a:r>
            <a:r>
              <a:rPr lang="en-US" altLang="zh-CN">
                <a:solidFill>
                  <a:srgbClr val="C00000"/>
                </a:solidFill>
              </a:rPr>
              <a:t>s</a:t>
            </a:r>
            <a:r>
              <a:rPr lang="zh-CN" altLang="en-US">
                <a:solidFill>
                  <a:srgbClr val="C00000"/>
                </a:solidFill>
              </a:rPr>
              <a:t>，则运费打折情况如下：</a:t>
            </a:r>
            <a:endParaRPr lang="en-US" altLang="zh-CN">
              <a:solidFill>
                <a:srgbClr val="C00000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	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s&lt;250			        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不打折扣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250&lt;=s&lt;500		         2%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500&lt;=s&lt;1000		         5%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1000&lt;=s&lt;2000	         8%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2000&lt;=s&lt;3000	         10%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3000&lt;=s		         15%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折扣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/>
              <a:t>设每公里每吨的基本运费为</a:t>
            </a:r>
            <a:r>
              <a:rPr lang="en-US" altLang="zh-CN"/>
              <a:t>p</a:t>
            </a:r>
            <a:r>
              <a:rPr lang="zh-CN" altLang="en-US"/>
              <a:t>，货物重量为</a:t>
            </a:r>
            <a:r>
              <a:rPr lang="en-US" altLang="zh-CN"/>
              <a:t>w</a:t>
            </a:r>
            <a:r>
              <a:rPr lang="zh-CN" altLang="en-US"/>
              <a:t>，总运输里程在某段中的里程为</a:t>
            </a:r>
            <a:r>
              <a:rPr lang="en-US" altLang="zh-CN"/>
              <a:t>Δs</a:t>
            </a:r>
            <a:r>
              <a:rPr lang="zh-CN" altLang="en-US"/>
              <a:t>，折扣为</a:t>
            </a:r>
            <a:r>
              <a:rPr lang="en-US" altLang="zh-CN"/>
              <a:t>d</a:t>
            </a:r>
            <a:r>
              <a:rPr lang="zh-CN" altLang="en-US"/>
              <a:t>，则该段运费为：</a:t>
            </a:r>
            <a:r>
              <a:rPr lang="en-US" altLang="zh-CN"/>
              <a:t>p*w*Δs*(1-d)</a:t>
            </a:r>
            <a:endParaRPr lang="en-US" altLang="zh-CN"/>
          </a:p>
          <a:p>
            <a:pPr lvl="2" eaLnBrk="1" hangingPunct="1"/>
            <a:r>
              <a:rPr lang="zh-CN" altLang="en-US"/>
              <a:t>设计程序，当输入</a:t>
            </a:r>
            <a:r>
              <a:rPr lang="en-US" altLang="zh-CN"/>
              <a:t>p</a:t>
            </a:r>
            <a:r>
              <a:rPr lang="zh-CN" altLang="en-US"/>
              <a:t>、</a:t>
            </a:r>
            <a:r>
              <a:rPr lang="en-US" altLang="zh-CN"/>
              <a:t>w</a:t>
            </a:r>
            <a:r>
              <a:rPr lang="zh-CN" altLang="en-US"/>
              <a:t>和</a:t>
            </a:r>
            <a:r>
              <a:rPr lang="en-US" altLang="zh-CN"/>
              <a:t>s</a:t>
            </a:r>
            <a:r>
              <a:rPr lang="zh-CN" altLang="en-US"/>
              <a:t>后，计算运费</a:t>
            </a:r>
            <a:r>
              <a:rPr lang="en-US" altLang="zh-CN"/>
              <a:t>f</a:t>
            </a:r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3300"/>
                </a:solidFill>
              </a:rPr>
              <a:t>总费用为各段费用之和，可采用不加</a:t>
            </a:r>
            <a:r>
              <a:rPr lang="en-US" altLang="zh-CN">
                <a:solidFill>
                  <a:srgbClr val="FF3300"/>
                </a:solidFill>
              </a:rPr>
              <a:t>break</a:t>
            </a:r>
            <a:r>
              <a:rPr lang="zh-CN" altLang="en-US">
                <a:solidFill>
                  <a:srgbClr val="FF3300"/>
                </a:solidFill>
              </a:rPr>
              <a:t>的</a:t>
            </a:r>
            <a:r>
              <a:rPr lang="en-US" altLang="zh-CN">
                <a:solidFill>
                  <a:srgbClr val="FF3300"/>
                </a:solidFill>
              </a:rPr>
              <a:t>switch</a:t>
            </a:r>
            <a:r>
              <a:rPr lang="zh-CN" altLang="en-US">
                <a:solidFill>
                  <a:srgbClr val="FF3300"/>
                </a:solidFill>
              </a:rPr>
              <a:t>语句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/>
              <a:t>switch</a:t>
            </a:r>
            <a:r>
              <a:rPr lang="zh-CN" altLang="en-US"/>
              <a:t>语句要求条件表达式取值为确定的若干个开关量，而不能使用关系表达式，用里程</a:t>
            </a:r>
            <a:r>
              <a:rPr lang="en-US" altLang="zh-CN"/>
              <a:t>s</a:t>
            </a:r>
            <a:r>
              <a:rPr lang="zh-CN" altLang="en-US"/>
              <a:t>进行判断似乎不符合条件。但是分析发现，里程</a:t>
            </a:r>
            <a:r>
              <a:rPr lang="en-US" altLang="zh-CN"/>
              <a:t>s</a:t>
            </a:r>
            <a:r>
              <a:rPr lang="zh-CN" altLang="en-US"/>
              <a:t>的分段点均是</a:t>
            </a:r>
            <a:r>
              <a:rPr lang="en-US" altLang="zh-CN"/>
              <a:t>250</a:t>
            </a:r>
            <a:r>
              <a:rPr lang="zh-CN" altLang="en-US"/>
              <a:t>的倍数，因此，将里程</a:t>
            </a:r>
            <a:r>
              <a:rPr lang="en-US" altLang="zh-CN"/>
              <a:t>s</a:t>
            </a:r>
            <a:r>
              <a:rPr lang="zh-CN" altLang="en-US"/>
              <a:t>除以</a:t>
            </a:r>
            <a:r>
              <a:rPr lang="en-US" altLang="zh-CN"/>
              <a:t>250</a:t>
            </a:r>
            <a:r>
              <a:rPr lang="zh-CN" altLang="en-US"/>
              <a:t>，取整数商</a:t>
            </a:r>
            <a:r>
              <a:rPr lang="en-US" altLang="zh-CN"/>
              <a:t>c</a:t>
            </a:r>
            <a:r>
              <a:rPr lang="zh-CN" altLang="en-US"/>
              <a:t>，可得到若干整数值。因此算法描述如下：</a:t>
            </a:r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143125" y="1482725"/>
            <a:ext cx="6697663" cy="4375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switch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(c){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default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: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d=0.15;f+=p*w*(s-3000)*(1-d);s=3000;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8: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9: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10: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11: 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d=0.1;f+=p*w*(s-2000)*(1-d);s=2000;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4: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5: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6: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7:  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d=0.08;f+=p*w*(s-1000)*(1-d);s=1000;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2: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3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d=0.05;f+=p*w*(s-500)*(1-d);s=500;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1: 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d=0.02;f+=p*w*(s-250)*(1-d);s=250;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0: 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d=0;f+=p*w*s*(1-d);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}</a:t>
            </a:r>
            <a:endParaRPr lang="en-US" altLang="zh-CN" sz="20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sp>
        <p:nvSpPr>
          <p:cNvPr id="67590" name="Text Box 3"/>
          <p:cNvSpPr txBox="1">
            <a:spLocks noChangeArrowheads="1"/>
          </p:cNvSpPr>
          <p:nvPr/>
        </p:nvSpPr>
        <p:spPr bwMode="auto">
          <a:xfrm>
            <a:off x="142875" y="1500188"/>
            <a:ext cx="1785938" cy="3416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3000&gt;=s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 15%</a:t>
            </a:r>
            <a:r>
              <a:rPr lang="zh-CN" altLang="en-US" b="1">
                <a:latin typeface="Times New Roman" panose="02020603050405020304" pitchFamily="18" charset="0"/>
              </a:rPr>
              <a:t>折扣</a:t>
            </a:r>
            <a:endParaRPr lang="zh-CN" altLang="en-US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2000&lt;=s&lt;3000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 10%</a:t>
            </a:r>
            <a:r>
              <a:rPr lang="zh-CN" altLang="en-US" b="1">
                <a:latin typeface="Times New Roman" panose="02020603050405020304" pitchFamily="18" charset="0"/>
              </a:rPr>
              <a:t>折扣</a:t>
            </a:r>
            <a:endParaRPr lang="zh-CN" altLang="en-US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1000&lt;=s&lt;2000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 8%</a:t>
            </a:r>
            <a:r>
              <a:rPr lang="zh-CN" altLang="en-US" b="1">
                <a:latin typeface="Times New Roman" panose="02020603050405020304" pitchFamily="18" charset="0"/>
              </a:rPr>
              <a:t>折扣</a:t>
            </a:r>
            <a:endParaRPr lang="zh-CN" altLang="en-US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500&lt;=s&lt;1000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 5%</a:t>
            </a:r>
            <a:r>
              <a:rPr lang="zh-CN" altLang="en-US" b="1">
                <a:latin typeface="Times New Roman" panose="02020603050405020304" pitchFamily="18" charset="0"/>
              </a:rPr>
              <a:t>折扣</a:t>
            </a:r>
            <a:endParaRPr lang="zh-CN" altLang="en-US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250&lt;=s&lt;500 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 2%</a:t>
            </a:r>
            <a:r>
              <a:rPr lang="zh-CN" altLang="en-US" b="1">
                <a:latin typeface="Times New Roman" panose="02020603050405020304" pitchFamily="18" charset="0"/>
              </a:rPr>
              <a:t>折扣</a:t>
            </a:r>
            <a:endParaRPr lang="zh-CN" altLang="en-US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s&lt;250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</a:rPr>
              <a:t>   </a:t>
            </a:r>
            <a:r>
              <a:rPr lang="zh-CN" altLang="en-US" b="1">
                <a:latin typeface="Times New Roman" panose="02020603050405020304" pitchFamily="18" charset="0"/>
              </a:rPr>
              <a:t>不打折扣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67591" name="Line 5"/>
          <p:cNvSpPr>
            <a:spLocks noChangeShapeType="1"/>
          </p:cNvSpPr>
          <p:nvPr/>
        </p:nvSpPr>
        <p:spPr bwMode="auto">
          <a:xfrm flipV="1">
            <a:off x="2000250" y="1125538"/>
            <a:ext cx="0" cy="518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28688" y="1214438"/>
            <a:ext cx="7358062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9635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69676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7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9636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69673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4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69637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/>
              <a:t>C++</a:t>
            </a:r>
            <a:r>
              <a:rPr lang="zh-CN" altLang="en-US" sz="3200" b="1"/>
              <a:t>语句概述</a:t>
            </a:r>
            <a:endParaRPr lang="en-US" altLang="zh-CN" sz="3200" b="1"/>
          </a:p>
        </p:txBody>
      </p:sp>
      <p:sp>
        <p:nvSpPr>
          <p:cNvPr id="69639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69640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1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分支语句</a:t>
            </a:r>
            <a:endParaRPr lang="en-US" altLang="zh-CN" sz="3200" b="1"/>
          </a:p>
        </p:txBody>
      </p:sp>
      <p:sp>
        <p:nvSpPr>
          <p:cNvPr id="69642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69643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69670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1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9644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69667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8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69645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C00000"/>
                </a:solidFill>
              </a:rPr>
              <a:t>循环语句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69647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69648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9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无条件转向语句</a:t>
            </a:r>
            <a:endParaRPr lang="en-US" altLang="zh-CN" sz="3200" b="1"/>
          </a:p>
        </p:txBody>
      </p:sp>
      <p:sp>
        <p:nvSpPr>
          <p:cNvPr id="69650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69653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69664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5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9654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69661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2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69655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6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导出数据类型和数组</a:t>
            </a:r>
            <a:endParaRPr lang="en-US" altLang="zh-CN" sz="3200" b="1"/>
          </a:p>
        </p:txBody>
      </p:sp>
      <p:sp>
        <p:nvSpPr>
          <p:cNvPr id="69657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69658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9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结构类型与联合类型</a:t>
            </a:r>
            <a:endParaRPr lang="en-US" altLang="zh-CN" sz="3200" b="1"/>
          </a:p>
        </p:txBody>
      </p:sp>
      <p:sp>
        <p:nvSpPr>
          <p:cNvPr id="69660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循环结构程序设计</a:t>
            </a:r>
            <a:endParaRPr lang="zh-CN" altLang="en-US" dirty="0"/>
          </a:p>
        </p:txBody>
      </p:sp>
      <p:grpSp>
        <p:nvGrpSpPr>
          <p:cNvPr id="53" name="Group 52"/>
          <p:cNvGrpSpPr/>
          <p:nvPr/>
        </p:nvGrpSpPr>
        <p:grpSpPr bwMode="auto">
          <a:xfrm>
            <a:off x="-2395538" y="1600200"/>
            <a:ext cx="9253538" cy="4824413"/>
            <a:chOff x="-1509" y="1008"/>
            <a:chExt cx="5829" cy="3039"/>
          </a:xfrm>
        </p:grpSpPr>
        <p:sp>
          <p:nvSpPr>
            <p:cNvPr id="54" name="AutoShape 4"/>
            <p:cNvSpPr>
              <a:spLocks noChangeArrowheads="1"/>
            </p:cNvSpPr>
            <p:nvPr/>
          </p:nvSpPr>
          <p:spPr bwMode="ltGray">
            <a:xfrm rot="5400000">
              <a:off x="-1526" y="1025"/>
              <a:ext cx="3039" cy="3005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45490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tint val="4549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5"/>
            <p:cNvSpPr>
              <a:spLocks noChangeArrowheads="1"/>
            </p:cNvSpPr>
            <p:nvPr/>
          </p:nvSpPr>
          <p:spPr bwMode="ltGray">
            <a:xfrm rot="5400000" flipH="1">
              <a:off x="-1270" y="1299"/>
              <a:ext cx="2540" cy="2475"/>
            </a:xfrm>
            <a:custGeom>
              <a:avLst/>
              <a:gdLst>
                <a:gd name="G0" fmla="+- 56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6"/>
                <a:gd name="G18" fmla="*/ 56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6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6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372 w 21600"/>
                <a:gd name="T15" fmla="*/ 10800 h 21600"/>
                <a:gd name="T16" fmla="*/ 10800 w 21600"/>
                <a:gd name="T17" fmla="*/ 10744 h 21600"/>
                <a:gd name="T18" fmla="*/ 16228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744" y="10800"/>
                  </a:moveTo>
                  <a:cubicBezTo>
                    <a:pt x="10744" y="10769"/>
                    <a:pt x="10769" y="10744"/>
                    <a:pt x="10800" y="10744"/>
                  </a:cubicBezTo>
                  <a:cubicBezTo>
                    <a:pt x="10830" y="10743"/>
                    <a:pt x="10855" y="10769"/>
                    <a:pt x="1085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BBE0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Group 47"/>
            <p:cNvGrpSpPr/>
            <p:nvPr/>
          </p:nvGrpSpPr>
          <p:grpSpPr bwMode="auto">
            <a:xfrm>
              <a:off x="912" y="1243"/>
              <a:ext cx="2984" cy="320"/>
              <a:chOff x="912" y="1243"/>
              <a:chExt cx="2984" cy="320"/>
            </a:xfrm>
          </p:grpSpPr>
          <p:sp>
            <p:nvSpPr>
              <p:cNvPr id="93" name="AutoShape 10"/>
              <p:cNvSpPr>
                <a:spLocks noChangeArrowheads="1"/>
              </p:cNvSpPr>
              <p:nvPr/>
            </p:nvSpPr>
            <p:spPr bwMode="gray">
              <a:xfrm>
                <a:off x="1112" y="1243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solidFill>
                      <a:srgbClr val="8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循环的概念</a:t>
                </a:r>
                <a:endParaRPr lang="en-US" altLang="zh-CN" sz="2400" b="1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94" name="Group 11"/>
              <p:cNvGrpSpPr/>
              <p:nvPr/>
            </p:nvGrpSpPr>
            <p:grpSpPr bwMode="auto">
              <a:xfrm>
                <a:off x="912" y="1299"/>
                <a:ext cx="240" cy="240"/>
                <a:chOff x="2078" y="1680"/>
                <a:chExt cx="1615" cy="1615"/>
              </a:xfrm>
            </p:grpSpPr>
            <p:sp>
              <p:nvSpPr>
                <p:cNvPr id="95" name="Oval 12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3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Oval 14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" name="Group 48"/>
            <p:cNvGrpSpPr/>
            <p:nvPr/>
          </p:nvGrpSpPr>
          <p:grpSpPr bwMode="auto">
            <a:xfrm>
              <a:off x="1248" y="1728"/>
              <a:ext cx="2976" cy="320"/>
              <a:chOff x="1248" y="1728"/>
              <a:chExt cx="2976" cy="320"/>
            </a:xfrm>
          </p:grpSpPr>
          <p:sp>
            <p:nvSpPr>
              <p:cNvPr id="85" name="AutoShape 9"/>
              <p:cNvSpPr>
                <a:spLocks noChangeArrowheads="1"/>
              </p:cNvSpPr>
              <p:nvPr/>
            </p:nvSpPr>
            <p:spPr bwMode="gray">
              <a:xfrm>
                <a:off x="1440" y="172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用三种循环语句实现循环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86" name="Group 18"/>
              <p:cNvGrpSpPr/>
              <p:nvPr/>
            </p:nvGrpSpPr>
            <p:grpSpPr bwMode="auto">
              <a:xfrm>
                <a:off x="1248" y="1795"/>
                <a:ext cx="240" cy="240"/>
                <a:chOff x="2078" y="1680"/>
                <a:chExt cx="1615" cy="1615"/>
              </a:xfrm>
            </p:grpSpPr>
            <p:sp>
              <p:nvSpPr>
                <p:cNvPr id="87" name="Oval 19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Oval 20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21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2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>
                        <a:gamma/>
                        <a:shade val="0"/>
                        <a:invGamma/>
                      </a:srgbClr>
                    </a:gs>
                    <a:gs pos="100000">
                      <a:srgbClr val="48BE6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Oval 23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Oval 2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/>
                    </a:gs>
                    <a:gs pos="100000">
                      <a:srgbClr val="48BE67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" name="Group 49"/>
            <p:cNvGrpSpPr/>
            <p:nvPr/>
          </p:nvGrpSpPr>
          <p:grpSpPr bwMode="auto">
            <a:xfrm>
              <a:off x="1344" y="2275"/>
              <a:ext cx="2976" cy="320"/>
              <a:chOff x="1344" y="2275"/>
              <a:chExt cx="2976" cy="320"/>
            </a:xfrm>
          </p:grpSpPr>
          <p:sp>
            <p:nvSpPr>
              <p:cNvPr id="77" name="AutoShape 8"/>
              <p:cNvSpPr>
                <a:spLocks noChangeArrowheads="1"/>
              </p:cNvSpPr>
              <p:nvPr/>
            </p:nvSpPr>
            <p:spPr bwMode="gray">
              <a:xfrm>
                <a:off x="1536" y="2275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循环的嵌套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8" name="Group 25"/>
              <p:cNvGrpSpPr/>
              <p:nvPr/>
            </p:nvGrpSpPr>
            <p:grpSpPr bwMode="auto">
              <a:xfrm>
                <a:off x="1344" y="2323"/>
                <a:ext cx="240" cy="240"/>
                <a:chOff x="2078" y="1680"/>
                <a:chExt cx="1615" cy="1615"/>
              </a:xfrm>
            </p:grpSpPr>
            <p:sp>
              <p:nvSpPr>
                <p:cNvPr id="79" name="Oval 26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27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28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Oval 29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30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Oval 31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" name="Group 50"/>
            <p:cNvGrpSpPr/>
            <p:nvPr/>
          </p:nvGrpSpPr>
          <p:grpSpPr bwMode="auto">
            <a:xfrm>
              <a:off x="1248" y="2787"/>
              <a:ext cx="2996" cy="320"/>
              <a:chOff x="1248" y="2787"/>
              <a:chExt cx="2996" cy="320"/>
            </a:xfrm>
          </p:grpSpPr>
          <p:sp>
            <p:nvSpPr>
              <p:cNvPr id="69" name="AutoShape 7"/>
              <p:cNvSpPr>
                <a:spLocks noChangeArrowheads="1"/>
              </p:cNvSpPr>
              <p:nvPr/>
            </p:nvSpPr>
            <p:spPr bwMode="gray">
              <a:xfrm>
                <a:off x="1460" y="2787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改变循环执行的状态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0" name="Group 32"/>
              <p:cNvGrpSpPr/>
              <p:nvPr/>
            </p:nvGrpSpPr>
            <p:grpSpPr bwMode="auto">
              <a:xfrm>
                <a:off x="1248" y="2851"/>
                <a:ext cx="240" cy="240"/>
                <a:chOff x="2078" y="1680"/>
                <a:chExt cx="1615" cy="1615"/>
              </a:xfrm>
            </p:grpSpPr>
            <p:sp>
              <p:nvSpPr>
                <p:cNvPr id="71" name="Oval 33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Oval 34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Oval 3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Oval 3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>
                        <a:gamma/>
                        <a:shade val="0"/>
                        <a:invGamma/>
                      </a:srgbClr>
                    </a:gs>
                    <a:gs pos="100000">
                      <a:srgbClr val="8D67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Oval 3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3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/>
                    </a:gs>
                    <a:gs pos="100000">
                      <a:srgbClr val="8D67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0" name="Group 51"/>
            <p:cNvGrpSpPr/>
            <p:nvPr/>
          </p:nvGrpSpPr>
          <p:grpSpPr bwMode="auto">
            <a:xfrm>
              <a:off x="960" y="3308"/>
              <a:ext cx="2972" cy="320"/>
              <a:chOff x="960" y="3308"/>
              <a:chExt cx="2972" cy="320"/>
            </a:xfrm>
          </p:grpSpPr>
          <p:sp>
            <p:nvSpPr>
              <p:cNvPr id="61" name="AutoShape 6"/>
              <p:cNvSpPr>
                <a:spLocks noChangeArrowheads="1"/>
              </p:cNvSpPr>
              <p:nvPr/>
            </p:nvSpPr>
            <p:spPr bwMode="gray">
              <a:xfrm>
                <a:off x="1148" y="330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循环程序综合举例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2" name="Group 39"/>
              <p:cNvGrpSpPr/>
              <p:nvPr/>
            </p:nvGrpSpPr>
            <p:grpSpPr bwMode="auto">
              <a:xfrm>
                <a:off x="960" y="3339"/>
                <a:ext cx="224" cy="240"/>
                <a:chOff x="2078" y="1680"/>
                <a:chExt cx="1615" cy="1615"/>
              </a:xfrm>
            </p:grpSpPr>
            <p:sp>
              <p:nvSpPr>
                <p:cNvPr id="63" name="Oval 4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4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4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Oval 4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>
                        <a:gamma/>
                        <a:shade val="0"/>
                        <a:invGamma/>
                      </a:srgbClr>
                    </a:gs>
                    <a:gs pos="100000">
                      <a:srgbClr val="E35E2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Oval 4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Oval 4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/>
                    </a:gs>
                    <a:gs pos="100000">
                      <a:srgbClr val="E35E23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1" name="灯片编号占位符 100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 </a:t>
            </a:r>
            <a:r>
              <a:rPr lang="en-US" altLang="zh-CN" dirty="0"/>
              <a:t>(Loop)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什么是循环？</a:t>
                </a:r>
                <a:endParaRPr lang="en-US" altLang="zh-CN" dirty="0"/>
              </a:p>
              <a:p>
                <a:r>
                  <a:rPr lang="zh-CN" altLang="en-US" dirty="0"/>
                  <a:t>为什么要使用循环？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问题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：求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1+2+3+…+100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sup>
                      <m:e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nary>
                  </m:oMath>
                </a14:m>
                <a:endParaRPr lang="en-US" altLang="zh-CN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sum = 0;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sum = sum + 1;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sum = sum + 2;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sum = sum + 3;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…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省略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+4,+5,…,+99</a:t>
                </a:r>
                <a:endParaRPr lang="en-US" altLang="zh-CN" sz="20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sum = sum + 100; 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重复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100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次相似的语句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sum = sum + n;</a:t>
                </a:r>
                <a:endParaRPr lang="en-US" altLang="zh-CN" sz="20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cout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&lt;&lt; "sum=" &lt;&lt; sum &lt;&lt;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endl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endParaRPr lang="en-US" altLang="zh-CN" sz="24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 </a:t>
            </a:r>
            <a:r>
              <a:rPr lang="en-US" altLang="zh-CN" dirty="0"/>
              <a:t>(Loop)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241425"/>
            <a:ext cx="9036496" cy="5248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7030A0"/>
                </a:solidFill>
              </a:rPr>
              <a:t>问题</a:t>
            </a:r>
            <a:r>
              <a:rPr lang="en-US" altLang="zh-CN" dirty="0">
                <a:solidFill>
                  <a:srgbClr val="7030A0"/>
                </a:solidFill>
              </a:rPr>
              <a:t>2</a:t>
            </a:r>
            <a:r>
              <a:rPr lang="zh-CN" altLang="en-US" dirty="0">
                <a:solidFill>
                  <a:srgbClr val="7030A0"/>
                </a:solidFill>
              </a:rPr>
              <a:t>：输入全班</a:t>
            </a:r>
            <a:r>
              <a:rPr lang="en-US" altLang="zh-CN" dirty="0">
                <a:solidFill>
                  <a:srgbClr val="7030A0"/>
                </a:solidFill>
              </a:rPr>
              <a:t>90</a:t>
            </a:r>
            <a:r>
              <a:rPr lang="zh-CN" altLang="en-US" dirty="0">
                <a:solidFill>
                  <a:srgbClr val="7030A0"/>
                </a:solidFill>
              </a:rPr>
              <a:t>个学生</a:t>
            </a:r>
            <a:r>
              <a:rPr lang="en-US" altLang="zh-CN" dirty="0">
                <a:solidFill>
                  <a:srgbClr val="7030A0"/>
                </a:solidFill>
              </a:rPr>
              <a:t>5</a:t>
            </a:r>
            <a:r>
              <a:rPr lang="zh-CN" altLang="en-US" dirty="0">
                <a:solidFill>
                  <a:srgbClr val="7030A0"/>
                </a:solidFill>
              </a:rPr>
              <a:t>门课程的成绩，</a:t>
            </a:r>
            <a:endParaRPr lang="en-US" altLang="zh-C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7030A0"/>
                </a:solidFill>
              </a:rPr>
              <a:t>        </a:t>
            </a:r>
            <a:r>
              <a:rPr lang="zh-CN" altLang="en-US" dirty="0">
                <a:solidFill>
                  <a:srgbClr val="7030A0"/>
                </a:solidFill>
              </a:rPr>
              <a:t>分别计算每名学生的平均成绩并输出。</a:t>
            </a:r>
            <a:endParaRPr lang="en-US" altLang="zh-CN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score1,score2,score3,score4,score5;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score1 &gt;&gt; score2 &gt;&gt; score3 &gt;&gt; score4 &gt;&gt; score5;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(score1 + score2 + score3 + score4 + score5)/5.0;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 &lt;&lt;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002060"/>
                </a:solidFill>
              </a:rPr>
              <a:t>…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重复写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个相同的程序段</a:t>
            </a:r>
            <a:endParaRPr lang="zh-CN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611560" y="5085184"/>
            <a:ext cx="8229600" cy="13681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</a:rPr>
              <a:t>分别编写若干个相同或相似的语句或程序段</a:t>
            </a:r>
            <a:endParaRPr lang="en-US" altLang="zh-CN" sz="2400" dirty="0">
              <a:solidFill>
                <a:srgbClr val="0070C0"/>
              </a:solidFill>
            </a:endParaRPr>
          </a:p>
          <a:p>
            <a:r>
              <a:rPr lang="zh-CN" altLang="en-US" sz="2400" dirty="0">
                <a:solidFill>
                  <a:srgbClr val="0070C0"/>
                </a:solidFill>
              </a:rPr>
              <a:t>工作量大、程序冗长、重复、难以阅读和维护</a:t>
            </a:r>
            <a:endParaRPr lang="en-US" altLang="zh-CN" sz="2400" dirty="0">
              <a:solidFill>
                <a:srgbClr val="0070C0"/>
              </a:solidFill>
            </a:endParaRPr>
          </a:p>
          <a:p>
            <a:r>
              <a:rPr lang="zh-CN" altLang="en-US" sz="2400" dirty="0">
                <a:solidFill>
                  <a:srgbClr val="0070C0"/>
                </a:solidFill>
              </a:rPr>
              <a:t>可实现要求，但不可取！最笨的办法！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32222" y="5157192"/>
            <a:ext cx="800219" cy="11521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</a:t>
            </a:r>
            <a:endParaRPr lang="zh-CN" altLang="en-US" sz="40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用循环来实现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3433"/>
                <a:ext cx="8229600" cy="26916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>
                    <a:solidFill>
                      <a:srgbClr val="7030A0"/>
                    </a:solidFill>
                  </a:rPr>
                  <a:t>问题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：求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1+2+3+…+100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sum = 0;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( </a:t>
                </a:r>
                <a:r>
                  <a:rPr lang="en-US" altLang="zh-CN" sz="2000" dirty="0" err="1">
                    <a:solidFill>
                      <a:srgbClr val="0000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1;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&lt;= 100;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++)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{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sum = sum +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}</a:t>
                </a:r>
                <a:endParaRPr lang="en-US" altLang="zh-CN" sz="20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cout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&lt;&lt; "sum = " &lt;&lt; sum &lt;&lt; </a:t>
                </a:r>
                <a:r>
                  <a:rPr lang="en-US" altLang="zh-CN" sz="2000" dirty="0" err="1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endl</a:t>
                </a:r>
                <a:r>
                  <a:rPr lang="en-US" altLang="zh-CN" sz="20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3433"/>
                <a:ext cx="8229600" cy="2691631"/>
              </a:xfrm>
              <a:blipFill rotWithShape="1">
                <a:blip r:embed="rId1"/>
                <a:stretch>
                  <a:fillRect t="-9" b="-13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内容占位符 2"/>
          <p:cNvSpPr txBox="1"/>
          <p:nvPr/>
        </p:nvSpPr>
        <p:spPr bwMode="auto">
          <a:xfrm>
            <a:off x="467544" y="5301208"/>
            <a:ext cx="8229600" cy="5760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</a:rPr>
              <a:t>用一个循环语句</a:t>
            </a:r>
            <a:r>
              <a:rPr lang="en-US" altLang="zh-CN" sz="2400" dirty="0">
                <a:solidFill>
                  <a:srgbClr val="0070C0"/>
                </a:solidFill>
              </a:rPr>
              <a:t>(for</a:t>
            </a:r>
            <a:r>
              <a:rPr lang="zh-CN" altLang="en-US" sz="2400" dirty="0">
                <a:solidFill>
                  <a:srgbClr val="0070C0"/>
                </a:solidFill>
              </a:rPr>
              <a:t>语句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r>
              <a:rPr lang="zh-CN" altLang="en-US" sz="2400" dirty="0">
                <a:solidFill>
                  <a:srgbClr val="0070C0"/>
                </a:solidFill>
              </a:rPr>
              <a:t>解决了重复</a:t>
            </a:r>
            <a:r>
              <a:rPr lang="en-US" altLang="zh-CN" sz="2400" dirty="0">
                <a:solidFill>
                  <a:srgbClr val="0070C0"/>
                </a:solidFill>
              </a:rPr>
              <a:t>100</a:t>
            </a:r>
            <a:r>
              <a:rPr lang="zh-CN" altLang="en-US" sz="2400" dirty="0">
                <a:solidFill>
                  <a:srgbClr val="0070C0"/>
                </a:solidFill>
              </a:rPr>
              <a:t>次相似语句问题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用循环来实现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07504" y="1124744"/>
            <a:ext cx="9036496" cy="48518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7030A0"/>
                </a:solidFill>
              </a:rPr>
              <a:t> 问题</a:t>
            </a:r>
            <a:r>
              <a:rPr lang="en-US" altLang="zh-CN" sz="2400" dirty="0">
                <a:solidFill>
                  <a:srgbClr val="7030A0"/>
                </a:solidFill>
              </a:rPr>
              <a:t>2</a:t>
            </a:r>
            <a:r>
              <a:rPr lang="zh-CN" altLang="en-US" sz="2400" dirty="0">
                <a:solidFill>
                  <a:srgbClr val="7030A0"/>
                </a:solidFill>
              </a:rPr>
              <a:t>：输入全班</a:t>
            </a:r>
            <a:r>
              <a:rPr lang="en-US" altLang="zh-CN" sz="2400" dirty="0">
                <a:solidFill>
                  <a:srgbClr val="7030A0"/>
                </a:solidFill>
              </a:rPr>
              <a:t>90</a:t>
            </a:r>
            <a:r>
              <a:rPr lang="zh-CN" altLang="en-US" sz="2400" dirty="0">
                <a:solidFill>
                  <a:srgbClr val="7030A0"/>
                </a:solidFill>
              </a:rPr>
              <a:t>个学生</a:t>
            </a:r>
            <a:r>
              <a:rPr lang="en-US" altLang="zh-CN" sz="2400" dirty="0">
                <a:solidFill>
                  <a:srgbClr val="7030A0"/>
                </a:solidFill>
              </a:rPr>
              <a:t>5</a:t>
            </a:r>
            <a:r>
              <a:rPr lang="zh-CN" altLang="en-US" sz="2400" dirty="0">
                <a:solidFill>
                  <a:srgbClr val="7030A0"/>
                </a:solidFill>
              </a:rPr>
              <a:t>门课程的成绩，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     </a:t>
            </a:r>
            <a:r>
              <a:rPr lang="zh-CN" altLang="en-US" sz="2400" dirty="0">
                <a:solidFill>
                  <a:srgbClr val="7030A0"/>
                </a:solidFill>
              </a:rPr>
              <a:t>分别计算每名学生的平均成绩并输出。</a:t>
            </a:r>
            <a:endParaRPr lang="en-US" altLang="zh-CN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score1,score2,score3,score4,score5;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90)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score1 &gt;&gt; score2 &gt;&gt; score3 &gt;&gt; score4 &gt;&gt; score5;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(score1 + score2 + score3 + score4 + score5)/5;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 &lt;&lt;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236984" y="6021288"/>
            <a:ext cx="8655496" cy="5040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</a:rPr>
              <a:t>用一个循环语句</a:t>
            </a:r>
            <a:r>
              <a:rPr lang="en-US" altLang="zh-CN" sz="2400" dirty="0">
                <a:solidFill>
                  <a:srgbClr val="0070C0"/>
                </a:solidFill>
              </a:rPr>
              <a:t>(while</a:t>
            </a:r>
            <a:r>
              <a:rPr lang="zh-CN" altLang="en-US" sz="2400" dirty="0">
                <a:solidFill>
                  <a:srgbClr val="0070C0"/>
                </a:solidFill>
              </a:rPr>
              <a:t>语句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r>
              <a:rPr lang="zh-CN" altLang="en-US" sz="2400" dirty="0">
                <a:solidFill>
                  <a:srgbClr val="0070C0"/>
                </a:solidFill>
              </a:rPr>
              <a:t>解决了重复</a:t>
            </a:r>
            <a:r>
              <a:rPr lang="en-US" altLang="zh-CN" sz="2400" dirty="0">
                <a:solidFill>
                  <a:srgbClr val="0070C0"/>
                </a:solidFill>
              </a:rPr>
              <a:t>90</a:t>
            </a:r>
            <a:r>
              <a:rPr lang="zh-CN" altLang="en-US" sz="2400" dirty="0">
                <a:solidFill>
                  <a:srgbClr val="0070C0"/>
                </a:solidFill>
              </a:rPr>
              <a:t>次相同程序段问题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 </a:t>
            </a:r>
            <a:r>
              <a:rPr lang="en-US" altLang="zh-CN" dirty="0"/>
              <a:t>(Loop)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716884"/>
          </a:xfrm>
        </p:spPr>
        <p:txBody>
          <a:bodyPr/>
          <a:lstStyle/>
          <a:p>
            <a:r>
              <a:rPr lang="zh-CN" altLang="en-US" dirty="0"/>
              <a:t>根据一定的</a:t>
            </a:r>
            <a:r>
              <a:rPr lang="zh-CN" altLang="en-US" dirty="0">
                <a:solidFill>
                  <a:srgbClr val="C00000"/>
                </a:solidFill>
              </a:rPr>
              <a:t>条件</a:t>
            </a:r>
            <a:r>
              <a:rPr lang="zh-CN" altLang="en-US" dirty="0"/>
              <a:t>控制一段程序</a:t>
            </a:r>
            <a:r>
              <a:rPr lang="zh-CN" altLang="en-US" dirty="0">
                <a:solidFill>
                  <a:srgbClr val="C00000"/>
                </a:solidFill>
              </a:rPr>
              <a:t>重复执行</a:t>
            </a:r>
            <a:r>
              <a:rPr lang="zh-CN" altLang="en-US" dirty="0"/>
              <a:t>若干次</a:t>
            </a:r>
            <a:endParaRPr lang="en-US" altLang="zh-CN" dirty="0"/>
          </a:p>
          <a:p>
            <a:r>
              <a:rPr lang="zh-CN" altLang="en-US" dirty="0"/>
              <a:t>循环结构，又称重复结构</a:t>
            </a:r>
            <a:endParaRPr lang="en-US" altLang="zh-CN" dirty="0"/>
          </a:p>
          <a:p>
            <a:r>
              <a:rPr lang="zh-CN" altLang="en-US" dirty="0"/>
              <a:t>构成有效循环的条件：循环体和循环结束条件</a:t>
            </a:r>
            <a:endParaRPr lang="zh-CN" altLang="en-US" dirty="0"/>
          </a:p>
          <a:p>
            <a:r>
              <a:rPr lang="zh-CN" altLang="en-US" dirty="0"/>
              <a:t>三种循环语句</a:t>
            </a:r>
            <a:endParaRPr lang="en-US" altLang="zh-CN" dirty="0"/>
          </a:p>
          <a:p>
            <a:pPr lvl="1"/>
            <a:r>
              <a:rPr lang="en-US" altLang="zh-CN" dirty="0"/>
              <a:t>for</a:t>
            </a:r>
            <a:r>
              <a:rPr lang="zh-CN" altLang="en-US" dirty="0"/>
              <a:t>循环</a:t>
            </a:r>
            <a:endParaRPr lang="en-US" altLang="zh-CN" dirty="0"/>
          </a:p>
          <a:p>
            <a:pPr lvl="1"/>
            <a:r>
              <a:rPr lang="en-US" altLang="zh-CN" dirty="0"/>
              <a:t>while</a:t>
            </a:r>
            <a:r>
              <a:rPr lang="zh-CN" altLang="en-US" dirty="0"/>
              <a:t>循环</a:t>
            </a:r>
            <a:endParaRPr lang="en-US" altLang="zh-CN" dirty="0"/>
          </a:p>
          <a:p>
            <a:pPr lvl="1"/>
            <a:r>
              <a:rPr lang="en-US" altLang="zh-CN" dirty="0"/>
              <a:t>do...while</a:t>
            </a:r>
            <a:r>
              <a:rPr lang="zh-CN" altLang="en-US" dirty="0"/>
              <a:t>循环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循环结构程序设计</a:t>
            </a:r>
            <a:endParaRPr lang="zh-CN" altLang="en-US" dirty="0"/>
          </a:p>
        </p:txBody>
      </p:sp>
      <p:grpSp>
        <p:nvGrpSpPr>
          <p:cNvPr id="53" name="Group 52"/>
          <p:cNvGrpSpPr/>
          <p:nvPr/>
        </p:nvGrpSpPr>
        <p:grpSpPr bwMode="auto">
          <a:xfrm>
            <a:off x="-2395538" y="1600200"/>
            <a:ext cx="9253538" cy="4824413"/>
            <a:chOff x="-1509" y="1008"/>
            <a:chExt cx="5829" cy="3039"/>
          </a:xfrm>
        </p:grpSpPr>
        <p:sp>
          <p:nvSpPr>
            <p:cNvPr id="54" name="AutoShape 4"/>
            <p:cNvSpPr>
              <a:spLocks noChangeArrowheads="1"/>
            </p:cNvSpPr>
            <p:nvPr/>
          </p:nvSpPr>
          <p:spPr bwMode="ltGray">
            <a:xfrm rot="5400000">
              <a:off x="-1526" y="1025"/>
              <a:ext cx="3039" cy="3005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45490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tint val="4549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5"/>
            <p:cNvSpPr>
              <a:spLocks noChangeArrowheads="1"/>
            </p:cNvSpPr>
            <p:nvPr/>
          </p:nvSpPr>
          <p:spPr bwMode="ltGray">
            <a:xfrm rot="5400000" flipH="1">
              <a:off x="-1270" y="1299"/>
              <a:ext cx="2540" cy="2475"/>
            </a:xfrm>
            <a:custGeom>
              <a:avLst/>
              <a:gdLst>
                <a:gd name="G0" fmla="+- 56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6"/>
                <a:gd name="G18" fmla="*/ 56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6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6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372 w 21600"/>
                <a:gd name="T15" fmla="*/ 10800 h 21600"/>
                <a:gd name="T16" fmla="*/ 10800 w 21600"/>
                <a:gd name="T17" fmla="*/ 10744 h 21600"/>
                <a:gd name="T18" fmla="*/ 16228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744" y="10800"/>
                  </a:moveTo>
                  <a:cubicBezTo>
                    <a:pt x="10744" y="10769"/>
                    <a:pt x="10769" y="10744"/>
                    <a:pt x="10800" y="10744"/>
                  </a:cubicBezTo>
                  <a:cubicBezTo>
                    <a:pt x="10830" y="10743"/>
                    <a:pt x="10855" y="10769"/>
                    <a:pt x="1085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BBE0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Group 47"/>
            <p:cNvGrpSpPr/>
            <p:nvPr/>
          </p:nvGrpSpPr>
          <p:grpSpPr bwMode="auto">
            <a:xfrm>
              <a:off x="912" y="1243"/>
              <a:ext cx="2984" cy="320"/>
              <a:chOff x="912" y="1243"/>
              <a:chExt cx="2984" cy="320"/>
            </a:xfrm>
          </p:grpSpPr>
          <p:sp>
            <p:nvSpPr>
              <p:cNvPr id="93" name="AutoShape 10"/>
              <p:cNvSpPr>
                <a:spLocks noChangeArrowheads="1"/>
              </p:cNvSpPr>
              <p:nvPr/>
            </p:nvSpPr>
            <p:spPr bwMode="gray">
              <a:xfrm>
                <a:off x="1112" y="1243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循环的概念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94" name="Group 11"/>
              <p:cNvGrpSpPr/>
              <p:nvPr/>
            </p:nvGrpSpPr>
            <p:grpSpPr bwMode="auto">
              <a:xfrm>
                <a:off x="912" y="1299"/>
                <a:ext cx="240" cy="240"/>
                <a:chOff x="2078" y="1680"/>
                <a:chExt cx="1615" cy="1615"/>
              </a:xfrm>
            </p:grpSpPr>
            <p:sp>
              <p:nvSpPr>
                <p:cNvPr id="95" name="Oval 12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3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Oval 14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" name="Group 48"/>
            <p:cNvGrpSpPr/>
            <p:nvPr/>
          </p:nvGrpSpPr>
          <p:grpSpPr bwMode="auto">
            <a:xfrm>
              <a:off x="1248" y="1728"/>
              <a:ext cx="2976" cy="320"/>
              <a:chOff x="1248" y="1728"/>
              <a:chExt cx="2976" cy="320"/>
            </a:xfrm>
          </p:grpSpPr>
          <p:sp>
            <p:nvSpPr>
              <p:cNvPr id="85" name="AutoShape 9"/>
              <p:cNvSpPr>
                <a:spLocks noChangeArrowheads="1"/>
              </p:cNvSpPr>
              <p:nvPr/>
            </p:nvSpPr>
            <p:spPr bwMode="gray">
              <a:xfrm>
                <a:off x="1440" y="172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solidFill>
                      <a:srgbClr val="8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用三种循环语句实现循环</a:t>
                </a:r>
                <a:endParaRPr lang="en-US" altLang="zh-CN" sz="2400" b="1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86" name="Group 18"/>
              <p:cNvGrpSpPr/>
              <p:nvPr/>
            </p:nvGrpSpPr>
            <p:grpSpPr bwMode="auto">
              <a:xfrm>
                <a:off x="1248" y="1795"/>
                <a:ext cx="240" cy="240"/>
                <a:chOff x="2078" y="1680"/>
                <a:chExt cx="1615" cy="1615"/>
              </a:xfrm>
            </p:grpSpPr>
            <p:sp>
              <p:nvSpPr>
                <p:cNvPr id="87" name="Oval 19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Oval 20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21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2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>
                        <a:gamma/>
                        <a:shade val="0"/>
                        <a:invGamma/>
                      </a:srgbClr>
                    </a:gs>
                    <a:gs pos="100000">
                      <a:srgbClr val="48BE6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Oval 23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Oval 2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/>
                    </a:gs>
                    <a:gs pos="100000">
                      <a:srgbClr val="48BE67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" name="Group 49"/>
            <p:cNvGrpSpPr/>
            <p:nvPr/>
          </p:nvGrpSpPr>
          <p:grpSpPr bwMode="auto">
            <a:xfrm>
              <a:off x="1344" y="2275"/>
              <a:ext cx="2976" cy="320"/>
              <a:chOff x="1344" y="2275"/>
              <a:chExt cx="2976" cy="320"/>
            </a:xfrm>
          </p:grpSpPr>
          <p:sp>
            <p:nvSpPr>
              <p:cNvPr id="77" name="AutoShape 8"/>
              <p:cNvSpPr>
                <a:spLocks noChangeArrowheads="1"/>
              </p:cNvSpPr>
              <p:nvPr/>
            </p:nvSpPr>
            <p:spPr bwMode="gray">
              <a:xfrm>
                <a:off x="1536" y="2275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循环的嵌套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8" name="Group 25"/>
              <p:cNvGrpSpPr/>
              <p:nvPr/>
            </p:nvGrpSpPr>
            <p:grpSpPr bwMode="auto">
              <a:xfrm>
                <a:off x="1344" y="2323"/>
                <a:ext cx="240" cy="240"/>
                <a:chOff x="2078" y="1680"/>
                <a:chExt cx="1615" cy="1615"/>
              </a:xfrm>
            </p:grpSpPr>
            <p:sp>
              <p:nvSpPr>
                <p:cNvPr id="79" name="Oval 26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27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28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Oval 29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30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Oval 31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" name="Group 50"/>
            <p:cNvGrpSpPr/>
            <p:nvPr/>
          </p:nvGrpSpPr>
          <p:grpSpPr bwMode="auto">
            <a:xfrm>
              <a:off x="1248" y="2787"/>
              <a:ext cx="2996" cy="320"/>
              <a:chOff x="1248" y="2787"/>
              <a:chExt cx="2996" cy="320"/>
            </a:xfrm>
          </p:grpSpPr>
          <p:sp>
            <p:nvSpPr>
              <p:cNvPr id="69" name="AutoShape 7"/>
              <p:cNvSpPr>
                <a:spLocks noChangeArrowheads="1"/>
              </p:cNvSpPr>
              <p:nvPr/>
            </p:nvSpPr>
            <p:spPr bwMode="gray">
              <a:xfrm>
                <a:off x="1460" y="2787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改变循环执行的状态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0" name="Group 32"/>
              <p:cNvGrpSpPr/>
              <p:nvPr/>
            </p:nvGrpSpPr>
            <p:grpSpPr bwMode="auto">
              <a:xfrm>
                <a:off x="1248" y="2851"/>
                <a:ext cx="240" cy="240"/>
                <a:chOff x="2078" y="1680"/>
                <a:chExt cx="1615" cy="1615"/>
              </a:xfrm>
            </p:grpSpPr>
            <p:sp>
              <p:nvSpPr>
                <p:cNvPr id="71" name="Oval 33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Oval 34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Oval 3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Oval 3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>
                        <a:gamma/>
                        <a:shade val="0"/>
                        <a:invGamma/>
                      </a:srgbClr>
                    </a:gs>
                    <a:gs pos="100000">
                      <a:srgbClr val="8D67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Oval 3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3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/>
                    </a:gs>
                    <a:gs pos="100000">
                      <a:srgbClr val="8D67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0" name="Group 51"/>
            <p:cNvGrpSpPr/>
            <p:nvPr/>
          </p:nvGrpSpPr>
          <p:grpSpPr bwMode="auto">
            <a:xfrm>
              <a:off x="960" y="3308"/>
              <a:ext cx="2972" cy="320"/>
              <a:chOff x="960" y="3308"/>
              <a:chExt cx="2972" cy="320"/>
            </a:xfrm>
          </p:grpSpPr>
          <p:sp>
            <p:nvSpPr>
              <p:cNvPr id="61" name="AutoShape 6"/>
              <p:cNvSpPr>
                <a:spLocks noChangeArrowheads="1"/>
              </p:cNvSpPr>
              <p:nvPr/>
            </p:nvSpPr>
            <p:spPr bwMode="gray">
              <a:xfrm>
                <a:off x="1148" y="330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循环程序示例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2" name="Group 39"/>
              <p:cNvGrpSpPr/>
              <p:nvPr/>
            </p:nvGrpSpPr>
            <p:grpSpPr bwMode="auto">
              <a:xfrm>
                <a:off x="960" y="3339"/>
                <a:ext cx="224" cy="240"/>
                <a:chOff x="2078" y="1680"/>
                <a:chExt cx="1615" cy="1615"/>
              </a:xfrm>
            </p:grpSpPr>
            <p:sp>
              <p:nvSpPr>
                <p:cNvPr id="63" name="Oval 4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4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4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Oval 4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>
                        <a:gamma/>
                        <a:shade val="0"/>
                        <a:invGamma/>
                      </a:srgbClr>
                    </a:gs>
                    <a:gs pos="100000">
                      <a:srgbClr val="E35E2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Oval 4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Oval 4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/>
                    </a:gs>
                    <a:gs pos="100000">
                      <a:srgbClr val="E35E23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1" name="灯片编号占位符 100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for</a:t>
            </a:r>
            <a:r>
              <a:rPr lang="zh-CN" altLang="en-US" dirty="0"/>
              <a:t>语句实现循环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5"/>
              <p:cNvSpPr txBox="1"/>
              <p:nvPr/>
            </p:nvSpPr>
            <p:spPr bwMode="auto">
              <a:xfrm>
                <a:off x="457200" y="1124745"/>
                <a:ext cx="6563072" cy="11549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 kern="1200">
                    <a:solidFill>
                      <a:schemeClr val="tx2"/>
                    </a:solidFill>
                    <a:latin typeface="Comic Sans MS" panose="030F0702030302020204" pitchFamily="66" charset="0"/>
                    <a:ea typeface="华文新魏" panose="02010800040101010101" pitchFamily="2" charset="-122"/>
                    <a:cs typeface="Times New Roman" panose="02020603050405020304" pitchFamily="18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华文新魏" panose="02010800040101010101" pitchFamily="2" charset="-122"/>
                    <a:cs typeface="Times New Roman" panose="02020603050405020304" pitchFamily="18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华文新魏" panose="02010800040101010101" pitchFamily="2" charset="-122"/>
                    <a:cs typeface="Times New Roman" panose="02020603050405020304" pitchFamily="18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华文新魏" panose="02010800040101010101" pitchFamily="2" charset="-122"/>
                    <a:cs typeface="Times New Roman" panose="02020603050405020304" pitchFamily="18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华文新魏" panose="02010800040101010101" pitchFamily="2" charset="-122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:r>
                  <a:rPr lang="zh-CN" altLang="en-US" sz="2400" dirty="0">
                    <a:solidFill>
                      <a:srgbClr val="7030A0"/>
                    </a:solidFill>
                  </a:rPr>
                  <a:t>问题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：求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1+2+3+…+100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解题思路：累加问题，重复执行</a:t>
                </a:r>
                <a:r>
                  <a:rPr lang="en-US" altLang="zh-CN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100</a:t>
                </a:r>
                <a:r>
                  <a:rPr lang="zh-CN" altLang="en-US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次加法运算；</a:t>
                </a:r>
                <a:endParaRPr lang="en-US" altLang="zh-CN" sz="18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每次累加的数有规律，后一个数是前一个数加</a:t>
                </a:r>
                <a:r>
                  <a:rPr lang="en-US" altLang="zh-CN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altLang="zh-CN" sz="1800" dirty="0">
                  <a:solidFill>
                    <a:schemeClr val="accent4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Font typeface="Wingdings" panose="05000000000000000000" pitchFamily="2" charset="2"/>
                  <a:buNone/>
                </a:pPr>
                <a:r>
                  <a:rPr lang="en-US" altLang="zh-CN" sz="1800" dirty="0">
                    <a:solidFill>
                      <a:schemeClr val="accent4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内容占位符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124745"/>
                <a:ext cx="6563072" cy="1154980"/>
              </a:xfrm>
              <a:prstGeom prst="rect">
                <a:avLst/>
              </a:prstGeom>
              <a:blipFill rotWithShape="1">
                <a:blip r:embed="rId1"/>
                <a:stretch>
                  <a:fillRect t="-14" r="5" b="-317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/>
          <p:cNvGrpSpPr/>
          <p:nvPr/>
        </p:nvGrpSpPr>
        <p:grpSpPr>
          <a:xfrm>
            <a:off x="7164288" y="1700808"/>
            <a:ext cx="1512168" cy="4104456"/>
            <a:chOff x="7020272" y="2420888"/>
            <a:chExt cx="1512168" cy="4104456"/>
          </a:xfrm>
        </p:grpSpPr>
        <p:sp>
          <p:nvSpPr>
            <p:cNvPr id="8" name="矩形 7"/>
            <p:cNvSpPr/>
            <p:nvPr/>
          </p:nvSpPr>
          <p:spPr>
            <a:xfrm>
              <a:off x="7020272" y="3068960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流程图: 决策 8"/>
            <p:cNvSpPr/>
            <p:nvPr/>
          </p:nvSpPr>
          <p:spPr>
            <a:xfrm>
              <a:off x="7020272" y="3789040"/>
              <a:ext cx="1256184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i≤100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020272" y="4581128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sum=</a:t>
              </a:r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sum+i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020272" y="5157192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=i+1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箭头连接符 12"/>
            <p:cNvCxnSpPr>
              <a:stCxn id="8" idx="2"/>
              <a:endCxn id="9" idx="0"/>
            </p:cNvCxnSpPr>
            <p:nvPr/>
          </p:nvCxnSpPr>
          <p:spPr>
            <a:xfrm>
              <a:off x="7648364" y="3429000"/>
              <a:ext cx="0" cy="360040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9" idx="2"/>
              <a:endCxn id="10" idx="0"/>
            </p:cNvCxnSpPr>
            <p:nvPr/>
          </p:nvCxnSpPr>
          <p:spPr>
            <a:xfrm>
              <a:off x="7648364" y="4365104"/>
              <a:ext cx="0" cy="21602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0" idx="2"/>
              <a:endCxn id="11" idx="0"/>
            </p:cNvCxnSpPr>
            <p:nvPr/>
          </p:nvCxnSpPr>
          <p:spPr>
            <a:xfrm>
              <a:off x="7648364" y="4941168"/>
              <a:ext cx="0" cy="21602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11" idx="2"/>
              <a:endCxn id="9" idx="0"/>
            </p:cNvCxnSpPr>
            <p:nvPr/>
          </p:nvCxnSpPr>
          <p:spPr>
            <a:xfrm rot="5400000" flipH="1">
              <a:off x="6784268" y="4653136"/>
              <a:ext cx="1728192" cy="12700"/>
            </a:xfrm>
            <a:prstGeom prst="bentConnector5">
              <a:avLst>
                <a:gd name="adj1" fmla="val -13228"/>
                <a:gd name="adj2" fmla="val 6745606"/>
                <a:gd name="adj3" fmla="val 110368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9" idx="3"/>
              <a:endCxn id="36" idx="0"/>
            </p:cNvCxnSpPr>
            <p:nvPr/>
          </p:nvCxnSpPr>
          <p:spPr>
            <a:xfrm flipH="1">
              <a:off x="7654715" y="4077072"/>
              <a:ext cx="621741" cy="2088232"/>
            </a:xfrm>
            <a:prstGeom prst="bentConnector4">
              <a:avLst>
                <a:gd name="adj1" fmla="val -36768"/>
                <a:gd name="adj2" fmla="val 8569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7624234" y="4314582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217930" y="3782688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024391" y="2420888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sum=0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7026623" y="616530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输出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9" name="直接箭头连接符 38"/>
            <p:cNvCxnSpPr>
              <a:stCxn id="35" idx="2"/>
              <a:endCxn id="8" idx="0"/>
            </p:cNvCxnSpPr>
            <p:nvPr/>
          </p:nvCxnSpPr>
          <p:spPr>
            <a:xfrm flipH="1">
              <a:off x="7648364" y="2780928"/>
              <a:ext cx="4119" cy="28803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6660232" y="2204864"/>
            <a:ext cx="2264799" cy="3076860"/>
            <a:chOff x="6516216" y="2924944"/>
            <a:chExt cx="2264799" cy="3076860"/>
          </a:xfrm>
        </p:grpSpPr>
        <p:sp>
          <p:nvSpPr>
            <p:cNvPr id="44" name="矩形 43"/>
            <p:cNvSpPr/>
            <p:nvPr/>
          </p:nvSpPr>
          <p:spPr>
            <a:xfrm>
              <a:off x="6516216" y="2924944"/>
              <a:ext cx="2232248" cy="3076860"/>
            </a:xfrm>
            <a:prstGeom prst="rect">
              <a:avLst/>
            </a:prstGeom>
            <a:noFill/>
            <a:ln>
              <a:solidFill>
                <a:srgbClr val="0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403989" y="2924944"/>
              <a:ext cx="37702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endPara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循</a:t>
              </a:r>
              <a:endPara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环</a:t>
              </a:r>
              <a:endPara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结</a:t>
              </a:r>
              <a:endPara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构</a:t>
              </a:r>
              <a:r>
                <a:rPr lang="en-US" altLang="zh-CN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内容占位符 2"/>
          <p:cNvSpPr txBox="1"/>
          <p:nvPr/>
        </p:nvSpPr>
        <p:spPr bwMode="auto">
          <a:xfrm>
            <a:off x="225692" y="4077072"/>
            <a:ext cx="7586668" cy="172230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开始时声明变量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sum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，并赋初始值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0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进入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for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循环结构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=1”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声明变量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并设置初值为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“i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&lt;=100”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是指定循环条件：当循环变量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的值小于或等于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100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时，循环执行循环体中的语句，否则循环结束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“{sum=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sum+i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}”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是循环体，执行累加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++”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的作用是循环变量</a:t>
            </a:r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值不断变化，以便最终满足终止循环条件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循环结束后继续执行输出累加的结果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内容占位符 5"/>
          <p:cNvSpPr txBox="1"/>
          <p:nvPr/>
        </p:nvSpPr>
        <p:spPr bwMode="auto">
          <a:xfrm>
            <a:off x="467544" y="2285612"/>
            <a:ext cx="4998746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 = 0;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"sum = " &lt;&lt; sum &lt;&lt;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33053"/>
            <a:ext cx="8856984" cy="5248275"/>
          </a:xfrm>
        </p:spPr>
        <p:txBody>
          <a:bodyPr/>
          <a:lstStyle/>
          <a:p>
            <a:r>
              <a:rPr lang="zh-CN" altLang="en-US" sz="2400" dirty="0"/>
              <a:t>最常用、功能最强的循环语句</a:t>
            </a:r>
            <a:endParaRPr lang="en-US" altLang="zh-CN" sz="2400" dirty="0"/>
          </a:p>
          <a:p>
            <a:r>
              <a:rPr lang="zh-CN" altLang="en-US" sz="2400" dirty="0"/>
              <a:t>一般形式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E1;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E2;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E3)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：声明并初始化循环变量；只在循环开始执行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次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：循环条件，一般是具有逻辑值的表达式，判定是否继续循环；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在每次执行循环体前执行，如为真继续执行循环体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E3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：循环变量调整，使得最终结束循环；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执行完循环体后进行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：循环体，即反复执行的语句或语句块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复合语句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zh-CN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dirty="0"/>
              <a:t> loop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507288" cy="5248275"/>
          </a:xfrm>
        </p:spPr>
        <p:txBody>
          <a:bodyPr/>
          <a:lstStyle/>
          <a:p>
            <a:r>
              <a:rPr lang="en-US" altLang="zh-CN" sz="2400" dirty="0"/>
              <a:t>General form: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2400" i="1" dirty="0" err="1">
                <a:solidFill>
                  <a:srgbClr val="00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step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statements</a:t>
            </a:r>
            <a:endParaRPr lang="en-US" altLang="zh-CN" sz="2400" i="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i="1" dirty="0" err="1">
                <a:solidFill>
                  <a:srgbClr val="00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done once at start of loop only</a:t>
            </a:r>
            <a:endParaRPr lang="en-US" altLang="zh-CN" sz="2400" dirty="0"/>
          </a:p>
          <a:p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 </a:t>
            </a:r>
            <a:r>
              <a:rPr lang="en-US" altLang="zh-CN" sz="2400" dirty="0"/>
              <a:t>checked before every iteration trough loop</a:t>
            </a:r>
            <a:endParaRPr lang="en-US" altLang="zh-CN" sz="2400" dirty="0"/>
          </a:p>
          <a:p>
            <a:pPr lvl="1"/>
            <a:r>
              <a:rPr lang="en-US" altLang="zh-CN" sz="2400" dirty="0"/>
              <a:t>We execute </a:t>
            </a:r>
            <a:r>
              <a:rPr lang="en-US" altLang="zh-CN" sz="2400" b="1" i="1" dirty="0">
                <a:solidFill>
                  <a:srgbClr val="000000"/>
                </a:solidFill>
                <a:cs typeface="Courier New" panose="02070309020205020404" pitchFamily="49" charset="0"/>
              </a:rPr>
              <a:t>statements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if </a:t>
            </a:r>
            <a:r>
              <a:rPr lang="en-US" altLang="zh-CN" sz="2400" b="1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is </a:t>
            </a:r>
            <a:r>
              <a:rPr lang="en-US" altLang="zh-CN" sz="2400" b="1" dirty="0">
                <a:solidFill>
                  <a:srgbClr val="C00000"/>
                </a:solidFill>
              </a:rPr>
              <a:t>true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step </a:t>
            </a:r>
            <a:r>
              <a:rPr lang="en-US" altLang="zh-CN" sz="2400" dirty="0"/>
              <a:t>every time through loop after statements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华文新魏" panose="02010800040101010101" pitchFamily="2" charset="-122"/>
              </a:rPr>
              <a:t>for</a:t>
            </a:r>
            <a:r>
              <a:rPr lang="zh-CN" altLang="en-US" dirty="0">
                <a:latin typeface="华文新魏" panose="02010800040101010101" pitchFamily="2" charset="-122"/>
              </a:rPr>
              <a:t>循环语句</a:t>
            </a:r>
            <a:endParaRPr lang="zh-CN" altLang="en-US" dirty="0">
              <a:latin typeface="华文新魏" panose="02010800040101010101" pitchFamily="2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158824" y="1052736"/>
            <a:ext cx="8229600" cy="2592288"/>
          </a:xfrm>
        </p:spPr>
        <p:txBody>
          <a:bodyPr/>
          <a:lstStyle/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执行过程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求解表达式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求解表达式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，若值为真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非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，执行循环体语句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然后执行第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步；若为假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，则结束循环，转至第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求解表达式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E3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转回步骤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继续执行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循环结束，执行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语句下面的一个语句</a:t>
            </a:r>
            <a:endParaRPr lang="en-US" altLang="zh-CN" dirty="0"/>
          </a:p>
          <a:p>
            <a:pPr marL="0" indent="0">
              <a:buNone/>
            </a:pPr>
            <a:endParaRPr lang="zh-CN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68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005" y="4548460"/>
            <a:ext cx="57626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93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2443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26505" y="5283472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348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203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26505" y="5283472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348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1203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326505" y="5283472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26943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120380" y="4548460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10" name="Picture 1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38500" y="3789040"/>
            <a:ext cx="501452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83568" y="6191522"/>
            <a:ext cx="14319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3" name="组合 44"/>
          <p:cNvGrpSpPr/>
          <p:nvPr/>
        </p:nvGrpSpPr>
        <p:grpSpPr>
          <a:xfrm>
            <a:off x="7092280" y="2852936"/>
            <a:ext cx="1968358" cy="3061481"/>
            <a:chOff x="6928284" y="2348880"/>
            <a:chExt cx="1968358" cy="3061481"/>
          </a:xfrm>
        </p:grpSpPr>
        <p:sp>
          <p:nvSpPr>
            <p:cNvPr id="34" name="矩形 33"/>
            <p:cNvSpPr/>
            <p:nvPr/>
          </p:nvSpPr>
          <p:spPr>
            <a:xfrm>
              <a:off x="7164288" y="2348880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流程图: 决策 7"/>
            <p:cNvSpPr/>
            <p:nvPr/>
          </p:nvSpPr>
          <p:spPr>
            <a:xfrm>
              <a:off x="6928284" y="3018438"/>
              <a:ext cx="1728192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E2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7164288" y="3861048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164288" y="4437112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E3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8" name="直接箭头连接符 10"/>
            <p:cNvCxnSpPr>
              <a:stCxn id="34" idx="2"/>
              <a:endCxn id="35" idx="0"/>
            </p:cNvCxnSpPr>
            <p:nvPr/>
          </p:nvCxnSpPr>
          <p:spPr>
            <a:xfrm>
              <a:off x="7792380" y="2708920"/>
              <a:ext cx="0" cy="309518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11"/>
            <p:cNvCxnSpPr>
              <a:stCxn id="35" idx="2"/>
              <a:endCxn id="36" idx="0"/>
            </p:cNvCxnSpPr>
            <p:nvPr/>
          </p:nvCxnSpPr>
          <p:spPr>
            <a:xfrm>
              <a:off x="7792380" y="3594502"/>
              <a:ext cx="0" cy="266546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12"/>
            <p:cNvCxnSpPr>
              <a:stCxn id="36" idx="2"/>
              <a:endCxn id="37" idx="0"/>
            </p:cNvCxnSpPr>
            <p:nvPr/>
          </p:nvCxnSpPr>
          <p:spPr>
            <a:xfrm>
              <a:off x="7792380" y="4221088"/>
              <a:ext cx="0" cy="21602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37" idx="2"/>
              <a:endCxn id="35" idx="0"/>
            </p:cNvCxnSpPr>
            <p:nvPr/>
          </p:nvCxnSpPr>
          <p:spPr>
            <a:xfrm rot="5400000" flipH="1">
              <a:off x="6903023" y="3907795"/>
              <a:ext cx="1778714" cy="12700"/>
            </a:xfrm>
            <a:prstGeom prst="bentConnector5">
              <a:avLst>
                <a:gd name="adj1" fmla="val -12852"/>
                <a:gd name="adj2" fmla="val 8603906"/>
                <a:gd name="adj3" fmla="val 107837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>
              <a:stCxn id="35" idx="3"/>
            </p:cNvCxnSpPr>
            <p:nvPr/>
          </p:nvCxnSpPr>
          <p:spPr>
            <a:xfrm flipH="1">
              <a:off x="7800206" y="3306470"/>
              <a:ext cx="856270" cy="2103891"/>
            </a:xfrm>
            <a:prstGeom prst="bentConnector4">
              <a:avLst>
                <a:gd name="adj1" fmla="val -26697"/>
                <a:gd name="adj2" fmla="val 88117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7768250" y="355327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532440" y="299782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</a:rPr>
              <a:t>for</a:t>
            </a:r>
            <a:r>
              <a:rPr lang="zh-CN" altLang="en-US" dirty="0">
                <a:latin typeface="华文新魏" panose="02010800040101010101" pitchFamily="2" charset="-122"/>
              </a:rPr>
              <a:t>循环语句举例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25401"/>
            <a:ext cx="8229600" cy="2835647"/>
          </a:xfrm>
        </p:spPr>
        <p:txBody>
          <a:bodyPr/>
          <a:lstStyle/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举例：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 = 0,i;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8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zh-CN" sz="18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5; </a:t>
            </a:r>
            <a:r>
              <a:rPr lang="en-US" altLang="zh-CN" sz="18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8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nn-NO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 "i = " &lt;&lt; i &lt;&lt; "  sum = " &lt;&lt; sum &lt;&lt; endl;</a:t>
            </a:r>
            <a:endParaRPr lang="nn-NO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nn-NO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cout &lt;&lt; "i = " &lt;&lt; i &lt;&lt; endl;</a:t>
            </a:r>
            <a:endParaRPr lang="nn-NO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运行结果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27584" y="4293096"/>
            <a:ext cx="5760640" cy="22322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sum=1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  sum=3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=3  sum=6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=4  sum=10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=5  sum=15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=6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</a:rPr>
              <a:t>for</a:t>
            </a:r>
            <a:r>
              <a:rPr lang="zh-CN" altLang="en-US" dirty="0">
                <a:latin typeface="华文新魏" panose="02010800040101010101" pitchFamily="2" charset="-122"/>
              </a:rPr>
              <a:t>循环语句举例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2187575"/>
          </a:xfrm>
        </p:spPr>
        <p:txBody>
          <a:bodyPr/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举例：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6; 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0; 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2)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运行结果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27584" y="4077072"/>
            <a:ext cx="5760640" cy="13681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518864" y="5616873"/>
            <a:ext cx="8229600" cy="54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</a:t>
            </a:r>
            <a:r>
              <a:rPr lang="en-US" altLang="zh-CN" dirty="0"/>
              <a:t>”0”</a:t>
            </a:r>
            <a:r>
              <a:rPr lang="zh-CN" altLang="en-US" dirty="0"/>
              <a:t>没有被输出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语句几点说明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758" y="792163"/>
            <a:ext cx="8964488" cy="4860900"/>
          </a:xfrm>
        </p:spPr>
        <p:txBody>
          <a:bodyPr/>
          <a:lstStyle/>
          <a:p>
            <a:pPr marL="0" indent="0">
              <a:buNone/>
            </a:pP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dirty="0"/>
              <a:t>“</a:t>
            </a:r>
            <a:r>
              <a:rPr lang="zh-CN" altLang="en-US" sz="2000" dirty="0"/>
              <a:t>表达式</a:t>
            </a:r>
            <a:r>
              <a:rPr lang="en-US" altLang="zh-CN" sz="2000" dirty="0"/>
              <a:t>E1”</a:t>
            </a:r>
            <a:r>
              <a:rPr lang="zh-CN" altLang="en-US" sz="2000" dirty="0"/>
              <a:t>可以省略，即不设置初值，</a:t>
            </a:r>
            <a:r>
              <a:rPr lang="zh-CN" altLang="en-US" sz="2000" dirty="0">
                <a:solidFill>
                  <a:srgbClr val="C00000"/>
                </a:solidFill>
              </a:rPr>
              <a:t>但其后的分号不能省略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sum=0,i=1;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语句前给循环变量赋初值，保证循环正常执行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&lt;=100;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省略了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E1”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E2”</a:t>
            </a:r>
            <a:r>
              <a:rPr lang="zh-CN" altLang="en-US" sz="2400" dirty="0"/>
              <a:t>也可以省略，即不设置和检查循环条件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=1;;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循环无终止，即表达式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始终为真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E3”</a:t>
            </a:r>
            <a:r>
              <a:rPr lang="zh-CN" altLang="en-US" sz="2400" dirty="0"/>
              <a:t>也可以省略，但通常另外设法保证循环能正常结束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=1;i&lt;=100;) 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省略了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E3”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              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在循环体中控制循环变量增值，效果一样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语句几点说明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32396"/>
            <a:ext cx="8964488" cy="4860900"/>
          </a:xfrm>
        </p:spPr>
        <p:txBody>
          <a:bodyPr/>
          <a:lstStyle/>
          <a:p>
            <a:r>
              <a:rPr lang="zh-CN" altLang="en-US" sz="2400" dirty="0"/>
              <a:t>省略</a:t>
            </a:r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E1”</a:t>
            </a:r>
            <a:r>
              <a:rPr lang="zh-CN" altLang="en-US" sz="2400" dirty="0"/>
              <a:t>和</a:t>
            </a:r>
            <a:r>
              <a:rPr lang="en-US" altLang="zh-CN" sz="2400" dirty="0"/>
              <a:t>”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E3”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sum=0,i=1;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语句前给循环变量赋初值，保证循环正常执行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(;i&lt;=100;) 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省略了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E1”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E3”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              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在循环体中控制循环变量增值，效果一样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/>
              <a:t>甚至可以省略</a:t>
            </a:r>
            <a:r>
              <a:rPr lang="en-US" altLang="zh-CN" sz="2400" dirty="0"/>
              <a:t>3</a:t>
            </a:r>
            <a:r>
              <a:rPr lang="zh-CN" altLang="en-US" sz="2400" dirty="0"/>
              <a:t>个表达式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(;;)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循环无终止，循环变量</a:t>
            </a:r>
            <a:r>
              <a:rPr lang="en-US" altLang="zh-CN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值无变化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000" dirty="0"/>
          </a:p>
          <a:p>
            <a:r>
              <a:rPr lang="zh-CN" altLang="en-US" sz="2400" dirty="0"/>
              <a:t>语句</a:t>
            </a:r>
            <a:r>
              <a:rPr lang="en-US" altLang="zh-CN" sz="2400" dirty="0"/>
              <a:t>S</a:t>
            </a:r>
            <a:r>
              <a:rPr lang="zh-CN" altLang="en-US" sz="2400" dirty="0"/>
              <a:t>也可以省略，通常用于某种延时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=1;i&lt;=10000;i++) ;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语句几点说明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516" y="914400"/>
            <a:ext cx="8712968" cy="5248275"/>
          </a:xfrm>
        </p:spPr>
        <p:txBody>
          <a:bodyPr/>
          <a:lstStyle/>
          <a:p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E1”</a:t>
            </a:r>
            <a:r>
              <a:rPr lang="zh-CN" altLang="en-US" sz="2400" dirty="0"/>
              <a:t>可以是设置循环变量初值的赋值表达式，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也可是与循环变量无关的其他表达式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=1,sum;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(sum=0;i&lt;=100;i++) 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  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E3”</a:t>
            </a:r>
            <a:r>
              <a:rPr lang="zh-CN" altLang="en-US" sz="2400" dirty="0"/>
              <a:t>也可是与循环变量无关的任意表达式，无论怎样写，都必须使循环能正常执行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E1”</a:t>
            </a:r>
            <a:r>
              <a:rPr lang="zh-CN" altLang="en-US" sz="2400" dirty="0"/>
              <a:t>和</a:t>
            </a:r>
            <a:r>
              <a:rPr lang="en-US" altLang="zh-CN" sz="2400" dirty="0"/>
              <a:t>“</a:t>
            </a:r>
            <a:r>
              <a:rPr lang="zh-CN" altLang="en-US" sz="2400" dirty="0"/>
              <a:t>表达式</a:t>
            </a:r>
            <a:r>
              <a:rPr lang="en-US" altLang="zh-CN" sz="2400" dirty="0"/>
              <a:t>E3”</a:t>
            </a:r>
            <a:r>
              <a:rPr lang="zh-CN" altLang="en-US" sz="2400" dirty="0"/>
              <a:t>可以是简单的表达式，也可是逗号表达式，即包含一个以上的简单表达式，中间用逗号分隔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(sum=0,i=1;i&lt;=100;i++)  sum=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=0,j=100;i&lt;=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j;i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++,j--)  k=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rgbClr val="800000"/>
                </a:solidFill>
              </a:rPr>
              <a:t>注：</a:t>
            </a:r>
            <a:r>
              <a:rPr lang="zh-CN" altLang="en-US" sz="2400" dirty="0"/>
              <a:t>逗号表达式内左至右顺序求解，整个逗号表达的值为最右边表达式的值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语句几点说明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8712968" cy="4932908"/>
          </a:xfrm>
        </p:spPr>
        <p:txBody>
          <a:bodyPr/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E2”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一般是关系表达式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如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&lt;=100)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或逻辑表达式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如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a&lt;b&amp;&amp;x&lt;y)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，但也可以是数值表达式或字符表达式，只要其值为非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，就执行循环体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 = 0; (c =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!= '\n'; i += c); 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说明：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”c=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是先从终端接收一个字符赋给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然后判断此赋值表达式的值是否不等于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’\n’(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换行符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如果不等于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’\n’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，就执行循环体，注此循环体为空语句，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然后执行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即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+=c”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，即将输入字符的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码相加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直到输入字符为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’\n’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时停止循环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for</a:t>
            </a:r>
            <a:r>
              <a:rPr lang="zh-CN" altLang="en-US" dirty="0"/>
              <a:t>语句实现循环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528" y="958620"/>
            <a:ext cx="6696744" cy="45087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7030A0"/>
                </a:solidFill>
              </a:rPr>
              <a:t>问题</a:t>
            </a:r>
            <a:r>
              <a:rPr lang="en-US" altLang="zh-CN" sz="2000" dirty="0">
                <a:solidFill>
                  <a:srgbClr val="7030A0"/>
                </a:solidFill>
              </a:rPr>
              <a:t>2</a:t>
            </a:r>
            <a:r>
              <a:rPr lang="zh-CN" altLang="en-US" sz="2000" dirty="0">
                <a:solidFill>
                  <a:srgbClr val="7030A0"/>
                </a:solidFill>
              </a:rPr>
              <a:t>：输入全班</a:t>
            </a:r>
            <a:r>
              <a:rPr lang="en-US" altLang="zh-CN" sz="2000" dirty="0">
                <a:solidFill>
                  <a:srgbClr val="7030A0"/>
                </a:solidFill>
              </a:rPr>
              <a:t>90</a:t>
            </a:r>
            <a:r>
              <a:rPr lang="zh-CN" altLang="en-US" sz="2000" dirty="0">
                <a:solidFill>
                  <a:srgbClr val="7030A0"/>
                </a:solidFill>
              </a:rPr>
              <a:t>个学生</a:t>
            </a:r>
            <a:r>
              <a:rPr lang="en-US" altLang="zh-CN" sz="2000" dirty="0">
                <a:solidFill>
                  <a:srgbClr val="7030A0"/>
                </a:solidFill>
              </a:rPr>
              <a:t>5</a:t>
            </a:r>
            <a:r>
              <a:rPr lang="zh-CN" altLang="en-US" sz="2000" dirty="0">
                <a:solidFill>
                  <a:srgbClr val="7030A0"/>
                </a:solidFill>
              </a:rPr>
              <a:t>门课程的成绩，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        </a:t>
            </a:r>
            <a:r>
              <a:rPr lang="zh-CN" altLang="en-US" sz="2000" dirty="0">
                <a:solidFill>
                  <a:srgbClr val="7030A0"/>
                </a:solidFill>
              </a:rPr>
              <a:t>分别计算每名学生的平均成绩并输出。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解题思路：重复完成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名学生成绩统计，显然可用循环结构来实现。重复执行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次循环体；循环体完成：输入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门成绩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计算平均成绩</a:t>
            </a:r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zh-CN" altLang="en-US" sz="18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输出平均成绩。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score1,score2,score3,score4,score5;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 &lt;= 90;i++)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循环变量</a:t>
            </a:r>
            <a:r>
              <a:rPr lang="en-US" altLang="zh-CN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初始为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，循环条件是</a:t>
            </a:r>
            <a:r>
              <a:rPr lang="en-US" altLang="zh-CN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&lt;=90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，每轮循环后</a:t>
            </a:r>
            <a:r>
              <a:rPr lang="en-US" altLang="zh-CN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，直到</a:t>
            </a:r>
            <a:r>
              <a:rPr lang="en-US" altLang="zh-CN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&gt;90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退出循环</a:t>
            </a:r>
            <a:endParaRPr lang="en-US" altLang="zh-CN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循环体开始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&gt;&gt;score1&gt;&gt;score2&gt;&gt;score3&gt;&gt;score4&gt;&gt;score5;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=(score1+score2+score3+score4+score5)/5;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 &lt;&lt;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7067128" y="1916832"/>
            <a:ext cx="1753344" cy="4483980"/>
            <a:chOff x="6933456" y="1916832"/>
            <a:chExt cx="1753344" cy="4483980"/>
          </a:xfrm>
        </p:grpSpPr>
        <p:sp>
          <p:nvSpPr>
            <p:cNvPr id="8" name="矩形 7"/>
            <p:cNvSpPr/>
            <p:nvPr/>
          </p:nvSpPr>
          <p:spPr>
            <a:xfrm>
              <a:off x="7174632" y="1916832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流程图: 决策 8"/>
            <p:cNvSpPr/>
            <p:nvPr/>
          </p:nvSpPr>
          <p:spPr>
            <a:xfrm>
              <a:off x="7174632" y="2636912"/>
              <a:ext cx="1256184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i≤90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933456" y="3429000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输入第</a:t>
              </a:r>
              <a:r>
                <a:rPr lang="en-US" altLang="zh-CN" sz="1400" dirty="0" err="1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i</a:t>
              </a:r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个学生成绩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180982" y="544522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=i+1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直接箭头连接符 11"/>
            <p:cNvCxnSpPr>
              <a:stCxn id="8" idx="2"/>
              <a:endCxn id="9" idx="0"/>
            </p:cNvCxnSpPr>
            <p:nvPr/>
          </p:nvCxnSpPr>
          <p:spPr>
            <a:xfrm>
              <a:off x="7802724" y="2276872"/>
              <a:ext cx="0" cy="360040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连接符 14"/>
            <p:cNvCxnSpPr>
              <a:stCxn id="11" idx="2"/>
              <a:endCxn id="9" idx="0"/>
            </p:cNvCxnSpPr>
            <p:nvPr/>
          </p:nvCxnSpPr>
          <p:spPr>
            <a:xfrm rot="5400000" flipH="1">
              <a:off x="6221723" y="4217913"/>
              <a:ext cx="3168352" cy="6350"/>
            </a:xfrm>
            <a:prstGeom prst="bentConnector5">
              <a:avLst>
                <a:gd name="adj1" fmla="val -7215"/>
                <a:gd name="adj2" fmla="val 15796614"/>
                <a:gd name="adj3" fmla="val 10721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肘形连接符 15"/>
            <p:cNvCxnSpPr>
              <a:stCxn id="9" idx="3"/>
            </p:cNvCxnSpPr>
            <p:nvPr/>
          </p:nvCxnSpPr>
          <p:spPr>
            <a:xfrm flipH="1">
              <a:off x="7802724" y="2924944"/>
              <a:ext cx="628092" cy="3475868"/>
            </a:xfrm>
            <a:prstGeom prst="bentConnector4">
              <a:avLst>
                <a:gd name="adj1" fmla="val -57381"/>
                <a:gd name="adj2" fmla="val 94196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8001906" y="316245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372290" y="2630560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933456" y="4101075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计算平均成绩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933456" y="4773150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输出平均成绩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43" name="直接箭头连接符 42"/>
            <p:cNvCxnSpPr>
              <a:stCxn id="10" idx="2"/>
              <a:endCxn id="28" idx="0"/>
            </p:cNvCxnSpPr>
            <p:nvPr/>
          </p:nvCxnSpPr>
          <p:spPr>
            <a:xfrm>
              <a:off x="7802724" y="3789040"/>
              <a:ext cx="0" cy="31203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9" idx="2"/>
              <a:endCxn id="10" idx="0"/>
            </p:cNvCxnSpPr>
            <p:nvPr/>
          </p:nvCxnSpPr>
          <p:spPr>
            <a:xfrm>
              <a:off x="7802724" y="3212976"/>
              <a:ext cx="0" cy="21602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28" idx="2"/>
              <a:endCxn id="29" idx="0"/>
            </p:cNvCxnSpPr>
            <p:nvPr/>
          </p:nvCxnSpPr>
          <p:spPr>
            <a:xfrm>
              <a:off x="7802724" y="4461115"/>
              <a:ext cx="0" cy="31203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29" idx="2"/>
              <a:endCxn id="11" idx="0"/>
            </p:cNvCxnSpPr>
            <p:nvPr/>
          </p:nvCxnSpPr>
          <p:spPr>
            <a:xfrm>
              <a:off x="7802724" y="5133190"/>
              <a:ext cx="6350" cy="31203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内容占位符 2"/>
          <p:cNvSpPr txBox="1"/>
          <p:nvPr/>
        </p:nvSpPr>
        <p:spPr bwMode="auto">
          <a:xfrm>
            <a:off x="344402" y="5542458"/>
            <a:ext cx="6495256" cy="1054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800000"/>
                </a:solidFill>
              </a:rPr>
              <a:t>注：</a:t>
            </a:r>
            <a:r>
              <a:rPr lang="zh-CN" altLang="en-US" sz="2000" dirty="0">
                <a:solidFill>
                  <a:srgbClr val="0070C0"/>
                </a:solidFill>
              </a:rPr>
              <a:t>循环体包含一个以上的语句，应该用</a:t>
            </a:r>
            <a:r>
              <a:rPr lang="zh-CN" altLang="en-US" sz="2000" dirty="0">
                <a:solidFill>
                  <a:srgbClr val="C00000"/>
                </a:solidFill>
              </a:rPr>
              <a:t>花括号</a:t>
            </a:r>
            <a:r>
              <a:rPr lang="zh-CN" altLang="en-US" sz="2000" dirty="0">
                <a:solidFill>
                  <a:srgbClr val="0070C0"/>
                </a:solidFill>
              </a:rPr>
              <a:t>括起来，作为复合语句出现，如果不加花括号，则循环语句范围只到第</a:t>
            </a:r>
            <a:r>
              <a:rPr lang="en-US" altLang="zh-CN" sz="2000" dirty="0">
                <a:solidFill>
                  <a:srgbClr val="0070C0"/>
                </a:solidFill>
              </a:rPr>
              <a:t>1</a:t>
            </a:r>
            <a:r>
              <a:rPr lang="zh-CN" altLang="en-US" sz="2000" dirty="0">
                <a:solidFill>
                  <a:srgbClr val="0070C0"/>
                </a:solidFill>
              </a:rPr>
              <a:t>个分号处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4.16】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读下述程序，注意其中的三个</a:t>
            </a:r>
            <a:r>
              <a:rPr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for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循环语句以及所累加出的三个不同的</a:t>
            </a:r>
            <a:r>
              <a:rPr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sum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结果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8397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28750" y="2786063"/>
            <a:ext cx="5072063" cy="378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499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00125" y="1357313"/>
            <a:ext cx="4929188" cy="310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464050"/>
            <a:ext cx="3868737" cy="190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4.16】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第一个</a:t>
            </a:r>
            <a:r>
              <a:rPr lang="en-US" altLang="zh-CN"/>
              <a:t>for</a:t>
            </a:r>
            <a:r>
              <a:rPr lang="zh-CN" altLang="en-US"/>
              <a:t>语句，循环10次，每次往</a:t>
            </a:r>
            <a:r>
              <a:rPr lang="en-US" altLang="zh-CN"/>
              <a:t>sum</a:t>
            </a:r>
            <a:r>
              <a:rPr lang="zh-CN" altLang="en-US"/>
              <a:t>上累加2（</a:t>
            </a:r>
            <a:r>
              <a:rPr lang="zh-CN" altLang="en-US">
                <a:solidFill>
                  <a:srgbClr val="FF0000"/>
                </a:solidFill>
              </a:rPr>
              <a:t>注意，循环体中并没有使用循环变量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之值，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只起控制次数的作用</a:t>
            </a:r>
            <a:r>
              <a:rPr lang="zh-CN" altLang="en-US"/>
              <a:t>）。</a:t>
            </a:r>
            <a:endParaRPr lang="zh-CN" altLang="en-US"/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第二个</a:t>
            </a:r>
            <a:r>
              <a:rPr lang="en-US" altLang="zh-CN"/>
              <a:t>for</a:t>
            </a:r>
            <a:r>
              <a:rPr lang="zh-CN" altLang="en-US"/>
              <a:t>语句，循环10次，每次往</a:t>
            </a:r>
            <a:r>
              <a:rPr lang="en-US" altLang="zh-CN"/>
              <a:t>sum</a:t>
            </a:r>
            <a:r>
              <a:rPr lang="zh-CN" altLang="en-US"/>
              <a:t>上累加</a:t>
            </a:r>
            <a:r>
              <a:rPr lang="en-US" altLang="zh-CN"/>
              <a:t>i（</a:t>
            </a:r>
            <a:r>
              <a:rPr lang="zh-CN" altLang="en-US">
                <a:solidFill>
                  <a:srgbClr val="FF0000"/>
                </a:solidFill>
              </a:rPr>
              <a:t>循环体中使用了循环变量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之值</a:t>
            </a:r>
            <a:r>
              <a:rPr lang="zh-CN" altLang="en-US"/>
              <a:t>）。</a:t>
            </a:r>
            <a:endParaRPr lang="zh-CN" altLang="en-US"/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第三个</a:t>
            </a:r>
            <a:r>
              <a:rPr lang="en-US" altLang="zh-CN"/>
              <a:t>for</a:t>
            </a:r>
            <a:r>
              <a:rPr lang="zh-CN" altLang="en-US"/>
              <a:t>语句，循环10次，每次往</a:t>
            </a:r>
            <a:r>
              <a:rPr lang="en-US" altLang="zh-CN"/>
              <a:t>sum</a:t>
            </a:r>
            <a:r>
              <a:rPr lang="zh-CN" altLang="en-US"/>
              <a:t>上累加一个从键盘输入的</a:t>
            </a:r>
            <a:r>
              <a:rPr lang="en-US" altLang="zh-CN"/>
              <a:t>x（</a:t>
            </a:r>
            <a:r>
              <a:rPr lang="zh-CN" altLang="en-US">
                <a:solidFill>
                  <a:srgbClr val="FF0000"/>
                </a:solidFill>
              </a:rPr>
              <a:t>注意，循环体中并没有使用循环变量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之值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4.17】</a:t>
            </a:r>
            <a:r>
              <a:rPr lang="zh-CN" altLang="en-US">
                <a:solidFill>
                  <a:srgbClr val="C00000"/>
                </a:solidFill>
              </a:rPr>
              <a:t>设计程序输出</a:t>
            </a:r>
            <a:r>
              <a:rPr lang="en-US" altLang="zh-CN">
                <a:solidFill>
                  <a:srgbClr val="C00000"/>
                </a:solidFill>
              </a:rPr>
              <a:t>Fibonacci</a:t>
            </a:r>
            <a:r>
              <a:rPr lang="zh-CN" altLang="en-US">
                <a:solidFill>
                  <a:srgbClr val="C00000"/>
                </a:solidFill>
              </a:rPr>
              <a:t>数列的前</a:t>
            </a:r>
            <a:r>
              <a:rPr lang="en-US" altLang="zh-CN">
                <a:solidFill>
                  <a:srgbClr val="C00000"/>
                </a:solidFill>
              </a:rPr>
              <a:t>20</a:t>
            </a:r>
            <a:r>
              <a:rPr lang="zh-CN" altLang="en-US">
                <a:solidFill>
                  <a:srgbClr val="C00000"/>
                </a:solidFill>
              </a:rPr>
              <a:t>项，要求每行输出</a:t>
            </a:r>
            <a:r>
              <a:rPr lang="en-US" altLang="zh-CN">
                <a:solidFill>
                  <a:srgbClr val="C00000"/>
                </a:solidFill>
              </a:rPr>
              <a:t>5</a:t>
            </a:r>
            <a:r>
              <a:rPr lang="zh-CN" altLang="en-US">
                <a:solidFill>
                  <a:srgbClr val="C00000"/>
                </a:solidFill>
              </a:rPr>
              <a:t>个数据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/>
              <a:t>Fibonacci</a:t>
            </a:r>
            <a:r>
              <a:rPr lang="zh-CN" altLang="en-US"/>
              <a:t>数列：</a:t>
            </a:r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r>
              <a:rPr lang="zh-CN" altLang="en-US"/>
              <a:t>除了第</a:t>
            </a:r>
            <a:r>
              <a:rPr lang="en-US" altLang="zh-CN"/>
              <a:t>0</a:t>
            </a:r>
            <a:r>
              <a:rPr lang="zh-CN" altLang="en-US"/>
              <a:t>项和第</a:t>
            </a:r>
            <a:r>
              <a:rPr lang="en-US" altLang="zh-CN"/>
              <a:t>1</a:t>
            </a:r>
            <a:r>
              <a:rPr lang="zh-CN" altLang="en-US"/>
              <a:t>项外，每一项都是由类似方法产生，即前两项之和；所以求当前项时，只需要记住前两项；程序不需要为每一项设置专用变量。</a:t>
            </a:r>
            <a:endParaRPr lang="en-US" altLang="zh-CN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882775" y="3286125"/>
          <a:ext cx="561816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公式" r:id="rId1" imgW="2438400" imgH="685800" progId="Equation.3">
                  <p:embed/>
                </p:oleObj>
              </mc:Choice>
              <mc:Fallback>
                <p:oleObj name="公式" r:id="rId1" imgW="2438400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88000" contrast="9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3286125"/>
                        <a:ext cx="5618163" cy="159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704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0" y="1365617"/>
            <a:ext cx="7421563" cy="524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41425"/>
            <a:ext cx="6552728" cy="5248275"/>
          </a:xfrm>
        </p:spPr>
        <p:txBody>
          <a:bodyPr/>
          <a:lstStyle/>
          <a:p>
            <a:r>
              <a:rPr lang="zh-CN" altLang="en-US" sz="2400" dirty="0"/>
              <a:t>形式简单的循环语句</a:t>
            </a:r>
            <a:endParaRPr lang="en-US" altLang="zh-CN" sz="2400" dirty="0"/>
          </a:p>
          <a:p>
            <a:r>
              <a:rPr lang="zh-CN" altLang="en-US" sz="2400" dirty="0"/>
              <a:t>一般形式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E)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语句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：循环条件，一般是具有逻辑值的表达式，判定是否继续循环；在每次执行循环体前执行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为真</a:t>
            </a:r>
            <a:r>
              <a:rPr lang="en-US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非</a:t>
            </a:r>
            <a:r>
              <a:rPr lang="zh-CN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，继续执行循环体</a:t>
            </a:r>
            <a:endParaRPr lang="en-US" altLang="zh-CN" sz="1800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为假</a:t>
            </a:r>
            <a:r>
              <a:rPr lang="en-US" altLang="zh-CN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zh-CN" altLang="en-US" sz="18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，则结束循环</a:t>
            </a:r>
            <a:endParaRPr lang="en-US" altLang="zh-CN" sz="1800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：循环体，即反复执行的简单语句或语句块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复合语句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lang="zh-CN" altLang="en-US" sz="2400" dirty="0"/>
              <a:t>先判断表达式，后执行循环体语句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当</a:t>
            </a:r>
            <a:r>
              <a:rPr lang="zh-CN" altLang="en-US" sz="2400" dirty="0"/>
              <a:t>循环条件表达式为</a:t>
            </a:r>
            <a:r>
              <a:rPr lang="zh-CN" altLang="en-US" sz="2400" dirty="0">
                <a:solidFill>
                  <a:srgbClr val="800000"/>
                </a:solidFill>
              </a:rPr>
              <a:t>真</a:t>
            </a:r>
            <a:r>
              <a:rPr lang="zh-CN" altLang="en-US" sz="2400" dirty="0"/>
              <a:t>，就</a:t>
            </a:r>
            <a:r>
              <a:rPr lang="zh-CN" altLang="en-US" sz="2400" dirty="0">
                <a:solidFill>
                  <a:srgbClr val="800000"/>
                </a:solidFill>
              </a:rPr>
              <a:t>执行</a:t>
            </a:r>
            <a:r>
              <a:rPr lang="zh-CN" altLang="en-US" sz="2400" dirty="0"/>
              <a:t>循环体语句</a:t>
            </a:r>
            <a:endParaRPr lang="en-US" altLang="zh-CN" sz="2400" dirty="0"/>
          </a:p>
          <a:p>
            <a:r>
              <a:rPr lang="en-US" altLang="zh-CN" sz="2400" dirty="0"/>
              <a:t>for</a:t>
            </a:r>
            <a:r>
              <a:rPr lang="zh-CN" altLang="en-US" sz="2400" dirty="0"/>
              <a:t>语句中省略表达式</a:t>
            </a:r>
            <a:r>
              <a:rPr lang="en-US" altLang="zh-CN" sz="2400" dirty="0"/>
              <a:t>E1</a:t>
            </a:r>
            <a:r>
              <a:rPr lang="zh-CN" altLang="en-US" sz="2400" dirty="0"/>
              <a:t>和</a:t>
            </a:r>
            <a:r>
              <a:rPr lang="en-US" altLang="zh-CN" sz="2400" dirty="0"/>
              <a:t>E3</a:t>
            </a:r>
            <a:r>
              <a:rPr lang="zh-CN" altLang="en-US" sz="2400" dirty="0"/>
              <a:t>的特殊情形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合 44"/>
          <p:cNvGrpSpPr/>
          <p:nvPr/>
        </p:nvGrpSpPr>
        <p:grpSpPr>
          <a:xfrm>
            <a:off x="6948264" y="1916832"/>
            <a:ext cx="1968358" cy="2376264"/>
            <a:chOff x="6928284" y="2564904"/>
            <a:chExt cx="1968358" cy="2376264"/>
          </a:xfrm>
        </p:grpSpPr>
        <p:sp>
          <p:nvSpPr>
            <p:cNvPr id="8" name="流程图: 决策 7"/>
            <p:cNvSpPr/>
            <p:nvPr/>
          </p:nvSpPr>
          <p:spPr>
            <a:xfrm>
              <a:off x="6928284" y="3018438"/>
              <a:ext cx="1728192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164288" y="400506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箭头连接符 10"/>
            <p:cNvCxnSpPr>
              <a:endCxn id="8" idx="0"/>
            </p:cNvCxnSpPr>
            <p:nvPr/>
          </p:nvCxnSpPr>
          <p:spPr>
            <a:xfrm>
              <a:off x="7792380" y="2564904"/>
              <a:ext cx="0" cy="45353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1"/>
            <p:cNvCxnSpPr>
              <a:stCxn id="8" idx="2"/>
              <a:endCxn id="9" idx="0"/>
            </p:cNvCxnSpPr>
            <p:nvPr/>
          </p:nvCxnSpPr>
          <p:spPr>
            <a:xfrm>
              <a:off x="7792380" y="3594502"/>
              <a:ext cx="0" cy="41056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肘形连接符 11"/>
            <p:cNvCxnSpPr>
              <a:stCxn id="9" idx="2"/>
              <a:endCxn id="8" idx="0"/>
            </p:cNvCxnSpPr>
            <p:nvPr/>
          </p:nvCxnSpPr>
          <p:spPr>
            <a:xfrm rot="5400000" flipH="1">
              <a:off x="7119047" y="3691771"/>
              <a:ext cx="1346666" cy="12700"/>
            </a:xfrm>
            <a:prstGeom prst="bentConnector5">
              <a:avLst>
                <a:gd name="adj1" fmla="val -16975"/>
                <a:gd name="adj2" fmla="val 8123906"/>
                <a:gd name="adj3" fmla="val 11697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stCxn id="8" idx="3"/>
            </p:cNvCxnSpPr>
            <p:nvPr/>
          </p:nvCxnSpPr>
          <p:spPr>
            <a:xfrm flipH="1">
              <a:off x="7792380" y="3306470"/>
              <a:ext cx="864096" cy="1634698"/>
            </a:xfrm>
            <a:prstGeom prst="bentConnector4">
              <a:avLst>
                <a:gd name="adj1" fmla="val -26455"/>
                <a:gd name="adj2" fmla="val 87400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7768250" y="355327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532440" y="299782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altLang="zh-CN" dirty="0"/>
              <a:t> loop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507288" cy="5248275"/>
          </a:xfrm>
        </p:spPr>
        <p:txBody>
          <a:bodyPr/>
          <a:lstStyle/>
          <a:p>
            <a:r>
              <a:rPr lang="en-US" altLang="zh-CN" sz="2400" dirty="0"/>
              <a:t>General form: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statements</a:t>
            </a:r>
            <a:endParaRPr lang="en-US" altLang="zh-CN" sz="2400" i="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 </a:t>
            </a:r>
            <a:r>
              <a:rPr lang="en-US" altLang="zh-CN" sz="2400" dirty="0"/>
              <a:t>checked before every iteration trough loop</a:t>
            </a:r>
            <a:endParaRPr lang="en-US" altLang="zh-CN" sz="2400" dirty="0"/>
          </a:p>
          <a:p>
            <a:pPr lvl="1"/>
            <a:r>
              <a:rPr lang="en-US" altLang="zh-CN" sz="2400" dirty="0"/>
              <a:t>We execute </a:t>
            </a:r>
            <a:r>
              <a:rPr lang="en-US" altLang="zh-CN" sz="2400" b="1" i="1" dirty="0">
                <a:solidFill>
                  <a:srgbClr val="000000"/>
                </a:solidFill>
                <a:cs typeface="Courier New" panose="02070309020205020404" pitchFamily="49" charset="0"/>
              </a:rPr>
              <a:t>statements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if </a:t>
            </a:r>
            <a:r>
              <a:rPr lang="en-US" altLang="zh-CN" sz="2400" b="1" i="1" dirty="0">
                <a:solidFill>
                  <a:srgbClr val="000000"/>
                </a:solidFill>
                <a:cs typeface="Courier New" panose="02070309020205020404" pitchFamily="49" charset="0"/>
              </a:rPr>
              <a:t>condition</a:t>
            </a:r>
            <a:r>
              <a:rPr lang="en-US" altLang="zh-CN" sz="2400" i="1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is </a:t>
            </a:r>
            <a:r>
              <a:rPr lang="en-US" altLang="zh-CN" sz="2400" b="1" dirty="0">
                <a:solidFill>
                  <a:srgbClr val="C00000"/>
                </a:solidFill>
              </a:rPr>
              <a:t>true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华文新魏" panose="02010800040101010101" pitchFamily="2" charset="-122"/>
              </a:rPr>
              <a:t>while</a:t>
            </a:r>
            <a:r>
              <a:rPr lang="zh-CN" altLang="en-US" dirty="0">
                <a:latin typeface="华文新魏" panose="02010800040101010101" pitchFamily="2" charset="-122"/>
              </a:rPr>
              <a:t>循环语句</a:t>
            </a:r>
            <a:endParaRPr lang="zh-CN" altLang="en-US" dirty="0">
              <a:latin typeface="华文新魏" panose="02010800040101010101" pitchFamily="2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158824" y="1124744"/>
            <a:ext cx="8229600" cy="2592288"/>
          </a:xfrm>
        </p:spPr>
        <p:txBody>
          <a:bodyPr/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执行过程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求解表达式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，若值为真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非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，转至第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步；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若值为假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，则结束循环，跳转至第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执行循环体语句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，转回第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步继续执行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执行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语句下面的一个语句</a:t>
            </a:r>
            <a:endParaRPr lang="zh-CN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3" name="组合 44"/>
          <p:cNvGrpSpPr/>
          <p:nvPr/>
        </p:nvGrpSpPr>
        <p:grpSpPr>
          <a:xfrm>
            <a:off x="6588224" y="3284984"/>
            <a:ext cx="1968358" cy="2376264"/>
            <a:chOff x="6928284" y="2564904"/>
            <a:chExt cx="1968358" cy="2376264"/>
          </a:xfrm>
        </p:grpSpPr>
        <p:sp>
          <p:nvSpPr>
            <p:cNvPr id="35" name="流程图: 决策 7"/>
            <p:cNvSpPr/>
            <p:nvPr/>
          </p:nvSpPr>
          <p:spPr>
            <a:xfrm>
              <a:off x="6928284" y="3018438"/>
              <a:ext cx="1728192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7164288" y="400506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8" name="直接箭头连接符 10"/>
            <p:cNvCxnSpPr>
              <a:endCxn id="35" idx="0"/>
            </p:cNvCxnSpPr>
            <p:nvPr/>
          </p:nvCxnSpPr>
          <p:spPr>
            <a:xfrm>
              <a:off x="7792380" y="2564904"/>
              <a:ext cx="0" cy="45353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11"/>
            <p:cNvCxnSpPr>
              <a:stCxn id="35" idx="2"/>
              <a:endCxn id="36" idx="0"/>
            </p:cNvCxnSpPr>
            <p:nvPr/>
          </p:nvCxnSpPr>
          <p:spPr>
            <a:xfrm>
              <a:off x="7792380" y="3594502"/>
              <a:ext cx="0" cy="41056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36" idx="2"/>
              <a:endCxn id="35" idx="0"/>
            </p:cNvCxnSpPr>
            <p:nvPr/>
          </p:nvCxnSpPr>
          <p:spPr>
            <a:xfrm rot="5400000" flipH="1">
              <a:off x="7119047" y="3691771"/>
              <a:ext cx="1346666" cy="12700"/>
            </a:xfrm>
            <a:prstGeom prst="bentConnector5">
              <a:avLst>
                <a:gd name="adj1" fmla="val -16975"/>
                <a:gd name="adj2" fmla="val 8123906"/>
                <a:gd name="adj3" fmla="val 11697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>
              <a:stCxn id="35" idx="3"/>
            </p:cNvCxnSpPr>
            <p:nvPr/>
          </p:nvCxnSpPr>
          <p:spPr>
            <a:xfrm flipH="1">
              <a:off x="7792380" y="3306470"/>
              <a:ext cx="864096" cy="1634698"/>
            </a:xfrm>
            <a:prstGeom prst="bentConnector4">
              <a:avLst>
                <a:gd name="adj1" fmla="val -26455"/>
                <a:gd name="adj2" fmla="val 87400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7768250" y="355327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532440" y="299782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63688" y="4186833"/>
            <a:ext cx="28860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626" y="4207470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6626" y="4921845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06688" y="4207470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06626" y="4921845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06688" y="4207470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06626" y="4921845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06688" y="4207470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78188" y="3186708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692251" y="5829895"/>
            <a:ext cx="14319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</a:rPr>
              <a:t>while</a:t>
            </a:r>
            <a:r>
              <a:rPr lang="zh-CN" altLang="en-US" dirty="0">
                <a:latin typeface="华文新魏" panose="02010800040101010101" pitchFamily="2" charset="-122"/>
              </a:rPr>
              <a:t>循环语句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52500"/>
            <a:ext cx="8305800" cy="4953000"/>
          </a:xfrm>
        </p:spPr>
        <p:txBody>
          <a:bodyPr/>
          <a:lstStyle/>
          <a:p>
            <a:r>
              <a:rPr lang="zh-CN" altLang="en-US" dirty="0"/>
              <a:t>若第一次判断</a:t>
            </a:r>
            <a:r>
              <a:rPr lang="en-US" altLang="zh-CN" dirty="0"/>
              <a:t>”</a:t>
            </a:r>
            <a:r>
              <a:rPr lang="zh-CN" altLang="en-US" dirty="0"/>
              <a:t>表达式</a:t>
            </a:r>
            <a:r>
              <a:rPr lang="en-US" altLang="zh-CN" dirty="0"/>
              <a:t>E”</a:t>
            </a:r>
            <a:r>
              <a:rPr lang="zh-CN" altLang="en-US" dirty="0"/>
              <a:t>的值就为假时，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 </a:t>
            </a:r>
            <a:r>
              <a:rPr lang="zh-CN" altLang="en-US" dirty="0"/>
              <a:t>    会立刻结束该</a:t>
            </a:r>
            <a:r>
              <a:rPr lang="en-US" altLang="zh-CN" dirty="0"/>
              <a:t>while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en-US" dirty="0"/>
              <a:t>作为循环体的</a:t>
            </a:r>
            <a:r>
              <a:rPr lang="en-US" altLang="zh-CN" dirty="0"/>
              <a:t>&lt;</a:t>
            </a:r>
            <a:r>
              <a:rPr lang="zh-CN" altLang="en-US" dirty="0"/>
              <a:t>语句</a:t>
            </a:r>
            <a:r>
              <a:rPr lang="en-US" altLang="zh-CN" dirty="0"/>
              <a:t>S&gt;</a:t>
            </a:r>
            <a:r>
              <a:rPr lang="zh-CN" altLang="en-US" dirty="0"/>
              <a:t>一次也没被执行则结束了该</a:t>
            </a:r>
            <a:r>
              <a:rPr lang="en-US" altLang="zh-CN" dirty="0"/>
              <a:t>while</a:t>
            </a:r>
            <a:r>
              <a:rPr lang="zh-CN" altLang="en-US" dirty="0"/>
              <a:t>语句</a:t>
            </a:r>
            <a:endParaRPr lang="zh-CN" altLang="en-US" dirty="0"/>
          </a:p>
          <a:p>
            <a:r>
              <a:rPr lang="zh-CN" altLang="en-US" dirty="0"/>
              <a:t>循环的控制</a:t>
            </a:r>
            <a:endParaRPr lang="en-US" altLang="zh-CN" dirty="0"/>
          </a:p>
          <a:p>
            <a:pPr lvl="1"/>
            <a:r>
              <a:rPr lang="zh-CN" altLang="en-US" dirty="0"/>
              <a:t>通过表达式</a:t>
            </a:r>
            <a:r>
              <a:rPr lang="en-US" altLang="zh-CN" dirty="0"/>
              <a:t>E</a:t>
            </a:r>
            <a:r>
              <a:rPr lang="zh-CN" altLang="en-US" dirty="0"/>
              <a:t>控制循环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800000"/>
                </a:solidFill>
              </a:rPr>
              <a:t>在循环体中应给出</a:t>
            </a:r>
            <a:r>
              <a:rPr kumimoji="1" lang="zh-CN" altLang="en-US" dirty="0">
                <a:solidFill>
                  <a:srgbClr val="800000"/>
                </a:solidFill>
                <a:latin typeface="宋体" panose="02010600030101010101" pitchFamily="2" charset="-122"/>
              </a:rPr>
              <a:t>使循环趋向于结束的语句，</a:t>
            </a:r>
            <a:r>
              <a:rPr kumimoji="1" lang="zh-CN" altLang="en-US" dirty="0">
                <a:latin typeface="宋体" panose="02010600030101010101" pitchFamily="2" charset="-122"/>
              </a:rPr>
              <a:t>否则</a:t>
            </a:r>
            <a:r>
              <a:rPr lang="zh-CN" altLang="en-US" dirty="0"/>
              <a:t>容易形成死循环，循环永不结束</a:t>
            </a:r>
            <a:endParaRPr lang="en-US" altLang="zh-CN" dirty="0"/>
          </a:p>
          <a:p>
            <a:pPr lvl="1"/>
            <a:r>
              <a:rPr lang="zh-CN" altLang="en-US" dirty="0"/>
              <a:t>如果表达式</a:t>
            </a:r>
            <a:r>
              <a:rPr lang="en-US" altLang="zh-CN" dirty="0"/>
              <a:t>E</a:t>
            </a:r>
            <a:r>
              <a:rPr lang="zh-CN" altLang="en-US" dirty="0"/>
              <a:t>的值恒为真值</a:t>
            </a:r>
            <a:endParaRPr lang="en-US" altLang="zh-CN" dirty="0"/>
          </a:p>
          <a:p>
            <a:pPr lvl="2"/>
            <a:r>
              <a:rPr lang="zh-CN" altLang="en-US" dirty="0"/>
              <a:t>死循环</a:t>
            </a:r>
            <a:endParaRPr lang="en-US" altLang="zh-CN" dirty="0"/>
          </a:p>
          <a:p>
            <a:pPr lvl="2"/>
            <a:r>
              <a:rPr lang="zh-CN" altLang="en-US" dirty="0"/>
              <a:t>遇到转向语句结束循环</a:t>
            </a:r>
            <a:endParaRPr lang="en-US" altLang="zh-CN" dirty="0"/>
          </a:p>
          <a:p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while</a:t>
            </a:r>
            <a:r>
              <a:rPr lang="zh-CN" altLang="en-US" dirty="0"/>
              <a:t>语句实现循环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29816" y="1313433"/>
            <a:ext cx="6718448" cy="48518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7030A0"/>
                </a:solidFill>
              </a:rPr>
              <a:t>问题</a:t>
            </a:r>
            <a:r>
              <a:rPr lang="en-US" altLang="zh-CN" sz="2000" dirty="0">
                <a:solidFill>
                  <a:srgbClr val="7030A0"/>
                </a:solidFill>
              </a:rPr>
              <a:t>2</a:t>
            </a:r>
            <a:r>
              <a:rPr lang="zh-CN" altLang="en-US" sz="2000" dirty="0">
                <a:solidFill>
                  <a:srgbClr val="7030A0"/>
                </a:solidFill>
              </a:rPr>
              <a:t>：输入全班</a:t>
            </a:r>
            <a:r>
              <a:rPr lang="en-US" altLang="zh-CN" sz="2000" dirty="0">
                <a:solidFill>
                  <a:srgbClr val="7030A0"/>
                </a:solidFill>
              </a:rPr>
              <a:t>90</a:t>
            </a:r>
            <a:r>
              <a:rPr lang="zh-CN" altLang="en-US" sz="2000" dirty="0">
                <a:solidFill>
                  <a:srgbClr val="7030A0"/>
                </a:solidFill>
              </a:rPr>
              <a:t>个学生</a:t>
            </a:r>
            <a:r>
              <a:rPr lang="en-US" altLang="zh-CN" sz="2000" dirty="0">
                <a:solidFill>
                  <a:srgbClr val="7030A0"/>
                </a:solidFill>
              </a:rPr>
              <a:t>5</a:t>
            </a:r>
            <a:r>
              <a:rPr lang="zh-CN" altLang="en-US" sz="2000" dirty="0">
                <a:solidFill>
                  <a:srgbClr val="7030A0"/>
                </a:solidFill>
              </a:rPr>
              <a:t>门课程的成绩，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        </a:t>
            </a:r>
            <a:r>
              <a:rPr lang="zh-CN" altLang="en-US" sz="2000" dirty="0">
                <a:solidFill>
                  <a:srgbClr val="7030A0"/>
                </a:solidFill>
              </a:rPr>
              <a:t>分别计算每名学生的平均成绩并输出。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解题思路：重复完成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名学生成绩统计，显然可用循环结构来实现。重复执行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次循环体；循环体完成：输入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门成绩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计算平均成绩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输出平均成绩。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score1,score2,score3,score4,score5;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90)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循环体开始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cin&gt;&gt;score1&gt;&gt;score2&gt;&gt;score3&gt;&gt;score4&gt;&gt;score5;</a:t>
            </a:r>
            <a:endParaRPr lang="it-IT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avg=(score1+score2+score3+score4+score5)/5;</a:t>
            </a:r>
            <a:endParaRPr lang="it-IT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cout&lt;&lt;“avg=”&lt;&lt;avg&lt;&lt;endl;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r>
              <a:rPr lang="en-US" altLang="zh-CN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7067128" y="1916832"/>
            <a:ext cx="1753344" cy="4483980"/>
            <a:chOff x="6933456" y="1916832"/>
            <a:chExt cx="1753344" cy="4483980"/>
          </a:xfrm>
        </p:grpSpPr>
        <p:sp>
          <p:nvSpPr>
            <p:cNvPr id="9" name="矩形 8"/>
            <p:cNvSpPr/>
            <p:nvPr/>
          </p:nvSpPr>
          <p:spPr>
            <a:xfrm>
              <a:off x="7174632" y="1916832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流程图: 决策 9"/>
            <p:cNvSpPr/>
            <p:nvPr/>
          </p:nvSpPr>
          <p:spPr>
            <a:xfrm>
              <a:off x="7174632" y="2636912"/>
              <a:ext cx="1256184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i≤90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933456" y="3429000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输入第</a:t>
              </a:r>
              <a:r>
                <a:rPr lang="en-US" altLang="zh-CN" sz="1400" dirty="0" err="1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i</a:t>
              </a:r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个学生成绩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180982" y="5445224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16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=i+1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箭头连接符 12"/>
            <p:cNvCxnSpPr>
              <a:stCxn id="9" idx="2"/>
              <a:endCxn id="10" idx="0"/>
            </p:cNvCxnSpPr>
            <p:nvPr/>
          </p:nvCxnSpPr>
          <p:spPr>
            <a:xfrm>
              <a:off x="7802724" y="2276872"/>
              <a:ext cx="0" cy="360040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13"/>
            <p:cNvCxnSpPr>
              <a:stCxn id="12" idx="2"/>
              <a:endCxn id="10" idx="0"/>
            </p:cNvCxnSpPr>
            <p:nvPr/>
          </p:nvCxnSpPr>
          <p:spPr>
            <a:xfrm rot="5400000" flipH="1">
              <a:off x="6221723" y="4217913"/>
              <a:ext cx="3168352" cy="6350"/>
            </a:xfrm>
            <a:prstGeom prst="bentConnector5">
              <a:avLst>
                <a:gd name="adj1" fmla="val -7215"/>
                <a:gd name="adj2" fmla="val 15796614"/>
                <a:gd name="adj3" fmla="val 107215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连接符 14"/>
            <p:cNvCxnSpPr>
              <a:stCxn id="10" idx="3"/>
            </p:cNvCxnSpPr>
            <p:nvPr/>
          </p:nvCxnSpPr>
          <p:spPr>
            <a:xfrm flipH="1">
              <a:off x="7802724" y="2924944"/>
              <a:ext cx="628092" cy="3475868"/>
            </a:xfrm>
            <a:prstGeom prst="bentConnector4">
              <a:avLst>
                <a:gd name="adj1" fmla="val -57381"/>
                <a:gd name="adj2" fmla="val 94196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8001906" y="3162454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372290" y="2630560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933456" y="4101075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计算平均成绩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933456" y="4773150"/>
              <a:ext cx="173853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输出平均成绩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0" name="直接箭头连接符 19"/>
            <p:cNvCxnSpPr>
              <a:stCxn id="11" idx="2"/>
              <a:endCxn id="18" idx="0"/>
            </p:cNvCxnSpPr>
            <p:nvPr/>
          </p:nvCxnSpPr>
          <p:spPr>
            <a:xfrm>
              <a:off x="7802724" y="3789040"/>
              <a:ext cx="0" cy="31203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0" idx="2"/>
              <a:endCxn id="11" idx="0"/>
            </p:cNvCxnSpPr>
            <p:nvPr/>
          </p:nvCxnSpPr>
          <p:spPr>
            <a:xfrm>
              <a:off x="7802724" y="3212976"/>
              <a:ext cx="0" cy="21602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8" idx="2"/>
              <a:endCxn id="19" idx="0"/>
            </p:cNvCxnSpPr>
            <p:nvPr/>
          </p:nvCxnSpPr>
          <p:spPr>
            <a:xfrm>
              <a:off x="7802724" y="4461115"/>
              <a:ext cx="0" cy="31203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9" idx="2"/>
              <a:endCxn id="12" idx="0"/>
            </p:cNvCxnSpPr>
            <p:nvPr/>
          </p:nvCxnSpPr>
          <p:spPr>
            <a:xfrm>
              <a:off x="7802724" y="5133190"/>
              <a:ext cx="6350" cy="31203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6771697" y="2348880"/>
            <a:ext cx="2392370" cy="3744416"/>
            <a:chOff x="6516216" y="2924944"/>
            <a:chExt cx="2392370" cy="3076860"/>
          </a:xfrm>
        </p:grpSpPr>
        <p:sp>
          <p:nvSpPr>
            <p:cNvPr id="41" name="矩形 40"/>
            <p:cNvSpPr/>
            <p:nvPr/>
          </p:nvSpPr>
          <p:spPr>
            <a:xfrm>
              <a:off x="6516216" y="2924944"/>
              <a:ext cx="2232248" cy="3076860"/>
            </a:xfrm>
            <a:prstGeom prst="rect">
              <a:avLst/>
            </a:prstGeom>
            <a:noFill/>
            <a:ln>
              <a:solidFill>
                <a:srgbClr val="0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628887" y="2924944"/>
              <a:ext cx="1279699" cy="227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</a:t>
              </a:r>
              <a:r>
                <a:rPr lang="zh-CN" altLang="en-US" sz="12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循环结构</a:t>
              </a:r>
              <a:r>
                <a:rPr lang="en-US" altLang="zh-CN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循环和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循环的关系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6419056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E1;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E2;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E3)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可以改写成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E1;</a:t>
            </a:r>
            <a:endParaRPr kumimoji="1"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(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E2) 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语句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S;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E3;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400" dirty="0"/>
              <a:t>二者无条件等价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27" name="内容占位符 5"/>
          <p:cNvSpPr txBox="1"/>
          <p:nvPr/>
        </p:nvSpPr>
        <p:spPr bwMode="auto">
          <a:xfrm>
            <a:off x="3851920" y="2132856"/>
            <a:ext cx="4998746" cy="13681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sp>
        <p:nvSpPr>
          <p:cNvPr id="28" name="内容占位符 5"/>
          <p:cNvSpPr txBox="1"/>
          <p:nvPr/>
        </p:nvSpPr>
        <p:spPr bwMode="auto">
          <a:xfrm>
            <a:off x="3851920" y="4221088"/>
            <a:ext cx="4998746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29" name="下箭头 28"/>
          <p:cNvSpPr/>
          <p:nvPr/>
        </p:nvSpPr>
        <p:spPr>
          <a:xfrm>
            <a:off x="6084168" y="3573016"/>
            <a:ext cx="360040" cy="57606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</a:rPr>
              <a:t>while</a:t>
            </a:r>
            <a:r>
              <a:rPr lang="zh-CN" altLang="en-US" dirty="0">
                <a:latin typeface="华文新魏" panose="02010800040101010101" pitchFamily="2" charset="-122"/>
              </a:rPr>
              <a:t>循环语句举例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2187575"/>
          </a:xfrm>
        </p:spPr>
        <p:txBody>
          <a:bodyPr/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举例：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15;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1)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x /= 2;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count&lt;&lt;x&lt;&lt;</a:t>
            </a: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运行结果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27584" y="4941168"/>
            <a:ext cx="5760640" cy="13681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循环举例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7139136" cy="1035447"/>
          </a:xfrm>
        </p:spPr>
        <p:txBody>
          <a:bodyPr/>
          <a:lstStyle/>
          <a:p>
            <a:r>
              <a:rPr kumimoji="1" lang="zh-CN" altLang="en-US" dirty="0"/>
              <a:t>今年小明</a:t>
            </a:r>
            <a:r>
              <a:rPr kumimoji="1" lang="en-US" altLang="zh-CN" dirty="0"/>
              <a:t>10</a:t>
            </a:r>
            <a:r>
              <a:rPr kumimoji="1" lang="zh-CN" altLang="en-US" dirty="0"/>
              <a:t>岁，父亲</a:t>
            </a:r>
            <a:r>
              <a:rPr kumimoji="1" lang="en-US" altLang="zh-CN" dirty="0"/>
              <a:t>39</a:t>
            </a:r>
            <a:r>
              <a:rPr kumimoji="1" lang="zh-CN" altLang="en-US" dirty="0"/>
              <a:t>岁，问多少年后，父亲的年龄是小明的</a:t>
            </a:r>
            <a:r>
              <a:rPr kumimoji="1" lang="en-US" altLang="zh-CN" dirty="0"/>
              <a:t>2</a:t>
            </a:r>
            <a:r>
              <a:rPr kumimoji="1" lang="zh-CN" altLang="en-US" dirty="0"/>
              <a:t>倍？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971600" y="2348880"/>
            <a:ext cx="6953200" cy="35185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MingAge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10,FatherAge = 39,count = 0;</a:t>
            </a: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 *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MingAge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FatherAge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MingAge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FatherAge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count++;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count;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while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4.19】</a:t>
            </a:r>
            <a:r>
              <a:rPr lang="zh-CN" altLang="en-US">
                <a:solidFill>
                  <a:srgbClr val="C00000"/>
                </a:solidFill>
              </a:rPr>
              <a:t>修改</a:t>
            </a:r>
            <a:r>
              <a:rPr lang="zh-CN" altLang="en-US"/>
              <a:t>例</a:t>
            </a:r>
            <a:r>
              <a:rPr lang="en-US" altLang="zh-CN"/>
              <a:t>4.12</a:t>
            </a:r>
            <a:r>
              <a:rPr lang="zh-CN" altLang="en-US">
                <a:solidFill>
                  <a:srgbClr val="C00000"/>
                </a:solidFill>
              </a:rPr>
              <a:t>计算器程序，增加控制计算器运行的功能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运行程序进行一次计算后，系统提示：</a:t>
            </a:r>
            <a:endParaRPr lang="en-US" altLang="zh-CN"/>
          </a:p>
          <a:p>
            <a:pPr lvl="3" eaLnBrk="1" hangingPunct="1"/>
            <a:r>
              <a:rPr lang="en-US" altLang="zh-CN"/>
              <a:t>Do you want to continue?(y or n):</a:t>
            </a:r>
            <a:endParaRPr lang="en-US" altLang="zh-CN"/>
          </a:p>
          <a:p>
            <a:pPr lvl="2" eaLnBrk="1" hangingPunct="1"/>
            <a:r>
              <a:rPr lang="zh-CN" altLang="en-US"/>
              <a:t>输入字符</a:t>
            </a:r>
            <a:r>
              <a:rPr lang="en-US" altLang="zh-CN"/>
              <a:t>y</a:t>
            </a:r>
            <a:r>
              <a:rPr lang="zh-CN" altLang="en-US"/>
              <a:t>则继续计算</a:t>
            </a:r>
            <a:endParaRPr lang="en-US" altLang="zh-CN"/>
          </a:p>
          <a:p>
            <a:pPr lvl="2" eaLnBrk="1" hangingPunct="1"/>
            <a:r>
              <a:rPr lang="zh-CN" altLang="en-US"/>
              <a:t>输入其它字符则结束计算</a:t>
            </a:r>
            <a:endParaRPr lang="en-US" altLang="zh-C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523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0188" y="1143000"/>
            <a:ext cx="6072187" cy="534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do…while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41425"/>
            <a:ext cx="8352928" cy="5248275"/>
          </a:xfrm>
        </p:spPr>
        <p:txBody>
          <a:bodyPr/>
          <a:lstStyle/>
          <a:p>
            <a:r>
              <a:rPr lang="zh-CN" altLang="en-US" sz="2400" dirty="0"/>
              <a:t>形式简单的循环语句</a:t>
            </a:r>
            <a:endParaRPr lang="en-US" altLang="zh-CN" sz="2400" dirty="0"/>
          </a:p>
          <a:p>
            <a:r>
              <a:rPr lang="zh-CN" altLang="en-US" sz="2400" dirty="0"/>
              <a:t>一般形式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do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   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语句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E)</a:t>
            </a:r>
            <a:endParaRPr lang="en-US" altLang="zh-CN" sz="240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：循环条件，一般是具有逻辑值的表达式，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zh-CN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判定是否继续循环；在每次执行循环体前执行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为真</a:t>
            </a:r>
            <a:r>
              <a:rPr lang="en-US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非</a:t>
            </a:r>
            <a:r>
              <a:rPr lang="zh-CN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，继续执行循环体</a:t>
            </a:r>
            <a:endParaRPr lang="en-US" altLang="zh-CN" sz="1600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为假</a:t>
            </a:r>
            <a:r>
              <a:rPr lang="en-US" altLang="zh-CN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zh-CN" altLang="en-US" sz="1600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，则结束循环</a:t>
            </a:r>
            <a:endParaRPr lang="en-US" altLang="zh-CN" sz="1600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：循环体，即反复执行的简单语句或语句块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复合语句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lang="zh-CN" altLang="en-US" sz="2400" dirty="0"/>
              <a:t>先无条件地执行循环体语句</a:t>
            </a:r>
            <a:r>
              <a:rPr lang="zh-CN" altLang="zh-CN" sz="2400" dirty="0"/>
              <a:t>，</a:t>
            </a:r>
            <a:r>
              <a:rPr lang="zh-CN" altLang="en-US" sz="2400" dirty="0"/>
              <a:t>然后判断循环条件是否成立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00000"/>
                </a:solidFill>
              </a:rPr>
              <a:t>执行</a:t>
            </a:r>
            <a:r>
              <a:rPr lang="en-US" altLang="zh-CN" sz="2400" dirty="0">
                <a:solidFill>
                  <a:srgbClr val="800000"/>
                </a:solidFill>
              </a:rPr>
              <a:t>(do)</a:t>
            </a:r>
            <a:r>
              <a:rPr lang="zh-CN" altLang="en-US" sz="2400" dirty="0"/>
              <a:t>循环体语句</a:t>
            </a:r>
            <a:r>
              <a:rPr lang="en-US" altLang="zh-CN" sz="2400" dirty="0"/>
              <a:t>,</a:t>
            </a:r>
            <a:r>
              <a:rPr lang="zh-CN" altLang="en-US" sz="2400" dirty="0">
                <a:solidFill>
                  <a:srgbClr val="0000FF"/>
                </a:solidFill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</a:rPr>
              <a:t>(while)</a:t>
            </a:r>
            <a:r>
              <a:rPr lang="zh-CN" altLang="en-US" sz="2400" dirty="0"/>
              <a:t>循环条件表达式为</a:t>
            </a:r>
            <a:r>
              <a:rPr lang="zh-CN" altLang="en-US" sz="2400" dirty="0">
                <a:solidFill>
                  <a:srgbClr val="800000"/>
                </a:solidFill>
              </a:rPr>
              <a:t>真</a:t>
            </a:r>
            <a:r>
              <a:rPr lang="zh-CN" altLang="en-US" sz="2400" dirty="0"/>
              <a:t>，则反复执行循环体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16" name="组 15"/>
          <p:cNvGrpSpPr/>
          <p:nvPr/>
        </p:nvGrpSpPr>
        <p:grpSpPr>
          <a:xfrm>
            <a:off x="6996130" y="1988840"/>
            <a:ext cx="1968358" cy="2736304"/>
            <a:chOff x="6588224" y="1700808"/>
            <a:chExt cx="1968358" cy="2736304"/>
          </a:xfrm>
        </p:grpSpPr>
        <p:sp>
          <p:nvSpPr>
            <p:cNvPr id="17" name="流程图: 决策 7"/>
            <p:cNvSpPr/>
            <p:nvPr/>
          </p:nvSpPr>
          <p:spPr>
            <a:xfrm>
              <a:off x="6588224" y="2852936"/>
              <a:ext cx="1728192" cy="802998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肘形连接符 17"/>
            <p:cNvCxnSpPr>
              <a:stCxn id="17" idx="2"/>
              <a:endCxn id="22" idx="0"/>
            </p:cNvCxnSpPr>
            <p:nvPr/>
          </p:nvCxnSpPr>
          <p:spPr>
            <a:xfrm rot="5400000" flipH="1">
              <a:off x="6726785" y="2930399"/>
              <a:ext cx="1451070" cy="12700"/>
            </a:xfrm>
            <a:prstGeom prst="bentConnector5">
              <a:avLst>
                <a:gd name="adj1" fmla="val -15754"/>
                <a:gd name="adj2" fmla="val 8603906"/>
                <a:gd name="adj3" fmla="val 11575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17" idx="3"/>
            </p:cNvCxnSpPr>
            <p:nvPr/>
          </p:nvCxnSpPr>
          <p:spPr>
            <a:xfrm flipH="1">
              <a:off x="7452320" y="3254435"/>
              <a:ext cx="864096" cy="1182677"/>
            </a:xfrm>
            <a:prstGeom prst="bentConnector4">
              <a:avLst>
                <a:gd name="adj1" fmla="val -26455"/>
                <a:gd name="adj2" fmla="val 73847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7452320" y="3573016"/>
              <a:ext cx="364202" cy="429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92380" y="2927970"/>
              <a:ext cx="364202" cy="429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732240" y="2204864"/>
              <a:ext cx="1440160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直接箭头连接符 20"/>
            <p:cNvCxnSpPr>
              <a:endCxn id="22" idx="0"/>
            </p:cNvCxnSpPr>
            <p:nvPr/>
          </p:nvCxnSpPr>
          <p:spPr>
            <a:xfrm>
              <a:off x="7445056" y="1700808"/>
              <a:ext cx="7264" cy="504056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0"/>
            <p:cNvCxnSpPr>
              <a:stCxn id="22" idx="2"/>
              <a:endCxn id="17" idx="0"/>
            </p:cNvCxnSpPr>
            <p:nvPr/>
          </p:nvCxnSpPr>
          <p:spPr>
            <a:xfrm>
              <a:off x="7452320" y="2564904"/>
              <a:ext cx="0" cy="28803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do…while</a:t>
            </a:r>
            <a:r>
              <a:rPr lang="zh-CN" altLang="en-US" dirty="0"/>
              <a:t>语句实现循环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075240" cy="2907655"/>
          </a:xfrm>
        </p:spPr>
        <p:txBody>
          <a:bodyPr/>
          <a:lstStyle/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执行过程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执行循环体语句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求解表达式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，若值为真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非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，转至第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步；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若值为假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，则结束循环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执行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do…while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语句下面的一个语句</a:t>
            </a:r>
            <a:endParaRPr lang="zh-C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sz="2400" dirty="0"/>
              <a:t>注：循环体至少要被执行一遍！</a:t>
            </a:r>
            <a:endParaRPr kumimoji="1" lang="zh-CN" altLang="en-US" sz="2400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83407" y="4005064"/>
            <a:ext cx="31242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6345" y="4740076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0095" y="5290939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26345" y="4740076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20095" y="5290939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26345" y="4740076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20095" y="5290939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26345" y="4740076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20095" y="5290939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40907" y="4219376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311970" y="5740201"/>
            <a:ext cx="14319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" name="组 57"/>
          <p:cNvGrpSpPr/>
          <p:nvPr/>
        </p:nvGrpSpPr>
        <p:grpSpPr>
          <a:xfrm>
            <a:off x="6588224" y="3140968"/>
            <a:ext cx="1968358" cy="2736304"/>
            <a:chOff x="6588224" y="1700808"/>
            <a:chExt cx="1968358" cy="2736304"/>
          </a:xfrm>
        </p:grpSpPr>
        <p:sp>
          <p:nvSpPr>
            <p:cNvPr id="18" name="流程图: 决策 7"/>
            <p:cNvSpPr/>
            <p:nvPr/>
          </p:nvSpPr>
          <p:spPr>
            <a:xfrm>
              <a:off x="6588224" y="2852936"/>
              <a:ext cx="1728192" cy="802998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肘形连接符 21"/>
            <p:cNvCxnSpPr>
              <a:stCxn id="18" idx="2"/>
              <a:endCxn id="26" idx="0"/>
            </p:cNvCxnSpPr>
            <p:nvPr/>
          </p:nvCxnSpPr>
          <p:spPr>
            <a:xfrm rot="5400000" flipH="1">
              <a:off x="6726785" y="2930399"/>
              <a:ext cx="1451070" cy="12700"/>
            </a:xfrm>
            <a:prstGeom prst="bentConnector5">
              <a:avLst>
                <a:gd name="adj1" fmla="val -15754"/>
                <a:gd name="adj2" fmla="val 8603906"/>
                <a:gd name="adj3" fmla="val 11575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8" idx="3"/>
            </p:cNvCxnSpPr>
            <p:nvPr/>
          </p:nvCxnSpPr>
          <p:spPr>
            <a:xfrm flipH="1">
              <a:off x="7452320" y="3254435"/>
              <a:ext cx="864096" cy="1182677"/>
            </a:xfrm>
            <a:prstGeom prst="bentConnector4">
              <a:avLst>
                <a:gd name="adj1" fmla="val -26455"/>
                <a:gd name="adj2" fmla="val 73847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7452320" y="3573016"/>
              <a:ext cx="364202" cy="429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192380" y="2927970"/>
              <a:ext cx="364202" cy="429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732240" y="2204864"/>
              <a:ext cx="1440160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语句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5" name="直接箭头连接符 20"/>
            <p:cNvCxnSpPr>
              <a:endCxn id="26" idx="0"/>
            </p:cNvCxnSpPr>
            <p:nvPr/>
          </p:nvCxnSpPr>
          <p:spPr>
            <a:xfrm>
              <a:off x="7445056" y="1700808"/>
              <a:ext cx="7264" cy="504056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20"/>
            <p:cNvCxnSpPr>
              <a:stCxn id="26" idx="2"/>
              <a:endCxn id="18" idx="0"/>
            </p:cNvCxnSpPr>
            <p:nvPr/>
          </p:nvCxnSpPr>
          <p:spPr>
            <a:xfrm>
              <a:off x="7452320" y="2564904"/>
              <a:ext cx="0" cy="28803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do…while</a:t>
            </a:r>
            <a:r>
              <a:rPr lang="zh-CN" altLang="en-US" dirty="0"/>
              <a:t>语句实现循环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6033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7030A0"/>
                </a:solidFill>
              </a:rPr>
              <a:t>问题</a:t>
            </a:r>
            <a:r>
              <a:rPr lang="zh-CN" altLang="zh-CN" dirty="0">
                <a:solidFill>
                  <a:srgbClr val="7030A0"/>
                </a:solidFill>
              </a:rPr>
              <a:t>1</a:t>
            </a:r>
            <a:r>
              <a:rPr lang="zh-CN" altLang="en-US" dirty="0">
                <a:solidFill>
                  <a:srgbClr val="7030A0"/>
                </a:solidFill>
              </a:rPr>
              <a:t>：求</a:t>
            </a:r>
            <a:r>
              <a:rPr lang="en-US" altLang="zh-CN" dirty="0">
                <a:solidFill>
                  <a:srgbClr val="7030A0"/>
                </a:solidFill>
              </a:rPr>
              <a:t>1+2+3+…+100</a:t>
            </a:r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13" name="内容占位符 5"/>
          <p:cNvSpPr txBox="1"/>
          <p:nvPr/>
        </p:nvSpPr>
        <p:spPr bwMode="auto">
          <a:xfrm>
            <a:off x="467544" y="2060848"/>
            <a:ext cx="3960440" cy="13681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sp>
        <p:nvSpPr>
          <p:cNvPr id="14" name="内容占位符 5"/>
          <p:cNvSpPr txBox="1"/>
          <p:nvPr/>
        </p:nvSpPr>
        <p:spPr bwMode="auto">
          <a:xfrm>
            <a:off x="467544" y="4149080"/>
            <a:ext cx="3960440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5" name="下箭头 14"/>
          <p:cNvSpPr/>
          <p:nvPr/>
        </p:nvSpPr>
        <p:spPr>
          <a:xfrm>
            <a:off x="2126505" y="3501008"/>
            <a:ext cx="285255" cy="57606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内容占位符 5"/>
          <p:cNvSpPr txBox="1"/>
          <p:nvPr/>
        </p:nvSpPr>
        <p:spPr bwMode="auto">
          <a:xfrm>
            <a:off x="5652120" y="2852936"/>
            <a:ext cx="3168352" cy="19442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7" name="下箭头 16"/>
          <p:cNvSpPr/>
          <p:nvPr/>
        </p:nvSpPr>
        <p:spPr>
          <a:xfrm rot="16200000">
            <a:off x="4933428" y="3571628"/>
            <a:ext cx="285255" cy="57606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do...while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4.20】</a:t>
            </a:r>
            <a:r>
              <a:rPr lang="zh-CN" altLang="en-US">
                <a:solidFill>
                  <a:srgbClr val="C00000"/>
                </a:solidFill>
              </a:rPr>
              <a:t>用</a:t>
            </a:r>
            <a:r>
              <a:rPr lang="en-US" altLang="zh-CN">
                <a:solidFill>
                  <a:srgbClr val="C00000"/>
                </a:solidFill>
              </a:rPr>
              <a:t>do…while</a:t>
            </a:r>
            <a:r>
              <a:rPr lang="zh-CN" altLang="en-US">
                <a:solidFill>
                  <a:srgbClr val="C00000"/>
                </a:solidFill>
              </a:rPr>
              <a:t>语句改写</a:t>
            </a:r>
            <a:r>
              <a:rPr lang="zh-CN" altLang="en-US"/>
              <a:t>例</a:t>
            </a:r>
            <a:r>
              <a:rPr lang="en-US" altLang="zh-CN"/>
              <a:t>4.19</a:t>
            </a:r>
            <a:r>
              <a:rPr lang="zh-CN" altLang="en-US">
                <a:solidFill>
                  <a:srgbClr val="C00000"/>
                </a:solidFill>
              </a:rPr>
              <a:t>的计算器程序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/>
              <a:t>while</a:t>
            </a:r>
            <a:r>
              <a:rPr lang="zh-CN" altLang="en-US"/>
              <a:t>语句首先判断字符</a:t>
            </a:r>
            <a:r>
              <a:rPr lang="en-US" altLang="zh-CN"/>
              <a:t>cont</a:t>
            </a:r>
            <a:r>
              <a:rPr lang="zh-CN" altLang="en-US"/>
              <a:t>的值，因此必须先对</a:t>
            </a:r>
            <a:r>
              <a:rPr lang="en-US" altLang="zh-CN"/>
              <a:t>cont</a:t>
            </a:r>
            <a:r>
              <a:rPr lang="zh-CN" altLang="en-US"/>
              <a:t>进行赋值，如</a:t>
            </a:r>
            <a:endParaRPr lang="en-US" altLang="zh-CN"/>
          </a:p>
          <a:p>
            <a:pPr lvl="3"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cont = “Y”;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/>
              <a:t>do…while</a:t>
            </a:r>
            <a:r>
              <a:rPr lang="zh-CN" altLang="en-US"/>
              <a:t>的循环体至少执行一次，无论</a:t>
            </a:r>
            <a:r>
              <a:rPr lang="en-US" altLang="zh-CN"/>
              <a:t>cont</a:t>
            </a:r>
            <a:r>
              <a:rPr lang="zh-CN" altLang="en-US"/>
              <a:t>的初始值是什么，循环体都要执行，也就是计算器的第一次计算一定能够执行。因此，没有必要对</a:t>
            </a:r>
            <a:r>
              <a:rPr lang="en-US" altLang="zh-CN"/>
              <a:t>cont</a:t>
            </a:r>
            <a:r>
              <a:rPr lang="zh-CN" altLang="en-US"/>
              <a:t>进行初始化</a:t>
            </a:r>
            <a:endParaRPr lang="zh-CN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240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43063" y="1143000"/>
            <a:ext cx="5857875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4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do...while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4.21】</a:t>
            </a:r>
            <a:r>
              <a:rPr lang="zh-CN" altLang="en-US">
                <a:solidFill>
                  <a:srgbClr val="C00000"/>
                </a:solidFill>
              </a:rPr>
              <a:t>计算常数</a:t>
            </a:r>
            <a:r>
              <a:rPr lang="en-US" altLang="zh-CN">
                <a:solidFill>
                  <a:srgbClr val="C00000"/>
                </a:solidFill>
              </a:rPr>
              <a:t>e</a:t>
            </a:r>
            <a:r>
              <a:rPr lang="zh-CN" altLang="en-US">
                <a:solidFill>
                  <a:srgbClr val="C00000"/>
                </a:solidFill>
              </a:rPr>
              <a:t>的近似值（精确到累加项 1/(</a:t>
            </a:r>
            <a:r>
              <a:rPr lang="en-US" altLang="zh-CN">
                <a:solidFill>
                  <a:srgbClr val="C00000"/>
                </a:solidFill>
              </a:rPr>
              <a:t>n!) </a:t>
            </a:r>
            <a:r>
              <a:rPr lang="zh-CN" altLang="en-US">
                <a:solidFill>
                  <a:srgbClr val="C00000"/>
                </a:solidFill>
              </a:rPr>
              <a:t>小于 0.1</a:t>
            </a:r>
            <a:r>
              <a:rPr lang="en-US" altLang="zh-CN">
                <a:solidFill>
                  <a:srgbClr val="C00000"/>
                </a:solidFill>
              </a:rPr>
              <a:t>e-10 </a:t>
            </a:r>
            <a:r>
              <a:rPr lang="zh-CN" altLang="en-US">
                <a:solidFill>
                  <a:srgbClr val="C00000"/>
                </a:solidFill>
              </a:rPr>
              <a:t>时为止）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计算公式</a:t>
            </a:r>
            <a:endParaRPr lang="en-US" altLang="zh-CN"/>
          </a:p>
          <a:p>
            <a:pPr lvl="3" eaLnBrk="1" hangingPunct="1"/>
            <a:r>
              <a:rPr lang="en-US" altLang="zh-CN"/>
              <a:t>e = 1 + 1/(1!) + 1/(2!) + 1/(3!) + ... + 1/(n!) + ...</a:t>
            </a:r>
            <a:endParaRPr lang="en-US" altLang="zh-CN"/>
          </a:p>
          <a:p>
            <a:pPr lvl="2" eaLnBrk="1" hangingPunct="1"/>
            <a:r>
              <a:rPr lang="zh-CN" altLang="en-US"/>
              <a:t>程序步骤</a:t>
            </a:r>
            <a:endParaRPr lang="en-US" altLang="zh-CN"/>
          </a:p>
          <a:p>
            <a:pPr lvl="3" eaLnBrk="1" hangingPunct="1"/>
            <a:r>
              <a:rPr lang="zh-CN" altLang="en-US"/>
              <a:t>计算整数</a:t>
            </a:r>
            <a:r>
              <a:rPr lang="en-US" altLang="zh-CN"/>
              <a:t>n</a:t>
            </a:r>
            <a:r>
              <a:rPr lang="zh-CN" altLang="en-US"/>
              <a:t>的阶乘</a:t>
            </a:r>
            <a:endParaRPr lang="en-US" altLang="zh-CN"/>
          </a:p>
          <a:p>
            <a:pPr lvl="3" eaLnBrk="1" hangingPunct="1"/>
            <a:r>
              <a:rPr lang="zh-CN" altLang="en-US"/>
              <a:t>取倒数</a:t>
            </a:r>
            <a:endParaRPr lang="en-US" altLang="zh-CN"/>
          </a:p>
          <a:p>
            <a:pPr lvl="3" eaLnBrk="1" hangingPunct="1"/>
            <a:r>
              <a:rPr lang="zh-CN" altLang="en-US"/>
              <a:t>累加</a:t>
            </a:r>
            <a:endParaRPr lang="en-US" altLang="zh-CN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4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do...while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4.21】</a:t>
            </a:r>
            <a:r>
              <a:rPr lang="zh-CN" altLang="en-US"/>
              <a:t>编程分析</a:t>
            </a:r>
            <a:endParaRPr lang="en-US" altLang="zh-CN"/>
          </a:p>
          <a:p>
            <a:pPr lvl="2" eaLnBrk="1" hangingPunct="1"/>
            <a:r>
              <a:rPr lang="zh-CN" altLang="en-US"/>
              <a:t>循环语句选择</a:t>
            </a:r>
            <a:endParaRPr lang="en-US" altLang="zh-CN"/>
          </a:p>
          <a:p>
            <a:pPr lvl="3" eaLnBrk="1" hangingPunct="1"/>
            <a:r>
              <a:rPr lang="zh-CN" altLang="en-US"/>
              <a:t>第一项为</a:t>
            </a:r>
            <a:r>
              <a:rPr lang="en-US" altLang="zh-CN"/>
              <a:t>0</a:t>
            </a:r>
            <a:r>
              <a:rPr lang="zh-CN" altLang="en-US"/>
              <a:t>！，值为</a:t>
            </a:r>
            <a:r>
              <a:rPr lang="en-US" altLang="zh-CN"/>
              <a:t>1</a:t>
            </a:r>
            <a:endParaRPr lang="en-US" altLang="zh-CN"/>
          </a:p>
          <a:p>
            <a:pPr lvl="4" eaLnBrk="1" hangingPunct="1"/>
            <a:r>
              <a:rPr lang="zh-CN" altLang="en-US"/>
              <a:t>不是计算得到的，是约定的</a:t>
            </a:r>
            <a:endParaRPr lang="en-US" altLang="zh-CN"/>
          </a:p>
          <a:p>
            <a:pPr lvl="3" eaLnBrk="1" hangingPunct="1"/>
            <a:r>
              <a:rPr lang="zh-CN" altLang="en-US"/>
              <a:t>与其它项存在“非共性”，选择</a:t>
            </a:r>
            <a:r>
              <a:rPr lang="en-US" altLang="zh-CN"/>
              <a:t>do…while</a:t>
            </a:r>
            <a:r>
              <a:rPr lang="zh-CN" altLang="en-US"/>
              <a:t>语句</a:t>
            </a:r>
            <a:endParaRPr lang="en-US" altLang="zh-CN"/>
          </a:p>
          <a:p>
            <a:pPr lvl="2" eaLnBrk="1" hangingPunct="1"/>
            <a:r>
              <a:rPr lang="zh-CN" altLang="en-US"/>
              <a:t>循环体</a:t>
            </a:r>
            <a:endParaRPr lang="en-US" altLang="zh-CN"/>
          </a:p>
          <a:p>
            <a:pPr lvl="3" eaLnBrk="1" hangingPunct="1"/>
            <a:r>
              <a:rPr lang="zh-CN" altLang="en-US"/>
              <a:t>从</a:t>
            </a:r>
            <a:r>
              <a:rPr lang="en-US" altLang="zh-CN"/>
              <a:t>1</a:t>
            </a:r>
            <a:r>
              <a:rPr lang="zh-CN" altLang="en-US"/>
              <a:t>！开始计算</a:t>
            </a:r>
            <a:endParaRPr lang="en-US" altLang="zh-CN"/>
          </a:p>
          <a:p>
            <a:pPr lvl="4" eaLnBrk="1" hangingPunct="1"/>
            <a:r>
              <a:rPr lang="zh-CN" altLang="en-US"/>
              <a:t>计算</a:t>
            </a:r>
            <a:r>
              <a:rPr lang="en-US" altLang="zh-CN"/>
              <a:t>e</a:t>
            </a:r>
            <a:r>
              <a:rPr lang="zh-CN" altLang="en-US"/>
              <a:t>值：</a:t>
            </a:r>
            <a:r>
              <a:rPr lang="en-US" altLang="zh-CN"/>
              <a:t>e = 1/0</a:t>
            </a:r>
            <a:r>
              <a:rPr lang="zh-CN" altLang="en-US"/>
              <a:t>！</a:t>
            </a:r>
            <a:endParaRPr lang="en-US" altLang="zh-CN"/>
          </a:p>
          <a:p>
            <a:pPr lvl="4" eaLnBrk="1" hangingPunct="1"/>
            <a:r>
              <a:rPr lang="zh-CN" altLang="en-US"/>
              <a:t>计算</a:t>
            </a:r>
            <a:r>
              <a:rPr lang="en-US" altLang="zh-CN"/>
              <a:t>1</a:t>
            </a:r>
            <a:r>
              <a:rPr lang="zh-CN" altLang="en-US"/>
              <a:t>！并取倒数</a:t>
            </a:r>
            <a:endParaRPr lang="en-US" altLang="zh-CN"/>
          </a:p>
          <a:p>
            <a:pPr lvl="2" eaLnBrk="1" hangingPunct="1"/>
            <a:r>
              <a:rPr lang="zh-CN" altLang="en-US"/>
              <a:t>循环控制条件</a:t>
            </a:r>
            <a:endParaRPr lang="en-US" altLang="zh-CN"/>
          </a:p>
          <a:p>
            <a:pPr lvl="3" eaLnBrk="1" hangingPunct="1"/>
            <a:r>
              <a:rPr lang="en-US" altLang="zh-CN"/>
              <a:t>1/n!&lt;0.1e-10</a:t>
            </a:r>
            <a:r>
              <a:rPr lang="zh-CN" altLang="en-US"/>
              <a:t>即退出循环</a:t>
            </a:r>
            <a:endParaRPr lang="en-US" altLang="zh-CN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547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1962" y="1428750"/>
            <a:ext cx="82200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do…while</a:t>
            </a:r>
            <a:r>
              <a:rPr kumimoji="1" lang="zh-CN" altLang="en-US" dirty="0"/>
              <a:t>循环的比较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28800"/>
            <a:ext cx="8640960" cy="4860900"/>
          </a:xfrm>
        </p:spPr>
        <p:txBody>
          <a:bodyPr/>
          <a:lstStyle/>
          <a:p>
            <a:r>
              <a:rPr kumimoji="1" lang="zh-CN" altLang="en-US" dirty="0"/>
              <a:t>凡是能用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循环处理，都能用</a:t>
            </a:r>
            <a:r>
              <a:rPr kumimoji="1" lang="en-US" altLang="zh-CN" dirty="0"/>
              <a:t>do…while</a:t>
            </a:r>
            <a:r>
              <a:rPr kumimoji="1" lang="zh-CN" altLang="en-US" dirty="0"/>
              <a:t>循环处理</a:t>
            </a:r>
            <a:r>
              <a:rPr kumimoji="1" lang="en-US" altLang="zh-CN" dirty="0"/>
              <a:t>do…while</a:t>
            </a:r>
            <a:r>
              <a:rPr kumimoji="1" lang="zh-CN" altLang="en-US" dirty="0"/>
              <a:t>循环结构可以转换成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循环结构</a:t>
            </a:r>
            <a:endParaRPr kumimoji="1" lang="zh-CN" altLang="en-US" dirty="0"/>
          </a:p>
          <a:p>
            <a:r>
              <a:rPr kumimoji="1" lang="zh-CN" altLang="en-US" dirty="0">
                <a:solidFill>
                  <a:srgbClr val="000090"/>
                </a:solidFill>
              </a:rPr>
              <a:t>在一般情况下，用</a:t>
            </a:r>
            <a:r>
              <a:rPr kumimoji="1" lang="en-US" altLang="zh-CN" dirty="0">
                <a:solidFill>
                  <a:srgbClr val="000090"/>
                </a:solidFill>
              </a:rPr>
              <a:t>while</a:t>
            </a:r>
            <a:r>
              <a:rPr kumimoji="1" lang="zh-CN" altLang="en-US" dirty="0">
                <a:solidFill>
                  <a:srgbClr val="000090"/>
                </a:solidFill>
              </a:rPr>
              <a:t>语句和用</a:t>
            </a:r>
            <a:r>
              <a:rPr kumimoji="1" lang="en-US" altLang="zh-CN" dirty="0">
                <a:solidFill>
                  <a:srgbClr val="000090"/>
                </a:solidFill>
              </a:rPr>
              <a:t>do-while</a:t>
            </a:r>
            <a:r>
              <a:rPr kumimoji="1" lang="zh-CN" altLang="en-US" dirty="0">
                <a:solidFill>
                  <a:srgbClr val="000090"/>
                </a:solidFill>
              </a:rPr>
              <a:t>语句处理同一问题时，若二者的循环体部分是一样的，它们的结果也一样</a:t>
            </a:r>
            <a:endParaRPr kumimoji="1" lang="en-US" altLang="zh-CN" dirty="0">
              <a:solidFill>
                <a:srgbClr val="000090"/>
              </a:solidFill>
            </a:endParaRPr>
          </a:p>
          <a:p>
            <a:r>
              <a:rPr kumimoji="1" lang="zh-CN" altLang="en-US" dirty="0">
                <a:solidFill>
                  <a:srgbClr val="FF6600"/>
                </a:solidFill>
              </a:rPr>
              <a:t>但是如果</a:t>
            </a:r>
            <a:r>
              <a:rPr kumimoji="1" lang="en-US" altLang="zh-CN" dirty="0">
                <a:solidFill>
                  <a:srgbClr val="FF6600"/>
                </a:solidFill>
              </a:rPr>
              <a:t>while</a:t>
            </a:r>
            <a:r>
              <a:rPr kumimoji="1" lang="zh-CN" altLang="en-US" dirty="0">
                <a:solidFill>
                  <a:srgbClr val="FF6600"/>
                </a:solidFill>
              </a:rPr>
              <a:t>后面的表达式一开始就为假</a:t>
            </a:r>
            <a:r>
              <a:rPr kumimoji="1" lang="en-US" altLang="zh-CN" dirty="0">
                <a:solidFill>
                  <a:srgbClr val="FF6600"/>
                </a:solidFill>
              </a:rPr>
              <a:t>(0</a:t>
            </a:r>
            <a:r>
              <a:rPr kumimoji="1" lang="zh-CN" altLang="en-US" dirty="0">
                <a:solidFill>
                  <a:srgbClr val="FF6600"/>
                </a:solidFill>
              </a:rPr>
              <a:t>值</a:t>
            </a:r>
            <a:r>
              <a:rPr kumimoji="1" lang="en-US" altLang="zh-CN" dirty="0">
                <a:solidFill>
                  <a:srgbClr val="FF6600"/>
                </a:solidFill>
              </a:rPr>
              <a:t>)</a:t>
            </a:r>
            <a:r>
              <a:rPr kumimoji="1" lang="zh-CN" altLang="en-US" dirty="0">
                <a:solidFill>
                  <a:srgbClr val="FF6600"/>
                </a:solidFill>
              </a:rPr>
              <a:t>时，两种循环的结果是不同的</a:t>
            </a:r>
            <a:endParaRPr kumimoji="1" lang="zh-CN" altLang="en-US" dirty="0">
              <a:solidFill>
                <a:srgbClr val="FF66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do…while</a:t>
            </a:r>
            <a:r>
              <a:rPr kumimoji="1" lang="zh-CN" altLang="en-US" dirty="0"/>
              <a:t>循环的比较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539552" y="1196752"/>
            <a:ext cx="3456384" cy="38884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i,sum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&lt;&lt;“Please enter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=?”;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10)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&lt;&lt;“sum=“&lt;&lt;sum&lt;&lt;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4860032" y="1196752"/>
            <a:ext cx="3456384" cy="38884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i,sum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&lt;&lt;“Please enter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=?”;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altLang="zh-CN" sz="1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while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10)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&lt;&lt;“sum</a:t>
            </a:r>
            <a:r>
              <a:rPr lang="en-US" altLang="zh-CN" sz="1400" b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=“&lt;&lt;sum&lt;&lt;</a:t>
            </a:r>
            <a:r>
              <a:rPr lang="en-US" altLang="zh-CN" sz="14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14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4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539552" y="5229200"/>
            <a:ext cx="3456384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=?1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sum=55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539552" y="5949280"/>
            <a:ext cx="3456384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=?11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sum=0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 bwMode="auto">
          <a:xfrm>
            <a:off x="4860032" y="5229200"/>
            <a:ext cx="3456384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=?1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sum=55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4860032" y="5949280"/>
            <a:ext cx="3456384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=?11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sum=11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704850"/>
          </a:xfrm>
        </p:spPr>
        <p:txBody>
          <a:bodyPr/>
          <a:lstStyle/>
          <a:p>
            <a:pPr eaLnBrk="1" hangingPunct="1"/>
            <a:r>
              <a:rPr lang="zh-CN" altLang="en-US"/>
              <a:t>三类循环语句之间的等价变换</a:t>
            </a:r>
            <a:endParaRPr lang="en-US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4313" y="1857375"/>
            <a:ext cx="4500562" cy="2143125"/>
          </a:xfrm>
          <a:prstGeom prst="rect">
            <a:avLst/>
          </a:prstGeom>
          <a:noFill/>
          <a:ln w="9525" cap="flat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 err="1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int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=1,sum=0;</a:t>
            </a:r>
            <a:endParaRPr kumimoji="1" lang="en-US" altLang="zh-CN" sz="24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//</a:t>
            </a:r>
            <a:r>
              <a:rPr kumimoji="1" lang="zh-CN" altLang="en-US" sz="2400" b="1" kern="0" dirty="0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循环初始条件</a:t>
            </a:r>
            <a:endParaRPr kumimoji="1" lang="zh-CN" altLang="en-US" sz="2400" b="1" kern="0" dirty="0">
              <a:solidFill>
                <a:srgbClr val="006600"/>
              </a:solidFill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3333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while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(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&lt;=4){</a:t>
            </a:r>
            <a:endParaRPr kumimoji="1" lang="en-US" altLang="zh-CN" sz="24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sum+=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;</a:t>
            </a:r>
            <a:endParaRPr kumimoji="1" lang="en-US" altLang="zh-CN" sz="24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++;  </a:t>
            </a:r>
            <a:r>
              <a:rPr kumimoji="1" lang="en-US" altLang="zh-CN" sz="2400" b="1" kern="0" dirty="0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//</a:t>
            </a:r>
            <a:r>
              <a:rPr kumimoji="1" lang="zh-CN" altLang="en-US" sz="2400" b="1" kern="0" dirty="0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修改循环条件</a:t>
            </a:r>
            <a:endParaRPr kumimoji="1" lang="zh-CN" altLang="en-US" sz="2400" b="1" kern="0" dirty="0">
              <a:solidFill>
                <a:srgbClr val="006600"/>
              </a:solidFill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}</a:t>
            </a:r>
            <a:endParaRPr kumimoji="1" lang="en-US" altLang="zh-CN" sz="2400" b="1" kern="0" dirty="0">
              <a:solidFill>
                <a:srgbClr val="0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sp>
        <p:nvSpPr>
          <p:cNvPr id="106503" name="Text Box 4"/>
          <p:cNvSpPr txBox="1">
            <a:spLocks noChangeArrowheads="1"/>
          </p:cNvSpPr>
          <p:nvPr/>
        </p:nvSpPr>
        <p:spPr bwMode="auto">
          <a:xfrm>
            <a:off x="4857750" y="1836738"/>
            <a:ext cx="4067175" cy="21637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i=1,sum=0;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循环初始条件</a:t>
            </a:r>
            <a:endParaRPr lang="zh-CN" altLang="en-US" sz="2400" b="1">
              <a:solidFill>
                <a:srgbClr val="006600"/>
              </a:solidFill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sum+=i;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i++;</a:t>
            </a:r>
            <a:r>
              <a:rPr lang="en-US" altLang="zh-CN" sz="2400" b="1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</a:rPr>
              <a:t>//</a:t>
            </a:r>
            <a:r>
              <a:rPr lang="zh-CN" altLang="en-US" sz="2400" b="1">
                <a:solidFill>
                  <a:srgbClr val="006600"/>
                </a:solidFill>
                <a:latin typeface="Courier New" panose="02070309020205020404" pitchFamily="49" charset="0"/>
                <a:ea typeface="幼圆" panose="02010509060101010101" pitchFamily="49" charset="-122"/>
              </a:rPr>
              <a:t>修改循环条件</a:t>
            </a:r>
            <a:endParaRPr lang="zh-CN" altLang="en-US" sz="2400" b="1">
              <a:solidFill>
                <a:srgbClr val="006600"/>
              </a:solidFill>
              <a:latin typeface="Courier New" panose="02070309020205020404" pitchFamily="49" charset="0"/>
              <a:ea typeface="幼圆" panose="02010509060101010101" pitchFamily="49" charset="-122"/>
            </a:endParaRPr>
          </a:p>
          <a:p>
            <a:pPr marL="342900" indent="-342900" algn="just"/>
            <a:r>
              <a:rPr lang="zh-CN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zh-CN" sz="2400" b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(i&lt;=4);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504" name="Text Box 5"/>
          <p:cNvSpPr txBox="1">
            <a:spLocks noChangeArrowheads="1"/>
          </p:cNvSpPr>
          <p:nvPr/>
        </p:nvSpPr>
        <p:spPr bwMode="auto">
          <a:xfrm>
            <a:off x="928688" y="4143375"/>
            <a:ext cx="7343775" cy="2286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i,sum=0;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i=1; i&lt;=4; i++ ){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sum+=i;  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zh-CN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/*</a:t>
            </a:r>
            <a:r>
              <a:rPr lang="zh-CN" altLang="en-US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习惯上：表达式</a:t>
            </a:r>
            <a:r>
              <a:rPr lang="en-US" altLang="zh-CN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：循环初始条件；表达式</a:t>
            </a:r>
            <a:r>
              <a:rPr lang="en-US" altLang="zh-CN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：循环终止条件；表达式</a:t>
            </a:r>
            <a:r>
              <a:rPr lang="en-US" altLang="zh-CN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：修改循环条件*</a:t>
            </a:r>
            <a:r>
              <a:rPr lang="en-US" altLang="zh-CN" sz="2400" b="1">
                <a:solidFill>
                  <a:srgbClr val="00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endParaRPr lang="en-US" altLang="zh-CN" sz="2400" b="1">
              <a:solidFill>
                <a:srgbClr val="0066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循环结构程序设计</a:t>
            </a:r>
            <a:endParaRPr lang="zh-CN" altLang="en-US" dirty="0"/>
          </a:p>
        </p:txBody>
      </p:sp>
      <p:grpSp>
        <p:nvGrpSpPr>
          <p:cNvPr id="53" name="Group 52"/>
          <p:cNvGrpSpPr/>
          <p:nvPr/>
        </p:nvGrpSpPr>
        <p:grpSpPr bwMode="auto">
          <a:xfrm>
            <a:off x="-2395538" y="1600200"/>
            <a:ext cx="9253538" cy="4824413"/>
            <a:chOff x="-1509" y="1008"/>
            <a:chExt cx="5829" cy="3039"/>
          </a:xfrm>
        </p:grpSpPr>
        <p:sp>
          <p:nvSpPr>
            <p:cNvPr id="54" name="AutoShape 4"/>
            <p:cNvSpPr>
              <a:spLocks noChangeArrowheads="1"/>
            </p:cNvSpPr>
            <p:nvPr/>
          </p:nvSpPr>
          <p:spPr bwMode="ltGray">
            <a:xfrm rot="5400000">
              <a:off x="-1526" y="1025"/>
              <a:ext cx="3039" cy="3005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45490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tint val="4549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5"/>
            <p:cNvSpPr>
              <a:spLocks noChangeArrowheads="1"/>
            </p:cNvSpPr>
            <p:nvPr/>
          </p:nvSpPr>
          <p:spPr bwMode="ltGray">
            <a:xfrm rot="5400000" flipH="1">
              <a:off x="-1270" y="1299"/>
              <a:ext cx="2540" cy="2475"/>
            </a:xfrm>
            <a:custGeom>
              <a:avLst/>
              <a:gdLst>
                <a:gd name="G0" fmla="+- 56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6"/>
                <a:gd name="G18" fmla="*/ 56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6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6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372 w 21600"/>
                <a:gd name="T15" fmla="*/ 10800 h 21600"/>
                <a:gd name="T16" fmla="*/ 10800 w 21600"/>
                <a:gd name="T17" fmla="*/ 10744 h 21600"/>
                <a:gd name="T18" fmla="*/ 16228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744" y="10800"/>
                  </a:moveTo>
                  <a:cubicBezTo>
                    <a:pt x="10744" y="10769"/>
                    <a:pt x="10769" y="10744"/>
                    <a:pt x="10800" y="10744"/>
                  </a:cubicBezTo>
                  <a:cubicBezTo>
                    <a:pt x="10830" y="10743"/>
                    <a:pt x="10855" y="10769"/>
                    <a:pt x="1085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BBE0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Group 47"/>
            <p:cNvGrpSpPr/>
            <p:nvPr/>
          </p:nvGrpSpPr>
          <p:grpSpPr bwMode="auto">
            <a:xfrm>
              <a:off x="912" y="1243"/>
              <a:ext cx="2984" cy="320"/>
              <a:chOff x="912" y="1243"/>
              <a:chExt cx="2984" cy="320"/>
            </a:xfrm>
          </p:grpSpPr>
          <p:sp>
            <p:nvSpPr>
              <p:cNvPr id="93" name="AutoShape 10"/>
              <p:cNvSpPr>
                <a:spLocks noChangeArrowheads="1"/>
              </p:cNvSpPr>
              <p:nvPr/>
            </p:nvSpPr>
            <p:spPr bwMode="gray">
              <a:xfrm>
                <a:off x="1112" y="1243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循环的概念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94" name="Group 11"/>
              <p:cNvGrpSpPr/>
              <p:nvPr/>
            </p:nvGrpSpPr>
            <p:grpSpPr bwMode="auto">
              <a:xfrm>
                <a:off x="912" y="1299"/>
                <a:ext cx="240" cy="240"/>
                <a:chOff x="2078" y="1680"/>
                <a:chExt cx="1615" cy="1615"/>
              </a:xfrm>
            </p:grpSpPr>
            <p:sp>
              <p:nvSpPr>
                <p:cNvPr id="95" name="Oval 12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3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Oval 14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" name="Group 48"/>
            <p:cNvGrpSpPr/>
            <p:nvPr/>
          </p:nvGrpSpPr>
          <p:grpSpPr bwMode="auto">
            <a:xfrm>
              <a:off x="1248" y="1728"/>
              <a:ext cx="2976" cy="320"/>
              <a:chOff x="1248" y="1728"/>
              <a:chExt cx="2976" cy="320"/>
            </a:xfrm>
          </p:grpSpPr>
          <p:sp>
            <p:nvSpPr>
              <p:cNvPr id="85" name="AutoShape 9"/>
              <p:cNvSpPr>
                <a:spLocks noChangeArrowheads="1"/>
              </p:cNvSpPr>
              <p:nvPr/>
            </p:nvSpPr>
            <p:spPr bwMode="gray">
              <a:xfrm>
                <a:off x="1440" y="172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用三种循环语句实现循环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86" name="Group 18"/>
              <p:cNvGrpSpPr/>
              <p:nvPr/>
            </p:nvGrpSpPr>
            <p:grpSpPr bwMode="auto">
              <a:xfrm>
                <a:off x="1248" y="1795"/>
                <a:ext cx="240" cy="240"/>
                <a:chOff x="2078" y="1680"/>
                <a:chExt cx="1615" cy="1615"/>
              </a:xfrm>
            </p:grpSpPr>
            <p:sp>
              <p:nvSpPr>
                <p:cNvPr id="87" name="Oval 19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Oval 20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21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2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>
                        <a:gamma/>
                        <a:shade val="0"/>
                        <a:invGamma/>
                      </a:srgbClr>
                    </a:gs>
                    <a:gs pos="100000">
                      <a:srgbClr val="48BE6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Oval 23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Oval 2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/>
                    </a:gs>
                    <a:gs pos="100000">
                      <a:srgbClr val="48BE67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" name="Group 49"/>
            <p:cNvGrpSpPr/>
            <p:nvPr/>
          </p:nvGrpSpPr>
          <p:grpSpPr bwMode="auto">
            <a:xfrm>
              <a:off x="1344" y="2275"/>
              <a:ext cx="2976" cy="320"/>
              <a:chOff x="1344" y="2275"/>
              <a:chExt cx="2976" cy="320"/>
            </a:xfrm>
          </p:grpSpPr>
          <p:sp>
            <p:nvSpPr>
              <p:cNvPr id="77" name="AutoShape 8"/>
              <p:cNvSpPr>
                <a:spLocks noChangeArrowheads="1"/>
              </p:cNvSpPr>
              <p:nvPr/>
            </p:nvSpPr>
            <p:spPr bwMode="gray">
              <a:xfrm>
                <a:off x="1536" y="2275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solidFill>
                      <a:srgbClr val="8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循环的嵌套</a:t>
                </a:r>
                <a:endParaRPr lang="en-US" altLang="zh-CN" sz="2400" b="1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8" name="Group 25"/>
              <p:cNvGrpSpPr/>
              <p:nvPr/>
            </p:nvGrpSpPr>
            <p:grpSpPr bwMode="auto">
              <a:xfrm>
                <a:off x="1344" y="2323"/>
                <a:ext cx="240" cy="240"/>
                <a:chOff x="2078" y="1680"/>
                <a:chExt cx="1615" cy="1615"/>
              </a:xfrm>
            </p:grpSpPr>
            <p:sp>
              <p:nvSpPr>
                <p:cNvPr id="79" name="Oval 26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27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28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Oval 29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30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Oval 31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" name="Group 50"/>
            <p:cNvGrpSpPr/>
            <p:nvPr/>
          </p:nvGrpSpPr>
          <p:grpSpPr bwMode="auto">
            <a:xfrm>
              <a:off x="1248" y="2787"/>
              <a:ext cx="2996" cy="320"/>
              <a:chOff x="1248" y="2787"/>
              <a:chExt cx="2996" cy="320"/>
            </a:xfrm>
          </p:grpSpPr>
          <p:sp>
            <p:nvSpPr>
              <p:cNvPr id="69" name="AutoShape 7"/>
              <p:cNvSpPr>
                <a:spLocks noChangeArrowheads="1"/>
              </p:cNvSpPr>
              <p:nvPr/>
            </p:nvSpPr>
            <p:spPr bwMode="gray">
              <a:xfrm>
                <a:off x="1460" y="2787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改变循环执行的状态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0" name="Group 32"/>
              <p:cNvGrpSpPr/>
              <p:nvPr/>
            </p:nvGrpSpPr>
            <p:grpSpPr bwMode="auto">
              <a:xfrm>
                <a:off x="1248" y="2851"/>
                <a:ext cx="240" cy="240"/>
                <a:chOff x="2078" y="1680"/>
                <a:chExt cx="1615" cy="1615"/>
              </a:xfrm>
            </p:grpSpPr>
            <p:sp>
              <p:nvSpPr>
                <p:cNvPr id="71" name="Oval 33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Oval 34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Oval 3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Oval 3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>
                        <a:gamma/>
                        <a:shade val="0"/>
                        <a:invGamma/>
                      </a:srgbClr>
                    </a:gs>
                    <a:gs pos="100000">
                      <a:srgbClr val="8D67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Oval 3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3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/>
                    </a:gs>
                    <a:gs pos="100000">
                      <a:srgbClr val="8D67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0" name="Group 51"/>
            <p:cNvGrpSpPr/>
            <p:nvPr/>
          </p:nvGrpSpPr>
          <p:grpSpPr bwMode="auto">
            <a:xfrm>
              <a:off x="960" y="3308"/>
              <a:ext cx="2972" cy="320"/>
              <a:chOff x="960" y="3308"/>
              <a:chExt cx="2972" cy="320"/>
            </a:xfrm>
          </p:grpSpPr>
          <p:sp>
            <p:nvSpPr>
              <p:cNvPr id="61" name="AutoShape 6"/>
              <p:cNvSpPr>
                <a:spLocks noChangeArrowheads="1"/>
              </p:cNvSpPr>
              <p:nvPr/>
            </p:nvSpPr>
            <p:spPr bwMode="gray">
              <a:xfrm>
                <a:off x="1148" y="330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循环程序综合举例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2" name="Group 39"/>
              <p:cNvGrpSpPr/>
              <p:nvPr/>
            </p:nvGrpSpPr>
            <p:grpSpPr bwMode="auto">
              <a:xfrm>
                <a:off x="960" y="3339"/>
                <a:ext cx="224" cy="240"/>
                <a:chOff x="2078" y="1680"/>
                <a:chExt cx="1615" cy="1615"/>
              </a:xfrm>
            </p:grpSpPr>
            <p:sp>
              <p:nvSpPr>
                <p:cNvPr id="63" name="Oval 4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4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4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Oval 4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>
                        <a:gamma/>
                        <a:shade val="0"/>
                        <a:invGamma/>
                      </a:srgbClr>
                    </a:gs>
                    <a:gs pos="100000">
                      <a:srgbClr val="E35E2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Oval 4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Oval 4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/>
                    </a:gs>
                    <a:gs pos="100000">
                      <a:srgbClr val="E35E23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1" name="灯片编号占位符 100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循环的嵌套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860900"/>
          </a:xfrm>
        </p:spPr>
        <p:txBody>
          <a:bodyPr/>
          <a:lstStyle/>
          <a:p>
            <a:r>
              <a:rPr kumimoji="1" lang="zh-CN" altLang="en-US" dirty="0"/>
              <a:t>一个循环体内又包含另一个完整的循环结构称为循环的嵌套</a:t>
            </a:r>
            <a:endParaRPr kumimoji="1" lang="en-US" altLang="zh-CN" dirty="0"/>
          </a:p>
          <a:p>
            <a:r>
              <a:rPr kumimoji="1" lang="zh-CN" altLang="en-US" dirty="0"/>
              <a:t>内嵌的循环中还可以嵌套循环，这就是多层循环</a:t>
            </a:r>
            <a:endParaRPr kumimoji="1" lang="zh-CN" altLang="en-US" dirty="0"/>
          </a:p>
          <a:p>
            <a:r>
              <a:rPr kumimoji="1" lang="zh-CN" altLang="en-US" dirty="0">
                <a:solidFill>
                  <a:srgbClr val="800000"/>
                </a:solidFill>
              </a:rPr>
              <a:t>三种循环</a:t>
            </a:r>
            <a:r>
              <a:rPr kumimoji="1" lang="en-US" altLang="zh-CN" dirty="0">
                <a:solidFill>
                  <a:srgbClr val="800000"/>
                </a:solidFill>
              </a:rPr>
              <a:t>(while</a:t>
            </a:r>
            <a:r>
              <a:rPr kumimoji="1" lang="zh-CN" altLang="en-US" dirty="0">
                <a:solidFill>
                  <a:srgbClr val="800000"/>
                </a:solidFill>
              </a:rPr>
              <a:t>循环、</a:t>
            </a:r>
            <a:r>
              <a:rPr kumimoji="1" lang="en-US" altLang="zh-CN" dirty="0">
                <a:solidFill>
                  <a:srgbClr val="800000"/>
                </a:solidFill>
              </a:rPr>
              <a:t>do-while</a:t>
            </a:r>
            <a:r>
              <a:rPr kumimoji="1" lang="zh-CN" altLang="en-US" dirty="0">
                <a:solidFill>
                  <a:srgbClr val="800000"/>
                </a:solidFill>
              </a:rPr>
              <a:t>循环和</a:t>
            </a:r>
            <a:r>
              <a:rPr kumimoji="1" lang="en-US" altLang="zh-CN" dirty="0">
                <a:solidFill>
                  <a:srgbClr val="800000"/>
                </a:solidFill>
              </a:rPr>
              <a:t>for</a:t>
            </a:r>
            <a:r>
              <a:rPr kumimoji="1" lang="zh-CN" altLang="en-US" dirty="0">
                <a:solidFill>
                  <a:srgbClr val="800000"/>
                </a:solidFill>
              </a:rPr>
              <a:t>循环</a:t>
            </a:r>
            <a:r>
              <a:rPr kumimoji="1" lang="en-US" altLang="zh-CN" dirty="0">
                <a:solidFill>
                  <a:srgbClr val="800000"/>
                </a:solidFill>
              </a:rPr>
              <a:t>)</a:t>
            </a:r>
            <a:r>
              <a:rPr kumimoji="1" lang="zh-CN" altLang="en-US" dirty="0">
                <a:solidFill>
                  <a:srgbClr val="800000"/>
                </a:solidFill>
              </a:rPr>
              <a:t>可以互相嵌套</a:t>
            </a:r>
            <a:endParaRPr kumimoji="1" lang="zh-CN" altLang="en-US" dirty="0">
              <a:solidFill>
                <a:srgbClr val="8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循环的嵌套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83568" y="1637540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0" name="内容占位符 5"/>
          <p:cNvSpPr txBox="1"/>
          <p:nvPr/>
        </p:nvSpPr>
        <p:spPr bwMode="auto">
          <a:xfrm>
            <a:off x="3275856" y="1637540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1" name="内容占位符 5"/>
          <p:cNvSpPr txBox="1"/>
          <p:nvPr/>
        </p:nvSpPr>
        <p:spPr bwMode="auto">
          <a:xfrm>
            <a:off x="5796136" y="1637540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(;;)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(;;)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2" name="内容占位符 5"/>
          <p:cNvSpPr txBox="1"/>
          <p:nvPr/>
        </p:nvSpPr>
        <p:spPr bwMode="auto">
          <a:xfrm>
            <a:off x="683568" y="4221088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3" name="内容占位符 5"/>
          <p:cNvSpPr txBox="1"/>
          <p:nvPr/>
        </p:nvSpPr>
        <p:spPr bwMode="auto">
          <a:xfrm>
            <a:off x="3275856" y="4221088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(;;)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4" name="内容占位符 5"/>
          <p:cNvSpPr txBox="1"/>
          <p:nvPr/>
        </p:nvSpPr>
        <p:spPr bwMode="auto">
          <a:xfrm>
            <a:off x="5796136" y="4221088"/>
            <a:ext cx="187220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(;;)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{…}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3490913"/>
          </a:xfrm>
        </p:spPr>
        <p:txBody>
          <a:bodyPr/>
          <a:lstStyle/>
          <a:p>
            <a:pPr eaLnBrk="1" hangingPunct="1"/>
            <a:r>
              <a:rPr lang="zh-CN" altLang="en-US" dirty="0"/>
              <a:t>循环嵌套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循环语句的循环体中仍然包含循环语句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先执行内层循环，后执行外层循环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嵌套层次</a:t>
            </a:r>
            <a:r>
              <a:rPr lang="zh-CN" altLang="en-US" dirty="0">
                <a:solidFill>
                  <a:srgbClr val="C00000"/>
                </a:solidFill>
              </a:rPr>
              <a:t>一般不超过</a:t>
            </a:r>
            <a:r>
              <a:rPr lang="en-US" altLang="zh-CN" dirty="0"/>
              <a:t>3</a:t>
            </a:r>
            <a:r>
              <a:rPr lang="zh-CN" altLang="en-US" dirty="0"/>
              <a:t>层，以保证可读性</a:t>
            </a:r>
            <a:endParaRPr lang="en-US" altLang="zh-CN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54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3490913"/>
          </a:xfrm>
        </p:spPr>
        <p:txBody>
          <a:bodyPr/>
          <a:lstStyle/>
          <a:p>
            <a:pPr eaLnBrk="1" hangingPunct="1"/>
            <a:r>
              <a:rPr lang="zh-CN" altLang="en-US"/>
              <a:t>循环嵌套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4.22】</a:t>
            </a:r>
            <a:r>
              <a:rPr lang="zh-CN" altLang="en-US">
                <a:solidFill>
                  <a:srgbClr val="C00000"/>
                </a:solidFill>
              </a:rPr>
              <a:t>打印九九表，格式为：</a:t>
            </a:r>
            <a:endParaRPr lang="en-US" altLang="zh-CN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    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1    2    3    4    5    6    7    8    9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1      1   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2      2    4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3      3    6    9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…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9      9   18   27  36  45  54  63  72  81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57200" y="4724400"/>
            <a:ext cx="8153400" cy="1919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200150" lvl="2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输出表头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1200150" lvl="2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输出第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行，每一行输出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个数（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n=1,2,…9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1657350" lvl="3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0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内层循环输出数</a:t>
            </a:r>
            <a:endParaRPr lang="en-US" altLang="zh-CN" sz="20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1657350" lvl="3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外层循环输出行</a:t>
            </a:r>
            <a:endParaRPr lang="en-US" altLang="zh-CN" sz="20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		</a:t>
            </a:r>
            <a:endParaRPr lang="zh-CN" altLang="en-US" sz="2800" b="1" kern="0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775574"/>
            <a:ext cx="5688632" cy="20215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1268760"/>
            <a:ext cx="842493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#include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&lt;iostream&gt;</a:t>
            </a:r>
            <a:endParaRPr lang="zh-CN" altLang="en-US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#include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iomanip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&gt;</a:t>
            </a:r>
            <a:endParaRPr lang="zh-CN" altLang="en-US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using namespace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std;</a:t>
            </a:r>
            <a:endParaRPr lang="zh-CN" altLang="en-US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 main(){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i,j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(3)&lt;&lt;'*'&lt;&lt;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(4)&lt;&lt;' ';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=1;i&lt;10;i++){</a:t>
            </a:r>
            <a:endParaRPr lang="zh-CN" altLang="en-US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(4)&lt;&lt;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; 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输出表头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乘数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endl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=1;i&lt;10;i++){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(3)&lt;&lt;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(4)&lt;&lt;' ';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输出行号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被乘数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(j=1;j&lt;=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i;j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++)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(4)&lt;&lt;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*j;	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输出表中数据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乘积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/>
              </a:rPr>
              <a:t>endl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;  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准备输出下一行</a:t>
            </a:r>
            <a:endParaRPr lang="zh-CN" altLang="en-US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 0;  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en-US" altLang="zh-CN" b="1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5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循环嵌套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4.23】</a:t>
            </a:r>
            <a:r>
              <a:rPr lang="zh-CN" altLang="en-US">
                <a:solidFill>
                  <a:srgbClr val="C00000"/>
                </a:solidFill>
              </a:rPr>
              <a:t>打印图形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根据图形，可以书写如下语句</a:t>
            </a:r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/>
            <a:r>
              <a:rPr lang="zh-CN" altLang="en-US"/>
              <a:t>核心代码是如何输出第</a:t>
            </a:r>
            <a:r>
              <a:rPr lang="en-US" altLang="zh-CN"/>
              <a:t>i</a:t>
            </a:r>
            <a:r>
              <a:rPr lang="zh-CN" altLang="en-US"/>
              <a:t>行</a:t>
            </a:r>
            <a:endParaRPr lang="en-US" altLang="zh-CN"/>
          </a:p>
          <a:p>
            <a:pPr lvl="3" eaLnBrk="1" hangingPunct="1"/>
            <a:r>
              <a:rPr lang="zh-CN" altLang="en-US"/>
              <a:t>第</a:t>
            </a:r>
            <a:r>
              <a:rPr lang="en-US" altLang="zh-CN"/>
              <a:t>i</a:t>
            </a:r>
            <a:r>
              <a:rPr lang="zh-CN" altLang="en-US"/>
              <a:t>行可以看作两部分，先输出若干空格，接着输出若干*。</a:t>
            </a:r>
            <a:endParaRPr lang="en-US" altLang="zh-CN"/>
          </a:p>
          <a:p>
            <a:pPr lvl="3" eaLnBrk="1" hangingPunct="1"/>
            <a:r>
              <a:rPr lang="zh-CN" altLang="en-US"/>
              <a:t>每行输出的*数是相同的，而空格数则与所在行相关，很明显，第</a:t>
            </a:r>
            <a:r>
              <a:rPr lang="en-US" altLang="zh-CN"/>
              <a:t>i</a:t>
            </a:r>
            <a:r>
              <a:rPr lang="zh-CN" altLang="en-US"/>
              <a:t>行空格数为</a:t>
            </a:r>
            <a:r>
              <a:rPr lang="en-US" altLang="zh-CN"/>
              <a:t>5-i</a:t>
            </a:r>
            <a:endParaRPr lang="en-US" altLang="zh-CN"/>
          </a:p>
        </p:txBody>
      </p:sp>
      <p:pic>
        <p:nvPicPr>
          <p:cNvPr id="1105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929188" y="1785938"/>
            <a:ext cx="40513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59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2840038"/>
            <a:ext cx="3357563" cy="130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循环语句</a:t>
            </a: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27584" y="1844824"/>
          <a:ext cx="770485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38"/>
                <a:gridCol w="323838"/>
                <a:gridCol w="323838"/>
                <a:gridCol w="323838"/>
                <a:gridCol w="323838"/>
                <a:gridCol w="323838"/>
                <a:gridCol w="323838"/>
                <a:gridCol w="323838"/>
                <a:gridCol w="323838"/>
                <a:gridCol w="647747"/>
                <a:gridCol w="647747"/>
                <a:gridCol w="1511244"/>
                <a:gridCol w="903456"/>
                <a:gridCol w="108012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行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solidFill>
                            <a:srgbClr val="FF0000"/>
                          </a:solidFill>
                        </a:rPr>
                        <a:t>空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rgbClr val="FF0000"/>
                          </a:solidFill>
                        </a:rPr>
                        <a:t>规律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rgbClr val="FF0000"/>
                          </a:solidFill>
                        </a:rPr>
                        <a:t>规律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5-1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5-2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5-3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5-4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3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5-5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420888"/>
            <a:ext cx="288032" cy="29523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2423184"/>
            <a:ext cx="288032" cy="2952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162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8625" y="1428750"/>
            <a:ext cx="8247063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循环结构程序设计</a:t>
            </a:r>
            <a:endParaRPr lang="zh-CN" altLang="en-US" dirty="0"/>
          </a:p>
        </p:txBody>
      </p:sp>
      <p:grpSp>
        <p:nvGrpSpPr>
          <p:cNvPr id="53" name="Group 52"/>
          <p:cNvGrpSpPr/>
          <p:nvPr/>
        </p:nvGrpSpPr>
        <p:grpSpPr bwMode="auto">
          <a:xfrm>
            <a:off x="-2395538" y="1600200"/>
            <a:ext cx="9253538" cy="4824413"/>
            <a:chOff x="-1509" y="1008"/>
            <a:chExt cx="5829" cy="3039"/>
          </a:xfrm>
        </p:grpSpPr>
        <p:sp>
          <p:nvSpPr>
            <p:cNvPr id="54" name="AutoShape 4"/>
            <p:cNvSpPr>
              <a:spLocks noChangeArrowheads="1"/>
            </p:cNvSpPr>
            <p:nvPr/>
          </p:nvSpPr>
          <p:spPr bwMode="ltGray">
            <a:xfrm rot="5400000">
              <a:off x="-1526" y="1025"/>
              <a:ext cx="3039" cy="3005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45490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tint val="4549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5"/>
            <p:cNvSpPr>
              <a:spLocks noChangeArrowheads="1"/>
            </p:cNvSpPr>
            <p:nvPr/>
          </p:nvSpPr>
          <p:spPr bwMode="ltGray">
            <a:xfrm rot="5400000" flipH="1">
              <a:off x="-1270" y="1299"/>
              <a:ext cx="2540" cy="2475"/>
            </a:xfrm>
            <a:custGeom>
              <a:avLst/>
              <a:gdLst>
                <a:gd name="G0" fmla="+- 56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6"/>
                <a:gd name="G18" fmla="*/ 56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6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6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372 w 21600"/>
                <a:gd name="T15" fmla="*/ 10800 h 21600"/>
                <a:gd name="T16" fmla="*/ 10800 w 21600"/>
                <a:gd name="T17" fmla="*/ 10744 h 21600"/>
                <a:gd name="T18" fmla="*/ 16228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744" y="10800"/>
                  </a:moveTo>
                  <a:cubicBezTo>
                    <a:pt x="10744" y="10769"/>
                    <a:pt x="10769" y="10744"/>
                    <a:pt x="10800" y="10744"/>
                  </a:cubicBezTo>
                  <a:cubicBezTo>
                    <a:pt x="10830" y="10743"/>
                    <a:pt x="10855" y="10769"/>
                    <a:pt x="1085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BBE0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Group 47"/>
            <p:cNvGrpSpPr/>
            <p:nvPr/>
          </p:nvGrpSpPr>
          <p:grpSpPr bwMode="auto">
            <a:xfrm>
              <a:off x="912" y="1243"/>
              <a:ext cx="2984" cy="320"/>
              <a:chOff x="912" y="1243"/>
              <a:chExt cx="2984" cy="320"/>
            </a:xfrm>
          </p:grpSpPr>
          <p:sp>
            <p:nvSpPr>
              <p:cNvPr id="93" name="AutoShape 10"/>
              <p:cNvSpPr>
                <a:spLocks noChangeArrowheads="1"/>
              </p:cNvSpPr>
              <p:nvPr/>
            </p:nvSpPr>
            <p:spPr bwMode="gray">
              <a:xfrm>
                <a:off x="1112" y="1243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循环的概念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94" name="Group 11"/>
              <p:cNvGrpSpPr/>
              <p:nvPr/>
            </p:nvGrpSpPr>
            <p:grpSpPr bwMode="auto">
              <a:xfrm>
                <a:off x="912" y="1299"/>
                <a:ext cx="240" cy="240"/>
                <a:chOff x="2078" y="1680"/>
                <a:chExt cx="1615" cy="1615"/>
              </a:xfrm>
            </p:grpSpPr>
            <p:sp>
              <p:nvSpPr>
                <p:cNvPr id="95" name="Oval 12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3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Oval 14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" name="Group 48"/>
            <p:cNvGrpSpPr/>
            <p:nvPr/>
          </p:nvGrpSpPr>
          <p:grpSpPr bwMode="auto">
            <a:xfrm>
              <a:off x="1248" y="1728"/>
              <a:ext cx="2976" cy="320"/>
              <a:chOff x="1248" y="1728"/>
              <a:chExt cx="2976" cy="320"/>
            </a:xfrm>
          </p:grpSpPr>
          <p:sp>
            <p:nvSpPr>
              <p:cNvPr id="85" name="AutoShape 9"/>
              <p:cNvSpPr>
                <a:spLocks noChangeArrowheads="1"/>
              </p:cNvSpPr>
              <p:nvPr/>
            </p:nvSpPr>
            <p:spPr bwMode="gray">
              <a:xfrm>
                <a:off x="1440" y="172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用三种循环语句实现循环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86" name="Group 18"/>
              <p:cNvGrpSpPr/>
              <p:nvPr/>
            </p:nvGrpSpPr>
            <p:grpSpPr bwMode="auto">
              <a:xfrm>
                <a:off x="1248" y="1795"/>
                <a:ext cx="240" cy="240"/>
                <a:chOff x="2078" y="1680"/>
                <a:chExt cx="1615" cy="1615"/>
              </a:xfrm>
            </p:grpSpPr>
            <p:sp>
              <p:nvSpPr>
                <p:cNvPr id="87" name="Oval 19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Oval 20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21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2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>
                        <a:gamma/>
                        <a:shade val="0"/>
                        <a:invGamma/>
                      </a:srgbClr>
                    </a:gs>
                    <a:gs pos="100000">
                      <a:srgbClr val="48BE6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Oval 23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Oval 2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/>
                    </a:gs>
                    <a:gs pos="100000">
                      <a:srgbClr val="48BE67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" name="Group 49"/>
            <p:cNvGrpSpPr/>
            <p:nvPr/>
          </p:nvGrpSpPr>
          <p:grpSpPr bwMode="auto">
            <a:xfrm>
              <a:off x="1344" y="2275"/>
              <a:ext cx="2976" cy="320"/>
              <a:chOff x="1344" y="2275"/>
              <a:chExt cx="2976" cy="320"/>
            </a:xfrm>
          </p:grpSpPr>
          <p:sp>
            <p:nvSpPr>
              <p:cNvPr id="77" name="AutoShape 8"/>
              <p:cNvSpPr>
                <a:spLocks noChangeArrowheads="1"/>
              </p:cNvSpPr>
              <p:nvPr/>
            </p:nvSpPr>
            <p:spPr bwMode="gray">
              <a:xfrm>
                <a:off x="1536" y="2275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循环的嵌套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8" name="Group 25"/>
              <p:cNvGrpSpPr/>
              <p:nvPr/>
            </p:nvGrpSpPr>
            <p:grpSpPr bwMode="auto">
              <a:xfrm>
                <a:off x="1344" y="2323"/>
                <a:ext cx="240" cy="240"/>
                <a:chOff x="2078" y="1680"/>
                <a:chExt cx="1615" cy="1615"/>
              </a:xfrm>
            </p:grpSpPr>
            <p:sp>
              <p:nvSpPr>
                <p:cNvPr id="79" name="Oval 26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27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28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Oval 29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30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Oval 31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" name="Group 50"/>
            <p:cNvGrpSpPr/>
            <p:nvPr/>
          </p:nvGrpSpPr>
          <p:grpSpPr bwMode="auto">
            <a:xfrm>
              <a:off x="1248" y="2787"/>
              <a:ext cx="2996" cy="320"/>
              <a:chOff x="1248" y="2787"/>
              <a:chExt cx="2996" cy="320"/>
            </a:xfrm>
          </p:grpSpPr>
          <p:sp>
            <p:nvSpPr>
              <p:cNvPr id="69" name="AutoShape 7"/>
              <p:cNvSpPr>
                <a:spLocks noChangeArrowheads="1"/>
              </p:cNvSpPr>
              <p:nvPr/>
            </p:nvSpPr>
            <p:spPr bwMode="gray">
              <a:xfrm>
                <a:off x="1460" y="2787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solidFill>
                      <a:srgbClr val="8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改变循环执行的状态</a:t>
                </a:r>
                <a:endParaRPr lang="en-US" altLang="zh-CN" sz="2400" b="1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0" name="Group 32"/>
              <p:cNvGrpSpPr/>
              <p:nvPr/>
            </p:nvGrpSpPr>
            <p:grpSpPr bwMode="auto">
              <a:xfrm>
                <a:off x="1248" y="2851"/>
                <a:ext cx="240" cy="240"/>
                <a:chOff x="2078" y="1680"/>
                <a:chExt cx="1615" cy="1615"/>
              </a:xfrm>
            </p:grpSpPr>
            <p:sp>
              <p:nvSpPr>
                <p:cNvPr id="71" name="Oval 33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Oval 34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Oval 3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Oval 3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>
                        <a:gamma/>
                        <a:shade val="0"/>
                        <a:invGamma/>
                      </a:srgbClr>
                    </a:gs>
                    <a:gs pos="100000">
                      <a:srgbClr val="8D67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Oval 3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3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/>
                    </a:gs>
                    <a:gs pos="100000">
                      <a:srgbClr val="8D67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0" name="Group 51"/>
            <p:cNvGrpSpPr/>
            <p:nvPr/>
          </p:nvGrpSpPr>
          <p:grpSpPr bwMode="auto">
            <a:xfrm>
              <a:off x="960" y="3308"/>
              <a:ext cx="2972" cy="320"/>
              <a:chOff x="960" y="3308"/>
              <a:chExt cx="2972" cy="320"/>
            </a:xfrm>
          </p:grpSpPr>
          <p:sp>
            <p:nvSpPr>
              <p:cNvPr id="61" name="AutoShape 6"/>
              <p:cNvSpPr>
                <a:spLocks noChangeArrowheads="1"/>
              </p:cNvSpPr>
              <p:nvPr/>
            </p:nvSpPr>
            <p:spPr bwMode="gray">
              <a:xfrm>
                <a:off x="1148" y="330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循环程序综合举例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2" name="Group 39"/>
              <p:cNvGrpSpPr/>
              <p:nvPr/>
            </p:nvGrpSpPr>
            <p:grpSpPr bwMode="auto">
              <a:xfrm>
                <a:off x="960" y="3339"/>
                <a:ext cx="224" cy="240"/>
                <a:chOff x="2078" y="1680"/>
                <a:chExt cx="1615" cy="1615"/>
              </a:xfrm>
            </p:grpSpPr>
            <p:sp>
              <p:nvSpPr>
                <p:cNvPr id="63" name="Oval 4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4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4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Oval 4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>
                        <a:gamma/>
                        <a:shade val="0"/>
                        <a:invGamma/>
                      </a:srgbClr>
                    </a:gs>
                    <a:gs pos="100000">
                      <a:srgbClr val="E35E2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Oval 4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Oval 4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/>
                    </a:gs>
                    <a:gs pos="100000">
                      <a:srgbClr val="E35E23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1" name="灯片编号占位符 100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break</a:t>
            </a:r>
            <a:r>
              <a:rPr lang="zh-CN" altLang="en-US" dirty="0"/>
              <a:t>语句提前终止循环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484784"/>
            <a:ext cx="9036496" cy="3600400"/>
          </a:xfrm>
        </p:spPr>
        <p:txBody>
          <a:bodyPr/>
          <a:lstStyle/>
          <a:p>
            <a:r>
              <a:rPr lang="en-US" altLang="zh-CN" sz="2400" dirty="0"/>
              <a:t>break</a:t>
            </a:r>
            <a:r>
              <a:rPr lang="zh-CN" altLang="en-US" sz="2400" dirty="0"/>
              <a:t>语句</a:t>
            </a:r>
            <a:endParaRPr lang="en-US" altLang="zh-CN" sz="2400" dirty="0"/>
          </a:p>
          <a:p>
            <a:pPr lvl="1"/>
            <a:r>
              <a:rPr lang="zh-CN" altLang="en-US" sz="2400" dirty="0"/>
              <a:t>用于无条件地从某个循环体</a:t>
            </a:r>
            <a:r>
              <a:rPr lang="en-US" altLang="zh-CN" sz="2400" dirty="0"/>
              <a:t>(</a:t>
            </a:r>
            <a:r>
              <a:rPr lang="zh-CN" altLang="en-US" sz="2400" dirty="0"/>
              <a:t>三类循环语句</a:t>
            </a:r>
            <a:r>
              <a:rPr lang="en-US" altLang="zh-CN" sz="2400" dirty="0"/>
              <a:t>)</a:t>
            </a:r>
            <a:r>
              <a:rPr lang="zh-CN" altLang="en-US" sz="2400" dirty="0"/>
              <a:t>，即提前结束循环</a:t>
            </a:r>
            <a:r>
              <a:rPr lang="zh-CN" altLang="zh-CN" sz="2400" dirty="0"/>
              <a:t>，</a:t>
            </a:r>
            <a:r>
              <a:rPr lang="zh-CN" altLang="en-US" sz="2400" dirty="0"/>
              <a:t>或用于无条件地从</a:t>
            </a:r>
            <a:r>
              <a:rPr lang="en-US" altLang="zh-CN" sz="2400" dirty="0"/>
              <a:t>switch</a:t>
            </a:r>
            <a:r>
              <a:rPr lang="zh-CN" altLang="en-US" sz="2400" dirty="0"/>
              <a:t>句体中跳出</a:t>
            </a:r>
            <a:endParaRPr lang="en-US" altLang="zh-CN" sz="2400" dirty="0"/>
          </a:p>
          <a:p>
            <a:pPr lvl="1"/>
            <a:r>
              <a:rPr lang="zh-CN" altLang="en-US" sz="2400" dirty="0"/>
              <a:t>接着转移到该循环语句或</a:t>
            </a:r>
            <a:r>
              <a:rPr lang="en-US" altLang="zh-CN" sz="2400" dirty="0"/>
              <a:t>switch</a:t>
            </a:r>
            <a:r>
              <a:rPr lang="zh-CN" altLang="en-US" sz="2400" dirty="0"/>
              <a:t>语句的下一个语句处去执行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一般形式</a:t>
            </a:r>
            <a:endParaRPr lang="en-US" altLang="zh-CN" sz="2400" dirty="0"/>
          </a:p>
          <a:p>
            <a:pPr marL="0" lvl="1" indent="0">
              <a:buClr>
                <a:schemeClr val="hlink"/>
              </a:buClr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FF"/>
                </a:solidFill>
              </a:rPr>
              <a:t>break</a:t>
            </a:r>
            <a:r>
              <a:rPr lang="en-US" altLang="zh-CN" sz="2400" dirty="0">
                <a:solidFill>
                  <a:srgbClr val="000000"/>
                </a:solidFill>
              </a:rPr>
              <a:t>;</a:t>
            </a:r>
            <a:endParaRPr lang="en-US" altLang="zh-CN" sz="2400" dirty="0">
              <a:solidFill>
                <a:srgbClr val="000000"/>
              </a:solidFill>
            </a:endParaRPr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800000"/>
                </a:solidFill>
              </a:rPr>
              <a:t>注意</a:t>
            </a:r>
            <a:r>
              <a:rPr lang="en-US" altLang="zh-CN" sz="2400" dirty="0">
                <a:solidFill>
                  <a:srgbClr val="800000"/>
                </a:solidFill>
              </a:rPr>
              <a:t>:</a:t>
            </a:r>
            <a:r>
              <a:rPr lang="en-US" altLang="zh-CN" sz="2400" dirty="0"/>
              <a:t>break</a:t>
            </a:r>
            <a:r>
              <a:rPr lang="zh-CN" altLang="en-US" sz="2400" dirty="0"/>
              <a:t>语句不能用于循环语句和</a:t>
            </a:r>
            <a:r>
              <a:rPr lang="en-US" altLang="zh-CN" sz="2400" dirty="0"/>
              <a:t>switch</a:t>
            </a:r>
            <a:r>
              <a:rPr lang="zh-CN" altLang="en-US" sz="2400" dirty="0"/>
              <a:t>语句之外的任何其他语句中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	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break</a:t>
            </a:r>
            <a:r>
              <a:rPr lang="zh-CN" altLang="en-US" dirty="0"/>
              <a:t>语句提前终止循环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执行示例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1988840"/>
            <a:ext cx="4714131" cy="2844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03431" y="2579217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70031" y="2007717"/>
            <a:ext cx="14049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55031" y="3304357"/>
            <a:ext cx="157638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97081" y="2579217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218" y="3290070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97081" y="2574454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31640" y="3312890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92318" y="2587154"/>
            <a:ext cx="406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70956" y="2799309"/>
            <a:ext cx="1576387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54968" y="4275907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83843" y="3861570"/>
            <a:ext cx="3084513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直接连接符 10"/>
          <p:cNvCxnSpPr/>
          <p:nvPr/>
        </p:nvCxnSpPr>
        <p:spPr>
          <a:xfrm flipH="1">
            <a:off x="6660232" y="1988840"/>
            <a:ext cx="18256" cy="3135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break</a:t>
            </a:r>
            <a:r>
              <a:rPr lang="zh-CN" altLang="en-US" dirty="0"/>
              <a:t>语句提前终止循环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611560" y="4005064"/>
            <a:ext cx="3168352" cy="25202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=1;;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break;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611560" y="1484784"/>
            <a:ext cx="3168352" cy="1800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=1;i&lt;=100;i++)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4788024" y="1484784"/>
            <a:ext cx="3312368" cy="17914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内容占位符 5"/>
          <p:cNvSpPr txBox="1"/>
          <p:nvPr/>
        </p:nvSpPr>
        <p:spPr bwMode="auto">
          <a:xfrm>
            <a:off x="4788024" y="4005064"/>
            <a:ext cx="3312368" cy="25202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altLang="zh-CN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(1)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break;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sum = sum +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1907704" y="3356992"/>
            <a:ext cx="285255" cy="57606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300192" y="3356992"/>
            <a:ext cx="285255" cy="57606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continue</a:t>
            </a:r>
            <a:r>
              <a:rPr lang="zh-CN" altLang="en-US" dirty="0"/>
              <a:t>语句提前结束本次循环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52736"/>
            <a:ext cx="8229600" cy="2691631"/>
          </a:xfrm>
        </p:spPr>
        <p:txBody>
          <a:bodyPr/>
          <a:lstStyle/>
          <a:p>
            <a:r>
              <a:rPr lang="en-US" altLang="zh-CN" sz="2400" dirty="0"/>
              <a:t>continue</a:t>
            </a:r>
            <a:r>
              <a:rPr lang="zh-CN" altLang="en-US" sz="2400" dirty="0"/>
              <a:t>语句</a:t>
            </a:r>
            <a:endParaRPr lang="en-US" altLang="zh-CN" sz="2400" dirty="0"/>
          </a:p>
          <a:p>
            <a:pPr lvl="1"/>
            <a:r>
              <a:rPr lang="zh-CN" altLang="en-US" sz="2000" dirty="0"/>
              <a:t>用于结束本次循环</a:t>
            </a:r>
            <a:endParaRPr lang="en-US" altLang="zh-CN" sz="2000" dirty="0"/>
          </a:p>
          <a:p>
            <a:pPr lvl="1"/>
            <a:r>
              <a:rPr lang="zh-CN" altLang="en-US" sz="2000" dirty="0"/>
              <a:t>即跳过循环体中下面尚未执行的语句，接着进行下一次是否执行循环的判定</a:t>
            </a:r>
            <a:endParaRPr lang="en-US" altLang="zh-CN" sz="2000" dirty="0"/>
          </a:p>
          <a:p>
            <a:r>
              <a:rPr lang="zh-CN" altLang="en-US" sz="2400" dirty="0"/>
              <a:t>一般形式</a:t>
            </a:r>
            <a:endParaRPr lang="en-US" altLang="zh-CN" sz="2400" dirty="0"/>
          </a:p>
          <a:p>
            <a:pPr marL="0" lvl="1" indent="0">
              <a:buClr>
                <a:schemeClr val="hlink"/>
              </a:buCl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  </a:t>
            </a:r>
            <a:r>
              <a:rPr lang="en-US" altLang="zh-CN" sz="2400" dirty="0">
                <a:solidFill>
                  <a:srgbClr val="0000FF"/>
                </a:solidFill>
              </a:rPr>
              <a:t>continue</a:t>
            </a:r>
            <a:r>
              <a:rPr lang="en-US" altLang="zh-CN" sz="2400" dirty="0">
                <a:solidFill>
                  <a:srgbClr val="000000"/>
                </a:solidFill>
              </a:rPr>
              <a:t>;</a:t>
            </a:r>
            <a:endParaRPr lang="en-US" altLang="zh-CN" sz="2400" dirty="0"/>
          </a:p>
          <a:p>
            <a:r>
              <a:rPr lang="zh-CN" altLang="en-US" sz="2400" dirty="0"/>
              <a:t>执行流程示例</a:t>
            </a:r>
            <a:endParaRPr lang="en-US" altLang="zh-CN" sz="2400" dirty="0"/>
          </a:p>
          <a:p>
            <a:pPr marL="0" lvl="1" indent="0">
              <a:buClr>
                <a:schemeClr val="hlink"/>
              </a:buClr>
              <a:buNone/>
            </a:pPr>
            <a:r>
              <a:rPr lang="en-US" altLang="zh-CN" sz="2400" dirty="0"/>
              <a:t>	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858000" y="3717034"/>
            <a:ext cx="18256" cy="2558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664" y="3789040"/>
            <a:ext cx="4262252" cy="257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1463" y="4226347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63" y="3654847"/>
            <a:ext cx="14049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85113" y="4221584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85113" y="4232697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0350" y="4234284"/>
            <a:ext cx="406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51720" y="4993444"/>
            <a:ext cx="1311746" cy="45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38488" y="5013176"/>
            <a:ext cx="1309376" cy="462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038488" y="5013176"/>
            <a:ext cx="1309376" cy="462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483768" y="4569350"/>
            <a:ext cx="1848520" cy="47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788024" y="3750171"/>
            <a:ext cx="7493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891463" y="4221584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038488" y="5013176"/>
            <a:ext cx="1309376" cy="462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91463" y="4221584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425321" y="5877272"/>
            <a:ext cx="1490495" cy="52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3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348038" y="5698896"/>
            <a:ext cx="2952154" cy="754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continue</a:t>
            </a:r>
            <a:r>
              <a:rPr kumimoji="1" lang="zh-CN" altLang="en-US" dirty="0"/>
              <a:t>语句示例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373832" y="1313433"/>
            <a:ext cx="7510536" cy="1539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7030A0"/>
                </a:solidFill>
              </a:rPr>
              <a:t>问题：输出</a:t>
            </a:r>
            <a:r>
              <a:rPr lang="en-US" altLang="zh-CN" sz="2000" dirty="0">
                <a:solidFill>
                  <a:srgbClr val="7030A0"/>
                </a:solidFill>
              </a:rPr>
              <a:t>1~100</a:t>
            </a:r>
            <a:r>
              <a:rPr lang="zh-CN" altLang="en-US" sz="2000" dirty="0">
                <a:solidFill>
                  <a:srgbClr val="7030A0"/>
                </a:solidFill>
              </a:rPr>
              <a:t>之内</a:t>
            </a:r>
            <a:r>
              <a:rPr lang="en-US" altLang="zh-CN" sz="2000" dirty="0">
                <a:solidFill>
                  <a:srgbClr val="7030A0"/>
                </a:solidFill>
              </a:rPr>
              <a:t>3</a:t>
            </a:r>
            <a:r>
              <a:rPr lang="zh-CN" altLang="en-US" sz="2000" dirty="0">
                <a:solidFill>
                  <a:srgbClr val="7030A0"/>
                </a:solidFill>
              </a:rPr>
              <a:t>的倍数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解题思路：用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～</a:t>
            </a:r>
            <a:r>
              <a:rPr lang="zh-CN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内的每个数与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相除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能够被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整除，则输出该数</a:t>
            </a:r>
            <a:endParaRPr lang="en-US" altLang="zh-CN" sz="20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不能被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整除，则跳过输出，进入下一次循环</a:t>
            </a: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683568" y="3068960"/>
            <a:ext cx="3744416" cy="33123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=1;i&lt;=100;i++)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(i%3!=0)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 “;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counter++;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(counter % 10 == 0)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zh-CN" altLang="en-US" dirty="0"/>
          </a:p>
        </p:txBody>
      </p:sp>
      <p:pic>
        <p:nvPicPr>
          <p:cNvPr id="8" name="图片 7" descr="无标题.png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17603" r="29436" b="45075"/>
          <a:stretch>
            <a:fillRect/>
          </a:stretch>
        </p:blipFill>
        <p:spPr>
          <a:xfrm>
            <a:off x="4775200" y="3677920"/>
            <a:ext cx="3639742" cy="1047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continue</a:t>
            </a:r>
            <a:r>
              <a:rPr kumimoji="1" lang="zh-CN" altLang="en-US" dirty="0"/>
              <a:t>语句和</a:t>
            </a:r>
            <a:r>
              <a:rPr kumimoji="1" lang="en-US" altLang="zh-CN" dirty="0"/>
              <a:t>break</a:t>
            </a:r>
            <a:r>
              <a:rPr kumimoji="1" lang="zh-CN" altLang="en-US" dirty="0"/>
              <a:t>语句的区别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1296144"/>
          </a:xfrm>
        </p:spPr>
        <p:txBody>
          <a:bodyPr/>
          <a:lstStyle/>
          <a:p>
            <a:r>
              <a:rPr kumimoji="1" lang="en-US" altLang="zh-CN" sz="2400" dirty="0"/>
              <a:t>continue</a:t>
            </a:r>
            <a:r>
              <a:rPr kumimoji="1" lang="zh-CN" altLang="en-US" sz="2400" dirty="0"/>
              <a:t>语句只结束本次循环，不是终止整个循环</a:t>
            </a:r>
            <a:endParaRPr kumimoji="1" lang="en-US" altLang="zh-CN" sz="2400" dirty="0"/>
          </a:p>
          <a:p>
            <a:r>
              <a:rPr kumimoji="1" lang="en-US" altLang="zh-CN" sz="2400" dirty="0"/>
              <a:t>break</a:t>
            </a:r>
            <a:r>
              <a:rPr kumimoji="1" lang="zh-CN" altLang="en-US" sz="2400" dirty="0"/>
              <a:t>语句则是结束整个循环过程，不再判断执行循环条件是否成立</a:t>
            </a:r>
            <a:endParaRPr kumimoji="1" lang="zh-CN" altLang="en-US" sz="2400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107504" y="3068960"/>
            <a:ext cx="2088232" cy="2304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4572000" y="3068960"/>
            <a:ext cx="2160240" cy="2304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grpSp>
        <p:nvGrpSpPr>
          <p:cNvPr id="67" name="组 66"/>
          <p:cNvGrpSpPr/>
          <p:nvPr/>
        </p:nvGrpSpPr>
        <p:grpSpPr>
          <a:xfrm>
            <a:off x="2555776" y="2276872"/>
            <a:ext cx="1872208" cy="3888432"/>
            <a:chOff x="2987824" y="2276872"/>
            <a:chExt cx="1872208" cy="3888432"/>
          </a:xfrm>
        </p:grpSpPr>
        <p:sp>
          <p:nvSpPr>
            <p:cNvPr id="9" name="流程图: 决策 7"/>
            <p:cNvSpPr/>
            <p:nvPr/>
          </p:nvSpPr>
          <p:spPr>
            <a:xfrm>
              <a:off x="2987824" y="2730406"/>
              <a:ext cx="1296144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E1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007804" y="3717032"/>
              <a:ext cx="1256184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直接箭头连接符 10"/>
            <p:cNvCxnSpPr>
              <a:endCxn id="9" idx="0"/>
            </p:cNvCxnSpPr>
            <p:nvPr/>
          </p:nvCxnSpPr>
          <p:spPr>
            <a:xfrm>
              <a:off x="3635896" y="2276872"/>
              <a:ext cx="0" cy="453534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9" idx="2"/>
              <a:endCxn id="10" idx="0"/>
            </p:cNvCxnSpPr>
            <p:nvPr/>
          </p:nvCxnSpPr>
          <p:spPr>
            <a:xfrm>
              <a:off x="3635896" y="3306470"/>
              <a:ext cx="0" cy="41056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stCxn id="19" idx="2"/>
              <a:endCxn id="9" idx="0"/>
            </p:cNvCxnSpPr>
            <p:nvPr/>
          </p:nvCxnSpPr>
          <p:spPr>
            <a:xfrm rot="5400000" flipH="1">
              <a:off x="2178487" y="4187815"/>
              <a:ext cx="2930842" cy="16024"/>
            </a:xfrm>
            <a:prstGeom prst="bentConnector5">
              <a:avLst>
                <a:gd name="adj1" fmla="val -7800"/>
                <a:gd name="adj2" fmla="val 5570994"/>
                <a:gd name="adj3" fmla="val 107800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13"/>
            <p:cNvCxnSpPr>
              <a:stCxn id="9" idx="3"/>
            </p:cNvCxnSpPr>
            <p:nvPr/>
          </p:nvCxnSpPr>
          <p:spPr>
            <a:xfrm flipH="1">
              <a:off x="3635896" y="3018438"/>
              <a:ext cx="648072" cy="3146866"/>
            </a:xfrm>
            <a:prstGeom prst="bentConnector4">
              <a:avLst>
                <a:gd name="adj1" fmla="val -85441"/>
                <a:gd name="adj2" fmla="val 93642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611766" y="3265239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375956" y="270979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059832" y="5301208"/>
              <a:ext cx="1184176" cy="36004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流程图: 决策 7"/>
            <p:cNvSpPr/>
            <p:nvPr/>
          </p:nvSpPr>
          <p:spPr>
            <a:xfrm>
              <a:off x="2987824" y="4365104"/>
              <a:ext cx="1296144" cy="576064"/>
            </a:xfrm>
            <a:prstGeom prst="flowChartDecision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Courier New" panose="02070309020205020404" pitchFamily="49" charset="0"/>
                </a:rPr>
                <a:t>表达式</a:t>
              </a:r>
              <a:r>
                <a:rPr lang="en-US" altLang="zh-CN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E2</a:t>
              </a:r>
              <a:endParaRPr lang="zh-CN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直接箭头连接符 10"/>
            <p:cNvCxnSpPr>
              <a:stCxn id="10" idx="2"/>
              <a:endCxn id="20" idx="0"/>
            </p:cNvCxnSpPr>
            <p:nvPr/>
          </p:nvCxnSpPr>
          <p:spPr>
            <a:xfrm>
              <a:off x="3635896" y="4077072"/>
              <a:ext cx="0" cy="288032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10"/>
            <p:cNvCxnSpPr>
              <a:stCxn id="20" idx="2"/>
              <a:endCxn id="19" idx="0"/>
            </p:cNvCxnSpPr>
            <p:nvPr/>
          </p:nvCxnSpPr>
          <p:spPr>
            <a:xfrm>
              <a:off x="3635896" y="4941168"/>
              <a:ext cx="16024" cy="360040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20" idx="3"/>
            </p:cNvCxnSpPr>
            <p:nvPr/>
          </p:nvCxnSpPr>
          <p:spPr>
            <a:xfrm>
              <a:off x="4283968" y="4653136"/>
              <a:ext cx="576064" cy="12700"/>
            </a:xfrm>
            <a:prstGeom prst="bentConnector3">
              <a:avLst>
                <a:gd name="adj1" fmla="val 94092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/>
            <p:cNvSpPr txBox="1"/>
            <p:nvPr/>
          </p:nvSpPr>
          <p:spPr>
            <a:xfrm>
              <a:off x="4355976" y="429309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真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707904" y="4941168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假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211960" y="4653136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break</a:t>
              </a:r>
              <a:endPara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流程图: 决策 7"/>
          <p:cNvSpPr/>
          <p:nvPr/>
        </p:nvSpPr>
        <p:spPr>
          <a:xfrm>
            <a:off x="7092280" y="2802414"/>
            <a:ext cx="1296144" cy="576064"/>
          </a:xfrm>
          <a:prstGeom prst="flowChartDecision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112260" y="3789040"/>
            <a:ext cx="1256184" cy="36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1" name="直接箭头连接符 10"/>
          <p:cNvCxnSpPr>
            <a:endCxn id="69" idx="0"/>
          </p:cNvCxnSpPr>
          <p:nvPr/>
        </p:nvCxnSpPr>
        <p:spPr>
          <a:xfrm>
            <a:off x="7740352" y="2348880"/>
            <a:ext cx="0" cy="45353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11"/>
          <p:cNvCxnSpPr>
            <a:stCxn id="69" idx="2"/>
            <a:endCxn id="70" idx="0"/>
          </p:cNvCxnSpPr>
          <p:nvPr/>
        </p:nvCxnSpPr>
        <p:spPr>
          <a:xfrm>
            <a:off x="7740352" y="3378478"/>
            <a:ext cx="0" cy="410562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77" idx="2"/>
            <a:endCxn id="69" idx="0"/>
          </p:cNvCxnSpPr>
          <p:nvPr/>
        </p:nvCxnSpPr>
        <p:spPr>
          <a:xfrm rot="5400000" flipH="1">
            <a:off x="6282943" y="4259823"/>
            <a:ext cx="2930842" cy="16024"/>
          </a:xfrm>
          <a:prstGeom prst="bentConnector5">
            <a:avLst>
              <a:gd name="adj1" fmla="val -7800"/>
              <a:gd name="adj2" fmla="val 5570994"/>
              <a:gd name="adj3" fmla="val 107800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连接符 73"/>
          <p:cNvCxnSpPr>
            <a:stCxn id="69" idx="3"/>
          </p:cNvCxnSpPr>
          <p:nvPr/>
        </p:nvCxnSpPr>
        <p:spPr>
          <a:xfrm flipH="1">
            <a:off x="7740352" y="3090446"/>
            <a:ext cx="648072" cy="3290882"/>
          </a:xfrm>
          <a:prstGeom prst="bentConnector4">
            <a:avLst>
              <a:gd name="adj1" fmla="val -85441"/>
              <a:gd name="adj2" fmla="val 94511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716222" y="33372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真</a:t>
            </a:r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480412" y="27817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假</a:t>
            </a:r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164288" y="5373216"/>
            <a:ext cx="1184176" cy="36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流程图: 决策 7"/>
          <p:cNvSpPr/>
          <p:nvPr/>
        </p:nvSpPr>
        <p:spPr>
          <a:xfrm>
            <a:off x="7092280" y="4437112"/>
            <a:ext cx="1296144" cy="576064"/>
          </a:xfrm>
          <a:prstGeom prst="flowChartDecision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  <a:endParaRPr lang="zh-CN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9" name="直接箭头连接符 10"/>
          <p:cNvCxnSpPr>
            <a:stCxn id="70" idx="2"/>
            <a:endCxn id="78" idx="0"/>
          </p:cNvCxnSpPr>
          <p:nvPr/>
        </p:nvCxnSpPr>
        <p:spPr>
          <a:xfrm>
            <a:off x="7740352" y="4149080"/>
            <a:ext cx="0" cy="288032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10"/>
          <p:cNvCxnSpPr>
            <a:stCxn id="78" idx="2"/>
            <a:endCxn id="77" idx="0"/>
          </p:cNvCxnSpPr>
          <p:nvPr/>
        </p:nvCxnSpPr>
        <p:spPr>
          <a:xfrm>
            <a:off x="7740352" y="5013176"/>
            <a:ext cx="16024" cy="3600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8388424" y="4365104"/>
            <a:ext cx="423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真</a:t>
            </a:r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12360" y="501317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假</a:t>
            </a:r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028384" y="4725144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continue</a:t>
            </a:r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6" name="肘形连接符 85"/>
          <p:cNvCxnSpPr>
            <a:stCxn id="78" idx="3"/>
          </p:cNvCxnSpPr>
          <p:nvPr/>
        </p:nvCxnSpPr>
        <p:spPr>
          <a:xfrm flipH="1">
            <a:off x="7740352" y="4725144"/>
            <a:ext cx="648072" cy="1224136"/>
          </a:xfrm>
          <a:prstGeom prst="bentConnector4">
            <a:avLst>
              <a:gd name="adj1" fmla="val -65061"/>
              <a:gd name="adj2" fmla="val 99114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break</a:t>
            </a:r>
            <a:r>
              <a:rPr lang="zh-CN" altLang="en-US" dirty="0"/>
              <a:t>语句提前终止循环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6347048" cy="2016224"/>
          </a:xfrm>
        </p:spPr>
        <p:txBody>
          <a:bodyPr/>
          <a:lstStyle/>
          <a:p>
            <a:r>
              <a:rPr lang="zh-CN" altLang="en-US" dirty="0"/>
              <a:t>多重循环中，</a:t>
            </a:r>
            <a:r>
              <a:rPr lang="en-US" altLang="zh-CN" dirty="0"/>
              <a:t>break</a:t>
            </a:r>
            <a:r>
              <a:rPr lang="zh-CN" altLang="en-US" dirty="0"/>
              <a:t>语句只能终止其所在的循环语句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83568" y="2636912"/>
            <a:ext cx="5256584" cy="33123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=1;i&lt;=10;i++)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(j=1;j&lt;=10;j++)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&lt;&lt;j&lt;&lt;“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　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==10)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=”&lt;&lt;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  j=”&lt;&lt;j&lt;&lt;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pic>
        <p:nvPicPr>
          <p:cNvPr id="8" name="图片 7" descr="新建位图图像.bmp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7148" r="73777" b="18835"/>
          <a:stretch>
            <a:fillRect/>
          </a:stretch>
        </p:blipFill>
        <p:spPr>
          <a:xfrm>
            <a:off x="6444208" y="2060848"/>
            <a:ext cx="2316480" cy="4053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continue</a:t>
            </a:r>
            <a:r>
              <a:rPr lang="zh-CN" altLang="en-US" dirty="0"/>
              <a:t>语句提前终止循环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98994" cy="2016224"/>
          </a:xfrm>
        </p:spPr>
        <p:txBody>
          <a:bodyPr/>
          <a:lstStyle/>
          <a:p>
            <a:r>
              <a:rPr lang="zh-CN" altLang="en-US" dirty="0"/>
              <a:t>多重循环中，</a:t>
            </a:r>
            <a:r>
              <a:rPr lang="en-US" altLang="zh-CN" dirty="0"/>
              <a:t>continue</a:t>
            </a:r>
            <a:r>
              <a:rPr lang="zh-CN" altLang="en-US" dirty="0"/>
              <a:t>语句只能结束其所在循环的本次循环语句，继续执行该所在循环的下次循环条件判定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83568" y="2780928"/>
            <a:ext cx="4752528" cy="36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=1;i&lt;=10;i++)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</a:t>
            </a:r>
            <a:r>
              <a:rPr lang="zh-CN" alt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(j=1;j&lt;=10;j++)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zh-CN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&lt;&lt;j&lt;&lt;“ “;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!=10)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=”&lt;&lt;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  j=”&lt;&lt;j&lt;&lt;“ “;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pic>
        <p:nvPicPr>
          <p:cNvPr id="7" name="图片 6" descr="无标题2.png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" t="7285" r="64284" b="50000"/>
          <a:stretch>
            <a:fillRect/>
          </a:stretch>
        </p:blipFill>
        <p:spPr>
          <a:xfrm>
            <a:off x="5652120" y="3356992"/>
            <a:ext cx="3104074" cy="252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循环结构程序设计</a:t>
            </a:r>
            <a:endParaRPr lang="zh-CN" altLang="en-US" dirty="0"/>
          </a:p>
        </p:txBody>
      </p:sp>
      <p:grpSp>
        <p:nvGrpSpPr>
          <p:cNvPr id="53" name="Group 52"/>
          <p:cNvGrpSpPr/>
          <p:nvPr/>
        </p:nvGrpSpPr>
        <p:grpSpPr bwMode="auto">
          <a:xfrm>
            <a:off x="-2395538" y="1600200"/>
            <a:ext cx="9253538" cy="4824413"/>
            <a:chOff x="-1509" y="1008"/>
            <a:chExt cx="5829" cy="3039"/>
          </a:xfrm>
        </p:grpSpPr>
        <p:sp>
          <p:nvSpPr>
            <p:cNvPr id="54" name="AutoShape 4"/>
            <p:cNvSpPr>
              <a:spLocks noChangeArrowheads="1"/>
            </p:cNvSpPr>
            <p:nvPr/>
          </p:nvSpPr>
          <p:spPr bwMode="ltGray">
            <a:xfrm rot="5400000">
              <a:off x="-1526" y="1025"/>
              <a:ext cx="3039" cy="3005"/>
            </a:xfrm>
            <a:custGeom>
              <a:avLst/>
              <a:gdLst>
                <a:gd name="G0" fmla="+- 10478 0 0"/>
                <a:gd name="G1" fmla="+- -11739500 0 0"/>
                <a:gd name="G2" fmla="+- 0 0 -11739500"/>
                <a:gd name="T0" fmla="*/ 0 256 1"/>
                <a:gd name="T1" fmla="*/ 180 256 1"/>
                <a:gd name="G3" fmla="+- -11739500 T0 T1"/>
                <a:gd name="T2" fmla="*/ 0 256 1"/>
                <a:gd name="T3" fmla="*/ 90 256 1"/>
                <a:gd name="G4" fmla="+- -11739500 T2 T3"/>
                <a:gd name="G5" fmla="*/ G4 2 1"/>
                <a:gd name="T4" fmla="*/ 90 256 1"/>
                <a:gd name="T5" fmla="*/ 0 256 1"/>
                <a:gd name="G6" fmla="+- -11739500 T4 T5"/>
                <a:gd name="G7" fmla="*/ G6 2 1"/>
                <a:gd name="G8" fmla="abs -1173950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10478"/>
                <a:gd name="G18" fmla="*/ 10478 1 2"/>
                <a:gd name="G19" fmla="+- G18 5400 0"/>
                <a:gd name="G20" fmla="cos G19 -11739500"/>
                <a:gd name="G21" fmla="sin G19 -11739500"/>
                <a:gd name="G22" fmla="+- G20 10800 0"/>
                <a:gd name="G23" fmla="+- G21 10800 0"/>
                <a:gd name="G24" fmla="+- 10800 0 G20"/>
                <a:gd name="G25" fmla="+- 10478 10800 0"/>
                <a:gd name="G26" fmla="?: G9 G17 G25"/>
                <a:gd name="G27" fmla="?: G9 0 21600"/>
                <a:gd name="G28" fmla="cos 10800 -11739500"/>
                <a:gd name="G29" fmla="sin 10800 -11739500"/>
                <a:gd name="G30" fmla="sin 10478 -11739500"/>
                <a:gd name="G31" fmla="+- G28 10800 0"/>
                <a:gd name="G32" fmla="+- G29 10800 0"/>
                <a:gd name="G33" fmla="+- G30 10800 0"/>
                <a:gd name="G34" fmla="?: G4 0 G31"/>
                <a:gd name="G35" fmla="?: -11739500 G34 0"/>
                <a:gd name="G36" fmla="?: G6 G35 G31"/>
                <a:gd name="G37" fmla="+- 21600 0 G36"/>
                <a:gd name="G38" fmla="?: G4 0 G33"/>
                <a:gd name="G39" fmla="?: -1173950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62 w 21600"/>
                <a:gd name="T15" fmla="*/ 10638 h 21600"/>
                <a:gd name="T16" fmla="*/ 10800 w 21600"/>
                <a:gd name="T17" fmla="*/ 322 h 21600"/>
                <a:gd name="T18" fmla="*/ 21438 w 21600"/>
                <a:gd name="T19" fmla="*/ 10638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23" y="10641"/>
                  </a:moveTo>
                  <a:cubicBezTo>
                    <a:pt x="410" y="4916"/>
                    <a:pt x="5075" y="321"/>
                    <a:pt x="10800" y="322"/>
                  </a:cubicBezTo>
                  <a:cubicBezTo>
                    <a:pt x="16524" y="322"/>
                    <a:pt x="21189" y="4916"/>
                    <a:pt x="21276" y="10641"/>
                  </a:cubicBezTo>
                  <a:lnTo>
                    <a:pt x="21598" y="10636"/>
                  </a:lnTo>
                  <a:cubicBezTo>
                    <a:pt x="21509" y="4736"/>
                    <a:pt x="16700" y="-1"/>
                    <a:pt x="10799" y="0"/>
                  </a:cubicBezTo>
                  <a:cubicBezTo>
                    <a:pt x="4899" y="0"/>
                    <a:pt x="90" y="4736"/>
                    <a:pt x="1" y="1063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45490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tint val="4549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5"/>
            <p:cNvSpPr>
              <a:spLocks noChangeArrowheads="1"/>
            </p:cNvSpPr>
            <p:nvPr/>
          </p:nvSpPr>
          <p:spPr bwMode="ltGray">
            <a:xfrm rot="5400000" flipH="1">
              <a:off x="-1270" y="1299"/>
              <a:ext cx="2540" cy="2475"/>
            </a:xfrm>
            <a:custGeom>
              <a:avLst/>
              <a:gdLst>
                <a:gd name="G0" fmla="+- 56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6"/>
                <a:gd name="G18" fmla="*/ 56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6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6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372 w 21600"/>
                <a:gd name="T15" fmla="*/ 10800 h 21600"/>
                <a:gd name="T16" fmla="*/ 10800 w 21600"/>
                <a:gd name="T17" fmla="*/ 10744 h 21600"/>
                <a:gd name="T18" fmla="*/ 16228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744" y="10800"/>
                  </a:moveTo>
                  <a:cubicBezTo>
                    <a:pt x="10744" y="10769"/>
                    <a:pt x="10769" y="10744"/>
                    <a:pt x="10800" y="10744"/>
                  </a:cubicBezTo>
                  <a:cubicBezTo>
                    <a:pt x="10830" y="10743"/>
                    <a:pt x="10855" y="10769"/>
                    <a:pt x="1085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BBE0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Group 47"/>
            <p:cNvGrpSpPr/>
            <p:nvPr/>
          </p:nvGrpSpPr>
          <p:grpSpPr bwMode="auto">
            <a:xfrm>
              <a:off x="912" y="1243"/>
              <a:ext cx="2984" cy="320"/>
              <a:chOff x="912" y="1243"/>
              <a:chExt cx="2984" cy="320"/>
            </a:xfrm>
          </p:grpSpPr>
          <p:sp>
            <p:nvSpPr>
              <p:cNvPr id="93" name="AutoShape 10"/>
              <p:cNvSpPr>
                <a:spLocks noChangeArrowheads="1"/>
              </p:cNvSpPr>
              <p:nvPr/>
            </p:nvSpPr>
            <p:spPr bwMode="gray">
              <a:xfrm>
                <a:off x="1112" y="1243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循环的概念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94" name="Group 11"/>
              <p:cNvGrpSpPr/>
              <p:nvPr/>
            </p:nvGrpSpPr>
            <p:grpSpPr bwMode="auto">
              <a:xfrm>
                <a:off x="912" y="1299"/>
                <a:ext cx="240" cy="240"/>
                <a:chOff x="2078" y="1680"/>
                <a:chExt cx="1615" cy="1615"/>
              </a:xfrm>
            </p:grpSpPr>
            <p:sp>
              <p:nvSpPr>
                <p:cNvPr id="95" name="Oval 12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3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Oval 14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Oval 16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Oval 1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7" name="Group 48"/>
            <p:cNvGrpSpPr/>
            <p:nvPr/>
          </p:nvGrpSpPr>
          <p:grpSpPr bwMode="auto">
            <a:xfrm>
              <a:off x="1248" y="1728"/>
              <a:ext cx="2976" cy="320"/>
              <a:chOff x="1248" y="1728"/>
              <a:chExt cx="2976" cy="320"/>
            </a:xfrm>
          </p:grpSpPr>
          <p:sp>
            <p:nvSpPr>
              <p:cNvPr id="85" name="AutoShape 9"/>
              <p:cNvSpPr>
                <a:spLocks noChangeArrowheads="1"/>
              </p:cNvSpPr>
              <p:nvPr/>
            </p:nvSpPr>
            <p:spPr bwMode="gray">
              <a:xfrm>
                <a:off x="1440" y="172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用三种循环语句实现循环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86" name="Group 18"/>
              <p:cNvGrpSpPr/>
              <p:nvPr/>
            </p:nvGrpSpPr>
            <p:grpSpPr bwMode="auto">
              <a:xfrm>
                <a:off x="1248" y="1795"/>
                <a:ext cx="240" cy="240"/>
                <a:chOff x="2078" y="1680"/>
                <a:chExt cx="1615" cy="1615"/>
              </a:xfrm>
            </p:grpSpPr>
            <p:sp>
              <p:nvSpPr>
                <p:cNvPr id="87" name="Oval 19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Oval 20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Oval 21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2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>
                        <a:gamma/>
                        <a:shade val="0"/>
                        <a:invGamma/>
                      </a:srgbClr>
                    </a:gs>
                    <a:gs pos="100000">
                      <a:srgbClr val="48BE6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Oval 23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Oval 2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8BE67"/>
                    </a:gs>
                    <a:gs pos="100000">
                      <a:srgbClr val="48BE67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8" name="Group 49"/>
            <p:cNvGrpSpPr/>
            <p:nvPr/>
          </p:nvGrpSpPr>
          <p:grpSpPr bwMode="auto">
            <a:xfrm>
              <a:off x="1344" y="2275"/>
              <a:ext cx="2976" cy="320"/>
              <a:chOff x="1344" y="2275"/>
              <a:chExt cx="2976" cy="320"/>
            </a:xfrm>
          </p:grpSpPr>
          <p:sp>
            <p:nvSpPr>
              <p:cNvPr id="77" name="AutoShape 8"/>
              <p:cNvSpPr>
                <a:spLocks noChangeArrowheads="1"/>
              </p:cNvSpPr>
              <p:nvPr/>
            </p:nvSpPr>
            <p:spPr bwMode="gray">
              <a:xfrm>
                <a:off x="1536" y="2275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循环的嵌套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8" name="Group 25"/>
              <p:cNvGrpSpPr/>
              <p:nvPr/>
            </p:nvGrpSpPr>
            <p:grpSpPr bwMode="auto">
              <a:xfrm>
                <a:off x="1344" y="2323"/>
                <a:ext cx="240" cy="240"/>
                <a:chOff x="2078" y="1680"/>
                <a:chExt cx="1615" cy="1615"/>
              </a:xfrm>
            </p:grpSpPr>
            <p:sp>
              <p:nvSpPr>
                <p:cNvPr id="79" name="Oval 26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Oval 27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Oval 28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Oval 29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30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Oval 31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" name="Group 50"/>
            <p:cNvGrpSpPr/>
            <p:nvPr/>
          </p:nvGrpSpPr>
          <p:grpSpPr bwMode="auto">
            <a:xfrm>
              <a:off x="1248" y="2787"/>
              <a:ext cx="2996" cy="320"/>
              <a:chOff x="1248" y="2787"/>
              <a:chExt cx="2996" cy="320"/>
            </a:xfrm>
          </p:grpSpPr>
          <p:sp>
            <p:nvSpPr>
              <p:cNvPr id="69" name="AutoShape 7"/>
              <p:cNvSpPr>
                <a:spLocks noChangeArrowheads="1"/>
              </p:cNvSpPr>
              <p:nvPr/>
            </p:nvSpPr>
            <p:spPr bwMode="gray">
              <a:xfrm>
                <a:off x="1460" y="2787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folHlink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改变循环执行的状态</a:t>
                </a:r>
                <a:endPara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70" name="Group 32"/>
              <p:cNvGrpSpPr/>
              <p:nvPr/>
            </p:nvGrpSpPr>
            <p:grpSpPr bwMode="auto">
              <a:xfrm>
                <a:off x="1248" y="2851"/>
                <a:ext cx="240" cy="240"/>
                <a:chOff x="2078" y="1680"/>
                <a:chExt cx="1615" cy="1615"/>
              </a:xfrm>
            </p:grpSpPr>
            <p:sp>
              <p:nvSpPr>
                <p:cNvPr id="71" name="Oval 33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Oval 34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Oval 35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Oval 3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>
                        <a:gamma/>
                        <a:shade val="0"/>
                        <a:invGamma/>
                      </a:srgbClr>
                    </a:gs>
                    <a:gs pos="100000">
                      <a:srgbClr val="8D67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Oval 37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3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D67E1"/>
                    </a:gs>
                    <a:gs pos="100000">
                      <a:srgbClr val="8D67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0" name="Group 51"/>
            <p:cNvGrpSpPr/>
            <p:nvPr/>
          </p:nvGrpSpPr>
          <p:grpSpPr bwMode="auto">
            <a:xfrm>
              <a:off x="960" y="3308"/>
              <a:ext cx="2972" cy="320"/>
              <a:chOff x="960" y="3308"/>
              <a:chExt cx="2972" cy="320"/>
            </a:xfrm>
          </p:grpSpPr>
          <p:sp>
            <p:nvSpPr>
              <p:cNvPr id="61" name="AutoShape 6"/>
              <p:cNvSpPr>
                <a:spLocks noChangeArrowheads="1"/>
              </p:cNvSpPr>
              <p:nvPr/>
            </p:nvSpPr>
            <p:spPr bwMode="gray">
              <a:xfrm>
                <a:off x="1148" y="3308"/>
                <a:ext cx="2784" cy="320"/>
              </a:xfrm>
              <a:prstGeom prst="roundRect">
                <a:avLst>
                  <a:gd name="adj" fmla="val 50000"/>
                </a:avLst>
              </a:prstGeom>
              <a:noFill/>
              <a:ln w="28575" algn="ctr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gamma/>
                            <a:tint val="0"/>
                            <a:invGamma/>
                          </a:schemeClr>
                        </a:gs>
                        <a:gs pos="100000">
                          <a:schemeClr val="accent1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400" b="1" dirty="0">
                    <a:solidFill>
                      <a:srgbClr val="8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循环程序综合举例</a:t>
                </a:r>
                <a:endParaRPr lang="en-US" altLang="zh-CN" sz="2400" b="1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2" name="Group 39"/>
              <p:cNvGrpSpPr/>
              <p:nvPr/>
            </p:nvGrpSpPr>
            <p:grpSpPr bwMode="auto">
              <a:xfrm>
                <a:off x="960" y="3339"/>
                <a:ext cx="224" cy="240"/>
                <a:chOff x="2078" y="1680"/>
                <a:chExt cx="1615" cy="1615"/>
              </a:xfrm>
            </p:grpSpPr>
            <p:sp>
              <p:nvSpPr>
                <p:cNvPr id="63" name="Oval 4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Oval 4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Oval 4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Oval 4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>
                        <a:gamma/>
                        <a:shade val="0"/>
                        <a:invGamma/>
                      </a:srgbClr>
                    </a:gs>
                    <a:gs pos="100000">
                      <a:srgbClr val="E35E2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Oval 4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Oval 4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E35E23"/>
                    </a:gs>
                    <a:gs pos="100000">
                      <a:srgbClr val="E35E23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chemeClr val="bg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1" name="灯片编号占位符 100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435280" cy="5248275"/>
          </a:xfrm>
        </p:spPr>
        <p:txBody>
          <a:bodyPr/>
          <a:lstStyle/>
          <a:p>
            <a:r>
              <a:rPr lang="zh-CN" altLang="en-US" dirty="0">
                <a:solidFill>
                  <a:srgbClr val="660066"/>
                </a:solidFill>
                <a:latin typeface="Comic Sans MS" panose="030F0702030302020204"/>
                <a:cs typeface="Comic Sans MS" panose="030F0702030302020204"/>
              </a:rPr>
              <a:t>例：判断</a:t>
            </a:r>
            <a:r>
              <a:rPr lang="en-US" altLang="zh-CN" dirty="0">
                <a:solidFill>
                  <a:srgbClr val="660066"/>
                </a:solidFill>
                <a:latin typeface="Comic Sans MS" panose="030F0702030302020204"/>
                <a:cs typeface="Comic Sans MS" panose="030F0702030302020204"/>
              </a:rPr>
              <a:t>m</a:t>
            </a:r>
            <a:r>
              <a:rPr lang="zh-CN" altLang="en-US" dirty="0">
                <a:solidFill>
                  <a:srgbClr val="660066"/>
                </a:solidFill>
                <a:latin typeface="Comic Sans MS" panose="030F0702030302020204"/>
                <a:cs typeface="Comic Sans MS" panose="030F0702030302020204"/>
              </a:rPr>
              <a:t>是否是素数</a:t>
            </a:r>
            <a:endParaRPr lang="en-US" altLang="zh-CN" dirty="0">
              <a:solidFill>
                <a:srgbClr val="660066"/>
              </a:solidFill>
              <a:latin typeface="Comic Sans MS" panose="030F0702030302020204"/>
              <a:cs typeface="Comic Sans MS" panose="030F0702030302020204"/>
            </a:endParaRPr>
          </a:p>
          <a:p>
            <a:pPr lvl="1"/>
            <a:r>
              <a:rPr lang="zh-CN" altLang="en-US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素数，又称质数，是一个大于</a:t>
            </a:r>
            <a:r>
              <a:rPr lang="en-US" altLang="zh-CN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的自然数，除了</a:t>
            </a:r>
            <a:r>
              <a:rPr lang="en-US" altLang="zh-CN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和它本身外，不能被其他自然数整除；即该数除了</a:t>
            </a:r>
            <a:r>
              <a:rPr lang="en-US" altLang="zh-CN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Comic Sans MS" panose="030F0702030302020204"/>
                <a:cs typeface="Comic Sans MS" panose="030F0702030302020204"/>
              </a:rPr>
              <a:t>和它本身以外不再有其他的因数</a:t>
            </a:r>
            <a:endParaRPr lang="en-US" altLang="zh-CN" sz="2400" dirty="0">
              <a:solidFill>
                <a:srgbClr val="000000"/>
              </a:solidFill>
              <a:latin typeface="Comic Sans MS" panose="030F0702030302020204"/>
              <a:cs typeface="Comic Sans MS" panose="030F0702030302020204"/>
            </a:endParaRPr>
          </a:p>
          <a:p>
            <a:pPr lvl="1"/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让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被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2</a:t>
            </a:r>
            <a:r>
              <a:rPr kumimoji="1" lang="en-US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～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m-1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间的</a:t>
            </a:r>
            <a:r>
              <a:rPr kumimoji="1" lang="en-US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每个自然数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除，如果都不能被整除，则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是一个素数，如果被任何一个整除，则不是素数</a:t>
            </a:r>
            <a:endParaRPr kumimoji="1" lang="en-US" altLang="zh-CN" sz="2400" dirty="0">
              <a:solidFill>
                <a:srgbClr val="000000"/>
              </a:solidFill>
              <a:latin typeface="Comic Sans MS" panose="030F0702030302020204"/>
              <a:ea typeface="华文新魏" panose="02010800040101010101" pitchFamily="2" charset="-122"/>
              <a:cs typeface="Comic Sans MS" panose="030F0702030302020204"/>
            </a:endParaRPr>
          </a:p>
          <a:p>
            <a:pPr lvl="1"/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循环变量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从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到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m-1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，每次加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，循环体中判断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是否能被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值整除，如果能则提前结束循环，此时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必然小于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；如果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不能被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～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m-1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之间的任一整数整除，则在完成最后一次循环后，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还要加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，因此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=m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，然后才终止循环</a:t>
            </a:r>
            <a:endParaRPr kumimoji="1" lang="en-US" altLang="zh-CN" sz="2400" dirty="0">
              <a:solidFill>
                <a:srgbClr val="000000"/>
              </a:solidFill>
              <a:latin typeface="Comic Sans MS" panose="030F0702030302020204"/>
              <a:ea typeface="华文新魏" panose="02010800040101010101" pitchFamily="2" charset="-122"/>
              <a:cs typeface="Comic Sans MS" panose="030F0702030302020204"/>
            </a:endParaRPr>
          </a:p>
          <a:p>
            <a:pPr lvl="1"/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在循环之后判别</a:t>
            </a:r>
            <a:r>
              <a:rPr kumimoji="1" lang="en-US" altLang="zh-CN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的值是否小于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，若是则表明提前结束循环，则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不是素数；若未曾被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～</a:t>
            </a: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m-1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之间任一整数整除过，</a:t>
            </a:r>
            <a:r>
              <a:rPr kumimoji="1" lang="en-US" altLang="en-US" sz="2400" dirty="0" err="1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则m</a:t>
            </a:r>
            <a:r>
              <a:rPr kumimoji="1" lang="zh-CN" altLang="en-US" sz="2400" dirty="0">
                <a:solidFill>
                  <a:srgbClr val="000000"/>
                </a:solidFill>
                <a:latin typeface="Comic Sans MS" panose="030F0702030302020204"/>
                <a:ea typeface="华文新魏" panose="02010800040101010101" pitchFamily="2" charset="-122"/>
                <a:cs typeface="Comic Sans MS" panose="030F0702030302020204"/>
              </a:rPr>
              <a:t>是素数</a:t>
            </a:r>
            <a:r>
              <a:rPr kumimoji="1" lang="en-US" altLang="zh-CN" sz="2400" dirty="0">
                <a:solidFill>
                  <a:srgbClr val="336600"/>
                </a:solidFill>
                <a:latin typeface="Comic Sans MS" panose="030F0702030302020204"/>
                <a:ea typeface="楷体_GB2312" charset="0"/>
                <a:cs typeface="Comic Sans MS" panose="030F0702030302020204"/>
              </a:rPr>
              <a:t> </a:t>
            </a:r>
            <a:endParaRPr kumimoji="1" lang="en-US" altLang="zh-CN" sz="2400" dirty="0">
              <a:solidFill>
                <a:srgbClr val="336600"/>
              </a:solidFill>
              <a:latin typeface="Comic Sans MS" panose="030F0702030302020204"/>
              <a:ea typeface="楷体_GB2312" charset="0"/>
              <a:cs typeface="Comic Sans MS" panose="030F0702030302020204"/>
            </a:endParaRPr>
          </a:p>
          <a:p>
            <a:endParaRPr lang="zh-CN" altLang="en-US" dirty="0">
              <a:solidFill>
                <a:srgbClr val="6600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循环程序举例</a:t>
            </a:r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251520" y="1412776"/>
            <a:ext cx="4608512" cy="49685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&gt;&gt;m;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=2;i&lt;=m-1;i++)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如果被整除，跳出循环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&lt;m) 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如果循环提前终止</a:t>
            </a:r>
            <a:endParaRPr lang="en-US" altLang="zh-CN" sz="16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sz="16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788024" y="1412776"/>
            <a:ext cx="4464496" cy="4788892"/>
          </a:xfrm>
        </p:spPr>
        <p:txBody>
          <a:bodyPr/>
          <a:lstStyle/>
          <a:p>
            <a:r>
              <a:rPr kumimoji="1" lang="zh-CN" altLang="en-US" sz="2400" dirty="0"/>
              <a:t>程序改进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考虑是否能够改进算法呢？进一步提高算法的效率</a:t>
            </a:r>
            <a:endParaRPr kumimoji="1" lang="en-US" altLang="zh-CN" sz="2200" dirty="0"/>
          </a:p>
          <a:p>
            <a:pPr lvl="1"/>
            <a:r>
              <a:rPr kumimoji="1" lang="en-US" altLang="en-US" sz="2200" dirty="0"/>
              <a:t>不必被</a:t>
            </a:r>
            <a:r>
              <a:rPr kumimoji="1" lang="en-US" altLang="zh-CN" sz="2200" dirty="0"/>
              <a:t>2~m-1</a:t>
            </a:r>
            <a:r>
              <a:rPr kumimoji="1" lang="zh-CN" altLang="en-US" sz="2200" dirty="0"/>
              <a:t>各整数去除</a:t>
            </a:r>
            <a:endParaRPr kumimoji="1" lang="en-US" altLang="zh-CN" sz="2200" dirty="0"/>
          </a:p>
          <a:p>
            <a:pPr lvl="1"/>
            <a:r>
              <a:rPr kumimoji="1" lang="zh-CN" altLang="en-US" sz="2200" dirty="0"/>
              <a:t>运算</a:t>
            </a:r>
            <a:r>
              <a:rPr kumimoji="1" lang="en-US" altLang="zh-CN" sz="2200" dirty="0"/>
              <a:t>m-2</a:t>
            </a:r>
            <a:r>
              <a:rPr kumimoji="1" lang="zh-CN" altLang="en-US" sz="2200" dirty="0"/>
              <a:t>次，最笨的方法</a:t>
            </a:r>
            <a:endParaRPr kumimoji="1" lang="en-US" altLang="zh-CN" sz="2200" dirty="0"/>
          </a:p>
          <a:p>
            <a:pPr lvl="1"/>
            <a:endParaRPr kumimoji="1" lang="en-US" altLang="zh-CN" sz="2200" dirty="0"/>
          </a:p>
          <a:p>
            <a:pPr lvl="1"/>
            <a:endParaRPr kumimoji="1" lang="en-US" altLang="zh-CN" sz="2200" dirty="0"/>
          </a:p>
          <a:p>
            <a:pPr lvl="1"/>
            <a:endParaRPr kumimoji="1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循环程序举例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84784"/>
            <a:ext cx="3600400" cy="3600400"/>
          </a:xfrm>
        </p:spPr>
        <p:txBody>
          <a:bodyPr/>
          <a:lstStyle/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一个数去除比它</a:t>
            </a:r>
            <a:r>
              <a:rPr kumimoji="1" lang="zh-CN" altLang="en-US" sz="2400" dirty="0">
                <a:solidFill>
                  <a:srgbClr val="800000"/>
                </a:solidFill>
              </a:rPr>
              <a:t>一半</a:t>
            </a:r>
            <a:r>
              <a:rPr kumimoji="1" lang="zh-CN" altLang="en-US" sz="2400" dirty="0"/>
              <a:t>还大的数，一定除不尽的</a:t>
            </a: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因此，只需被</a:t>
            </a:r>
            <a:r>
              <a:rPr kumimoji="1" lang="en-US" altLang="zh-CN" sz="2400" dirty="0"/>
              <a:t>2~</a:t>
            </a:r>
            <a:r>
              <a:rPr kumimoji="1" lang="en-US" altLang="zh-CN" sz="2400" dirty="0">
                <a:solidFill>
                  <a:srgbClr val="800000"/>
                </a:solidFill>
              </a:rPr>
              <a:t>m/2</a:t>
            </a:r>
            <a:r>
              <a:rPr kumimoji="1" lang="zh-CN" altLang="en-US" sz="2400" dirty="0"/>
              <a:t>的整数除即可</a:t>
            </a: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还能不能继续改进呢？</a:t>
            </a:r>
            <a:endParaRPr kumimoji="1" lang="en-US" altLang="zh-CN" sz="2400" dirty="0"/>
          </a:p>
          <a:p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4139952" y="1268760"/>
            <a:ext cx="4608512" cy="525658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i,m,k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&gt;&gt;m;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k = 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m/2+1;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=2;i&lt;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k;i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如果被整除，跳出循环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&lt;k) 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如果循环提前终止</a:t>
            </a:r>
            <a:endParaRPr lang="en-US" altLang="zh-CN" sz="16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sz="16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循环程序举例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6800"/>
            <a:ext cx="3706688" cy="4191000"/>
          </a:xfrm>
        </p:spPr>
        <p:txBody>
          <a:bodyPr/>
          <a:lstStyle/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如果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能被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整除，则必有另一个因子</a:t>
            </a:r>
            <a:r>
              <a:rPr kumimoji="1" lang="en-US" altLang="zh-CN" sz="2400" dirty="0"/>
              <a:t>m/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，</a:t>
            </a:r>
            <a:r>
              <a:rPr kumimoji="1" lang="zh-CN" altLang="en-US" sz="2400" dirty="0"/>
              <a:t>且这两个因子一个</a:t>
            </a:r>
            <a:r>
              <a:rPr kumimoji="1" lang="en-US" altLang="zh-CN" sz="2400" dirty="0"/>
              <a:t>&gt;=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sqrt</a:t>
            </a:r>
            <a:r>
              <a:rPr kumimoji="1" lang="en-US" altLang="zh-CN" sz="2400" dirty="0">
                <a:solidFill>
                  <a:srgbClr val="FF0000"/>
                </a:solidFill>
              </a:rPr>
              <a:t>(m)</a:t>
            </a:r>
            <a:r>
              <a:rPr kumimoji="1" lang="zh-CN" altLang="en-US" sz="2400" dirty="0"/>
              <a:t>，一个</a:t>
            </a:r>
            <a:r>
              <a:rPr kumimoji="1" lang="en-US" altLang="zh-CN" sz="2400" dirty="0"/>
              <a:t>&lt;=</a:t>
            </a:r>
            <a:r>
              <a:rPr kumimoji="1" lang="en-US" altLang="zh-CN" sz="2400" dirty="0" err="1"/>
              <a:t>sqrt</a:t>
            </a:r>
            <a:r>
              <a:rPr kumimoji="1" lang="en-US" altLang="zh-CN" sz="2400" dirty="0"/>
              <a:t>(m)</a:t>
            </a: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只需被</a:t>
            </a:r>
            <a:r>
              <a:rPr kumimoji="1" lang="en-US" altLang="zh-CN" sz="2400" dirty="0"/>
              <a:t>2~</a:t>
            </a:r>
            <a:r>
              <a:rPr kumimoji="1" lang="en-US" altLang="zh-CN" sz="2400" dirty="0">
                <a:solidFill>
                  <a:srgbClr val="FF0000"/>
                </a:solidFill>
              </a:rPr>
              <a:t>sqrt(m)</a:t>
            </a:r>
            <a:r>
              <a:rPr kumimoji="1" lang="zh-CN" altLang="en-US" sz="2400" dirty="0"/>
              <a:t>的整数除即可</a:t>
            </a: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还能不能继续改进呢？</a:t>
            </a:r>
            <a:endParaRPr kumimoji="1" lang="en-US" altLang="zh-CN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kumimoji="1" lang="en-US" altLang="zh-CN" sz="2400" dirty="0"/>
          </a:p>
          <a:p>
            <a:pPr marL="0" lvl="1" indent="0">
              <a:buClr>
                <a:schemeClr val="hlink"/>
              </a:buClr>
              <a:buNone/>
            </a:pPr>
            <a:r>
              <a:rPr kumimoji="1" lang="en-US" altLang="zh-CN" sz="2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kumimoji="1" lang="en-US" altLang="zh-CN" sz="20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kumimoji="1" lang="en-US" altLang="zh-CN" sz="2000" b="1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kumimoji="1" lang="en-US" altLang="zh-CN" sz="20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kumimoji="1" lang="en-US" altLang="zh-CN" sz="2000" b="1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kumimoji="1" lang="en-US" altLang="zh-CN" sz="2000" b="1" dirty="0">
                <a:latin typeface="Courier New" panose="02070309020205020404"/>
                <a:cs typeface="Courier New" panose="02070309020205020404"/>
              </a:rPr>
              <a:t>=2;i*</a:t>
            </a:r>
            <a:r>
              <a:rPr kumimoji="1" lang="en-US" altLang="zh-CN" sz="2000" b="1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kumimoji="1" lang="en-US" altLang="zh-CN" sz="2000" b="1" dirty="0">
                <a:latin typeface="Courier New" panose="02070309020205020404"/>
                <a:cs typeface="Courier New" panose="02070309020205020404"/>
              </a:rPr>
              <a:t>&lt;=</a:t>
            </a:r>
            <a:r>
              <a:rPr kumimoji="1" lang="en-US" altLang="zh-CN" sz="2000" b="1" dirty="0" err="1">
                <a:latin typeface="Courier New" panose="02070309020205020404"/>
                <a:cs typeface="Courier New" panose="02070309020205020404"/>
              </a:rPr>
              <a:t>m;i</a:t>
            </a:r>
            <a:r>
              <a:rPr kumimoji="1" lang="en-US" altLang="zh-CN" sz="2000" b="1" dirty="0">
                <a:latin typeface="Courier New" panose="02070309020205020404"/>
                <a:cs typeface="Courier New" panose="02070309020205020404"/>
              </a:rPr>
              <a:t>++)</a:t>
            </a:r>
            <a:endParaRPr kumimoji="1"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en-US" altLang="en-US" sz="2400" dirty="0" err="1"/>
              <a:t>省去了调用sqrt函数</a:t>
            </a:r>
            <a:endParaRPr kumimoji="1" lang="en-US" altLang="en-US" sz="2400" dirty="0"/>
          </a:p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dirty="0"/>
              <a:t>再改进就要考虑偶数了，</a:t>
            </a:r>
            <a:endParaRPr kumimoji="1" lang="en-US" altLang="zh-CN" sz="2400" dirty="0"/>
          </a:p>
          <a:p>
            <a:pPr marL="0" lvl="1" indent="0">
              <a:buClr>
                <a:schemeClr val="hlink"/>
              </a:buClr>
              <a:buNone/>
            </a:pPr>
            <a:r>
              <a:rPr kumimoji="1" lang="en-US" altLang="zh-CN" sz="2400" dirty="0"/>
              <a:t>    </a:t>
            </a:r>
            <a:r>
              <a:rPr kumimoji="1" lang="zh-CN" altLang="en-US" sz="2400" dirty="0"/>
              <a:t>请自行思考</a:t>
            </a:r>
            <a:endParaRPr kumimoji="1" lang="en-US" altLang="zh-CN" sz="2400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4139952" y="1066800"/>
            <a:ext cx="4608512" cy="55305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kern="1200">
                <a:solidFill>
                  <a:schemeClr val="tx2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Comic Sans MS" panose="030F0702030302020204" pitchFamily="66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i,m,k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&gt;&gt;m;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k = </a:t>
            </a:r>
            <a:r>
              <a:rPr lang="en-US" altLang="zh-CN" sz="1600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(m);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=2;i&lt;=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k;i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如果被整除，跳出循环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&lt;=k) </a:t>
            </a: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如果循环提前终止</a:t>
            </a:r>
            <a:endParaRPr lang="en-US" altLang="zh-CN" sz="16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sz="16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&lt;&lt;m&lt;&lt;</a:t>
            </a:r>
            <a:r>
              <a:rPr lang="en-US" altLang="zh-CN" sz="1600" dirty="0"/>
              <a:t>"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是素数</a:t>
            </a:r>
            <a:r>
              <a:rPr lang="en-US" altLang="zh-CN" sz="1600" dirty="0"/>
              <a:t>"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2643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11268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8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2644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112681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82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12645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/>
              <a:t>C++</a:t>
            </a:r>
            <a:r>
              <a:rPr lang="zh-CN" altLang="en-US" sz="3200" b="1"/>
              <a:t>语句概述</a:t>
            </a:r>
            <a:endParaRPr lang="en-US" altLang="zh-CN" sz="3200" b="1"/>
          </a:p>
        </p:txBody>
      </p:sp>
      <p:sp>
        <p:nvSpPr>
          <p:cNvPr id="112647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12648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分支语句</a:t>
            </a:r>
            <a:endParaRPr lang="en-US" altLang="zh-CN" sz="3200" b="1"/>
          </a:p>
        </p:txBody>
      </p:sp>
      <p:sp>
        <p:nvSpPr>
          <p:cNvPr id="112650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12651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1126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2652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112675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6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12653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4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循环语句</a:t>
            </a:r>
            <a:endParaRPr lang="en-US" altLang="zh-CN" sz="3200" b="1"/>
          </a:p>
        </p:txBody>
      </p:sp>
      <p:sp>
        <p:nvSpPr>
          <p:cNvPr id="112655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12656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7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C00000"/>
                </a:solidFill>
              </a:rPr>
              <a:t>无条件转向语句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12658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12661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11267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2662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112669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0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12663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4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导出数据类型和数组</a:t>
            </a:r>
            <a:endParaRPr lang="en-US" altLang="zh-CN" sz="3200" b="1"/>
          </a:p>
        </p:txBody>
      </p:sp>
      <p:sp>
        <p:nvSpPr>
          <p:cNvPr id="112665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12666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7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结构类型与联合类型</a:t>
            </a:r>
            <a:endParaRPr lang="en-US" altLang="zh-CN" sz="3200" b="1"/>
          </a:p>
        </p:txBody>
      </p:sp>
      <p:sp>
        <p:nvSpPr>
          <p:cNvPr id="112668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无条件转向语句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36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提供了四种用于实现跳转的语句</a:t>
            </a:r>
            <a:endParaRPr lang="en-US" altLang="zh-CN"/>
          </a:p>
          <a:p>
            <a:pPr lvl="1" eaLnBrk="1" hangingPunct="1"/>
            <a:r>
              <a:rPr lang="zh-CN" altLang="en-US"/>
              <a:t>用于从循环体或</a:t>
            </a:r>
            <a:r>
              <a:rPr lang="en-US" altLang="zh-CN"/>
              <a:t>switch</a:t>
            </a:r>
            <a:r>
              <a:rPr lang="zh-CN" altLang="en-US"/>
              <a:t>句体跳出的</a:t>
            </a:r>
            <a:r>
              <a:rPr lang="en-US" altLang="zh-CN">
                <a:solidFill>
                  <a:srgbClr val="FF0000"/>
                </a:solidFill>
              </a:rPr>
              <a:t>break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zh-CN" altLang="en-US"/>
              <a:t>用于立即结束本次循环而去继续下一次循环的</a:t>
            </a:r>
            <a:r>
              <a:rPr lang="en-US" altLang="zh-CN">
                <a:solidFill>
                  <a:srgbClr val="FF0000"/>
                </a:solidFill>
              </a:rPr>
              <a:t>continue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zh-CN" altLang="en-US"/>
              <a:t>用于跳转到本函数内某一语句标号处（去继续执行）的</a:t>
            </a:r>
            <a:r>
              <a:rPr lang="en-US" altLang="zh-CN">
                <a:solidFill>
                  <a:srgbClr val="FF0000"/>
                </a:solidFill>
              </a:rPr>
              <a:t>goto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zh-CN" altLang="en-US"/>
              <a:t>用于立即从某个函数中返回到调用该函数位置的</a:t>
            </a:r>
            <a:r>
              <a:rPr lang="en-US" altLang="zh-CN">
                <a:solidFill>
                  <a:srgbClr val="FF0000"/>
                </a:solidFill>
              </a:rPr>
              <a:t>return</a:t>
            </a:r>
            <a:r>
              <a:rPr lang="zh-CN" altLang="en-US"/>
              <a:t>语句</a:t>
            </a:r>
            <a:endParaRPr lang="zh-CN" alt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无条件转向语句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18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goto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是一种用于</a:t>
            </a:r>
            <a:r>
              <a:rPr lang="zh-CN" altLang="en-US" dirty="0">
                <a:solidFill>
                  <a:schemeClr val="hlink"/>
                </a:solidFill>
              </a:rPr>
              <a:t>无条件跳转到</a:t>
            </a:r>
            <a:r>
              <a:rPr lang="zh-CN" altLang="en-US" dirty="0"/>
              <a:t>本函数内某一</a:t>
            </a:r>
            <a:r>
              <a:rPr lang="zh-CN" altLang="en-US" dirty="0">
                <a:solidFill>
                  <a:schemeClr val="hlink"/>
                </a:solidFill>
              </a:rPr>
              <a:t>语句标号处</a:t>
            </a:r>
            <a:r>
              <a:rPr lang="zh-CN" altLang="en-US" dirty="0"/>
              <a:t>（去继续执行）的语句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格式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goto &lt;</a:t>
            </a:r>
            <a:r>
              <a:rPr lang="zh-CN" altLang="en-US" dirty="0"/>
              <a:t>语句标号</a:t>
            </a:r>
            <a:r>
              <a:rPr lang="en-US" altLang="zh-CN" dirty="0"/>
              <a:t>&gt;;</a:t>
            </a:r>
            <a:r>
              <a:rPr lang="en-US" altLang="zh-CN" sz="2200" dirty="0">
                <a:solidFill>
                  <a:srgbClr val="233DA9"/>
                </a:solidFill>
              </a:rPr>
              <a:t> </a:t>
            </a:r>
            <a:endParaRPr lang="en-US" altLang="zh-CN" sz="2200" dirty="0">
              <a:solidFill>
                <a:srgbClr val="233DA9"/>
              </a:solidFill>
            </a:endParaRPr>
          </a:p>
          <a:p>
            <a:pPr lvl="3" eaLnBrk="1" hangingPunct="1"/>
            <a:r>
              <a:rPr lang="zh-CN" altLang="en-US" dirty="0"/>
              <a:t>&lt;语句标号&gt;为一个标识符，标识符的名字由用户任起，它放于某一个语句之前（与语句以冒号相分割），用于指出</a:t>
            </a:r>
            <a:r>
              <a:rPr lang="en-US" altLang="zh-CN" dirty="0"/>
              <a:t>goto</a:t>
            </a:r>
            <a:r>
              <a:rPr lang="zh-CN" altLang="en-US" dirty="0"/>
              <a:t>语句所要转向的具体位置（该位置可以在本</a:t>
            </a:r>
            <a:r>
              <a:rPr lang="en-US" altLang="zh-CN" dirty="0"/>
              <a:t>goto</a:t>
            </a:r>
            <a:r>
              <a:rPr lang="zh-CN" altLang="en-US" dirty="0"/>
              <a:t>语句之前或者之后）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979712" y="5229200"/>
            <a:ext cx="3839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不建议使用</a:t>
            </a:r>
            <a:r>
              <a:rPr lang="en-US" altLang="zh-CN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  <a:endParaRPr lang="zh-CN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无条件转向语句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8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76350"/>
          </a:xfrm>
        </p:spPr>
        <p:txBody>
          <a:bodyPr/>
          <a:lstStyle/>
          <a:p>
            <a:pPr eaLnBrk="1" hangingPunct="1"/>
            <a:r>
              <a:rPr lang="en-US" altLang="zh-CN" dirty="0"/>
              <a:t>goto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  <a:r>
              <a:rPr lang="zh-CN" altLang="en-US" dirty="0">
                <a:solidFill>
                  <a:srgbClr val="C00000"/>
                </a:solidFill>
              </a:rPr>
              <a:t>用</a:t>
            </a:r>
            <a:r>
              <a:rPr lang="en-US" altLang="zh-CN" dirty="0">
                <a:solidFill>
                  <a:srgbClr val="C00000"/>
                </a:solidFill>
              </a:rPr>
              <a:t>goto</a:t>
            </a:r>
            <a:r>
              <a:rPr lang="zh-CN" altLang="en-US" dirty="0">
                <a:solidFill>
                  <a:srgbClr val="C00000"/>
                </a:solidFill>
              </a:rPr>
              <a:t>语句计算</a:t>
            </a:r>
            <a:r>
              <a:rPr lang="en-US" altLang="zh-CN" dirty="0">
                <a:solidFill>
                  <a:srgbClr val="C00000"/>
                </a:solidFill>
              </a:rPr>
              <a:t>1+2+3+…+100</a:t>
            </a:r>
            <a:r>
              <a:rPr lang="zh-CN" altLang="en-US" dirty="0">
                <a:solidFill>
                  <a:srgbClr val="C00000"/>
                </a:solidFill>
              </a:rPr>
              <a:t>的和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1228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7188" y="3143250"/>
            <a:ext cx="8575675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无条件转向语句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39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return</a:t>
            </a:r>
            <a:r>
              <a:rPr lang="zh-CN" altLang="en-US"/>
              <a:t>语句</a:t>
            </a:r>
            <a:endParaRPr lang="en-US" altLang="zh-CN"/>
          </a:p>
          <a:p>
            <a:pPr lvl="1" eaLnBrk="1" hangingPunct="1"/>
            <a:r>
              <a:rPr lang="zh-CN" altLang="en-US"/>
              <a:t>用于立即</a:t>
            </a:r>
            <a:r>
              <a:rPr lang="zh-CN" altLang="en-US">
                <a:solidFill>
                  <a:schemeClr val="hlink"/>
                </a:solidFill>
              </a:rPr>
              <a:t>从被调函数</a:t>
            </a:r>
            <a:r>
              <a:rPr lang="zh-CN" altLang="en-US"/>
              <a:t>中</a:t>
            </a:r>
            <a:r>
              <a:rPr lang="zh-CN" altLang="en-US">
                <a:solidFill>
                  <a:schemeClr val="hlink"/>
                </a:solidFill>
              </a:rPr>
              <a:t>返回到主调函数</a:t>
            </a:r>
            <a:r>
              <a:rPr lang="zh-CN" altLang="en-US"/>
              <a:t>处, 实现从被调函数到主调函数的跳转功能。具体参见函数章节内容</a:t>
            </a:r>
            <a:endParaRPr lang="en-US" altLang="zh-CN"/>
          </a:p>
          <a:p>
            <a:pPr lvl="1" eaLnBrk="1" hangingPunct="1"/>
            <a:r>
              <a:rPr lang="zh-CN" altLang="en-US"/>
              <a:t>主函数中的</a:t>
            </a:r>
            <a:r>
              <a:rPr lang="en-US" altLang="zh-CN"/>
              <a:t>return</a:t>
            </a:r>
            <a:r>
              <a:rPr lang="zh-CN" altLang="en-US"/>
              <a:t>语句将结束整个程序</a:t>
            </a:r>
            <a:endParaRPr lang="en-US" altLang="zh-CN"/>
          </a:p>
          <a:p>
            <a:pPr lvl="1" eaLnBrk="1" hangingPunct="1"/>
            <a:r>
              <a:rPr lang="zh-CN" altLang="en-US"/>
              <a:t>格式：</a:t>
            </a:r>
            <a:endParaRPr lang="en-US" altLang="zh-CN"/>
          </a:p>
          <a:p>
            <a:pPr lvl="2" eaLnBrk="1" hangingPunct="1"/>
            <a:r>
              <a:rPr lang="en-US" altLang="zh-CN"/>
              <a:t>return [&lt;</a:t>
            </a:r>
            <a:r>
              <a:rPr lang="zh-CN" altLang="en-US"/>
              <a:t>表达式</a:t>
            </a:r>
            <a:r>
              <a:rPr lang="en-US" altLang="zh-CN"/>
              <a:t>E&gt;];</a:t>
            </a:r>
            <a:endParaRPr lang="en-US" altLang="zh-CN"/>
          </a:p>
          <a:p>
            <a:pPr lvl="3" eaLnBrk="1" hangingPunct="1"/>
            <a:r>
              <a:rPr lang="zh-CN" altLang="en-US"/>
              <a:t>表达式</a:t>
            </a:r>
            <a:r>
              <a:rPr lang="en-US" altLang="zh-CN"/>
              <a:t>E</a:t>
            </a:r>
            <a:r>
              <a:rPr lang="zh-CN" altLang="en-US"/>
              <a:t>的值与函数返回值的数据类型相同</a:t>
            </a:r>
            <a:endParaRPr lang="en-US" altLang="zh-CN"/>
          </a:p>
          <a:p>
            <a:pPr lvl="3" eaLnBrk="1" hangingPunct="1"/>
            <a:r>
              <a:rPr lang="zh-CN" altLang="en-US"/>
              <a:t>函数返回值为空（</a:t>
            </a:r>
            <a:r>
              <a:rPr lang="en-US" altLang="zh-CN"/>
              <a:t>void</a:t>
            </a:r>
            <a:r>
              <a:rPr lang="zh-CN" altLang="en-US"/>
              <a:t>）时，</a:t>
            </a:r>
            <a:r>
              <a:rPr lang="en-US" altLang="zh-CN"/>
              <a:t>return</a:t>
            </a:r>
            <a:r>
              <a:rPr lang="zh-CN" altLang="en-US"/>
              <a:t>语句不包含表达式。</a:t>
            </a:r>
            <a:endParaRPr lang="zh-CN" alt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无条件转向语句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633413"/>
          </a:xfrm>
        </p:spPr>
        <p:txBody>
          <a:bodyPr/>
          <a:lstStyle/>
          <a:p>
            <a:pPr eaLnBrk="1" hangingPunct="1"/>
            <a:r>
              <a:rPr lang="en-US" altLang="zh-CN"/>
              <a:t>return</a:t>
            </a:r>
            <a:r>
              <a:rPr lang="zh-CN" altLang="en-US"/>
              <a:t>语句</a:t>
            </a:r>
            <a:endParaRPr lang="zh-CN" altLang="en-US"/>
          </a:p>
        </p:txBody>
      </p:sp>
      <p:pic>
        <p:nvPicPr>
          <p:cNvPr id="1249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43125" y="2500313"/>
            <a:ext cx="4600575" cy="287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5" name="内容占位符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78889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  <a:r>
              <a:rPr lang="zh-CN" altLang="en-US" dirty="0">
                <a:solidFill>
                  <a:srgbClr val="C00000"/>
                </a:solidFill>
              </a:rPr>
              <a:t>任意输入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>
                <a:solidFill>
                  <a:srgbClr val="C00000"/>
                </a:solidFill>
              </a:rPr>
              <a:t>个数,找出其中的最大数以及最小数并显示出来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dirty="0"/>
              <a:t>输入</a:t>
            </a:r>
            <a:r>
              <a:rPr lang="en-US" altLang="zh-CN" dirty="0"/>
              <a:t>n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循环</a:t>
            </a:r>
            <a:r>
              <a:rPr lang="en-US" altLang="zh-CN" dirty="0"/>
              <a:t>n</a:t>
            </a:r>
            <a:r>
              <a:rPr lang="zh-CN" altLang="en-US" dirty="0"/>
              <a:t>次，每次输入一个数并进行如下处理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比</a:t>
            </a:r>
            <a:r>
              <a:rPr lang="en-US" altLang="zh-CN" dirty="0"/>
              <a:t>max</a:t>
            </a:r>
            <a:r>
              <a:rPr lang="zh-CN" altLang="en-US" dirty="0"/>
              <a:t>大，则将该数赋值给变量</a:t>
            </a:r>
            <a:r>
              <a:rPr lang="en-US" altLang="zh-CN" dirty="0"/>
              <a:t>max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比</a:t>
            </a:r>
            <a:r>
              <a:rPr lang="en-US" altLang="zh-CN" dirty="0"/>
              <a:t>min</a:t>
            </a:r>
            <a:r>
              <a:rPr lang="zh-CN" altLang="en-US" dirty="0"/>
              <a:t>小，则将该数赋值给变量</a:t>
            </a:r>
            <a:r>
              <a:rPr lang="en-US" altLang="zh-CN" dirty="0"/>
              <a:t>min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变量</a:t>
            </a:r>
            <a:r>
              <a:rPr lang="en-US" altLang="zh-CN" dirty="0"/>
              <a:t>max</a:t>
            </a:r>
            <a:r>
              <a:rPr lang="zh-CN" altLang="en-US" dirty="0"/>
              <a:t>表示最大数，</a:t>
            </a:r>
            <a:r>
              <a:rPr lang="en-US" altLang="zh-CN" dirty="0"/>
              <a:t>min</a:t>
            </a:r>
            <a:r>
              <a:rPr lang="zh-CN" altLang="en-US" dirty="0"/>
              <a:t>表示最小数</a:t>
            </a:r>
            <a:endParaRPr lang="zh-CN" altLang="en-US" dirty="0"/>
          </a:p>
          <a:p>
            <a:pPr lvl="2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6979" name="内容占位符 2"/>
          <p:cNvSpPr>
            <a:spLocks noGrp="1"/>
          </p:cNvSpPr>
          <p:nvPr>
            <p:ph idx="1"/>
          </p:nvPr>
        </p:nvSpPr>
        <p:spPr>
          <a:xfrm>
            <a:off x="214313" y="1295400"/>
            <a:ext cx="8715375" cy="5029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&lt;iostream.h&gt;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共输入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个数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cout&lt;&lt;“</a:t>
            </a: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输入个数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n=”;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cin&gt;&gt;n;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max, min;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新输入的数放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x，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最大数放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max，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最小数放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cout&lt;&lt;"Please input "&lt;&lt;n&lt;&lt;" numbers:"&lt;&lt;endl;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i=1; i&lt;=n; i++){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个数并处理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cin&gt;&gt;x; 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新输入一个数，放入变量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(i==1)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第一个数既是目前的最大数，又是最小数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max=min=x;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80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	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非第一数时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(x&gt;max) max=x;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新输入的数比目前的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更大，更新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	   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(x&lt;min) min=x;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新输入的数比目前的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还小，更新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i…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cout&lt;&lt;"max="&lt;&lt;max&lt;&lt;endl;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cout&lt;&lt;"min="&lt;&lt;min&lt;&lt;endl;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  <a:r>
              <a:rPr lang="zh-CN" altLang="en-US" dirty="0">
                <a:solidFill>
                  <a:srgbClr val="C00000"/>
                </a:solidFill>
              </a:rPr>
              <a:t>求</a:t>
            </a:r>
            <a:r>
              <a:rPr lang="en-US" altLang="zh-CN" dirty="0">
                <a:solidFill>
                  <a:srgbClr val="C00000"/>
                </a:solidFill>
              </a:rPr>
              <a:t>1000</a:t>
            </a:r>
            <a:r>
              <a:rPr lang="zh-CN" altLang="en-US" dirty="0">
                <a:solidFill>
                  <a:srgbClr val="C00000"/>
                </a:solidFill>
              </a:rPr>
              <a:t>以内的素数，以每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>
                <a:solidFill>
                  <a:srgbClr val="C00000"/>
                </a:solidFill>
              </a:rPr>
              <a:t>个数为一行输出到屏幕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dirty="0"/>
              <a:t>素数的判别方法参见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4.24】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对</a:t>
            </a:r>
            <a:r>
              <a:rPr lang="en-US" altLang="zh-CN" dirty="0"/>
              <a:t>2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~</a:t>
            </a:r>
            <a:r>
              <a:rPr lang="en-US" altLang="zh-CN" dirty="0"/>
              <a:t>1000</a:t>
            </a:r>
            <a:r>
              <a:rPr lang="zh-CN" altLang="en-US" dirty="0"/>
              <a:t>中的每个数进行素数判定，是素数则输出，输出到第</a:t>
            </a:r>
            <a:r>
              <a:rPr lang="en-US" altLang="zh-CN" dirty="0"/>
              <a:t>10</a:t>
            </a:r>
            <a:r>
              <a:rPr lang="zh-CN" altLang="en-US" dirty="0"/>
              <a:t>个、第</a:t>
            </a:r>
            <a:r>
              <a:rPr lang="en-US" altLang="zh-CN" dirty="0"/>
              <a:t>20</a:t>
            </a:r>
            <a:r>
              <a:rPr lang="zh-CN" altLang="en-US" dirty="0"/>
              <a:t>个、</a:t>
            </a:r>
            <a:r>
              <a:rPr lang="en-US" altLang="zh-CN" dirty="0"/>
              <a:t>…</a:t>
            </a:r>
            <a:r>
              <a:rPr lang="zh-CN" altLang="en-US" dirty="0"/>
              <a:t>后换行</a:t>
            </a:r>
            <a:endParaRPr lang="zh-CN" altLang="en-US" dirty="0"/>
          </a:p>
        </p:txBody>
      </p:sp>
      <p:sp>
        <p:nvSpPr>
          <p:cNvPr id="129030" name="矩形 5"/>
          <p:cNvSpPr>
            <a:spLocks noChangeArrowheads="1"/>
          </p:cNvSpPr>
          <p:nvPr/>
        </p:nvSpPr>
        <p:spPr bwMode="auto">
          <a:xfrm>
            <a:off x="928688" y="4000500"/>
            <a:ext cx="6357937" cy="1920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2    3    5    7   11   13   17   19   23   29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31   37   41   43   47   53   59   61   67   71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73   79   83   89   97  101  103  107  109  113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877  881  883  887  907  911  919  929  937  941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947  953  967  971  977  983  991  997 </a:t>
            </a:r>
            <a:endParaRPr lang="zh-CN" altLang="en-US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0051" name="内容占位符 2"/>
          <p:cNvSpPr>
            <a:spLocks noGrp="1"/>
          </p:cNvSpPr>
          <p:nvPr>
            <p:ph idx="1"/>
          </p:nvPr>
        </p:nvSpPr>
        <p:spPr>
          <a:xfrm>
            <a:off x="228600" y="1143000"/>
            <a:ext cx="8559165" cy="52863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		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//use “sqrt”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	    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//use “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int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m=1000;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i,j,isprime,count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//count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记录素数个数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&lt;=m;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求2到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间的所有素数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isprime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		 	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先认为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是素数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(j=2; j&lt;sqrt(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		if(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i%j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0 )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isprime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=0;}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j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10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isprime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count++;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(count%10==0)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每输出10个素数换1行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		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09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0491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  <a:r>
              <a:rPr lang="zh-CN" altLang="en-US" dirty="0">
                <a:solidFill>
                  <a:srgbClr val="C00000"/>
                </a:solidFill>
              </a:rPr>
              <a:t>输出从0到90度之间每隔15度的</a:t>
            </a:r>
            <a:r>
              <a:rPr lang="zh-CN" altLang="en-US" dirty="0">
                <a:solidFill>
                  <a:srgbClr val="0000FF"/>
                </a:solidFill>
              </a:rPr>
              <a:t>正弦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zh-CN" altLang="en-US" dirty="0">
                <a:solidFill>
                  <a:srgbClr val="0000FF"/>
                </a:solidFill>
              </a:rPr>
              <a:t>余弦</a:t>
            </a:r>
            <a:r>
              <a:rPr lang="zh-CN" altLang="en-US" dirty="0">
                <a:solidFill>
                  <a:srgbClr val="C00000"/>
                </a:solidFill>
              </a:rPr>
              <a:t>以及</a:t>
            </a:r>
            <a:r>
              <a:rPr lang="zh-CN" altLang="en-US" dirty="0">
                <a:solidFill>
                  <a:srgbClr val="0000FF"/>
                </a:solidFill>
              </a:rPr>
              <a:t>正切</a:t>
            </a:r>
            <a:r>
              <a:rPr lang="zh-CN" altLang="en-US" dirty="0">
                <a:solidFill>
                  <a:srgbClr val="C00000"/>
                </a:solidFill>
              </a:rPr>
              <a:t>函数值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2102" name="矩形 5"/>
          <p:cNvSpPr>
            <a:spLocks noChangeArrowheads="1"/>
          </p:cNvSpPr>
          <p:nvPr/>
        </p:nvSpPr>
        <p:spPr bwMode="auto">
          <a:xfrm>
            <a:off x="857250" y="2579688"/>
            <a:ext cx="7715250" cy="2849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Angle x    sin(x)    cos(x)    tan(x)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0    0.0000    1.0000    0.0000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15    0.2588    0.9659    0.2679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30    0.5000    0.8660    0.5774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45    0.7071    0.7071    1.0000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60    0.8660    0.5000    1.7321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75    0.9659    0.2588    3.7321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90    1.0000   -0.0000         -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860900"/>
          </a:xfrm>
        </p:spPr>
        <p:txBody>
          <a:bodyPr/>
          <a:lstStyle/>
          <a:p>
            <a:pPr lvl="1" eaLnBrk="1" hangingPunct="1"/>
            <a:r>
              <a:rPr lang="zh-CN" altLang="en-US" dirty="0"/>
              <a:t>调用标准库函数</a:t>
            </a:r>
            <a:r>
              <a:rPr lang="en-US" altLang="zh-CN" dirty="0"/>
              <a:t>sin</a:t>
            </a:r>
            <a:r>
              <a:rPr lang="zh-CN" altLang="en-US" dirty="0"/>
              <a:t>、</a:t>
            </a:r>
            <a:r>
              <a:rPr lang="en-US" altLang="zh-CN" dirty="0"/>
              <a:t>cos</a:t>
            </a:r>
            <a:r>
              <a:rPr lang="zh-CN" altLang="en-US" dirty="0"/>
              <a:t>和</a:t>
            </a:r>
            <a:r>
              <a:rPr lang="en-US" altLang="zh-CN" dirty="0"/>
              <a:t>tan</a:t>
            </a:r>
            <a:r>
              <a:rPr lang="zh-CN" altLang="en-US" dirty="0"/>
              <a:t>得到三角函数值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调用三角函数值，实参是弧度，因此要将角度转换为弧度。度数</a:t>
            </a:r>
            <a:r>
              <a:rPr lang="en-US" altLang="zh-CN" dirty="0"/>
              <a:t>doa</a:t>
            </a:r>
            <a:r>
              <a:rPr lang="zh-CN" altLang="en-US" dirty="0"/>
              <a:t>化为弧度</a:t>
            </a:r>
            <a:r>
              <a:rPr lang="en-US" altLang="zh-CN" dirty="0"/>
              <a:t>arc：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arc=pai*doa/180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三角函数值的小数点后保留</a:t>
            </a:r>
            <a:r>
              <a:rPr lang="en-US" altLang="zh-CN" dirty="0"/>
              <a:t>4</a:t>
            </a:r>
            <a:r>
              <a:rPr lang="zh-CN" altLang="en-US" dirty="0"/>
              <a:t>位数据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cout.precision(4)</a:t>
            </a:r>
            <a:endParaRPr lang="zh-CN" altLang="en-US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14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0541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float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=3.1416; 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有名常量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inteval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=15;   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//15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度为计算间隔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//下述8句用于输出标题行(第一行)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&lt;&lt;"Angle x";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&lt;&lt;"sin(x)";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dirty="0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cout&lt;&lt;"cos(x)";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cout.width(10);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cout&lt;&lt;"tan(x)";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arc;  		 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弧度值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cout.setf(ios::fixed);  	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设置以定点数格式输出数据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cout.flags(ios::fixed); 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与上一句的功能完全相同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cout.precision(4); 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小数点后保留4位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6197" name="内容占位符 2"/>
          <p:cNvSpPr>
            <a:spLocks noGrp="1"/>
          </p:cNvSpPr>
          <p:nvPr>
            <p:ph idx="1"/>
          </p:nvPr>
        </p:nvSpPr>
        <p:spPr>
          <a:xfrm>
            <a:off x="457200" y="1071563"/>
            <a:ext cx="8153400" cy="5562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&lt;=90;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inteval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度数从0开始, 增量15，直到90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arc=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/180;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化为弧度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	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输出当前度数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&lt;&lt;sin(arc); 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(arc); 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doa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==90)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&lt;&lt;"-";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90度正切值特殊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&lt;&lt;tan(arc); 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非90度时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  <a:r>
              <a:rPr lang="zh-CN" altLang="en-US" dirty="0">
                <a:solidFill>
                  <a:srgbClr val="C00000"/>
                </a:solidFill>
              </a:rPr>
              <a:t>在屏幕上打印图形</a:t>
            </a:r>
            <a:endParaRPr lang="en-US" altLang="zh-CN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    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   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  *****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 *******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*********</a:t>
            </a:r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915816" y="2060848"/>
          <a:ext cx="6048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931"/>
                <a:gridCol w="352931"/>
                <a:gridCol w="352931"/>
                <a:gridCol w="352931"/>
                <a:gridCol w="352931"/>
                <a:gridCol w="352931"/>
                <a:gridCol w="352931"/>
                <a:gridCol w="481811"/>
                <a:gridCol w="504056"/>
                <a:gridCol w="864096"/>
                <a:gridCol w="432048"/>
                <a:gridCol w="129614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行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空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规律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规律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2*1-1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4-2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2*2-1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4-3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2*3-1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2*4-1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351" y="2492896"/>
            <a:ext cx="339785" cy="18722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506985"/>
            <a:ext cx="339785" cy="18722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2492127"/>
            <a:ext cx="339785" cy="1872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控制语句举例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8243" name="内容占位符 2"/>
          <p:cNvSpPr>
            <a:spLocks noGrp="1"/>
          </p:cNvSpPr>
          <p:nvPr>
            <p:ph idx="1"/>
          </p:nvPr>
        </p:nvSpPr>
        <p:spPr>
          <a:xfrm>
            <a:off x="214313" y="1143000"/>
            <a:ext cx="8786812" cy="5562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(i=1; i&lt;=5; i++){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共印5行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(j=1;j&lt;=5-i;j++)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行时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打印*前先空5-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格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cout&lt;&lt;‘ ’;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(j=1;j&lt;=2*i-1;j++)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而后连印2*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个“*”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cout&lt;&lt;‘*’;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cout&lt;&lt;endl;  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最后换行 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9267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13930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0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9268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139305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06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39269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0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/>
              <a:t>C++</a:t>
            </a:r>
            <a:r>
              <a:rPr lang="zh-CN" altLang="en-US" sz="3200" b="1"/>
              <a:t>语句概述</a:t>
            </a:r>
            <a:endParaRPr lang="en-US" altLang="zh-CN" sz="3200" b="1"/>
          </a:p>
        </p:txBody>
      </p:sp>
      <p:sp>
        <p:nvSpPr>
          <p:cNvPr id="139271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39272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3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分支语句</a:t>
            </a:r>
            <a:endParaRPr lang="en-US" altLang="zh-CN" sz="3200" b="1"/>
          </a:p>
        </p:txBody>
      </p:sp>
      <p:sp>
        <p:nvSpPr>
          <p:cNvPr id="139274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39275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1393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9276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139299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00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39277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8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循环语句</a:t>
            </a:r>
            <a:endParaRPr lang="en-US" altLang="zh-CN" sz="3200" b="1"/>
          </a:p>
        </p:txBody>
      </p:sp>
      <p:sp>
        <p:nvSpPr>
          <p:cNvPr id="139279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39280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1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无条件转向语句</a:t>
            </a:r>
            <a:endParaRPr lang="en-US" altLang="zh-CN" sz="3200" b="1"/>
          </a:p>
        </p:txBody>
      </p:sp>
      <p:sp>
        <p:nvSpPr>
          <p:cNvPr id="139282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39285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139296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97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9286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139293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94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39287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8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C00000"/>
                </a:solidFill>
              </a:rPr>
              <a:t>导出数据类型和数组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39289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39290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1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结构类型与联合类型</a:t>
            </a:r>
            <a:endParaRPr lang="en-US" altLang="zh-CN" sz="3200" b="1"/>
          </a:p>
        </p:txBody>
      </p:sp>
      <p:sp>
        <p:nvSpPr>
          <p:cNvPr id="139292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导出数据类型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导出数据类型概述</a:t>
            </a:r>
            <a:endParaRPr lang="en-US" altLang="zh-CN"/>
          </a:p>
          <a:p>
            <a:pPr eaLnBrk="1" hangingPunct="1"/>
            <a:r>
              <a:rPr lang="zh-CN" altLang="en-US"/>
              <a:t>数组类型</a:t>
            </a:r>
            <a:endParaRPr lang="en-US" altLang="zh-CN"/>
          </a:p>
          <a:p>
            <a:pPr eaLnBrk="1" hangingPunct="1"/>
            <a:r>
              <a:rPr lang="zh-CN" altLang="en-US"/>
              <a:t>指针类型（第</a:t>
            </a:r>
            <a:r>
              <a:rPr lang="en-US" altLang="zh-CN"/>
              <a:t>6</a:t>
            </a:r>
            <a:r>
              <a:rPr lang="zh-CN" altLang="en-US"/>
              <a:t>章）</a:t>
            </a:r>
            <a:endParaRPr lang="en-US" altLang="zh-CN"/>
          </a:p>
          <a:p>
            <a:pPr eaLnBrk="1" hangingPunct="1"/>
            <a:r>
              <a:rPr lang="zh-CN" altLang="en-US"/>
              <a:t>引用类型（第</a:t>
            </a:r>
            <a:r>
              <a:rPr lang="en-US" altLang="zh-CN"/>
              <a:t>6</a:t>
            </a:r>
            <a:r>
              <a:rPr lang="zh-CN" altLang="en-US"/>
              <a:t>章）</a:t>
            </a:r>
            <a:endParaRPr lang="zh-CN" alt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导出数据类型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1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导出数据类型</a:t>
            </a:r>
            <a:endParaRPr lang="en-US" altLang="zh-CN"/>
          </a:p>
          <a:p>
            <a:pPr lvl="1" eaLnBrk="1" hangingPunct="1"/>
            <a:r>
              <a:rPr lang="zh-CN" altLang="en-US"/>
              <a:t>导出数据类型是在其它</a:t>
            </a:r>
            <a:r>
              <a:rPr lang="zh-CN" altLang="en-US">
                <a:solidFill>
                  <a:srgbClr val="00B050"/>
                </a:solidFill>
              </a:rPr>
              <a:t>已定义类型</a:t>
            </a:r>
            <a:r>
              <a:rPr lang="zh-CN" altLang="en-US"/>
              <a:t>的基础上定义的，而且其运算也是确定的</a:t>
            </a:r>
            <a:endParaRPr lang="en-US" altLang="zh-CN"/>
          </a:p>
          <a:p>
            <a:pPr lvl="1" eaLnBrk="1" hangingPunct="1"/>
            <a:r>
              <a:rPr lang="zh-CN" altLang="en-US"/>
              <a:t>导出数据类型的分类</a:t>
            </a:r>
            <a:endParaRPr lang="en-US" altLang="zh-CN"/>
          </a:p>
          <a:p>
            <a:pPr lvl="2" eaLnBrk="1" hangingPunct="1"/>
            <a:r>
              <a:rPr lang="zh-CN" altLang="en-US"/>
              <a:t>数组类型</a:t>
            </a:r>
            <a:endParaRPr lang="en-US" altLang="zh-CN"/>
          </a:p>
          <a:p>
            <a:pPr lvl="2" eaLnBrk="1" hangingPunct="1"/>
            <a:r>
              <a:rPr lang="zh-CN" altLang="en-US"/>
              <a:t>指针类型</a:t>
            </a:r>
            <a:endParaRPr lang="en-US" altLang="zh-CN"/>
          </a:p>
          <a:p>
            <a:pPr lvl="2" eaLnBrk="1" hangingPunct="1"/>
            <a:r>
              <a:rPr lang="zh-CN" altLang="en-US"/>
              <a:t>引用类型</a:t>
            </a:r>
            <a:endParaRPr lang="en-US" altLang="zh-CN"/>
          </a:p>
          <a:p>
            <a:pPr lvl="2" eaLnBrk="1" hangingPunct="1"/>
            <a:r>
              <a:rPr lang="zh-CN" altLang="en-US"/>
              <a:t>结构类型</a:t>
            </a:r>
            <a:r>
              <a:rPr lang="zh-CN" altLang="en-US">
                <a:solidFill>
                  <a:srgbClr val="00B050"/>
                </a:solidFill>
              </a:rPr>
              <a:t>（</a:t>
            </a:r>
            <a:r>
              <a:rPr lang="en-US" altLang="zh-CN">
                <a:solidFill>
                  <a:srgbClr val="00B050"/>
                </a:solidFill>
              </a:rPr>
              <a:t>C-Style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 lang="en-US" altLang="zh-CN">
              <a:solidFill>
                <a:srgbClr val="00B050"/>
              </a:solidFill>
            </a:endParaRPr>
          </a:p>
          <a:p>
            <a:pPr lvl="2" eaLnBrk="1" hangingPunct="1"/>
            <a:r>
              <a:rPr lang="zh-CN" altLang="en-US"/>
              <a:t>联合类型</a:t>
            </a:r>
            <a:r>
              <a:rPr lang="zh-CN" altLang="en-US">
                <a:solidFill>
                  <a:srgbClr val="00B050"/>
                </a:solidFill>
              </a:rPr>
              <a:t>（</a:t>
            </a:r>
            <a:r>
              <a:rPr lang="en-US" altLang="zh-CN">
                <a:solidFill>
                  <a:srgbClr val="00B050"/>
                </a:solidFill>
              </a:rPr>
              <a:t>C-Style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 lang="en-US" altLang="zh-CN">
              <a:solidFill>
                <a:srgbClr val="00B050"/>
              </a:solidFill>
            </a:endParaRPr>
          </a:p>
          <a:p>
            <a:pPr lvl="2" eaLnBrk="1" hangingPunct="1"/>
            <a:endParaRPr lang="en-US" altLang="zh-CN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2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</a:t>
            </a:r>
            <a:r>
              <a:rPr lang="en-US" altLang="zh-CN"/>
              <a:t>(Array)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chemeClr val="hlink"/>
                </a:solidFill>
              </a:rPr>
              <a:t>数组</a:t>
            </a:r>
            <a:r>
              <a:rPr lang="zh-CN" altLang="en-US"/>
              <a:t>是</a:t>
            </a:r>
            <a:r>
              <a:rPr lang="zh-CN" altLang="en-US">
                <a:solidFill>
                  <a:schemeClr val="hlink"/>
                </a:solidFill>
              </a:rPr>
              <a:t>同类型元素</a:t>
            </a:r>
            <a:r>
              <a:rPr lang="zh-CN" altLang="en-US"/>
              <a:t>（分量）的</a:t>
            </a:r>
            <a:r>
              <a:rPr lang="zh-CN" altLang="en-US">
                <a:solidFill>
                  <a:schemeClr val="hlink"/>
                </a:solidFill>
              </a:rPr>
              <a:t>有序组合体</a:t>
            </a:r>
            <a:r>
              <a:rPr lang="zh-CN" altLang="en-US"/>
              <a:t>。元素的类型可以是</a:t>
            </a:r>
            <a:r>
              <a:rPr lang="en-US" altLang="zh-CN"/>
              <a:t>C++</a:t>
            </a:r>
            <a:r>
              <a:rPr lang="zh-CN" altLang="en-US"/>
              <a:t>语言中允许使用的任何一种数据类型（包括任何用户自定义类型）</a:t>
            </a:r>
            <a:endParaRPr lang="en-US" altLang="zh-CN"/>
          </a:p>
          <a:p>
            <a:pPr lvl="1" eaLnBrk="1" hangingPunct="1"/>
            <a:r>
              <a:rPr lang="zh-CN" altLang="en-US"/>
              <a:t>数组中的每个</a:t>
            </a:r>
            <a:r>
              <a:rPr lang="zh-CN" altLang="en-US">
                <a:solidFill>
                  <a:schemeClr val="hlink"/>
                </a:solidFill>
              </a:rPr>
              <a:t>元素</a:t>
            </a:r>
            <a:r>
              <a:rPr lang="zh-CN" altLang="en-US"/>
              <a:t>都有与其</a:t>
            </a:r>
            <a:r>
              <a:rPr lang="zh-CN" altLang="en-US">
                <a:solidFill>
                  <a:schemeClr val="hlink"/>
                </a:solidFill>
              </a:rPr>
              <a:t>对应的下标</a:t>
            </a:r>
            <a:r>
              <a:rPr lang="zh-CN" altLang="en-US"/>
              <a:t>以标明该元素在数组中的位置。对数组元素的访问通常借助于下标来进行，元素也被称为</a:t>
            </a:r>
            <a:r>
              <a:rPr lang="zh-CN" altLang="en-US">
                <a:solidFill>
                  <a:schemeClr val="hlink"/>
                </a:solidFill>
              </a:rPr>
              <a:t>下标变量</a:t>
            </a:r>
            <a:r>
              <a:rPr lang="zh-CN" altLang="en-US"/>
              <a:t>。每个数组元素（即下标变量）都可以当作单个变量来使用</a:t>
            </a:r>
            <a:endParaRPr lang="zh-CN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zh-CN" altLang="en-US"/>
              <a:t>具有一个下标的数组叫做</a:t>
            </a:r>
            <a:r>
              <a:rPr lang="zh-CN" altLang="en-US">
                <a:solidFill>
                  <a:schemeClr val="hlink"/>
                </a:solidFill>
              </a:rPr>
              <a:t>一维数组</a:t>
            </a:r>
            <a:r>
              <a:rPr lang="zh-CN" altLang="en-US"/>
              <a:t>，它是由</a:t>
            </a:r>
            <a:r>
              <a:rPr lang="en-US" altLang="zh-CN"/>
              <a:t>n</a:t>
            </a:r>
            <a:r>
              <a:rPr lang="zh-CN" altLang="en-US"/>
              <a:t>个同一类型数据组成的一维序列</a:t>
            </a:r>
            <a:endParaRPr lang="en-US" altLang="zh-CN"/>
          </a:p>
          <a:p>
            <a:pPr lvl="1" eaLnBrk="1" hangingPunct="1"/>
            <a:r>
              <a:rPr lang="zh-CN" altLang="en-US"/>
              <a:t>说明一维数组的格式</a:t>
            </a:r>
            <a:endParaRPr lang="en-US" altLang="zh-CN"/>
          </a:p>
          <a:p>
            <a:pPr lvl="2" eaLnBrk="1" hangingPunct="1"/>
            <a:r>
              <a:rPr lang="zh-CN" altLang="en-US"/>
              <a:t>&lt;类型名&gt; &lt;数组名&gt; [ &lt;元素数&gt; ] = { &lt;初值表&gt; }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类型名</a:t>
            </a:r>
            <a:r>
              <a:rPr lang="en-US" altLang="zh-CN"/>
              <a:t>&gt;</a:t>
            </a:r>
            <a:r>
              <a:rPr lang="zh-CN" altLang="en-US"/>
              <a:t>指出数组元素的类型，也称为数组类型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数组名</a:t>
            </a:r>
            <a:r>
              <a:rPr lang="en-US" altLang="zh-CN"/>
              <a:t>&gt;</a:t>
            </a:r>
            <a:r>
              <a:rPr lang="zh-CN" altLang="en-US"/>
              <a:t>是一个标识符，是为数组起的名字，该名字还代表数组首元素的地址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元素数</a:t>
            </a:r>
            <a:r>
              <a:rPr lang="en-US" altLang="zh-CN"/>
              <a:t>&gt;</a:t>
            </a:r>
            <a:r>
              <a:rPr lang="zh-CN" altLang="en-US"/>
              <a:t>指定数组的大小，它必须是一个整数或一个整型的常量表达式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初值表</a:t>
            </a:r>
            <a:r>
              <a:rPr lang="en-US" altLang="zh-CN"/>
              <a:t>&gt;</a:t>
            </a:r>
            <a:r>
              <a:rPr lang="zh-CN" altLang="en-US"/>
              <a:t>部分可有可无，若有的话，用于为数组元素置初值</a:t>
            </a:r>
            <a:r>
              <a:rPr lang="en-US" altLang="zh-CN"/>
              <a:t>,</a:t>
            </a:r>
            <a:r>
              <a:rPr lang="zh-CN" altLang="en-US"/>
              <a:t>由一批以逗号分割的常量值所构成</a:t>
            </a:r>
            <a:endParaRPr lang="zh-CN" alt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4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zh-CN" altLang="en-US"/>
              <a:t>举例：声明数组</a:t>
            </a:r>
            <a:endParaRPr lang="en-US" altLang="zh-CN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a[10];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zh-CN" altLang="en-US"/>
              <a:t>在内存中开辟</a:t>
            </a:r>
            <a:r>
              <a:rPr lang="en-US" altLang="zh-CN"/>
              <a:t>10</a:t>
            </a:r>
            <a:r>
              <a:rPr lang="zh-CN" altLang="en-US"/>
              <a:t>个整型数据的空间（</a:t>
            </a:r>
            <a:r>
              <a:rPr lang="en-US" altLang="zh-CN"/>
              <a:t>4</a:t>
            </a:r>
            <a:r>
              <a:rPr lang="zh-CN" altLang="en-US"/>
              <a:t>字节</a:t>
            </a:r>
            <a:r>
              <a:rPr lang="en-US" altLang="zh-CN"/>
              <a:t>×10</a:t>
            </a:r>
            <a:r>
              <a:rPr lang="zh-CN" altLang="en-US"/>
              <a:t>）</a:t>
            </a:r>
            <a:endParaRPr lang="en-US" altLang="zh-CN"/>
          </a:p>
          <a:p>
            <a:pPr lvl="2" eaLnBrk="1" hangingPunct="1"/>
            <a:r>
              <a:rPr lang="zh-CN" altLang="en-US"/>
              <a:t>通过下标访问数组中的每一个元素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数组名</a:t>
            </a:r>
            <a:r>
              <a:rPr lang="en-US" altLang="zh-CN"/>
              <a:t>&gt;[</a:t>
            </a:r>
            <a:r>
              <a:rPr lang="zh-CN" altLang="en-US"/>
              <a:t>下标表达式</a:t>
            </a:r>
            <a:r>
              <a:rPr lang="en-US" altLang="zh-CN"/>
              <a:t>]</a:t>
            </a:r>
            <a:endParaRPr lang="en-US" altLang="zh-CN"/>
          </a:p>
          <a:p>
            <a:pPr lvl="3" eaLnBrk="1" hangingPunct="1"/>
            <a:r>
              <a:rPr lang="zh-CN" altLang="en-US"/>
              <a:t>下标的范围：</a:t>
            </a:r>
            <a:r>
              <a:rPr lang="en-US" altLang="zh-CN"/>
              <a:t>0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~</a:t>
            </a:r>
            <a:r>
              <a:rPr lang="en-US" altLang="zh-CN"/>
              <a:t>9</a:t>
            </a:r>
            <a:endParaRPr lang="en-US" altLang="zh-CN"/>
          </a:p>
          <a:p>
            <a:pPr lvl="3" eaLnBrk="1" hangingPunct="1"/>
            <a:r>
              <a:rPr lang="zh-CN" altLang="en-US"/>
              <a:t>下标可以是值为整数的表达式，如</a:t>
            </a:r>
            <a:r>
              <a:rPr lang="en-US" altLang="zh-CN"/>
              <a:t>a[3+5]</a:t>
            </a:r>
            <a:r>
              <a:rPr lang="zh-CN" altLang="en-US"/>
              <a:t>、</a:t>
            </a:r>
            <a:r>
              <a:rPr lang="en-US" altLang="zh-CN"/>
              <a:t>a[i*2]</a:t>
            </a:r>
            <a:r>
              <a:rPr lang="zh-CN" altLang="en-US"/>
              <a:t>等等，但表达式的值不能超出范围</a:t>
            </a:r>
            <a:endParaRPr lang="en-US" altLang="zh-CN"/>
          </a:p>
          <a:p>
            <a:pPr lvl="3" eaLnBrk="1" hangingPunct="1"/>
            <a:r>
              <a:rPr lang="zh-CN" altLang="en-US"/>
              <a:t>超出范围为“</a:t>
            </a:r>
            <a:r>
              <a:rPr lang="zh-CN" altLang="en-US">
                <a:solidFill>
                  <a:srgbClr val="00B050"/>
                </a:solidFill>
              </a:rPr>
              <a:t>数组下标溢出</a:t>
            </a:r>
            <a:r>
              <a:rPr lang="zh-CN" altLang="en-US"/>
              <a:t>”错误</a:t>
            </a:r>
            <a:endParaRPr lang="en-US" altLang="zh-CN"/>
          </a:p>
          <a:p>
            <a:pPr lvl="2" eaLnBrk="1" hangingPunct="1"/>
            <a:r>
              <a:rPr lang="zh-CN" altLang="en-US"/>
              <a:t>数组中的每一个元素都等同于一个与数组类型相同的变量</a:t>
            </a:r>
            <a:endParaRPr lang="zh-CN" alt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541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4043363" cy="5133975"/>
          </a:xfrm>
        </p:spPr>
        <p:txBody>
          <a:bodyPr/>
          <a:lstStyle/>
          <a:p>
            <a:r>
              <a:rPr lang="zh-CN" altLang="en-US"/>
              <a:t>一维数组</a:t>
            </a:r>
            <a:endParaRPr lang="en-US" altLang="zh-CN"/>
          </a:p>
          <a:p>
            <a:pPr lvl="1"/>
            <a:r>
              <a:rPr lang="zh-CN" altLang="en-US"/>
              <a:t>存储方式</a:t>
            </a:r>
            <a:endParaRPr lang="en-US" altLang="zh-CN"/>
          </a:p>
          <a:p>
            <a:pPr lvl="2"/>
            <a:r>
              <a:rPr lang="zh-CN" altLang="en-US"/>
              <a:t>数组的首地址为第一个元素的地址</a:t>
            </a:r>
            <a:endParaRPr lang="en-US" altLang="zh-CN"/>
          </a:p>
          <a:p>
            <a:pPr lvl="3"/>
            <a:r>
              <a:rPr lang="zh-CN" altLang="en-US"/>
              <a:t>数组的首地址为</a:t>
            </a:r>
            <a:r>
              <a:rPr lang="en-US" altLang="zh-CN"/>
              <a:t>0x0012ff58</a:t>
            </a:r>
            <a:endParaRPr lang="en-US" altLang="zh-CN"/>
          </a:p>
          <a:p>
            <a:pPr lvl="2"/>
            <a:r>
              <a:rPr lang="zh-CN" altLang="en-US"/>
              <a:t>根据数组的类型为数组分配相应规模的空间</a:t>
            </a:r>
            <a:endParaRPr lang="en-US" altLang="zh-CN"/>
          </a:p>
          <a:p>
            <a:pPr lvl="3"/>
            <a:r>
              <a:rPr lang="zh-CN" altLang="en-US"/>
              <a:t>整型分配</a:t>
            </a:r>
            <a:r>
              <a:rPr lang="en-US" altLang="zh-CN"/>
              <a:t>L×N</a:t>
            </a:r>
            <a:r>
              <a:rPr lang="zh-CN" altLang="en-US"/>
              <a:t>个字节，</a:t>
            </a:r>
            <a:r>
              <a:rPr lang="en-US" altLang="zh-CN"/>
              <a:t>L</a:t>
            </a:r>
            <a:r>
              <a:rPr lang="zh-CN" altLang="en-US"/>
              <a:t>为数据字长，</a:t>
            </a:r>
            <a:r>
              <a:rPr lang="en-US" altLang="zh-CN"/>
              <a:t>N</a:t>
            </a:r>
            <a:r>
              <a:rPr lang="zh-CN" altLang="en-US"/>
              <a:t>为数组的大小</a:t>
            </a:r>
            <a:endParaRPr lang="zh-CN" altLang="en-US"/>
          </a:p>
        </p:txBody>
      </p:sp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00625" y="1714500"/>
            <a:ext cx="31146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38481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一维数组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一维数组的初始化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在说明数组时，对其进行初始化</a:t>
            </a:r>
            <a:endParaRPr lang="en-US" altLang="zh-CN" dirty="0"/>
          </a:p>
          <a:p>
            <a:pPr lvl="3" eaLnBrk="1" hangingPunct="1">
              <a:defRPr/>
            </a:pPr>
            <a:r>
              <a:rPr lang="zh-CN" altLang="en-US" dirty="0"/>
              <a:t>带有</a:t>
            </a:r>
            <a:r>
              <a:rPr lang="en-US" altLang="zh-CN" dirty="0"/>
              <a:t>&lt;</a:t>
            </a:r>
            <a:r>
              <a:rPr lang="zh-CN" altLang="en-US" dirty="0"/>
              <a:t>数组元素数</a:t>
            </a:r>
            <a:r>
              <a:rPr lang="en-US" altLang="zh-CN" dirty="0"/>
              <a:t>&gt;</a:t>
            </a:r>
            <a:r>
              <a:rPr lang="zh-CN" altLang="en-US" dirty="0"/>
              <a:t>的情况</a:t>
            </a:r>
            <a:endParaRPr lang="en-US" altLang="zh-CN" dirty="0"/>
          </a:p>
          <a:p>
            <a:pPr lvl="4" eaLnBrk="1" hangingPunct="1">
              <a:defRPr/>
            </a:pPr>
            <a:r>
              <a:rPr lang="zh-CN" altLang="en-US" dirty="0"/>
              <a:t>全部赋初值</a:t>
            </a:r>
            <a:endParaRPr lang="en-US" altLang="zh-CN" dirty="0"/>
          </a:p>
          <a:p>
            <a:pPr lvl="4" eaLnBrk="1" hangingPunct="1">
              <a:defRPr/>
            </a:pPr>
            <a:r>
              <a:rPr lang="zh-CN" altLang="en-US" dirty="0"/>
              <a:t>部分赋初值，未赋值的数组元素也会被自动初始化</a:t>
            </a:r>
            <a:endParaRPr lang="en-US" altLang="zh-CN" dirty="0"/>
          </a:p>
          <a:p>
            <a:pPr lvl="5">
              <a:defRPr/>
            </a:pPr>
            <a:r>
              <a:rPr lang="zh-CN" altLang="en-US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数值型赋值为</a:t>
            </a:r>
            <a:r>
              <a:rPr lang="en-US" altLang="zh-CN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n-US" altLang="zh-CN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0.0</a:t>
            </a:r>
            <a:endParaRPr lang="en-US" altLang="zh-CN" sz="1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5">
              <a:defRPr/>
            </a:pPr>
            <a:r>
              <a:rPr lang="zh-CN" altLang="en-US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字符型赋值为空字符</a:t>
            </a:r>
            <a:r>
              <a:rPr lang="zh-CN" altLang="en-US" sz="1800" b="1" dirty="0">
                <a:solidFill>
                  <a:srgbClr val="00B050"/>
                </a:solidFill>
                <a:latin typeface="+mn-ea"/>
                <a:ea typeface="+mn-ea"/>
              </a:rPr>
              <a:t>‘</a:t>
            </a:r>
            <a:r>
              <a:rPr lang="en-US" altLang="zh-CN" sz="1800" b="1" dirty="0">
                <a:solidFill>
                  <a:srgbClr val="00B050"/>
                </a:solidFill>
                <a:latin typeface="+mn-ea"/>
                <a:ea typeface="+mn-ea"/>
              </a:rPr>
              <a:t>\0</a:t>
            </a:r>
            <a:r>
              <a:rPr lang="zh-CN" altLang="en-US" sz="1800" b="1" dirty="0">
                <a:solidFill>
                  <a:srgbClr val="00B050"/>
                </a:solidFill>
                <a:latin typeface="+mn-ea"/>
                <a:ea typeface="+mn-ea"/>
              </a:rPr>
              <a:t>’</a:t>
            </a:r>
            <a:r>
              <a:rPr lang="zh-CN" altLang="en-US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ASCII</a:t>
            </a:r>
            <a:r>
              <a:rPr lang="zh-CN" altLang="en-US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码为</a:t>
            </a:r>
            <a:r>
              <a:rPr lang="en-US" altLang="zh-CN" sz="1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1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defRPr/>
            </a:pPr>
            <a:r>
              <a:rPr lang="zh-CN" altLang="en-US" dirty="0"/>
              <a:t>不带</a:t>
            </a:r>
            <a:r>
              <a:rPr lang="en-US" altLang="zh-CN" dirty="0"/>
              <a:t>&lt;</a:t>
            </a:r>
            <a:r>
              <a:rPr lang="zh-CN" altLang="en-US" dirty="0"/>
              <a:t>数组元素数</a:t>
            </a:r>
            <a:r>
              <a:rPr lang="en-US" altLang="zh-CN" dirty="0"/>
              <a:t>&gt;</a:t>
            </a:r>
            <a:r>
              <a:rPr lang="zh-CN" altLang="en-US" dirty="0"/>
              <a:t>的情况</a:t>
            </a:r>
            <a:endParaRPr lang="zh-CN" altLang="en-US" dirty="0"/>
          </a:p>
        </p:txBody>
      </p:sp>
      <p:sp>
        <p:nvSpPr>
          <p:cNvPr id="146438" name="TextBox 5"/>
          <p:cNvSpPr txBox="1">
            <a:spLocks noChangeArrowheads="1"/>
          </p:cNvSpPr>
          <p:nvPr/>
        </p:nvSpPr>
        <p:spPr bwMode="auto">
          <a:xfrm>
            <a:off x="142875" y="5072063"/>
            <a:ext cx="8858250" cy="1384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B[3]= {4,3,2};</a:t>
            </a:r>
            <a:r>
              <a:rPr lang="en-US" altLang="zh-CN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//B[0]=4,B[1]=3,B[2]=2</a:t>
            </a:r>
            <a:endParaRPr lang="en-US" altLang="zh-CN" sz="2800" b="1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B[10] = {4,3,2};</a:t>
            </a:r>
            <a:r>
              <a:rPr lang="en-US" altLang="zh-CN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//B[3]=0,</a:t>
            </a:r>
            <a:r>
              <a:rPr lang="zh-CN" altLang="en-US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为自动赋值</a:t>
            </a:r>
            <a:endParaRPr lang="en-US" altLang="zh-CN" sz="2800" b="1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B[]={4,3,2};</a:t>
            </a:r>
            <a:r>
              <a:rPr lang="en-US" altLang="zh-CN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数组</a:t>
            </a:r>
            <a:r>
              <a:rPr lang="en-US" altLang="zh-CN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的大小为</a:t>
            </a:r>
            <a:r>
              <a:rPr lang="en-US" altLang="zh-CN" sz="28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2800" b="1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7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zh-CN" altLang="en-US"/>
              <a:t>数组元素赋值</a:t>
            </a:r>
            <a:endParaRPr lang="en-US" altLang="zh-CN"/>
          </a:p>
          <a:p>
            <a:pPr lvl="2" eaLnBrk="1" hangingPunct="1"/>
            <a:r>
              <a:rPr lang="zh-CN" altLang="en-US"/>
              <a:t>可以按照给变量赋值的方法给数组元素赋值，左值为数组元素，右值为常量或表达式。例如：</a:t>
            </a:r>
            <a:endParaRPr lang="en-US" altLang="zh-CN"/>
          </a:p>
          <a:p>
            <a:pPr lvl="2" algn="ctr" eaLnBrk="1" hangingPunct="1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a[6]=123;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zh-CN" altLang="en-US"/>
              <a:t>可以利用循环语句为数据元素赋值，以下标为循环控制变量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</a:rPr>
              <a:t>		for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( </a:t>
            </a: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 i=0;i&lt;n;i++)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	  	    a[i] = i;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 eaLnBrk="1" hangingPunct="1"/>
            <a:r>
              <a:rPr lang="zh-CN" altLang="en-US"/>
              <a:t>利用输入语句</a:t>
            </a:r>
            <a:endParaRPr lang="en-US" altLang="zh-CN"/>
          </a:p>
          <a:p>
            <a:pPr lvl="2" algn="ctr" eaLnBrk="1" hangingPunct="1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cin&gt;&gt;a[i];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58175" cy="5029200"/>
          </a:xfrm>
        </p:spPr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C00000"/>
                </a:solidFill>
              </a:rPr>
              <a:t>简单示例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a[10],i=1;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a[3]=123;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为数组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的第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个元素赋值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cin&gt;&gt;a[9];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输入数组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的第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个元素值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a[i-1]=a[3]+2*a[2*4+1];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计算下标表达式的值，用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a[3]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a[9]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参加运算，结果赋给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a[0]*/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cout&lt;&lt;"a[0]="&lt;&lt;a[0]&lt;&lt;endl;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(a[3]&gt;a[9])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数组元素进行关系运算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cout&lt;&lt;"a[3]&gt;a[9]"&lt;&lt;endl;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zh-CN" alt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950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990725"/>
          </a:xfrm>
        </p:spPr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4.31】</a:t>
            </a:r>
            <a:r>
              <a:rPr lang="zh-CN" altLang="en-US">
                <a:solidFill>
                  <a:srgbClr val="C00000"/>
                </a:solidFill>
              </a:rPr>
              <a:t>从键盘输入10个</a:t>
            </a:r>
            <a:r>
              <a:rPr lang="en-US" altLang="zh-CN">
                <a:solidFill>
                  <a:srgbClr val="C00000"/>
                </a:solidFill>
              </a:rPr>
              <a:t>int</a:t>
            </a:r>
            <a:r>
              <a:rPr lang="zh-CN" altLang="en-US">
                <a:solidFill>
                  <a:srgbClr val="C00000"/>
                </a:solidFill>
              </a:rPr>
              <a:t>型数，而后按输入的相反顺序输出它们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使用</a:t>
            </a:r>
            <a:r>
              <a:rPr lang="en-US" altLang="zh-CN"/>
              <a:t>int</a:t>
            </a:r>
            <a:r>
              <a:rPr lang="zh-CN" altLang="en-US"/>
              <a:t>型数组存放数据，通过下标变化实现</a:t>
            </a:r>
            <a:endParaRPr lang="en-US" altLang="zh-CN"/>
          </a:p>
          <a:p>
            <a:pPr lvl="2" eaLnBrk="1" hangingPunct="1"/>
            <a:endParaRPr lang="zh-CN" altLang="en-US"/>
          </a:p>
        </p:txBody>
      </p:sp>
      <p:sp>
        <p:nvSpPr>
          <p:cNvPr id="149510" name="矩形 5"/>
          <p:cNvSpPr>
            <a:spLocks noChangeArrowheads="1"/>
          </p:cNvSpPr>
          <p:nvPr/>
        </p:nvSpPr>
        <p:spPr bwMode="auto">
          <a:xfrm>
            <a:off x="285750" y="3214688"/>
            <a:ext cx="8501063" cy="3416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#</a:t>
            </a: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include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&lt;iostream.h&gt;</a:t>
            </a:r>
            <a:endParaRPr lang="en-US" altLang="zh-CN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using namespace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std;</a:t>
            </a:r>
            <a:endParaRPr lang="en-US" altLang="zh-CN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void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main(){</a:t>
            </a:r>
            <a:endParaRPr lang="en-US" altLang="zh-CN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int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a[10],i; 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说明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int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型一维数组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</a:t>
            </a:r>
            <a:endParaRPr lang="en-US" altLang="zh-CN" sz="20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cout&lt;&lt;"Input 10 integers:"&lt;&lt;endl; </a:t>
            </a:r>
            <a:endParaRPr lang="zh-CN" altLang="en-US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for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(i=0; i&lt;10; i++)</a:t>
            </a: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	  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下标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从0起，递增变化到9</a:t>
            </a:r>
            <a:endParaRPr lang="zh-CN" altLang="en-US" sz="20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cin&gt;&gt;a[i]; 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输入10个整数，依次放入各下标变量中</a:t>
            </a:r>
            <a:endParaRPr lang="en-US" altLang="zh-CN" sz="20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cout&lt;&lt;"---- The result ----"&lt;&lt;endl; </a:t>
            </a:r>
            <a:endParaRPr lang="zh-CN" altLang="en-US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for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(i=9; i&gt;=0; i--)   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下标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从9起，递减变化到0</a:t>
            </a:r>
            <a:endParaRPr lang="zh-CN" altLang="en-US" sz="20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	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cout&lt;&lt;a[i]&lt;&lt;" "; 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按反序输出</a:t>
            </a: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</a:t>
            </a:r>
            <a:r>
              <a:rPr lang="zh-CN" altLang="en-US" sz="20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数组中的各元素</a:t>
            </a:r>
            <a:endParaRPr lang="en-US" altLang="zh-CN" sz="20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cout&lt;&lt;endl; </a:t>
            </a: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return </a:t>
            </a: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0;</a:t>
            </a:r>
            <a:endParaRPr lang="en-US" altLang="zh-CN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}</a:t>
            </a:r>
            <a:endParaRPr lang="en-US" altLang="zh-CN" sz="20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05413"/>
          </a:xfrm>
        </p:spPr>
        <p:txBody>
          <a:bodyPr/>
          <a:lstStyle/>
          <a:p>
            <a:pPr eaLnBrk="1" hangingPunct="1"/>
            <a:r>
              <a:rPr lang="zh-CN" altLang="en-US"/>
              <a:t>一维数组</a:t>
            </a:r>
            <a:endParaRPr lang="en-US" altLang="zh-CN"/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4.32】</a:t>
            </a:r>
            <a:r>
              <a:rPr lang="zh-CN" altLang="en-US">
                <a:solidFill>
                  <a:srgbClr val="C00000"/>
                </a:solidFill>
              </a:rPr>
              <a:t>使用</a:t>
            </a:r>
            <a:r>
              <a:rPr lang="en-US" altLang="zh-CN">
                <a:solidFill>
                  <a:srgbClr val="C00000"/>
                </a:solidFill>
              </a:rPr>
              <a:t>Eratosthenes </a:t>
            </a:r>
            <a:r>
              <a:rPr lang="zh-CN" altLang="en-US">
                <a:solidFill>
                  <a:srgbClr val="C00000"/>
                </a:solidFill>
              </a:rPr>
              <a:t>筛法求1000以内的素数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将1～1000放在</a:t>
            </a:r>
            <a:r>
              <a:rPr lang="zh-CN" altLang="en-US">
                <a:solidFill>
                  <a:srgbClr val="00B050"/>
                </a:solidFill>
              </a:rPr>
              <a:t>数组</a:t>
            </a:r>
            <a:r>
              <a:rPr lang="en-US" altLang="zh-CN">
                <a:solidFill>
                  <a:srgbClr val="00B050"/>
                </a:solidFill>
              </a:rPr>
              <a:t>sieve</a:t>
            </a:r>
            <a:r>
              <a:rPr lang="en-US" altLang="zh-CN"/>
              <a:t>（</a:t>
            </a:r>
            <a:r>
              <a:rPr lang="zh-CN" altLang="en-US"/>
              <a:t>看成是一个筛子）中</a:t>
            </a:r>
            <a:endParaRPr lang="en-US" altLang="zh-CN"/>
          </a:p>
          <a:p>
            <a:pPr lvl="2" eaLnBrk="1" hangingPunct="1"/>
            <a:r>
              <a:rPr lang="zh-CN" altLang="en-US"/>
              <a:t>首先“留下”2（第一个素数），而后把2的倍数统统从数组</a:t>
            </a:r>
            <a:r>
              <a:rPr lang="en-US" altLang="zh-CN"/>
              <a:t>sieve（</a:t>
            </a:r>
            <a:r>
              <a:rPr lang="zh-CN" altLang="en-US"/>
              <a:t>筛子）中删去</a:t>
            </a:r>
            <a:endParaRPr lang="en-US" altLang="zh-CN"/>
          </a:p>
          <a:p>
            <a:pPr lvl="2" eaLnBrk="1" hangingPunct="1"/>
            <a:r>
              <a:rPr lang="zh-CN" altLang="en-US"/>
              <a:t>再“留下”3（第二个素数），而后把3的倍数统统从数组</a:t>
            </a:r>
            <a:r>
              <a:rPr lang="en-US" altLang="zh-CN"/>
              <a:t>sieve</a:t>
            </a:r>
            <a:r>
              <a:rPr lang="zh-CN" altLang="en-US"/>
              <a:t>中删去； </a:t>
            </a:r>
            <a:endParaRPr lang="en-US" altLang="zh-CN"/>
          </a:p>
          <a:p>
            <a:pPr lvl="2" eaLnBrk="1" hangingPunct="1"/>
            <a:r>
              <a:rPr lang="zh-CN" altLang="en-US"/>
              <a:t>再往下是5,7,...。好象是一个筛子，把不需要的数逐步筛去，留下的正是所需要的各素数</a:t>
            </a:r>
            <a:endParaRPr lang="en-US" altLang="zh-CN"/>
          </a:p>
          <a:p>
            <a:pPr lvl="2" eaLnBrk="1" hangingPunct="1"/>
            <a:r>
              <a:rPr lang="zh-CN" altLang="en-US">
                <a:solidFill>
                  <a:srgbClr val="0000FF"/>
                </a:solidFill>
              </a:rPr>
              <a:t>所谓</a:t>
            </a:r>
            <a:r>
              <a:rPr lang="zh-CN" altLang="en-US">
                <a:solidFill>
                  <a:schemeClr val="hlink"/>
                </a:solidFill>
              </a:rPr>
              <a:t>将某数</a:t>
            </a:r>
            <a:r>
              <a:rPr lang="zh-CN" altLang="en-US">
                <a:solidFill>
                  <a:srgbClr val="0000FF"/>
                </a:solidFill>
              </a:rPr>
              <a:t>从数组</a:t>
            </a:r>
            <a:r>
              <a:rPr lang="en-US" altLang="zh-CN">
                <a:solidFill>
                  <a:srgbClr val="0000FF"/>
                </a:solidFill>
              </a:rPr>
              <a:t>sieve（</a:t>
            </a:r>
            <a:r>
              <a:rPr lang="zh-CN" altLang="en-US">
                <a:solidFill>
                  <a:srgbClr val="0000FF"/>
                </a:solidFill>
              </a:rPr>
              <a:t>筛子）中</a:t>
            </a:r>
            <a:r>
              <a:rPr lang="zh-CN" altLang="en-US">
                <a:solidFill>
                  <a:schemeClr val="hlink"/>
                </a:solidFill>
              </a:rPr>
              <a:t>删去</a:t>
            </a:r>
            <a:r>
              <a:rPr lang="zh-CN" altLang="en-US">
                <a:solidFill>
                  <a:srgbClr val="0000FF"/>
                </a:solidFill>
              </a:rPr>
              <a:t>，本程序实现时，是将数组中的该数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“</a:t>
            </a:r>
            <a:r>
              <a:rPr lang="zh-CN" altLang="en-US">
                <a:solidFill>
                  <a:schemeClr val="hlink"/>
                </a:solidFill>
              </a:rPr>
              <a:t>改写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”</a:t>
            </a:r>
            <a:r>
              <a:rPr lang="zh-CN" altLang="en-US">
                <a:solidFill>
                  <a:srgbClr val="0000FF"/>
                </a:solidFill>
              </a:rPr>
              <a:t>为</a:t>
            </a:r>
            <a:r>
              <a:rPr lang="zh-CN" altLang="en-US">
                <a:solidFill>
                  <a:srgbClr val="C00000"/>
                </a:solidFill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95736" y="2708920"/>
            <a:ext cx="4762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1225" y="2700338"/>
            <a:ext cx="47815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9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0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1339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&lt;iomanip&gt;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n=1000;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sieve[n+1];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筛子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sieve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j=1; j&lt;n+1; j++) 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sieve[j]=j;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放入数据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i=1, count=0;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(i&lt;n) 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i++;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(sieve[i]!=0 ){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尚在筛中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cout&lt;&lt;setw(5)&lt;&lt;sieve[i];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	   count++;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(count%15==0)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cout&lt;&lt;endl;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每行15数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k=i;k&lt;n+1; k+=i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消去倍数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sieve[k]=0;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  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//if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		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while 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cout&lt;&lt;endl;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	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//main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具有</a:t>
            </a:r>
            <a:r>
              <a:rPr lang="zh-CN" altLang="en-US">
                <a:solidFill>
                  <a:schemeClr val="hlink"/>
                </a:solidFill>
              </a:rPr>
              <a:t>两个下标</a:t>
            </a:r>
            <a:r>
              <a:rPr lang="zh-CN" altLang="en-US"/>
              <a:t>的数组叫做</a:t>
            </a:r>
            <a:r>
              <a:rPr lang="zh-CN" altLang="en-US">
                <a:solidFill>
                  <a:schemeClr val="hlink"/>
                </a:solidFill>
              </a:rPr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二维数组经常用来表示</a:t>
            </a:r>
            <a:r>
              <a:rPr lang="zh-CN" altLang="en-US">
                <a:solidFill>
                  <a:schemeClr val="hlink"/>
                </a:solidFill>
              </a:rPr>
              <a:t>按行和列格式</a:t>
            </a:r>
            <a:r>
              <a:rPr lang="zh-CN" altLang="en-US"/>
              <a:t>来存放信息的</a:t>
            </a:r>
            <a:r>
              <a:rPr lang="zh-CN" altLang="en-US">
                <a:solidFill>
                  <a:schemeClr val="hlink"/>
                </a:solidFill>
              </a:rPr>
              <a:t>数据表</a:t>
            </a:r>
            <a:endParaRPr lang="en-US" altLang="zh-CN"/>
          </a:p>
          <a:p>
            <a:pPr lvl="1" eaLnBrk="1" hangingPunct="1"/>
            <a:r>
              <a:rPr lang="zh-CN" altLang="en-US"/>
              <a:t>要区分表中某个特定的元素，必须指定两个下标。</a:t>
            </a:r>
            <a:r>
              <a:rPr lang="zh-CN" altLang="en-US">
                <a:solidFill>
                  <a:schemeClr val="hlink"/>
                </a:solidFill>
              </a:rPr>
              <a:t>第一个下标</a:t>
            </a:r>
            <a:r>
              <a:rPr lang="zh-CN" altLang="en-US"/>
              <a:t>表示该元素所在的</a:t>
            </a:r>
            <a:r>
              <a:rPr lang="zh-CN" altLang="en-US">
                <a:solidFill>
                  <a:schemeClr val="hlink"/>
                </a:solidFill>
              </a:rPr>
              <a:t>行</a:t>
            </a:r>
            <a:r>
              <a:rPr lang="zh-CN" altLang="en-US"/>
              <a:t>，而</a:t>
            </a:r>
            <a:r>
              <a:rPr lang="zh-CN" altLang="en-US">
                <a:solidFill>
                  <a:schemeClr val="hlink"/>
                </a:solidFill>
              </a:rPr>
              <a:t>第二个下标</a:t>
            </a:r>
            <a:r>
              <a:rPr lang="zh-CN" altLang="en-US"/>
              <a:t>则表示该元素所在的</a:t>
            </a:r>
            <a:r>
              <a:rPr lang="zh-CN" altLang="en-US">
                <a:solidFill>
                  <a:schemeClr val="hlink"/>
                </a:solidFill>
              </a:rPr>
              <a:t>列</a:t>
            </a:r>
            <a:endParaRPr lang="en-US" altLang="zh-CN">
              <a:solidFill>
                <a:schemeClr val="hlink"/>
              </a:solidFill>
            </a:endParaRPr>
          </a:p>
          <a:p>
            <a:pPr lvl="1" eaLnBrk="1" hangingPunct="1"/>
            <a:r>
              <a:rPr lang="zh-CN" altLang="en-US"/>
              <a:t>说明二维数组</a:t>
            </a:r>
            <a:endParaRPr lang="en-US" altLang="zh-CN"/>
          </a:p>
          <a:p>
            <a:pPr lvl="2" eaLnBrk="1" hangingPunct="1"/>
            <a:r>
              <a:rPr lang="zh-CN" altLang="en-US"/>
              <a:t>&lt;类型名&gt; &lt;数组名&gt; [ &lt;行数&gt; ] [ &lt;列数&gt; ]</a:t>
            </a:r>
            <a:endParaRPr lang="en-US" altLang="zh-CN"/>
          </a:p>
          <a:p>
            <a:pPr lvl="3" eaLnBrk="1" hangingPunct="1"/>
            <a:r>
              <a:rPr lang="en-US" altLang="zh-CN"/>
              <a:t>&lt;</a:t>
            </a:r>
            <a:r>
              <a:rPr lang="zh-CN" altLang="en-US"/>
              <a:t>行数</a:t>
            </a:r>
            <a:r>
              <a:rPr lang="en-US" altLang="zh-CN"/>
              <a:t>&gt;</a:t>
            </a:r>
            <a:r>
              <a:rPr lang="zh-CN" altLang="en-US"/>
              <a:t>与</a:t>
            </a:r>
            <a:r>
              <a:rPr lang="en-US" altLang="zh-CN"/>
              <a:t>&lt;</a:t>
            </a:r>
            <a:r>
              <a:rPr lang="zh-CN" altLang="en-US"/>
              <a:t>列数</a:t>
            </a:r>
            <a:r>
              <a:rPr lang="en-US" altLang="zh-CN"/>
              <a:t>&gt;</a:t>
            </a:r>
            <a:r>
              <a:rPr lang="zh-CN" altLang="en-US"/>
              <a:t>是具有整数值的表达式，指出数组每一维的元素个数，即每一维的大小</a:t>
            </a:r>
            <a:endParaRPr lang="zh-CN" alt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4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二维数组示例</a:t>
            </a:r>
            <a:endParaRPr lang="en-US" altLang="zh-CN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a[3][4]</a:t>
            </a:r>
            <a:endParaRPr lang="en-US" altLang="zh-CN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zh-CN" altLang="en-US"/>
              <a:t>可以看做</a:t>
            </a:r>
            <a:r>
              <a:rPr lang="en-US" altLang="zh-CN"/>
              <a:t>3</a:t>
            </a:r>
            <a:r>
              <a:rPr lang="zh-CN" altLang="en-US"/>
              <a:t>行</a:t>
            </a:r>
            <a:r>
              <a:rPr lang="en-US" altLang="zh-CN"/>
              <a:t>4</a:t>
            </a:r>
            <a:r>
              <a:rPr lang="zh-CN" altLang="en-US"/>
              <a:t>列的矩阵</a:t>
            </a:r>
            <a:endParaRPr lang="en-US" altLang="zh-CN"/>
          </a:p>
          <a:p>
            <a:pPr lvl="1" eaLnBrk="1" hangingPunct="1"/>
            <a:endParaRPr lang="en-US" altLang="zh-CN"/>
          </a:p>
          <a:p>
            <a:pPr lvl="1" eaLnBrk="1" hangingPunct="1"/>
            <a:endParaRPr lang="en-US" altLang="zh-CN"/>
          </a:p>
          <a:p>
            <a:pPr lvl="1" eaLnBrk="1" hangingPunct="1"/>
            <a:endParaRPr lang="en-US" altLang="zh-CN"/>
          </a:p>
          <a:p>
            <a:pPr lvl="1" eaLnBrk="1" hangingPunct="1"/>
            <a:r>
              <a:rPr lang="zh-CN" altLang="en-US"/>
              <a:t>可以看做是一个具有</a:t>
            </a:r>
            <a:r>
              <a:rPr lang="en-US" altLang="zh-CN"/>
              <a:t>3</a:t>
            </a:r>
            <a:r>
              <a:rPr lang="zh-CN" altLang="en-US"/>
              <a:t>个元素的一维数组</a:t>
            </a:r>
            <a:endParaRPr lang="en-US" altLang="zh-CN"/>
          </a:p>
          <a:p>
            <a:pPr lvl="2" eaLnBrk="1" hangingPunct="1"/>
            <a:r>
              <a:rPr lang="zh-CN" altLang="en-US"/>
              <a:t>每一个元素是一个包含</a:t>
            </a:r>
            <a:r>
              <a:rPr lang="en-US" altLang="zh-CN"/>
              <a:t>4</a:t>
            </a:r>
            <a:r>
              <a:rPr lang="zh-CN" altLang="en-US"/>
              <a:t>个元素的一维数组</a:t>
            </a:r>
            <a:endParaRPr lang="en-US" altLang="zh-CN"/>
          </a:p>
          <a:p>
            <a:pPr lvl="3" eaLnBrk="1" hangingPunct="1"/>
            <a:r>
              <a:rPr lang="zh-CN" altLang="en-US"/>
              <a:t>该数组由</a:t>
            </a:r>
            <a:r>
              <a:rPr lang="en-US" altLang="zh-CN"/>
              <a:t>4</a:t>
            </a:r>
            <a:r>
              <a:rPr lang="zh-CN" altLang="en-US"/>
              <a:t>个整数构成</a:t>
            </a:r>
            <a:endParaRPr lang="en-US" altLang="zh-CN"/>
          </a:p>
        </p:txBody>
      </p:sp>
      <p:pic>
        <p:nvPicPr>
          <p:cNvPr id="154630" name="Picture 3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714750" y="3429000"/>
            <a:ext cx="20288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5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存储方式</a:t>
            </a:r>
            <a:endParaRPr lang="en-US" altLang="zh-CN"/>
          </a:p>
          <a:p>
            <a:pPr lvl="2" eaLnBrk="1" hangingPunct="1"/>
            <a:r>
              <a:rPr lang="zh-CN" altLang="en-US"/>
              <a:t>转换为一维方式存储在内存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a[0][0] a[0][1] a[0][2] a[0][3] a[1][0] a[1][1] a[1][2] a[1][3] a[2][0] a[2][1] a[2][2] a[2][3]</a:t>
            </a:r>
            <a:endParaRPr lang="en-US" altLang="zh-CN"/>
          </a:p>
          <a:p>
            <a:pPr lvl="2" eaLnBrk="1" hangingPunct="1"/>
            <a:r>
              <a:rPr lang="zh-CN" altLang="en-US"/>
              <a:t>从低维度（即后面的维度）开始排列</a:t>
            </a:r>
            <a:endParaRPr lang="en-US" altLang="zh-CN"/>
          </a:p>
          <a:p>
            <a:pPr lvl="2" eaLnBrk="1" hangingPunct="1"/>
            <a:r>
              <a:rPr lang="zh-CN" altLang="en-US"/>
              <a:t>数组的首地址为第一个元素，即</a:t>
            </a: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</a:rPr>
              <a:t>a[0][0]</a:t>
            </a:r>
            <a:r>
              <a:rPr lang="zh-CN" altLang="en-US"/>
              <a:t>的地址</a:t>
            </a:r>
            <a:endParaRPr lang="en-US" altLang="zh-CN"/>
          </a:p>
          <a:p>
            <a:pPr lvl="2" eaLnBrk="1" hangingPunct="1"/>
            <a:r>
              <a:rPr lang="zh-CN" altLang="en-US"/>
              <a:t>分配空间为</a:t>
            </a:r>
            <a:r>
              <a:rPr lang="en-US" altLang="zh-CN"/>
              <a:t>L×N1×N2</a:t>
            </a:r>
            <a:r>
              <a:rPr lang="zh-CN" altLang="en-US"/>
              <a:t>，</a:t>
            </a:r>
            <a:r>
              <a:rPr lang="en-US" altLang="zh-CN"/>
              <a:t>L</a:t>
            </a:r>
            <a:r>
              <a:rPr lang="zh-CN" altLang="en-US"/>
              <a:t>为数据的字长，</a:t>
            </a:r>
            <a:r>
              <a:rPr lang="en-US" altLang="zh-CN"/>
              <a:t>N1</a:t>
            </a:r>
            <a:r>
              <a:rPr lang="zh-CN" altLang="en-US"/>
              <a:t>为第一维的大小，</a:t>
            </a:r>
            <a:r>
              <a:rPr lang="en-US" altLang="zh-CN"/>
              <a:t>N2</a:t>
            </a:r>
            <a:r>
              <a:rPr lang="zh-CN" altLang="en-US"/>
              <a:t>为第二维的大小</a:t>
            </a:r>
            <a:endParaRPr lang="en-US" altLang="zh-CN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667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3686175" cy="5029200"/>
          </a:xfrm>
        </p:spPr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内存空间分配</a:t>
            </a:r>
            <a:endParaRPr lang="en-US" altLang="zh-CN"/>
          </a:p>
          <a:p>
            <a:pPr lvl="2" eaLnBrk="1" hangingPunct="1"/>
            <a:r>
              <a:rPr lang="zh-CN" altLang="en-US"/>
              <a:t>连续的内存地址</a:t>
            </a:r>
            <a:endParaRPr lang="en-US" altLang="zh-CN"/>
          </a:p>
          <a:p>
            <a:pPr lvl="1" eaLnBrk="1" hangingPunct="1"/>
            <a:r>
              <a:rPr lang="zh-CN" altLang="en-US"/>
              <a:t>按照一维数组的方式分配存储空间</a:t>
            </a:r>
            <a:endParaRPr lang="en-US" altLang="zh-CN"/>
          </a:p>
          <a:p>
            <a:pPr lvl="1" eaLnBrk="1" hangingPunct="1"/>
            <a:r>
              <a:rPr lang="zh-CN" altLang="en-US"/>
              <a:t>内存地址由第一个元素向上递增</a:t>
            </a:r>
            <a:endParaRPr lang="zh-CN" altLang="en-US"/>
          </a:p>
        </p:txBody>
      </p:sp>
      <p:pic>
        <p:nvPicPr>
          <p:cNvPr id="156678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429125" y="1285875"/>
            <a:ext cx="3114675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7699" name="内容占位符 2"/>
          <p:cNvSpPr>
            <a:spLocks noGrp="1"/>
          </p:cNvSpPr>
          <p:nvPr>
            <p:ph idx="1"/>
          </p:nvPr>
        </p:nvSpPr>
        <p:spPr>
          <a:xfrm>
            <a:off x="214313" y="1295400"/>
            <a:ext cx="8643937" cy="5029200"/>
          </a:xfrm>
        </p:spPr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二维数组的初始化</a:t>
            </a:r>
            <a:endParaRPr lang="en-US" altLang="zh-CN"/>
          </a:p>
          <a:p>
            <a:pPr lvl="2" eaLnBrk="1" hangingPunct="1"/>
            <a:r>
              <a:rPr lang="zh-CN" altLang="en-US"/>
              <a:t>嵌套一维数组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20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a[3][4]={{1,3,5,7},{2,4,6,8},{3,5,7,11}};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a[3][4]={{1,3,5,7},{2},{3,5}};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 eaLnBrk="1" hangingPunct="1"/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a[1][1]a[1][2]a[1][3]a[2][2]a[2][3]</a:t>
            </a:r>
            <a:r>
              <a:rPr lang="zh-CN" altLang="en-US" sz="2000"/>
              <a:t>初始化为</a:t>
            </a:r>
            <a:r>
              <a:rPr lang="en-US" altLang="zh-CN" sz="2000">
                <a:solidFill>
                  <a:srgbClr val="C00000"/>
                </a:solidFill>
              </a:rPr>
              <a:t>0</a:t>
            </a:r>
            <a:endParaRPr lang="en-US" altLang="zh-CN" sz="200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按数组元素存储顺序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200">
                <a:solidFill>
                  <a:srgbClr val="0000CC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a[3][4]={</a:t>
            </a:r>
            <a:r>
              <a:rPr lang="en-US" altLang="zh-CN" sz="2200">
                <a:solidFill>
                  <a:srgbClr val="C00000"/>
                </a:solidFill>
                <a:latin typeface="Courier New" panose="02070309020205020404" pitchFamily="49" charset="0"/>
              </a:rPr>
              <a:t>1,3,5,7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</a:rPr>
              <a:t>2,4,6,8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,3,5,7,11};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200">
                <a:solidFill>
                  <a:srgbClr val="0000CC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a[3][4]={</a:t>
            </a:r>
            <a:r>
              <a:rPr lang="en-US" altLang="zh-CN" sz="2200">
                <a:solidFill>
                  <a:srgbClr val="C00000"/>
                </a:solidFill>
                <a:latin typeface="Courier New" panose="02070309020205020404" pitchFamily="49" charset="0"/>
              </a:rPr>
              <a:t>1,3,5,7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</a:rPr>
              <a:t>2,4,6,8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,3};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/>
            <a:r>
              <a:rPr lang="en-US" altLang="zh-CN" sz="2000">
                <a:latin typeface="Courier New" panose="02070309020205020404" pitchFamily="49" charset="0"/>
              </a:rPr>
              <a:t>a[2][1]a[2][2]a[2][3]</a:t>
            </a:r>
            <a:r>
              <a:rPr lang="zh-CN" altLang="en-US" sz="2000"/>
              <a:t>初始化为</a:t>
            </a:r>
            <a:r>
              <a:rPr lang="en-US" altLang="zh-CN" sz="2000">
                <a:solidFill>
                  <a:srgbClr val="C00000"/>
                </a:solidFill>
              </a:rPr>
              <a:t>0</a:t>
            </a:r>
            <a:endParaRPr lang="en-US" altLang="zh-CN" sz="200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8723" name="内容占位符 2"/>
          <p:cNvSpPr>
            <a:spLocks noGrp="1"/>
          </p:cNvSpPr>
          <p:nvPr>
            <p:ph idx="1"/>
          </p:nvPr>
        </p:nvSpPr>
        <p:spPr>
          <a:xfrm>
            <a:off x="214313" y="1295400"/>
            <a:ext cx="8786812" cy="5029200"/>
          </a:xfrm>
        </p:spPr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二维数组的初始化</a:t>
            </a:r>
            <a:endParaRPr lang="en-US" altLang="zh-CN"/>
          </a:p>
          <a:p>
            <a:pPr lvl="2" eaLnBrk="1" hangingPunct="1"/>
            <a:r>
              <a:rPr lang="zh-CN" altLang="en-US"/>
              <a:t>对部分元素赋初值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200">
                <a:solidFill>
                  <a:srgbClr val="0000CC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a[3][4]={{1,3},{2,4},{3,5,7}};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/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a[0][2]a[0][3]a[1][2]a[1][3]a[2][3]</a:t>
            </a:r>
            <a:r>
              <a:rPr lang="zh-CN" altLang="en-US" sz="2000"/>
              <a:t>初始化为</a:t>
            </a:r>
            <a:r>
              <a:rPr lang="en-US" altLang="zh-CN" sz="2000">
                <a:solidFill>
                  <a:srgbClr val="C00000"/>
                </a:solidFill>
              </a:rPr>
              <a:t>0</a:t>
            </a:r>
            <a:endParaRPr lang="en-US" altLang="zh-CN" sz="200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省略最高维的初始化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</a:rPr>
              <a:t>int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a[][4]={</a:t>
            </a:r>
            <a:r>
              <a:rPr lang="en-US" altLang="zh-CN" sz="2200">
                <a:solidFill>
                  <a:srgbClr val="C00000"/>
                </a:solidFill>
                <a:latin typeface="Courier New" panose="02070309020205020404" pitchFamily="49" charset="0"/>
              </a:rPr>
              <a:t>1,3,5,7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</a:rPr>
              <a:t>2,4,6,8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,3,5,7,11};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/>
            <a:r>
              <a:rPr lang="zh-CN" altLang="en-US"/>
              <a:t>最高维</a:t>
            </a:r>
            <a:r>
              <a:rPr lang="en-US" altLang="zh-CN"/>
              <a:t>=</a:t>
            </a:r>
            <a:r>
              <a:rPr lang="zh-CN" altLang="en-US"/>
              <a:t>元素数</a:t>
            </a:r>
            <a:r>
              <a:rPr lang="en-US" altLang="zh-CN"/>
              <a:t>/</a:t>
            </a:r>
            <a:r>
              <a:rPr lang="zh-CN" altLang="en-US"/>
              <a:t>低维数，即最高维为</a:t>
            </a:r>
            <a:r>
              <a:rPr lang="en-US" altLang="zh-CN"/>
              <a:t>12/4=3</a:t>
            </a:r>
            <a:endParaRPr lang="en-US" altLang="zh-CN"/>
          </a:p>
          <a:p>
            <a:pPr lvl="2" eaLnBrk="1" hangingPunct="1"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</a:rPr>
              <a:t>int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</a:rPr>
              <a:t>a[][4]={{1,3},{2,4},{3,5,7}};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/>
            <a:r>
              <a:rPr lang="zh-CN" altLang="en-US"/>
              <a:t>最高维为</a:t>
            </a:r>
            <a:r>
              <a:rPr lang="en-US" altLang="zh-CN"/>
              <a:t>3</a:t>
            </a:r>
            <a:r>
              <a:rPr lang="zh-CN" altLang="en-US"/>
              <a:t>，每一维为进行显式初始化的元素自动初始化为</a:t>
            </a:r>
            <a:r>
              <a:rPr lang="en-US" altLang="zh-CN"/>
              <a:t>0</a:t>
            </a:r>
            <a:endParaRPr lang="en-US" altLang="zh-CN"/>
          </a:p>
          <a:p>
            <a:pPr lvl="2" eaLnBrk="1" hangingPunct="1"/>
            <a:endParaRPr lang="en-US" altLang="zh-CN"/>
          </a:p>
          <a:p>
            <a:pPr lvl="2" eaLnBrk="1" hangingPunct="1">
              <a:buFontTx/>
              <a:buNone/>
            </a:pP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9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二维数组元素的访问</a:t>
            </a:r>
            <a:endParaRPr lang="en-US" altLang="zh-CN"/>
          </a:p>
          <a:p>
            <a:pPr lvl="2" eaLnBrk="1" hangingPunct="1"/>
            <a:r>
              <a:rPr lang="zh-CN" altLang="en-US"/>
              <a:t>访问二维数组的元素必须同时指明每一个维度的下标值</a:t>
            </a:r>
            <a:endParaRPr lang="zh-CN" altLang="en-US"/>
          </a:p>
          <a:p>
            <a:pPr lvl="3" eaLnBrk="1" hangingPunct="1"/>
            <a:r>
              <a:rPr lang="zh-CN" altLang="en-US"/>
              <a:t>根据第一个下标得到该“行”元素的</a:t>
            </a:r>
            <a:r>
              <a:rPr lang="zh-CN" altLang="en-US">
                <a:solidFill>
                  <a:srgbClr val="FF0000"/>
                </a:solidFill>
              </a:rPr>
              <a:t>首地址</a:t>
            </a:r>
            <a:endParaRPr lang="en-US" altLang="zh-CN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/>
              <a:t>根据第二个下标得到该元素对于首地址的</a:t>
            </a:r>
            <a:r>
              <a:rPr lang="zh-CN" altLang="en-US">
                <a:solidFill>
                  <a:srgbClr val="FF0000"/>
                </a:solidFill>
              </a:rPr>
              <a:t>偏移量</a:t>
            </a:r>
            <a:endParaRPr lang="en-US" altLang="zh-CN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/>
              <a:t>例如，访问元素</a:t>
            </a: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a[1][2]</a:t>
            </a:r>
            <a:endParaRPr lang="en-US" altLang="zh-CN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 eaLnBrk="1" hangingPunct="1"/>
            <a:r>
              <a:rPr lang="zh-CN" altLang="en-US"/>
              <a:t>找到</a:t>
            </a:r>
            <a:r>
              <a:rPr lang="en-US" altLang="zh-CN">
                <a:latin typeface="Courier New" panose="02070309020205020404" pitchFamily="49" charset="0"/>
              </a:rPr>
              <a:t>a[1]</a:t>
            </a:r>
            <a:r>
              <a:rPr lang="zh-CN" altLang="en-US"/>
              <a:t>的首地址（即</a:t>
            </a:r>
            <a:r>
              <a:rPr lang="en-US" altLang="zh-CN">
                <a:latin typeface="Courier New" panose="02070309020205020404" pitchFamily="49" charset="0"/>
              </a:rPr>
              <a:t>a[1][0]</a:t>
            </a:r>
            <a:r>
              <a:rPr lang="zh-CN" altLang="en-US"/>
              <a:t>的地址）</a:t>
            </a:r>
            <a:endParaRPr lang="en-US" altLang="zh-CN"/>
          </a:p>
          <a:p>
            <a:pPr lvl="4" eaLnBrk="1" hangingPunct="1"/>
            <a:r>
              <a:rPr lang="en-US" altLang="zh-CN"/>
              <a:t>0x0012ff68</a:t>
            </a:r>
            <a:endParaRPr lang="en-US" altLang="zh-CN"/>
          </a:p>
          <a:p>
            <a:pPr lvl="3" eaLnBrk="1" hangingPunct="1"/>
            <a:r>
              <a:rPr lang="zh-CN" altLang="en-US"/>
              <a:t>根据偏移量</a:t>
            </a:r>
            <a:r>
              <a:rPr lang="en-US" altLang="zh-CN"/>
              <a:t>2</a:t>
            </a:r>
            <a:r>
              <a:rPr lang="zh-CN" altLang="en-US"/>
              <a:t>，在首地址的基础上加</a:t>
            </a:r>
            <a:r>
              <a:rPr lang="en-US" altLang="zh-CN"/>
              <a:t>2×4=8</a:t>
            </a:r>
            <a:r>
              <a:rPr lang="zh-CN" altLang="en-US"/>
              <a:t>个字节（整型字长为</a:t>
            </a:r>
            <a:r>
              <a:rPr lang="en-US" altLang="zh-CN"/>
              <a:t>4</a:t>
            </a:r>
            <a:r>
              <a:rPr lang="zh-CN" altLang="en-US"/>
              <a:t>个字节），得到</a:t>
            </a:r>
            <a:r>
              <a:rPr lang="en-US" altLang="zh-CN">
                <a:latin typeface="Courier New" panose="02070309020205020404" pitchFamily="49" charset="0"/>
              </a:rPr>
              <a:t>a[1][2]</a:t>
            </a:r>
            <a:r>
              <a:rPr lang="zh-CN" altLang="en-US"/>
              <a:t>的地址</a:t>
            </a:r>
            <a:endParaRPr lang="en-US" altLang="zh-CN"/>
          </a:p>
          <a:p>
            <a:pPr lvl="4" eaLnBrk="1" hangingPunct="1"/>
            <a:r>
              <a:rPr lang="en-US" altLang="zh-CN"/>
              <a:t>0x0012ff70</a:t>
            </a:r>
            <a:endParaRPr lang="zh-CN" alt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二维数组</a:t>
            </a:r>
            <a:endParaRPr lang="en-US" altLang="zh-CN" dirty="0"/>
          </a:p>
          <a:p>
            <a:pPr lvl="1"/>
            <a:r>
              <a:rPr lang="zh-CN" altLang="en-US"/>
              <a:t>二维数组元素</a:t>
            </a:r>
            <a:r>
              <a:rPr lang="zh-CN" altLang="en-US" dirty="0"/>
              <a:t>的访问</a:t>
            </a:r>
            <a:endParaRPr lang="en-US" altLang="zh-CN" dirty="0"/>
          </a:p>
          <a:p>
            <a:pPr lvl="2"/>
            <a:r>
              <a:rPr lang="zh-CN" altLang="en-US" dirty="0"/>
              <a:t>二重循环</a:t>
            </a:r>
            <a:endParaRPr lang="en-US" altLang="zh-CN" dirty="0"/>
          </a:p>
          <a:p>
            <a:pPr lvl="3"/>
            <a:r>
              <a:rPr lang="zh-CN" altLang="en-US" dirty="0"/>
              <a:t>内层循环对二维数组元素进行操作</a:t>
            </a:r>
            <a:endParaRPr lang="en-US" altLang="zh-CN" dirty="0"/>
          </a:p>
          <a:p>
            <a:pPr lvl="3"/>
            <a:r>
              <a:rPr lang="zh-CN" altLang="en-US" dirty="0"/>
              <a:t>外层循环对二维数组的每一行进行操作</a:t>
            </a:r>
            <a:endParaRPr lang="en-US" altLang="zh-CN" dirty="0"/>
          </a:p>
          <a:p>
            <a:pPr lvl="2"/>
            <a:r>
              <a:rPr lang="zh-CN" altLang="en-US" dirty="0"/>
              <a:t>例如，按矩阵形式显示二维数组元素（</a:t>
            </a:r>
            <a:r>
              <a:rPr lang="en-US" altLang="zh-CN" dirty="0" err="1"/>
              <a:t>m×n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j=0;j&lt;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(6)&lt;&lt;a[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][j];</a:t>
            </a:r>
            <a:r>
              <a:rPr lang="en-US" altLang="zh-CN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内循环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外循环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77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133475"/>
          </a:xfrm>
        </p:spPr>
        <p:txBody>
          <a:bodyPr/>
          <a:lstStyle/>
          <a:p>
            <a:pPr eaLnBrk="1" hangingPunct="1"/>
            <a:r>
              <a:rPr lang="zh-CN" altLang="en-US"/>
              <a:t>二维数组</a:t>
            </a:r>
            <a:endParaRPr lang="en-US" altLang="zh-CN"/>
          </a:p>
          <a:p>
            <a:pPr lvl="1" eaLnBrk="1" hangingPunct="1"/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160774" name="矩形 5"/>
          <p:cNvSpPr>
            <a:spLocks noChangeArrowheads="1"/>
          </p:cNvSpPr>
          <p:nvPr/>
        </p:nvSpPr>
        <p:spPr bwMode="auto">
          <a:xfrm>
            <a:off x="857250" y="2428875"/>
            <a:ext cx="7858125" cy="3908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rIns="0">
            <a:spAutoFit/>
          </a:bodyPr>
          <a:lstStyle/>
          <a:p>
            <a:pPr marL="0" lvl="1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a[3][4], i=1, j=1;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  <a:cs typeface="Courier New" panose="02070309020205020404" pitchFamily="49" charset="0"/>
              </a:rPr>
              <a:t>说明二维数组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a[0][0]=123;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对第一个元素初始化</a:t>
            </a:r>
            <a:endParaRPr lang="en-US" altLang="zh-CN" sz="2400" b="1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cin&gt;&gt;a[0][1]; 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输入与第二个元素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a[0][1]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a[2][3]=a[i-1][j-1]+2*a[i-1][j];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计算下标表达式的值访问元素，并将元素计算结果赋值给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a[2][3]*/</a:t>
            </a:r>
            <a:endParaRPr lang="en-US" altLang="zh-CN" sz="2400" b="1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cout&lt;&lt;“a[2][3]=”&lt;&lt;a[2][3]&lt;&lt;endl; 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输出元素</a:t>
            </a:r>
            <a:endParaRPr lang="en-US" altLang="zh-CN" sz="2400" b="1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a[0][0]&gt;a[0][1] )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元素参与关系运算</a:t>
            </a:r>
            <a:endParaRPr lang="en-US" altLang="zh-CN" sz="2400" b="1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cout&lt;&lt;"a[0][0]&gt;a[0][1]"&lt;&lt;endl; 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fa[2][3]={ {1.1, 2.2, -3.3 }, { 4.4, -5.5, 6.6 } };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说明浮点型二维数组并初始化</a:t>
            </a:r>
            <a:endParaRPr lang="zh-CN" altLang="en-US" sz="2400" b="1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179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133475"/>
          </a:xfrm>
        </p:spPr>
        <p:txBody>
          <a:bodyPr/>
          <a:lstStyle/>
          <a:p>
            <a:r>
              <a:rPr lang="zh-CN" altLang="en-US"/>
              <a:t>二维数组</a:t>
            </a:r>
            <a:endParaRPr lang="en-US" altLang="zh-CN"/>
          </a:p>
          <a:p>
            <a:pPr lvl="1"/>
            <a:r>
              <a:rPr lang="zh-CN" altLang="en-US"/>
              <a:t>举例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sp>
        <p:nvSpPr>
          <p:cNvPr id="161798" name="矩形 5"/>
          <p:cNvSpPr>
            <a:spLocks noChangeArrowheads="1"/>
          </p:cNvSpPr>
          <p:nvPr/>
        </p:nvSpPr>
        <p:spPr bwMode="auto">
          <a:xfrm>
            <a:off x="1000125" y="2357438"/>
            <a:ext cx="7643813" cy="391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char</a:t>
            </a: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arr1[3][20]={"12345", "C++ OK!", 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“I can do it!”},  arr2[10][80];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/*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说明两个字符型数组，其中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arr1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赋初值，使得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arr1[0]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、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arr1[1]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和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arr1[2]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都成为具有初值的字符串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*/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for</a:t>
            </a: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(int i=0; i&lt;3; i++)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cout&lt;&lt;arr1[i]&lt;&lt;endl; </a:t>
            </a:r>
            <a:r>
              <a:rPr lang="en-US" altLang="zh-CN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400" b="1">
                <a:solidFill>
                  <a:srgbClr val="00B05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输出三个字符串</a:t>
            </a:r>
            <a:endParaRPr lang="en-US" altLang="zh-CN" sz="2400" b="1">
              <a:solidFill>
                <a:srgbClr val="00B05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C0000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输出结果为：</a:t>
            </a:r>
            <a:endParaRPr lang="en-US" altLang="zh-CN" sz="2400" b="1">
              <a:solidFill>
                <a:srgbClr val="C00000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12345</a:t>
            </a:r>
            <a:endParaRPr lang="zh-CN" altLang="en-US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C++ OK!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 can do it!</a:t>
            </a:r>
            <a:endParaRPr lang="en-US" altLang="zh-CN" sz="2400" b="1">
              <a:solidFill>
                <a:schemeClr val="tx2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2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多维数组</a:t>
            </a:r>
            <a:endParaRPr lang="en-US" altLang="zh-CN"/>
          </a:p>
          <a:p>
            <a:pPr lvl="1" eaLnBrk="1" hangingPunct="1"/>
            <a:r>
              <a:rPr lang="zh-CN" altLang="en-US"/>
              <a:t>二维以上维度的数组，是多维数组</a:t>
            </a:r>
            <a:endParaRPr lang="en-US" altLang="zh-CN"/>
          </a:p>
          <a:p>
            <a:pPr lvl="2" eaLnBrk="1" hangingPunct="1"/>
            <a:r>
              <a:rPr lang="zh-CN" altLang="en-US"/>
              <a:t>三维数组</a:t>
            </a:r>
            <a:endParaRPr lang="en-US" altLang="zh-CN"/>
          </a:p>
          <a:p>
            <a:pPr lvl="2" eaLnBrk="1" hangingPunct="1"/>
            <a:r>
              <a:rPr lang="zh-CN" altLang="en-US"/>
              <a:t>四维数组</a:t>
            </a:r>
            <a:endParaRPr lang="en-US" altLang="zh-CN"/>
          </a:p>
          <a:p>
            <a:pPr lvl="2" eaLnBrk="1" hangingPunct="1"/>
            <a:r>
              <a:rPr lang="en-US" altLang="zh-CN"/>
              <a:t>……</a:t>
            </a:r>
            <a:endParaRPr lang="en-US" altLang="zh-CN"/>
          </a:p>
          <a:p>
            <a:pPr lvl="1" eaLnBrk="1" hangingPunct="1"/>
            <a:r>
              <a:rPr lang="zh-CN" altLang="en-US"/>
              <a:t>多维数组是数组的嵌套</a:t>
            </a:r>
            <a:endParaRPr lang="en-US" altLang="zh-CN"/>
          </a:p>
          <a:p>
            <a:pPr lvl="2" eaLnBrk="1" hangingPunct="1"/>
            <a:r>
              <a:rPr lang="zh-CN" altLang="en-US"/>
              <a:t>一维数组中嵌套一维数组构成二维数组</a:t>
            </a:r>
            <a:endParaRPr lang="en-US" altLang="zh-CN"/>
          </a:p>
          <a:p>
            <a:pPr lvl="3" eaLnBrk="1" hangingPunct="1"/>
            <a:r>
              <a:rPr lang="zh-CN" altLang="en-US"/>
              <a:t>数组的数组</a:t>
            </a:r>
            <a:endParaRPr lang="en-US" altLang="zh-CN"/>
          </a:p>
          <a:p>
            <a:pPr lvl="4" eaLnBrk="1" hangingPunct="1"/>
            <a:r>
              <a:rPr lang="zh-CN" altLang="en-US"/>
              <a:t>数组中的元素是数组</a:t>
            </a:r>
            <a:endParaRPr lang="en-US" altLang="zh-CN"/>
          </a:p>
          <a:p>
            <a:pPr lvl="1" eaLnBrk="1" hangingPunct="1"/>
            <a:r>
              <a:rPr lang="zh-CN" altLang="en-US"/>
              <a:t>常用的多维数组是二维数组</a:t>
            </a:r>
            <a:endParaRPr lang="en-US" altLang="zh-CN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43" name="内容占位符 2"/>
          <p:cNvSpPr>
            <a:spLocks noGrp="1"/>
          </p:cNvSpPr>
          <p:nvPr>
            <p:ph idx="1"/>
          </p:nvPr>
        </p:nvSpPr>
        <p:spPr>
          <a:xfrm>
            <a:off x="357188" y="1295400"/>
            <a:ext cx="5900737" cy="5133975"/>
          </a:xfrm>
        </p:spPr>
        <p:txBody>
          <a:bodyPr/>
          <a:lstStyle/>
          <a:p>
            <a:pPr eaLnBrk="1" hangingPunct="1"/>
            <a:r>
              <a:rPr lang="zh-CN" altLang="en-US"/>
              <a:t>多维数组</a:t>
            </a:r>
            <a:endParaRPr lang="en-US" altLang="zh-CN"/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举例：图中表示一个三维数组可定义为</a:t>
            </a:r>
            <a:endParaRPr lang="en-US" altLang="zh-CN">
              <a:solidFill>
                <a:srgbClr val="C00000"/>
              </a:solidFill>
            </a:endParaRPr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a3d[6][3][4];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a3d</a:t>
            </a:r>
            <a:r>
              <a:rPr lang="zh-CN" altLang="en-US"/>
              <a:t>是由</a:t>
            </a:r>
            <a:r>
              <a:rPr lang="en-US" altLang="zh-CN"/>
              <a:t>6</a:t>
            </a:r>
            <a:r>
              <a:rPr lang="zh-CN" altLang="en-US"/>
              <a:t>个二维数组构成的数组，第一个二维数组用</a:t>
            </a: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</a:rPr>
              <a:t>a3d [0]</a:t>
            </a:r>
            <a:r>
              <a:rPr lang="en-US" altLang="zh-CN"/>
              <a:t> </a:t>
            </a:r>
            <a:r>
              <a:rPr lang="zh-CN" altLang="en-US"/>
              <a:t>表示，即立方体最上面的</a:t>
            </a:r>
            <a:r>
              <a:rPr lang="en-US" altLang="zh-CN"/>
              <a:t>3*4</a:t>
            </a:r>
            <a:r>
              <a:rPr lang="zh-CN" altLang="en-US"/>
              <a:t>大小的一片，也就是一个</a:t>
            </a:r>
            <a:r>
              <a:rPr lang="en-US" altLang="zh-CN"/>
              <a:t>3*4</a:t>
            </a:r>
            <a:r>
              <a:rPr lang="zh-CN" altLang="en-US"/>
              <a:t>的二维数组</a:t>
            </a:r>
            <a:endParaRPr lang="zh-CN" altLang="en-US"/>
          </a:p>
          <a:p>
            <a:pPr lvl="2"/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</a:rPr>
              <a:t>a3d[0][2]</a:t>
            </a:r>
            <a:r>
              <a:rPr lang="zh-CN" altLang="en-US"/>
              <a:t>则是</a:t>
            </a:r>
            <a:r>
              <a:rPr lang="en-US" altLang="zh-CN">
                <a:solidFill>
                  <a:srgbClr val="C00000"/>
                </a:solidFill>
                <a:latin typeface="Courier New" panose="02070309020205020404" pitchFamily="49" charset="0"/>
              </a:rPr>
              <a:t>a3d[0]</a:t>
            </a:r>
            <a:r>
              <a:rPr lang="zh-CN" altLang="en-US"/>
              <a:t>的第</a:t>
            </a:r>
            <a:r>
              <a:rPr lang="en-US" altLang="zh-CN"/>
              <a:t>3</a:t>
            </a:r>
            <a:r>
              <a:rPr lang="zh-CN" altLang="en-US"/>
              <a:t>个元素，一个一维数组，立方体最上最右的一条，（阴影所示）即一个</a:t>
            </a:r>
            <a:r>
              <a:rPr lang="en-US" altLang="zh-CN"/>
              <a:t>4</a:t>
            </a:r>
            <a:r>
              <a:rPr lang="zh-CN" altLang="en-US"/>
              <a:t>元素的一维数组。</a:t>
            </a:r>
            <a:endParaRPr lang="zh-CN" altLang="en-US"/>
          </a:p>
        </p:txBody>
      </p:sp>
      <p:pic>
        <p:nvPicPr>
          <p:cNvPr id="163846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43625" y="2071688"/>
            <a:ext cx="2881313" cy="272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4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二维数组举例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4.33】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C00000"/>
                </a:solidFill>
              </a:rPr>
              <a:t>设有4行4列的数组</a:t>
            </a:r>
            <a:r>
              <a:rPr lang="en-US" altLang="zh-CN">
                <a:solidFill>
                  <a:srgbClr val="C00000"/>
                </a:solidFill>
              </a:rPr>
              <a:t>a，</a:t>
            </a:r>
            <a:r>
              <a:rPr lang="zh-CN" altLang="en-US">
                <a:solidFill>
                  <a:srgbClr val="C00000"/>
                </a:solidFill>
              </a:rPr>
              <a:t>其元素</a:t>
            </a:r>
            <a:r>
              <a:rPr lang="en-US" altLang="zh-CN">
                <a:solidFill>
                  <a:srgbClr val="C00000"/>
                </a:solidFill>
              </a:rPr>
              <a:t>a[i][j]=i+j。</a:t>
            </a:r>
            <a:r>
              <a:rPr lang="zh-CN" altLang="en-US">
                <a:solidFill>
                  <a:srgbClr val="C00000"/>
                </a:solidFill>
              </a:rPr>
              <a:t>编程序，实现：</a:t>
            </a:r>
            <a:endParaRPr lang="en-US" altLang="zh-CN">
              <a:solidFill>
                <a:srgbClr val="C00000"/>
              </a:solidFill>
            </a:endParaRPr>
          </a:p>
          <a:p>
            <a:pPr lvl="2"/>
            <a:r>
              <a:rPr lang="zh-CN" altLang="en-US"/>
              <a:t>求第二行4元素之和</a:t>
            </a:r>
            <a:endParaRPr lang="en-US" altLang="zh-CN"/>
          </a:p>
          <a:p>
            <a:pPr lvl="2"/>
            <a:r>
              <a:rPr lang="zh-CN" altLang="en-US"/>
              <a:t>求第三列4元素之平均值</a:t>
            </a:r>
            <a:endParaRPr lang="en-US" altLang="zh-CN"/>
          </a:p>
          <a:p>
            <a:pPr lvl="2"/>
            <a:r>
              <a:rPr lang="zh-CN" altLang="en-US"/>
              <a:t>求最大数，最小数及主对角线4元素的平方和</a:t>
            </a:r>
            <a:endParaRPr lang="en-US" altLang="zh-CN"/>
          </a:p>
          <a:p>
            <a:pPr lvl="1"/>
            <a:r>
              <a:rPr lang="zh-CN" altLang="en-US"/>
              <a:t>程序主要步骤：</a:t>
            </a:r>
            <a:endParaRPr lang="en-US" altLang="zh-CN"/>
          </a:p>
          <a:p>
            <a:pPr lvl="2"/>
            <a:r>
              <a:rPr lang="zh-CN" altLang="en-US"/>
              <a:t>构造二维数组</a:t>
            </a:r>
            <a:endParaRPr lang="en-US" altLang="zh-CN"/>
          </a:p>
          <a:p>
            <a:pPr lvl="2"/>
            <a:r>
              <a:rPr lang="zh-CN" altLang="en-US"/>
              <a:t>按要求进行相关的计算</a:t>
            </a:r>
            <a:endParaRPr lang="zh-CN" alt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589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329613" cy="520541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a[4][4],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&lt;4;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数组赋值并显示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(j=0; j&lt;4;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a[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][j]=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  "&lt;&lt;a[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每4个数占一行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 The result ------"&lt;&lt;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6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//1. 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求第二行4元素之和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//（ 第二行元素为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a[1][j] (j=0,1,2,3) ）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sum_lin2=0;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(j=0; j&lt;4; j++)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sum_lin2+=a[1][j];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cout&lt;&lt;"sum_lin2="&lt;&lt;sum_lin2&lt;&lt;endl;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//2. 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求第三列4元素之平均值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//（第三列元素为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a[i][2] (i=0,1,2,3)）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sum_col3=0;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(i=0; i&lt;4; i++)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sum_col3+=a[i][2];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cout&lt;&lt;"ave_col3="&lt;&lt;sum_col3/4.0&lt;&lt;endl; 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793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543925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//3. 求最大数, 最小数及主对角线4元素的平方和</a:t>
            </a:r>
            <a:endParaRPr lang="zh-CN" altLang="en-US" sz="22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max_elem=a[0][0], min_elem=a[0][0], sum_diag=0;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先认为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a[0][0]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为最大数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又为最小数</a:t>
            </a:r>
            <a:endParaRPr lang="en-US" altLang="zh-CN" sz="22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(i=0; i&lt;4; i++){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(j=0; j&lt;4; j++) {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if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a[i][j]&gt;max_elem ) max_elem=a[i][j];</a:t>
            </a: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zh-CN" sz="22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if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a[i][j]&lt;min_elem ) min_elem=a[i][j];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if 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i==j ) sum_diag+=a[i][j]*a[i][j]; 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zh-CN" altLang="en-US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行列下标相等时，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a[i][j]</a:t>
            </a:r>
            <a:r>
              <a:rPr lang="zh-CN" altLang="en-US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为主对角线元素</a:t>
            </a:r>
            <a:r>
              <a:rPr lang="en-US" altLang="zh-CN" sz="22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zh-CN" altLang="en-US" sz="22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cout&lt;&lt;"max_elem="&lt;&lt;max_elem&lt;&lt;endl;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cout&lt;&lt;"min_elem="&lt;&lt;min_elem&lt;&lt;endl;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cout&lt;&lt;"sum_diag="&lt;&lt;sum_diag&lt;&lt;endl; 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8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二维数组举例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4.34】</a:t>
            </a:r>
            <a:r>
              <a:rPr lang="zh-CN" altLang="en-US">
                <a:solidFill>
                  <a:srgbClr val="C00000"/>
                </a:solidFill>
              </a:rPr>
              <a:t>画一个四叶玫瑰线图形，图形见教材</a:t>
            </a:r>
            <a:r>
              <a:rPr lang="en-US" altLang="zh-CN">
                <a:solidFill>
                  <a:srgbClr val="C00000"/>
                </a:solidFill>
              </a:rPr>
              <a:t>P114</a:t>
            </a:r>
            <a:r>
              <a:rPr lang="zh-CN" altLang="en-US">
                <a:solidFill>
                  <a:srgbClr val="C00000"/>
                </a:solidFill>
              </a:rPr>
              <a:t>图</a:t>
            </a:r>
            <a:r>
              <a:rPr lang="en-US" altLang="zh-CN">
                <a:solidFill>
                  <a:srgbClr val="C00000"/>
                </a:solidFill>
              </a:rPr>
              <a:t>4.9</a:t>
            </a:r>
            <a:endParaRPr lang="en-US" altLang="zh-CN">
              <a:solidFill>
                <a:srgbClr val="C00000"/>
              </a:solidFill>
            </a:endParaRPr>
          </a:p>
          <a:p>
            <a:pPr lvl="2"/>
            <a:r>
              <a:rPr lang="zh-CN" altLang="en-US"/>
              <a:t>四叶玫瑰线图形的极坐标方程为：</a:t>
            </a:r>
            <a:endParaRPr lang="en-US" altLang="zh-CN"/>
          </a:p>
          <a:p>
            <a:pPr lvl="2" algn="ctr">
              <a:buFontTx/>
              <a:buNone/>
            </a:pPr>
            <a:r>
              <a:rPr lang="en-US" altLang="zh-CN">
                <a:solidFill>
                  <a:srgbClr val="0000FF"/>
                </a:solidFill>
              </a:rPr>
              <a:t>p = a*sin(2*angle)</a:t>
            </a:r>
            <a:endParaRPr lang="en-US" altLang="zh-CN">
              <a:solidFill>
                <a:srgbClr val="0000FF"/>
              </a:solidFill>
            </a:endParaRPr>
          </a:p>
          <a:p>
            <a:pPr lvl="2"/>
            <a:r>
              <a:rPr lang="en-US" altLang="zh-CN">
                <a:solidFill>
                  <a:srgbClr val="0000FF"/>
                </a:solidFill>
              </a:rPr>
              <a:t>angle</a:t>
            </a:r>
            <a:r>
              <a:rPr lang="zh-CN" altLang="en-US"/>
              <a:t>为极角，变化范围从0度到360度；</a:t>
            </a:r>
            <a:endParaRPr lang="en-US" altLang="zh-CN"/>
          </a:p>
          <a:p>
            <a:pPr lvl="2"/>
            <a:r>
              <a:rPr lang="en-US" altLang="zh-CN">
                <a:solidFill>
                  <a:srgbClr val="0000FF"/>
                </a:solidFill>
              </a:rPr>
              <a:t>a</a:t>
            </a:r>
            <a:r>
              <a:rPr lang="zh-CN" altLang="en-US"/>
              <a:t>为常数，表示所画四叶玫瑰线图形中，矩极点的最长距离；</a:t>
            </a:r>
            <a:endParaRPr lang="en-US" altLang="zh-CN"/>
          </a:p>
          <a:p>
            <a:pPr lvl="2"/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/>
              <a:t>为极径，与变化范围内的极角</a:t>
            </a:r>
            <a:r>
              <a:rPr lang="en-US" altLang="zh-CN">
                <a:solidFill>
                  <a:srgbClr val="0000FF"/>
                </a:solidFill>
              </a:rPr>
              <a:t>angle</a:t>
            </a:r>
            <a:r>
              <a:rPr lang="zh-CN" altLang="en-US"/>
              <a:t>有上述极坐标方程的关系。 </a:t>
            </a:r>
            <a:endParaRPr lang="zh-CN" alt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99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二维数组举例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4.34】</a:t>
            </a:r>
            <a:r>
              <a:rPr lang="zh-CN" altLang="en-US"/>
              <a:t>分析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zh-CN" altLang="en-US"/>
              <a:t>将“字符屏幕”与程序中的一个二维字符数组建立对应关系。如，本程序的</a:t>
            </a:r>
            <a:r>
              <a:rPr lang="en-US" altLang="zh-CN"/>
              <a:t>rose</a:t>
            </a:r>
            <a:r>
              <a:rPr lang="zh-CN" altLang="en-US"/>
              <a:t>数组就对应于欲显示的“字符屏幕”，其中的</a:t>
            </a:r>
            <a:r>
              <a:rPr lang="en-US" altLang="zh-CN"/>
              <a:t>rose[0][0]</a:t>
            </a:r>
            <a:r>
              <a:rPr lang="zh-CN" altLang="en-US"/>
              <a:t>表示“字符屏幕”的左上角点，而</a:t>
            </a:r>
            <a:r>
              <a:rPr lang="en-US" altLang="zh-CN"/>
              <a:t>rose[y][x]</a:t>
            </a:r>
            <a:r>
              <a:rPr lang="zh-CN" altLang="en-US"/>
              <a:t>则表示“字符屏幕”的第</a:t>
            </a:r>
            <a:r>
              <a:rPr lang="en-US" altLang="zh-CN"/>
              <a:t>y+1</a:t>
            </a:r>
            <a:r>
              <a:rPr lang="zh-CN" altLang="en-US"/>
              <a:t>行第</a:t>
            </a:r>
            <a:r>
              <a:rPr lang="en-US" altLang="zh-CN"/>
              <a:t>x+1</a:t>
            </a:r>
            <a:r>
              <a:rPr lang="zh-CN" altLang="en-US"/>
              <a:t>列的那一个点（</a:t>
            </a:r>
            <a:r>
              <a:rPr lang="en-US" altLang="zh-CN"/>
              <a:t>y</a:t>
            </a:r>
            <a:r>
              <a:rPr lang="zh-CN" altLang="en-US"/>
              <a:t>值即行号由上往下扩展, </a:t>
            </a:r>
            <a:r>
              <a:rPr lang="en-US" altLang="zh-CN"/>
              <a:t>x</a:t>
            </a:r>
            <a:r>
              <a:rPr lang="zh-CN" altLang="en-US"/>
              <a:t>值即列号由左往右扩展）。</a:t>
            </a:r>
            <a:endParaRPr lang="zh-CN" altLang="en-US"/>
          </a:p>
          <a:p>
            <a:pPr lvl="2">
              <a:lnSpc>
                <a:spcPct val="90000"/>
              </a:lnSpc>
            </a:pPr>
            <a:r>
              <a:rPr lang="zh-CN" altLang="en-US"/>
              <a:t>将二维字符数组的各元素均置为“空”（对应于一个“空白字符屏幕”）。</a:t>
            </a:r>
            <a:endParaRPr lang="zh-CN" altLang="en-US"/>
          </a:p>
          <a:p>
            <a:pPr lvl="2"/>
            <a:endParaRPr lang="zh-CN" alt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1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二维数组举例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4.34】</a:t>
            </a:r>
            <a:r>
              <a:rPr lang="zh-CN" altLang="en-US"/>
              <a:t>分析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zh-CN" altLang="en-US"/>
              <a:t>按某种计算方法（或计算公式）算出应该在“字符屏幕”的哪些位置处“画点”（通过往对应字符数组的某些元素处置“*”符号来完成）。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zh-CN" altLang="en-US"/>
              <a:t>将已准备好的当前字符数组显示到“字符屏幕”上（在“字符屏幕”上“画”出了所需图形）。</a:t>
            </a:r>
            <a:endParaRPr lang="zh-CN" altLang="en-US"/>
          </a:p>
          <a:p>
            <a:pPr lvl="2">
              <a:lnSpc>
                <a:spcPct val="9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20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二维数组举例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4.34】</a:t>
            </a:r>
            <a:r>
              <a:rPr lang="zh-CN" altLang="en-US"/>
              <a:t>实现方法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zh-CN" altLang="en-US"/>
              <a:t>把360度分为足够多的若干份（本例分为128份），在每个分定的角度</a:t>
            </a:r>
            <a:r>
              <a:rPr lang="en-US" altLang="zh-CN"/>
              <a:t>angle</a:t>
            </a:r>
            <a:r>
              <a:rPr lang="zh-CN" altLang="en-US"/>
              <a:t>处，按照上述的极坐标方程，计算出每一个对应的函数值</a:t>
            </a:r>
            <a:r>
              <a:rPr lang="en-US" altLang="zh-CN"/>
              <a:t>p（</a:t>
            </a:r>
            <a:r>
              <a:rPr lang="zh-CN" altLang="en-US"/>
              <a:t>即极径），从而得到平面上的一批点；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zh-CN" altLang="en-US"/>
              <a:t>将这批平面点对应到“字符屏幕”上（相应的</a:t>
            </a:r>
            <a:r>
              <a:rPr lang="en-US" altLang="zh-CN"/>
              <a:t>rose</a:t>
            </a:r>
            <a:r>
              <a:rPr lang="zh-CN" altLang="en-US"/>
              <a:t>数组中），并将每一个点用一个字符“*”来表示并显示到屏幕上（“字符屏幕”上的其他点均显示为“空”，即空格）。</a:t>
            </a:r>
            <a:endParaRPr lang="zh-CN" alt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3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&lt;cmath&gt;  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//use “sin”、“cos”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std;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maxY=22;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//"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字符屏幕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的最大行数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maxX=70;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//“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字符屏幕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的最大列数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double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pai=3.14159, a=12.0;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表示所画图形中，矩极点的最长距离，设为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aspect=2;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屏幕字符“高:宽”为2:1，生成曲线时，每点的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要乘以2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float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angle,p;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//angle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表示极角，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表示极径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//x，y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用于表示屏幕坐标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0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50292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rose[maxY][maxX]; 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//rose[y][x]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字符屏幕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”y+1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行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列的那一个点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(y=0; y&lt;maxY; y++)  	//</a:t>
            </a: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设置“空白字符屏幕”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(x=0; x&lt;maxX; x++)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rose[y][x]=' ';	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各数组元素字符均置为空格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nn=128; 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把360度分为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份（所画图形由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nn=128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个点构成）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510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50292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i=0; i&lt;nn; i++){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nn=128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个屏幕点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angle = i*2*pai/nn;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将角度化为弧度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a*sin(2*angle);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算出极径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x =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(p*cos(angle))*aspect + 24; 	 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//x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坐标值 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(p*sin(angle)) + 12;		 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//y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坐标值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//算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时加24，算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时加12，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//是设定(24,12)为极点位置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rose[y][x]='*';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往(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y,x)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点处放置“*”符号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6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将当前字符数组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rose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中的各字符显示到屏幕上（画 图形）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(y=0; y&lt;maxY; y++) {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行号变化范围，共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maxY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行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(x=0; x&lt;maxX; x++)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列号变化范围, 共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maxX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列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cout&lt;&lt;rose[y][x];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显示出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rose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中的各字符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 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//main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7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数组元素排序问题</a:t>
            </a:r>
            <a:endParaRPr lang="en-US" altLang="zh-CN"/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【</a:t>
            </a:r>
            <a:r>
              <a:rPr lang="zh-CN" altLang="en-US">
                <a:solidFill>
                  <a:srgbClr val="C00000"/>
                </a:solidFill>
              </a:rPr>
              <a:t>例</a:t>
            </a:r>
            <a:r>
              <a:rPr lang="en-US" altLang="zh-CN">
                <a:solidFill>
                  <a:srgbClr val="C00000"/>
                </a:solidFill>
              </a:rPr>
              <a:t>4.X】</a:t>
            </a:r>
            <a:r>
              <a:rPr lang="zh-CN" altLang="en-US">
                <a:solidFill>
                  <a:srgbClr val="C00000"/>
                </a:solidFill>
              </a:rPr>
              <a:t>冒泡排序。随机生成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个数，按照由小到大的顺序输出。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504" y="2636913"/>
            <a:ext cx="8964488" cy="4221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 = {4,10,9,8,7,6,5,4,3,2};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创建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个数据，测试</a:t>
            </a:r>
            <a:endParaRPr lang="zh-CN" alt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从数组尾部检查是否比上面一个小，把小的冒泡浮上去</a:t>
            </a:r>
            <a:endParaRPr lang="zh-CN" alt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 = 9; j &gt;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j--)  {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&lt;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 - 1]) {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如果下面的比上面小，交换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 - 1];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 - 1] = 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             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zh-CN" alt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1520" y="1340768"/>
            <a:ext cx="79208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 = 0; i &lt; 10; i++) {          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cout.setf(ios::left);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 cout&lt;&lt;setw(5)&lt;&lt;nData[i];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cout&lt;&lt;endl;    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1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85775" y="2057400"/>
            <a:ext cx="8096250" cy="3505200"/>
          </a:xfr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4288" y="1959563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00192" y="2348880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36096" y="2751651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0" y="3140968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07904" y="354373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43808" y="3933056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2443" y="4293096"/>
            <a:ext cx="533333" cy="533333"/>
          </a:xfrm>
          <a:prstGeom prst="rect">
            <a:avLst/>
          </a:prstGeom>
        </p:spPr>
      </p:pic>
      <p:pic>
        <p:nvPicPr>
          <p:cNvPr id="16" name="图片 15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7624" y="4695867"/>
            <a:ext cx="533333" cy="533333"/>
          </a:xfrm>
          <a:prstGeom prst="rect">
            <a:avLst/>
          </a:prstGeom>
        </p:spPr>
      </p:pic>
      <p:pic>
        <p:nvPicPr>
          <p:cNvPr id="17" name="图片 1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4251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2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557709" y="2052857"/>
            <a:ext cx="7952381" cy="3514286"/>
          </a:xfrm>
        </p:spPr>
      </p:pic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1115" y="1959563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2348880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2200" y="2780928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8104" y="3140968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4008" y="3543739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79912" y="3933056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58547" y="4335827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4451" y="4725144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0355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3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533899" y="2262381"/>
            <a:ext cx="8000001" cy="3095238"/>
          </a:xfrm>
        </p:spPr>
      </p:pic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1115" y="217558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2564904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2200" y="2967675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8104" y="3356992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14731" y="37170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79912" y="41198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4509120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4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567233" y="2648095"/>
            <a:ext cx="7933334" cy="2323810"/>
          </a:xfrm>
        </p:spPr>
      </p:pic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1115" y="253562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296767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2200" y="335699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8104" y="3759763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86739" y="4149080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22643" y="4551851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5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548185" y="2848095"/>
            <a:ext cx="7971429" cy="1923810"/>
          </a:xfrm>
        </p:spPr>
      </p:pic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1115" y="2751651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3140968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42923" y="3543739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8104" y="3933056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4008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6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95804" y="3033809"/>
            <a:ext cx="8076191" cy="1552381"/>
          </a:xfrm>
        </p:spPr>
      </p:pic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28384" y="289566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4288" y="332771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00192" y="371703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36096" y="4077072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7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533899" y="1638071"/>
            <a:ext cx="8000001" cy="1142857"/>
          </a:xfrm>
        </p:spPr>
      </p:pic>
      <p:cxnSp>
        <p:nvCxnSpPr>
          <p:cNvPr id="8" name="直接连接符 7"/>
          <p:cNvCxnSpPr/>
          <p:nvPr/>
        </p:nvCxnSpPr>
        <p:spPr>
          <a:xfrm>
            <a:off x="251520" y="3356992"/>
            <a:ext cx="842493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9" name="图片 8" descr="冒泡排序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666" y="4005064"/>
            <a:ext cx="8266667" cy="771429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1484784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19168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3196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376" y="390377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35011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920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5029200"/>
          </a:xfrm>
        </p:spPr>
        <p:txBody>
          <a:bodyPr/>
          <a:lstStyle/>
          <a:p>
            <a:pPr eaLnBrk="1" hangingPunct="1"/>
            <a:r>
              <a:rPr lang="zh-CN" altLang="en-US"/>
              <a:t>字符数组与字符串</a:t>
            </a:r>
            <a:endParaRPr lang="en-US" altLang="zh-CN"/>
          </a:p>
          <a:p>
            <a:pPr lvl="1" eaLnBrk="1" hangingPunct="1"/>
            <a:r>
              <a:rPr lang="zh-CN" altLang="en-US"/>
              <a:t>一维字符数组，元素全部为字符</a:t>
            </a:r>
            <a:endParaRPr lang="en-US" altLang="zh-CN"/>
          </a:p>
          <a:p>
            <a:pPr lvl="2" eaLnBrk="1" hangingPunct="1"/>
            <a:r>
              <a:rPr lang="zh-CN" altLang="en-US"/>
              <a:t>说明字符数组</a:t>
            </a:r>
            <a:endParaRPr lang="en-US" altLang="zh-CN"/>
          </a:p>
          <a:p>
            <a:pPr lvl="2" algn="ctr" eaLnBrk="1" hangingPunct="1">
              <a:buFontTx/>
              <a:buNone/>
            </a:pP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ch[10];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zh-CN" altLang="en-US"/>
              <a:t>初始化字符数组</a:t>
            </a:r>
            <a:endParaRPr lang="en-US" altLang="zh-CN"/>
          </a:p>
          <a:p>
            <a:pPr lvl="3" eaLnBrk="1" hangingPunct="1"/>
            <a:r>
              <a:rPr lang="zh-CN" altLang="en-US"/>
              <a:t>字符形式</a:t>
            </a:r>
            <a:endParaRPr lang="en-US" altLang="zh-CN"/>
          </a:p>
          <a:p>
            <a:pPr lvl="3" eaLnBrk="1" hangingPunct="1"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</a:rPr>
              <a:t> s1[7]={‘c’,‘h’,‘i’,‘n’,‘a’};</a:t>
            </a:r>
            <a:endParaRPr lang="en-US" altLang="zh-CN" sz="20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</a:rPr>
              <a:t> s2[]={‘c’,‘h’,‘i’,‘n’,‘a’};</a:t>
            </a: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>
                <a:solidFill>
                  <a:srgbClr val="00B050"/>
                </a:solidFill>
                <a:latin typeface="Courier New" panose="02070309020205020404" pitchFamily="49" charset="0"/>
              </a:rPr>
              <a:t>数组大小为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5</a:t>
            </a:r>
            <a:endParaRPr lang="en-US" altLang="zh-CN" sz="200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 lvl="3" eaLnBrk="1" hangingPunct="1"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</a:rPr>
              <a:t> s3[7]={‘c’,‘h’,‘i’,‘n’,‘a’,‘\0’};</a:t>
            </a:r>
            <a:endParaRPr lang="en-US" altLang="zh-CN" sz="200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3" eaLnBrk="1" hangingPunct="1"/>
            <a:r>
              <a:rPr lang="zh-CN" altLang="en-US"/>
              <a:t>字符串常量形式</a:t>
            </a:r>
            <a:endParaRPr lang="en-US" altLang="zh-CN"/>
          </a:p>
          <a:p>
            <a:pPr lvl="3" eaLnBrk="1" hangingPunct="1"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</a:rPr>
              <a:t> s4[7]=“china”;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//s4[5]=‘\0’</a:t>
            </a:r>
            <a:endParaRPr lang="en-US" altLang="zh-CN" sz="200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 lvl="3" eaLnBrk="1" hangingPunct="1"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</a:rPr>
              <a:t> s5[]=“china”;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>
                <a:solidFill>
                  <a:srgbClr val="00B050"/>
                </a:solidFill>
                <a:latin typeface="Courier New" panose="02070309020205020404" pitchFamily="49" charset="0"/>
              </a:rPr>
              <a:t>数组大小为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6</a:t>
            </a:r>
            <a:r>
              <a:rPr lang="zh-CN" altLang="en-US" sz="2000">
                <a:solidFill>
                  <a:srgbClr val="00B05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000">
                <a:solidFill>
                  <a:srgbClr val="00B050"/>
                </a:solidFill>
                <a:latin typeface="Courier New" panose="02070309020205020404" pitchFamily="49" charset="0"/>
              </a:rPr>
              <a:t>s5[5]=‘\0’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字符数组与字符串</a:t>
            </a:r>
            <a:endParaRPr lang="en-US" altLang="zh-CN"/>
          </a:p>
          <a:p>
            <a:pPr lvl="1" eaLnBrk="1" hangingPunct="1"/>
            <a:r>
              <a:rPr lang="zh-CN" altLang="en-US"/>
              <a:t>字符串“类型”</a:t>
            </a:r>
            <a:endParaRPr lang="en-US" altLang="zh-CN"/>
          </a:p>
          <a:p>
            <a:pPr lvl="2" eaLnBrk="1" hangingPunct="1"/>
            <a:r>
              <a:rPr lang="en-US" altLang="zh-CN"/>
              <a:t>C++</a:t>
            </a:r>
            <a:r>
              <a:rPr lang="zh-CN" altLang="en-US"/>
              <a:t>的数据类型中不包含字符串类型</a:t>
            </a:r>
            <a:endParaRPr lang="en-US" altLang="zh-CN"/>
          </a:p>
          <a:p>
            <a:pPr lvl="2" eaLnBrk="1" hangingPunct="1"/>
            <a:r>
              <a:rPr lang="zh-CN" altLang="en-US"/>
              <a:t>字符串是非常重要的“数据类型”</a:t>
            </a:r>
            <a:endParaRPr lang="en-US" altLang="zh-CN"/>
          </a:p>
          <a:p>
            <a:pPr lvl="1" eaLnBrk="1" hangingPunct="1"/>
            <a:r>
              <a:rPr lang="en-US" altLang="zh-CN"/>
              <a:t>C++</a:t>
            </a:r>
            <a:r>
              <a:rPr lang="zh-CN" altLang="en-US"/>
              <a:t>处理字符串的方法</a:t>
            </a:r>
            <a:endParaRPr lang="en-US" altLang="zh-CN"/>
          </a:p>
          <a:p>
            <a:pPr lvl="2" eaLnBrk="1" hangingPunct="1"/>
            <a:r>
              <a:rPr lang="zh-CN" altLang="en-US">
                <a:solidFill>
                  <a:srgbClr val="C00000"/>
                </a:solidFill>
              </a:rPr>
              <a:t>一维字符数组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/>
              <a:t>字符指针</a:t>
            </a:r>
            <a:endParaRPr lang="en-US" altLang="zh-CN"/>
          </a:p>
          <a:p>
            <a:pPr lvl="2" eaLnBrk="1" hangingPunct="1"/>
            <a:r>
              <a:rPr lang="zh-CN" altLang="en-US"/>
              <a:t>标准模板库</a:t>
            </a:r>
            <a:endParaRPr lang="en-US" altLang="zh-CN"/>
          </a:p>
          <a:p>
            <a:pPr lvl="3" eaLnBrk="1" hangingPunct="1"/>
            <a:r>
              <a:rPr lang="en-US" altLang="zh-CN"/>
              <a:t>string</a:t>
            </a:r>
            <a:endParaRPr lang="en-US" altLang="zh-CN"/>
          </a:p>
          <a:p>
            <a:pPr lvl="2" eaLnBrk="1" hangingPunct="1"/>
            <a:endParaRPr lang="zh-CN" altLang="en-US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字符数组与字符串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一维字符数组表示字符串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如果一维字符数组包含字符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’\0’</a:t>
            </a:r>
            <a:r>
              <a:rPr lang="zh-CN" altLang="en-US" dirty="0"/>
              <a:t>，则该字符之前的数组元素构成字符串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字符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’\0’</a:t>
            </a:r>
            <a:r>
              <a:rPr lang="zh-CN" altLang="en-US" dirty="0"/>
              <a:t>称为字符串结束符或串尾符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对一维字符数组进行初始化时，下面三种情况为字符串</a:t>
            </a:r>
            <a:endParaRPr lang="en-US" altLang="zh-CN" dirty="0"/>
          </a:p>
          <a:p>
            <a:pPr lvl="3"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str1[7]=“china”;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//str1[5]=‘\0’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str2[7]={‘</a:t>
            </a:r>
            <a:r>
              <a:rPr lang="en-US" altLang="zh-CN" sz="20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c’,‘h’,‘i’,‘n’,‘a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’,‘\0’};</a:t>
            </a:r>
            <a:endParaRPr lang="en-US" altLang="zh-CN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str3[7];</a:t>
            </a:r>
            <a:endParaRPr lang="en-US" altLang="zh-CN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buFontTx/>
              <a:buNone/>
              <a:defRPr/>
            </a:pPr>
            <a:r>
              <a:rPr lang="en-US" altLang="zh-CN" sz="20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cin</a:t>
            </a:r>
            <a:r>
              <a:rPr lang="en-US" altLang="zh-CN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&gt;&gt;str3;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输入完毕后自动增加字符</a:t>
            </a:r>
            <a:r>
              <a:rPr lang="en-US" altLang="zh-CN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’\0’</a:t>
            </a:r>
            <a:endParaRPr lang="en-US" altLang="zh-CN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2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字符数组与字符串</a:t>
            </a:r>
            <a:endParaRPr lang="en-US" altLang="zh-CN"/>
          </a:p>
          <a:p>
            <a:pPr lvl="1"/>
            <a:r>
              <a:rPr lang="zh-CN" altLang="en-US"/>
              <a:t>字符串的输出</a:t>
            </a:r>
            <a:endParaRPr lang="en-US" altLang="zh-CN"/>
          </a:p>
          <a:p>
            <a:pPr lvl="2"/>
            <a:r>
              <a:rPr lang="zh-CN" altLang="en-US"/>
              <a:t>直接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循环语句输出</a:t>
            </a:r>
            <a:endParaRPr lang="en-US" altLang="zh-CN"/>
          </a:p>
          <a:p>
            <a:pPr lvl="2"/>
            <a:endParaRPr lang="zh-CN" altLang="en-US"/>
          </a:p>
        </p:txBody>
      </p:sp>
      <p:pic>
        <p:nvPicPr>
          <p:cNvPr id="182278" name="Object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14500" y="2890838"/>
            <a:ext cx="3929063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2279" name="Object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63" y="4143375"/>
            <a:ext cx="3940175" cy="197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3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字符数组与字符串</a:t>
            </a:r>
            <a:endParaRPr lang="en-US" altLang="zh-CN"/>
          </a:p>
          <a:p>
            <a:pPr lvl="1"/>
            <a:r>
              <a:rPr lang="zh-CN" altLang="en-US"/>
              <a:t>区别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3300"/>
                </a:solidFill>
              </a:rPr>
              <a:t>字符串</a:t>
            </a:r>
            <a:r>
              <a:rPr lang="zh-CN" altLang="en-US">
                <a:solidFill>
                  <a:srgbClr val="0000FF"/>
                </a:solidFill>
              </a:rPr>
              <a:t>可以</a:t>
            </a:r>
            <a:r>
              <a:rPr lang="zh-CN" altLang="en-US">
                <a:solidFill>
                  <a:schemeClr val="hlink"/>
                </a:solidFill>
              </a:rPr>
              <a:t>存放在字符数组中</a:t>
            </a:r>
            <a:r>
              <a:rPr lang="zh-CN" altLang="en-US">
                <a:solidFill>
                  <a:srgbClr val="0000FF"/>
                </a:solidFill>
              </a:rPr>
              <a:t>，但该字符数组中</a:t>
            </a:r>
            <a:r>
              <a:rPr lang="zh-CN" altLang="en-US">
                <a:solidFill>
                  <a:schemeClr val="hlink"/>
                </a:solidFill>
              </a:rPr>
              <a:t>必须存储一个显式的'\0'</a:t>
            </a:r>
            <a:r>
              <a:rPr lang="zh-CN" altLang="en-US">
                <a:solidFill>
                  <a:srgbClr val="0000FF"/>
                </a:solidFill>
              </a:rPr>
              <a:t>字符来作为字符串的结束标记</a:t>
            </a:r>
            <a:endParaRPr lang="en-US" altLang="zh-CN">
              <a:solidFill>
                <a:srgbClr val="0000FF"/>
              </a:solidFill>
            </a:endParaRPr>
          </a:p>
          <a:p>
            <a:pPr lvl="3"/>
            <a:r>
              <a:rPr lang="zh-CN" altLang="en-US"/>
              <a:t>字符数组中，</a:t>
            </a:r>
            <a:r>
              <a:rPr lang="zh-CN" altLang="en-US">
                <a:solidFill>
                  <a:schemeClr val="hlink"/>
                </a:solidFill>
              </a:rPr>
              <a:t> '</a:t>
            </a:r>
            <a:r>
              <a:rPr lang="en-US" altLang="zh-CN">
                <a:solidFill>
                  <a:schemeClr val="hlink"/>
                </a:solidFill>
              </a:rPr>
              <a:t>\0</a:t>
            </a:r>
            <a:r>
              <a:rPr lang="zh-CN" altLang="en-US">
                <a:solidFill>
                  <a:schemeClr val="hlink"/>
                </a:solidFill>
              </a:rPr>
              <a:t>'</a:t>
            </a:r>
            <a:r>
              <a:rPr lang="zh-CN" altLang="en-US"/>
              <a:t>后的字符不属于该字符串</a:t>
            </a:r>
            <a:endParaRPr lang="en-US" altLang="zh-CN"/>
          </a:p>
          <a:p>
            <a:pPr lvl="2"/>
            <a:r>
              <a:rPr lang="zh-CN" altLang="en-US">
                <a:solidFill>
                  <a:srgbClr val="0000FF"/>
                </a:solidFill>
              </a:rPr>
              <a:t>任一个字符数组不一定都是字符串，因为</a:t>
            </a:r>
            <a:r>
              <a:rPr lang="zh-CN" altLang="en-US">
                <a:solidFill>
                  <a:schemeClr val="hlink"/>
                </a:solidFill>
              </a:rPr>
              <a:t>并不要求</a:t>
            </a:r>
            <a:r>
              <a:rPr lang="zh-CN" altLang="en-US">
                <a:solidFill>
                  <a:srgbClr val="FF3300"/>
                </a:solidFill>
              </a:rPr>
              <a:t>字符数组</a:t>
            </a:r>
            <a:r>
              <a:rPr lang="zh-CN" altLang="en-US">
                <a:solidFill>
                  <a:schemeClr val="hlink"/>
                </a:solidFill>
              </a:rPr>
              <a:t>中必须存在'\0'</a:t>
            </a:r>
            <a:r>
              <a:rPr lang="zh-CN" altLang="en-US">
                <a:solidFill>
                  <a:srgbClr val="0000FF"/>
                </a:solidFill>
              </a:rPr>
              <a:t>字符!</a:t>
            </a:r>
            <a:endParaRPr lang="en-US" altLang="zh-CN">
              <a:solidFill>
                <a:srgbClr val="0000FF"/>
              </a:solidFill>
            </a:endParaRPr>
          </a:p>
          <a:p>
            <a:pPr lvl="3"/>
            <a:r>
              <a:rPr lang="zh-CN" altLang="en-US"/>
              <a:t>如果字符数组中存在</a:t>
            </a:r>
            <a:r>
              <a:rPr lang="zh-CN" altLang="en-US">
                <a:solidFill>
                  <a:schemeClr val="hlink"/>
                </a:solidFill>
              </a:rPr>
              <a:t>'</a:t>
            </a:r>
            <a:r>
              <a:rPr lang="en-US" altLang="zh-CN">
                <a:solidFill>
                  <a:schemeClr val="hlink"/>
                </a:solidFill>
              </a:rPr>
              <a:t>\0</a:t>
            </a:r>
            <a:r>
              <a:rPr lang="zh-CN" altLang="en-US">
                <a:solidFill>
                  <a:schemeClr val="hlink"/>
                </a:solidFill>
              </a:rPr>
              <a:t>' </a:t>
            </a:r>
            <a:r>
              <a:rPr lang="zh-CN" altLang="en-US"/>
              <a:t>，则</a:t>
            </a:r>
            <a:r>
              <a:rPr lang="zh-CN" altLang="en-US">
                <a:solidFill>
                  <a:schemeClr val="hlink"/>
                </a:solidFill>
              </a:rPr>
              <a:t>'</a:t>
            </a:r>
            <a:r>
              <a:rPr lang="en-US" altLang="zh-CN">
                <a:solidFill>
                  <a:schemeClr val="hlink"/>
                </a:solidFill>
              </a:rPr>
              <a:t>\0</a:t>
            </a:r>
            <a:r>
              <a:rPr lang="zh-CN" altLang="en-US">
                <a:solidFill>
                  <a:schemeClr val="hlink"/>
                </a:solidFill>
              </a:rPr>
              <a:t>'</a:t>
            </a:r>
            <a:r>
              <a:rPr lang="zh-CN" altLang="en-US"/>
              <a:t>及其前面的字符一起构成字符串</a:t>
            </a:r>
            <a:endParaRPr lang="zh-CN" altLang="en-US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2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704850"/>
          </a:xfrm>
        </p:spPr>
        <p:txBody>
          <a:bodyPr/>
          <a:lstStyle/>
          <a:p>
            <a:r>
              <a:rPr lang="zh-CN" altLang="en-US"/>
              <a:t>字符数组与字符串</a:t>
            </a:r>
            <a:endParaRPr lang="en-US" altLang="zh-CN"/>
          </a:p>
        </p:txBody>
      </p:sp>
      <p:pic>
        <p:nvPicPr>
          <p:cNvPr id="184326" name="Object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5813" y="1928813"/>
            <a:ext cx="7886700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5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字符数组与字符串</a:t>
            </a:r>
            <a:endParaRPr lang="en-US" altLang="zh-CN"/>
          </a:p>
          <a:p>
            <a:pPr lvl="1"/>
            <a:r>
              <a:rPr lang="zh-CN" altLang="en-US"/>
              <a:t>对字符串进行整体处理的最常用系统函数</a:t>
            </a:r>
            <a:endParaRPr lang="en-US" altLang="zh-CN"/>
          </a:p>
          <a:p>
            <a:pPr lvl="2"/>
            <a:r>
              <a:rPr lang="en-US" altLang="zh-CN">
                <a:solidFill>
                  <a:srgbClr val="C00000"/>
                </a:solidFill>
              </a:rPr>
              <a:t>strlen</a:t>
            </a:r>
            <a:r>
              <a:rPr lang="en-US" altLang="zh-CN"/>
              <a:t>——</a:t>
            </a:r>
            <a:r>
              <a:rPr lang="zh-CN" altLang="en-US"/>
              <a:t>求字符串长度，不包括</a:t>
            </a:r>
            <a:r>
              <a:rPr lang="en-US" altLang="zh-CN"/>
              <a:t>\0</a:t>
            </a:r>
            <a:endParaRPr lang="en-US" altLang="zh-CN"/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strlen(“abc”)</a:t>
            </a:r>
            <a:r>
              <a:rPr lang="zh-CN" altLang="en-US"/>
              <a:t>的返回值为</a:t>
            </a:r>
            <a:r>
              <a:rPr lang="en-US" altLang="zh-CN"/>
              <a:t>3</a:t>
            </a:r>
            <a:endParaRPr lang="en-US" altLang="zh-CN"/>
          </a:p>
          <a:p>
            <a:pPr lvl="2"/>
            <a:r>
              <a:rPr lang="en-US" altLang="zh-CN">
                <a:solidFill>
                  <a:srgbClr val="C00000"/>
                </a:solidFill>
              </a:rPr>
              <a:t>strcat</a:t>
            </a:r>
            <a:r>
              <a:rPr lang="en-US" altLang="zh-CN"/>
              <a:t> ——</a:t>
            </a:r>
            <a:r>
              <a:rPr lang="zh-CN" altLang="en-US"/>
              <a:t>连接字符串</a:t>
            </a:r>
            <a:endParaRPr lang="en-US" altLang="zh-CN"/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strcat(str1,str2)</a:t>
            </a:r>
            <a:r>
              <a:rPr lang="zh-CN" altLang="en-US">
                <a:latin typeface="Courier New" panose="02070309020205020404" pitchFamily="49" charset="0"/>
              </a:rPr>
              <a:t>将字符串</a:t>
            </a:r>
            <a:r>
              <a:rPr lang="en-US" altLang="zh-CN">
                <a:latin typeface="Courier New" panose="02070309020205020404" pitchFamily="49" charset="0"/>
              </a:rPr>
              <a:t>str1</a:t>
            </a:r>
            <a:r>
              <a:rPr lang="zh-CN" altLang="en-US">
                <a:latin typeface="Courier New" panose="02070309020205020404" pitchFamily="49" charset="0"/>
              </a:rPr>
              <a:t>和</a:t>
            </a:r>
            <a:r>
              <a:rPr lang="en-US" altLang="zh-CN">
                <a:latin typeface="Courier New" panose="02070309020205020404" pitchFamily="49" charset="0"/>
              </a:rPr>
              <a:t>str2</a:t>
            </a:r>
            <a:r>
              <a:rPr lang="zh-CN" altLang="en-US">
                <a:latin typeface="Courier New" panose="02070309020205020404" pitchFamily="49" charset="0"/>
              </a:rPr>
              <a:t>连接，将连接后得到的字符串作为函数的返回值</a:t>
            </a:r>
            <a:endParaRPr lang="en-US" altLang="zh-CN">
              <a:latin typeface="Courier New" panose="02070309020205020404" pitchFamily="49" charset="0"/>
            </a:endParaRPr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strcat(“abc”,”def”)</a:t>
            </a:r>
            <a:r>
              <a:rPr lang="zh-CN" altLang="en-US"/>
              <a:t>的返回值为</a:t>
            </a:r>
            <a:r>
              <a:rPr lang="en-US" altLang="zh-CN">
                <a:latin typeface="Courier New" panose="02070309020205020404" pitchFamily="49" charset="0"/>
              </a:rPr>
              <a:t>“abcdef”</a:t>
            </a:r>
            <a:endParaRPr lang="en-US" altLang="zh-CN">
              <a:latin typeface="Courier New" panose="02070309020205020404" pitchFamily="49" charset="0"/>
            </a:endParaRPr>
          </a:p>
          <a:p>
            <a:pPr lvl="2"/>
            <a:r>
              <a:rPr lang="en-US" altLang="zh-CN">
                <a:solidFill>
                  <a:srgbClr val="C00000"/>
                </a:solidFill>
              </a:rPr>
              <a:t>strcpy</a:t>
            </a:r>
            <a:r>
              <a:rPr lang="en-US" altLang="zh-CN"/>
              <a:t> ——</a:t>
            </a:r>
            <a:r>
              <a:rPr lang="zh-CN" altLang="en-US"/>
              <a:t>字符串拷贝，实现字符串的赋值</a:t>
            </a:r>
            <a:endParaRPr lang="en-US" altLang="zh-CN"/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strcpy(str1,str2)</a:t>
            </a:r>
            <a:r>
              <a:rPr lang="zh-CN" altLang="en-US">
                <a:latin typeface="Courier New" panose="02070309020205020404" pitchFamily="49" charset="0"/>
              </a:rPr>
              <a:t>将字符串</a:t>
            </a:r>
            <a:r>
              <a:rPr lang="en-US" altLang="zh-CN">
                <a:latin typeface="Courier New" panose="02070309020205020404" pitchFamily="49" charset="0"/>
              </a:rPr>
              <a:t>str2</a:t>
            </a:r>
            <a:r>
              <a:rPr lang="zh-CN" altLang="en-US">
                <a:latin typeface="Courier New" panose="02070309020205020404" pitchFamily="49" charset="0"/>
              </a:rPr>
              <a:t>赋值给</a:t>
            </a:r>
            <a:r>
              <a:rPr lang="en-US" altLang="zh-CN">
                <a:latin typeface="Courier New" panose="02070309020205020404" pitchFamily="49" charset="0"/>
              </a:rPr>
              <a:t>str1</a:t>
            </a:r>
            <a:endParaRPr lang="en-US" altLang="zh-CN">
              <a:latin typeface="Courier New" panose="02070309020205020404" pitchFamily="49" charset="0"/>
            </a:endParaRPr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strcpy(str1,”abc”)</a:t>
            </a:r>
            <a:r>
              <a:rPr lang="zh-CN" altLang="en-US">
                <a:latin typeface="Courier New" panose="02070309020205020404" pitchFamily="49" charset="0"/>
              </a:rPr>
              <a:t>将字符串</a:t>
            </a:r>
            <a:r>
              <a:rPr lang="en-US" altLang="zh-CN">
                <a:latin typeface="Courier New" panose="02070309020205020404" pitchFamily="49" charset="0"/>
              </a:rPr>
              <a:t>”abc”</a:t>
            </a:r>
            <a:r>
              <a:rPr lang="zh-CN" altLang="en-US">
                <a:latin typeface="Courier New" panose="02070309020205020404" pitchFamily="49" charset="0"/>
              </a:rPr>
              <a:t>赋值给字符串</a:t>
            </a:r>
            <a:r>
              <a:rPr lang="en-US" altLang="zh-CN">
                <a:latin typeface="Courier New" panose="02070309020205020404" pitchFamily="49" charset="0"/>
              </a:rPr>
              <a:t>str1</a:t>
            </a:r>
            <a:endParaRPr lang="en-US" altLang="zh-CN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6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字符数组与字符串</a:t>
            </a:r>
            <a:endParaRPr lang="en-US" altLang="zh-CN"/>
          </a:p>
          <a:p>
            <a:pPr lvl="1"/>
            <a:r>
              <a:rPr lang="zh-CN" altLang="en-US"/>
              <a:t>对字符串进行整体处理的最常用系统函数</a:t>
            </a:r>
            <a:endParaRPr lang="en-US" altLang="zh-CN"/>
          </a:p>
          <a:p>
            <a:pPr lvl="2"/>
            <a:r>
              <a:rPr lang="en-US" altLang="zh-CN">
                <a:solidFill>
                  <a:srgbClr val="C00000"/>
                </a:solidFill>
              </a:rPr>
              <a:t>strcmp</a:t>
            </a:r>
            <a:r>
              <a:rPr lang="en-US" altLang="zh-CN"/>
              <a:t> ——</a:t>
            </a:r>
            <a:r>
              <a:rPr lang="zh-CN" altLang="en-US"/>
              <a:t>字符串比较</a:t>
            </a:r>
            <a:endParaRPr lang="en-US" altLang="zh-CN"/>
          </a:p>
          <a:p>
            <a:pPr lvl="3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strcmp(str1,str2)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/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str1==str2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str2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的相同位置的每个字符都相同，而且长度相同。函数返回值为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altLang="zh-CN">
              <a:solidFill>
                <a:srgbClr val="233DA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/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str1&gt;str2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比较两个字符串第一个不相同的字符，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码大于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码。函数返回值为正整数</a:t>
            </a:r>
            <a:endParaRPr lang="en-US" altLang="zh-CN">
              <a:solidFill>
                <a:srgbClr val="233DA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/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str1&lt;str2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比较两个字符串第一个不相同的字符，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码小于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str1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</a:t>
            </a:r>
            <a:r>
              <a:rPr lang="zh-CN" altLang="en-US">
                <a:solidFill>
                  <a:srgbClr val="233D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码。函数返回值为负整数</a:t>
            </a:r>
            <a:endParaRPr lang="en-US" altLang="zh-CN">
              <a:solidFill>
                <a:srgbClr val="233DA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/>
              <a:t>使用这些函数时要包含</a:t>
            </a:r>
            <a:r>
              <a:rPr lang="zh-CN" altLang="en-US">
                <a:solidFill>
                  <a:srgbClr val="C00000"/>
                </a:solidFill>
              </a:rPr>
              <a:t>“</a:t>
            </a:r>
            <a:r>
              <a:rPr lang="en-US" altLang="zh-CN">
                <a:solidFill>
                  <a:srgbClr val="C00000"/>
                </a:solidFill>
              </a:rPr>
              <a:t>string.h”</a:t>
            </a:r>
            <a:r>
              <a:rPr lang="zh-CN" altLang="en-US"/>
              <a:t>头文件</a:t>
            </a:r>
            <a:endParaRPr lang="zh-CN" altLang="en-US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445968"/>
          </a:xfrm>
        </p:spPr>
        <p:txBody>
          <a:bodyPr/>
          <a:lstStyle/>
          <a:p>
            <a:r>
              <a:rPr lang="zh-CN" altLang="en-US" dirty="0"/>
              <a:t>字符串处理函数示例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iostream.h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a[20],b[20],c[40];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&lt;&lt;"Input string a: ";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&gt;&gt;a;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&lt;&lt;"The length of string a is "&lt;&lt;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&lt;&lt;"Input string b: ";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&gt;&gt;b;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&lt;&lt;"The length of string b is "&lt;&lt;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c,a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&lt;&lt;"string c: "&lt;&lt;c&lt;&lt;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altLang="zh-CN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</a:t>
            </a:r>
            <a:r>
              <a:rPr lang="zh-CN" alt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不相同，连接</a:t>
            </a:r>
            <a:r>
              <a:rPr lang="en-US" altLang="zh-CN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en-US" altLang="zh-CN" sz="18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c,b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c,a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&lt;&lt;"string c: "&lt;&lt;c&lt;&lt;</a:t>
            </a:r>
            <a:r>
              <a:rPr lang="en-US" altLang="zh-CN" sz="18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字符串类</a:t>
            </a:r>
            <a:endParaRPr lang="en-US" altLang="zh-CN"/>
          </a:p>
          <a:p>
            <a:pPr lvl="1"/>
            <a:r>
              <a:rPr lang="zh-CN" altLang="en-US"/>
              <a:t>不是基本数据类型</a:t>
            </a:r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 altLang="zh-CN"/>
              <a:t>C++</a:t>
            </a:r>
            <a:r>
              <a:rPr lang="zh-CN" altLang="en-US"/>
              <a:t>标准库中定义</a:t>
            </a:r>
            <a:endParaRPr lang="en-US" altLang="zh-CN"/>
          </a:p>
          <a:p>
            <a:pPr lvl="1"/>
            <a:r>
              <a:rPr lang="zh-CN" altLang="en-US"/>
              <a:t>可以作为数据类型使用</a:t>
            </a:r>
            <a:endParaRPr lang="en-US" altLang="zh-CN"/>
          </a:p>
          <a:p>
            <a:r>
              <a:rPr lang="zh-CN" altLang="en-US"/>
              <a:t>字符串变量</a:t>
            </a:r>
            <a:endParaRPr lang="en-US" altLang="zh-CN"/>
          </a:p>
          <a:p>
            <a:pPr lvl="1"/>
            <a:r>
              <a:rPr lang="zh-CN" altLang="en-US"/>
              <a:t>说明为字符串类型的变量</a:t>
            </a:r>
            <a:endParaRPr lang="en-US" altLang="zh-CN"/>
          </a:p>
          <a:p>
            <a:pPr lvl="1"/>
            <a:r>
              <a:rPr lang="zh-CN" altLang="en-US"/>
              <a:t>实际是字符串类的</a:t>
            </a:r>
            <a:r>
              <a:rPr lang="zh-CN" altLang="en-US">
                <a:solidFill>
                  <a:srgbClr val="C00000"/>
                </a:solidFill>
              </a:rPr>
              <a:t>对象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字符串类型的某些功能通过字符串类的成员函数实现</a:t>
            </a:r>
            <a:endParaRPr lang="zh-CN" altLang="en-US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84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说明字符串变量</a:t>
            </a:r>
            <a:endParaRPr lang="en-US" altLang="zh-CN"/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/>
              <a:t>字符串变量的初始化</a:t>
            </a:r>
            <a:endParaRPr lang="en-US" altLang="zh-CN"/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string str=“hello”;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字符串变量</a:t>
            </a:r>
            <a:r>
              <a:rPr lang="zh-CN" altLang="en-US">
                <a:solidFill>
                  <a:srgbClr val="C00000"/>
                </a:solidFill>
              </a:rPr>
              <a:t>不包含</a:t>
            </a:r>
            <a:r>
              <a:rPr lang="en-US" altLang="zh-CN"/>
              <a:t>\0</a:t>
            </a:r>
            <a:endParaRPr lang="en-US" altLang="zh-CN"/>
          </a:p>
          <a:p>
            <a:pPr lvl="1"/>
            <a:r>
              <a:rPr lang="zh-CN" altLang="en-US"/>
              <a:t>例如</a:t>
            </a:r>
            <a:endParaRPr lang="en-US" altLang="zh-CN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</a:rPr>
              <a:t>char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 astr[10]=“hello”;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string str=astr;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字符串变量</a:t>
            </a:r>
            <a:r>
              <a:rPr lang="en-US" altLang="zh-CN"/>
              <a:t>str</a:t>
            </a:r>
            <a:r>
              <a:rPr lang="zh-CN" altLang="en-US"/>
              <a:t>中不包括字符数组</a:t>
            </a:r>
            <a:r>
              <a:rPr lang="en-US" altLang="zh-CN"/>
              <a:t>astr</a:t>
            </a:r>
            <a:r>
              <a:rPr lang="zh-CN" altLang="en-US"/>
              <a:t>中的</a:t>
            </a:r>
            <a:r>
              <a:rPr lang="en-US" altLang="zh-CN"/>
              <a:t>\0</a:t>
            </a:r>
            <a:endParaRPr lang="en-US" altLang="zh-CN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9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操作字符串变量</a:t>
            </a:r>
            <a:endParaRPr lang="en-US" altLang="zh-CN" dirty="0"/>
          </a:p>
          <a:p>
            <a:pPr lvl="1"/>
            <a:r>
              <a:rPr lang="zh-CN" altLang="en-US" dirty="0"/>
              <a:t>访问字符串中的字符</a:t>
            </a:r>
            <a:endParaRPr lang="en-US" altLang="zh-CN" dirty="0"/>
          </a:p>
          <a:p>
            <a:pPr lvl="2"/>
            <a:r>
              <a:rPr lang="zh-CN" altLang="en-US" dirty="0"/>
              <a:t>字符数组下标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word =“Then”;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word[2] = ‘a’;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字符串变量的值变为：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“Than”</a:t>
            </a:r>
            <a:endParaRPr lang="en-US" altLang="zh-CN" dirty="0"/>
          </a:p>
          <a:p>
            <a:pPr lvl="1"/>
            <a:r>
              <a:rPr lang="zh-CN" altLang="en-US" dirty="0"/>
              <a:t>输入输出</a:t>
            </a:r>
            <a:endParaRPr lang="en-US" altLang="zh-CN" dirty="0"/>
          </a:p>
          <a:p>
            <a:pPr lvl="2"/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</a:rPr>
              <a:t>cin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&gt;&gt;word;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altLang="zh-CN" dirty="0" err="1">
                <a:solidFill>
                  <a:schemeClr val="tx2"/>
                </a:solidFill>
                <a:latin typeface="Courier New" panose="02070309020205020404" pitchFamily="49" charset="0"/>
              </a:rPr>
              <a:t>cout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&lt;&lt;word;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0467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543925" cy="5029200"/>
          </a:xfrm>
        </p:spPr>
        <p:txBody>
          <a:bodyPr/>
          <a:lstStyle/>
          <a:p>
            <a:r>
              <a:rPr lang="zh-CN" altLang="en-US"/>
              <a:t>操作字符串变量</a:t>
            </a:r>
            <a:endParaRPr lang="en-US" altLang="zh-CN"/>
          </a:p>
          <a:p>
            <a:pPr lvl="1"/>
            <a:r>
              <a:rPr lang="zh-CN" altLang="en-US"/>
              <a:t>计算长度</a:t>
            </a:r>
            <a:endParaRPr lang="en-US" altLang="zh-CN"/>
          </a:p>
          <a:p>
            <a:pPr lvl="2"/>
            <a:r>
              <a:rPr lang="zh-CN" altLang="en-US"/>
              <a:t>调用字符串类的成员函数</a:t>
            </a:r>
            <a:r>
              <a:rPr lang="en-US" altLang="zh-CN"/>
              <a:t>length()</a:t>
            </a:r>
            <a:endParaRPr lang="en-US" altLang="zh-CN"/>
          </a:p>
          <a:p>
            <a:pPr lvl="2"/>
            <a:r>
              <a:rPr lang="zh-CN" altLang="en-US"/>
              <a:t>例如：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word.length()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/>
              <a:t>连接</a:t>
            </a:r>
            <a:endParaRPr lang="en-US" altLang="zh-CN"/>
          </a:p>
          <a:p>
            <a:pPr lvl="2"/>
            <a:r>
              <a:rPr lang="zh-CN" altLang="en-US"/>
              <a:t>重载算术运算符“</a:t>
            </a:r>
            <a:r>
              <a:rPr lang="en-US" altLang="zh-CN"/>
              <a:t>+</a:t>
            </a:r>
            <a:r>
              <a:rPr lang="zh-CN" altLang="en-US"/>
              <a:t>”</a:t>
            </a:r>
            <a:endParaRPr lang="en-US" altLang="zh-CN"/>
          </a:p>
          <a:p>
            <a:pPr lvl="2"/>
            <a:r>
              <a:rPr lang="zh-CN" altLang="en-US"/>
              <a:t>例如</a:t>
            </a:r>
            <a:endParaRPr lang="en-US" altLang="zh-CN"/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string word1 = “hello”;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string word2 = “ C++”;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string word3 = word1 + word2;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cout&lt;&lt;word3&lt;&lt;endl;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</a:rPr>
              <a:t>//word3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</a:rPr>
              <a:t>为：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</a:rPr>
              <a:t>”hello C++”</a:t>
            </a:r>
            <a:endParaRPr lang="en-US" altLang="zh-CN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1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操作字符串变量</a:t>
            </a:r>
            <a:endParaRPr lang="en-US" altLang="zh-CN"/>
          </a:p>
          <a:p>
            <a:pPr lvl="1"/>
            <a:r>
              <a:rPr lang="zh-CN" altLang="en-US"/>
              <a:t>赋值</a:t>
            </a:r>
            <a:endParaRPr lang="en-US" altLang="zh-CN"/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word1=“hello”;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word2=word1;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word1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值赋给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word2</a:t>
            </a:r>
            <a:endParaRPr lang="en-US" altLang="zh-CN">
              <a:solidFill>
                <a:srgbClr val="00B050"/>
              </a:solidFill>
            </a:endParaRPr>
          </a:p>
          <a:p>
            <a:pPr lvl="1"/>
            <a:r>
              <a:rPr lang="zh-CN" altLang="en-US"/>
              <a:t>比较</a:t>
            </a:r>
            <a:endParaRPr lang="en-US" altLang="zh-CN"/>
          </a:p>
          <a:p>
            <a:pPr lvl="2"/>
            <a:r>
              <a:rPr lang="zh-CN" altLang="en-US"/>
              <a:t>重载关系运算符：</a:t>
            </a:r>
            <a:r>
              <a:rPr lang="en-US" altLang="zh-CN"/>
              <a:t>==</a:t>
            </a:r>
            <a:r>
              <a:rPr lang="zh-CN" altLang="en-US"/>
              <a:t>、</a:t>
            </a:r>
            <a:r>
              <a:rPr lang="en-US" altLang="zh-CN"/>
              <a:t>&gt;</a:t>
            </a:r>
            <a:r>
              <a:rPr lang="zh-CN" altLang="en-US"/>
              <a:t>、</a:t>
            </a:r>
            <a:r>
              <a:rPr lang="en-US" altLang="zh-CN"/>
              <a:t>&lt;</a:t>
            </a:r>
            <a:r>
              <a:rPr lang="zh-CN" altLang="en-US"/>
              <a:t>、</a:t>
            </a:r>
            <a:r>
              <a:rPr lang="en-US" altLang="zh-CN"/>
              <a:t>!=</a:t>
            </a:r>
            <a:r>
              <a:rPr lang="zh-CN" altLang="en-US"/>
              <a:t>、</a:t>
            </a:r>
            <a:r>
              <a:rPr lang="en-US" altLang="zh-CN"/>
              <a:t>&gt;=</a:t>
            </a:r>
            <a:r>
              <a:rPr lang="zh-CN" altLang="en-US"/>
              <a:t>、</a:t>
            </a:r>
            <a:r>
              <a:rPr lang="en-US" altLang="zh-CN"/>
              <a:t>&lt;=</a:t>
            </a:r>
            <a:r>
              <a:rPr lang="zh-CN" altLang="en-US"/>
              <a:t>、</a:t>
            </a:r>
            <a:endParaRPr lang="en-US" altLang="zh-CN"/>
          </a:p>
          <a:p>
            <a:pPr lvl="2"/>
            <a:r>
              <a:rPr lang="zh-CN" altLang="en-US"/>
              <a:t>各种关系的含义如前文所述（见讲稿</a:t>
            </a:r>
            <a:r>
              <a:rPr lang="en-US" altLang="zh-CN"/>
              <a:t>P171</a:t>
            </a:r>
            <a:r>
              <a:rPr lang="zh-CN" altLang="en-US"/>
              <a:t>）</a:t>
            </a:r>
            <a:endParaRPr lang="en-US" altLang="zh-CN"/>
          </a:p>
          <a:p>
            <a:pPr lvl="2"/>
            <a:r>
              <a:rPr lang="zh-CN" altLang="en-US"/>
              <a:t>构造关于字符串的关系表达式</a:t>
            </a: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字符串类型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2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字符串数组</a:t>
            </a:r>
            <a:endParaRPr lang="en-US" altLang="zh-CN"/>
          </a:p>
          <a:p>
            <a:pPr lvl="1"/>
            <a:r>
              <a:rPr lang="zh-CN" altLang="en-US"/>
              <a:t>说明</a:t>
            </a:r>
            <a:endParaRPr lang="en-US" altLang="zh-CN"/>
          </a:p>
          <a:p>
            <a:pPr lvl="2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string str[10];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/>
              <a:t>初始化</a:t>
            </a:r>
            <a:endParaRPr lang="en-US" altLang="zh-CN"/>
          </a:p>
          <a:p>
            <a:pPr lvl="2"/>
            <a:r>
              <a:rPr lang="en-US" altLang="zh-CN">
                <a:latin typeface="Courier New" panose="02070309020205020404" pitchFamily="49" charset="0"/>
              </a:rPr>
              <a:t>string str[10]={“zhao”,“qian”};</a:t>
            </a:r>
            <a:endParaRPr lang="en-US" altLang="zh-CN"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赋值</a:t>
            </a:r>
            <a:endParaRPr lang="en-US" altLang="zh-CN"/>
          </a:p>
          <a:p>
            <a:pPr lvl="2"/>
            <a:r>
              <a:rPr lang="en-US" altLang="zh-CN">
                <a:latin typeface="Courier New" panose="02070309020205020404" pitchFamily="49" charset="0"/>
              </a:rPr>
              <a:t>str[2]=“sun”;</a:t>
            </a:r>
            <a:endParaRPr lang="en-US" altLang="zh-CN"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存储方式</a:t>
            </a:r>
            <a:endParaRPr lang="en-US" altLang="zh-CN"/>
          </a:p>
          <a:p>
            <a:pPr lvl="2"/>
            <a:r>
              <a:rPr lang="en-US" altLang="zh-CN"/>
              <a:t>Visual C++</a:t>
            </a:r>
            <a:r>
              <a:rPr lang="zh-CN" altLang="en-US"/>
              <a:t>编译器为字符串类型变量分配</a:t>
            </a:r>
            <a:r>
              <a:rPr lang="en-US" altLang="zh-CN"/>
              <a:t>16Byte</a:t>
            </a:r>
            <a:r>
              <a:rPr lang="zh-CN" altLang="en-US"/>
              <a:t>的存储空间，存储字符串在内存中的地址</a:t>
            </a:r>
            <a:endParaRPr lang="zh-CN" altLang="en-US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数组溢出问题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5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数值型数组溢出</a:t>
            </a:r>
            <a:endParaRPr lang="en-US" altLang="zh-CN" dirty="0"/>
          </a:p>
          <a:p>
            <a:pPr lvl="1"/>
            <a:r>
              <a:rPr lang="zh-CN" altLang="en-US" dirty="0"/>
              <a:t>整型</a:t>
            </a:r>
            <a:endParaRPr lang="en-US" altLang="zh-CN" dirty="0"/>
          </a:p>
          <a:p>
            <a:pPr lvl="1"/>
            <a:r>
              <a:rPr lang="zh-CN" altLang="en-US" dirty="0"/>
              <a:t>浮点型</a:t>
            </a:r>
            <a:endParaRPr lang="en-US" altLang="zh-CN" dirty="0"/>
          </a:p>
          <a:p>
            <a:r>
              <a:rPr lang="zh-CN" altLang="en-US" dirty="0"/>
              <a:t>字符数组溢出</a:t>
            </a:r>
            <a:endParaRPr lang="en-US" altLang="zh-CN" dirty="0"/>
          </a:p>
          <a:p>
            <a:r>
              <a:rPr lang="zh-CN" altLang="en-US" dirty="0"/>
              <a:t>字符串数组溢出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章 基本控制结构与导出数据类型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96611" name="Group 3"/>
          <p:cNvGrpSpPr/>
          <p:nvPr/>
        </p:nvGrpSpPr>
        <p:grpSpPr bwMode="auto">
          <a:xfrm>
            <a:off x="1828800" y="1477963"/>
            <a:ext cx="762000" cy="665162"/>
            <a:chOff x="1110" y="2656"/>
            <a:chExt cx="1549" cy="1351"/>
          </a:xfrm>
        </p:grpSpPr>
        <p:sp>
          <p:nvSpPr>
            <p:cNvPr id="196652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53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96612" name="Group 7"/>
          <p:cNvGrpSpPr/>
          <p:nvPr/>
        </p:nvGrpSpPr>
        <p:grpSpPr bwMode="auto">
          <a:xfrm>
            <a:off x="1828800" y="2314575"/>
            <a:ext cx="762000" cy="665163"/>
            <a:chOff x="3174" y="2656"/>
            <a:chExt cx="1549" cy="1351"/>
          </a:xfrm>
        </p:grpSpPr>
        <p:sp>
          <p:nvSpPr>
            <p:cNvPr id="196649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50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96613" name="Line 11"/>
          <p:cNvSpPr>
            <a:spLocks noChangeShapeType="1"/>
          </p:cNvSpPr>
          <p:nvPr/>
        </p:nvSpPr>
        <p:spPr bwMode="auto">
          <a:xfrm>
            <a:off x="2438400" y="20875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4" name="Text Box 12"/>
          <p:cNvSpPr txBox="1">
            <a:spLocks noChangeArrowheads="1"/>
          </p:cNvSpPr>
          <p:nvPr/>
        </p:nvSpPr>
        <p:spPr bwMode="auto">
          <a:xfrm>
            <a:off x="2667000" y="1554163"/>
            <a:ext cx="26098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/>
              <a:t>C++</a:t>
            </a:r>
            <a:r>
              <a:rPr lang="zh-CN" altLang="en-US" sz="3200" b="1"/>
              <a:t>语句概述</a:t>
            </a:r>
            <a:endParaRPr lang="en-US" altLang="zh-CN" sz="3200" b="1"/>
          </a:p>
        </p:txBody>
      </p:sp>
      <p:sp>
        <p:nvSpPr>
          <p:cNvPr id="196615" name="Text Box 13"/>
          <p:cNvSpPr txBox="1">
            <a:spLocks noChangeArrowheads="1"/>
          </p:cNvSpPr>
          <p:nvPr/>
        </p:nvSpPr>
        <p:spPr bwMode="gray">
          <a:xfrm>
            <a:off x="2025650" y="15763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1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96616" name="Line 14"/>
          <p:cNvSpPr>
            <a:spLocks noChangeShapeType="1"/>
          </p:cNvSpPr>
          <p:nvPr/>
        </p:nvSpPr>
        <p:spPr bwMode="auto">
          <a:xfrm>
            <a:off x="2438400" y="292417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7" name="Text Box 15"/>
          <p:cNvSpPr txBox="1">
            <a:spLocks noChangeArrowheads="1"/>
          </p:cNvSpPr>
          <p:nvPr/>
        </p:nvSpPr>
        <p:spPr bwMode="auto">
          <a:xfrm>
            <a:off x="2667000" y="2390775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分支语句</a:t>
            </a:r>
            <a:endParaRPr lang="en-US" altLang="zh-CN" sz="3200" b="1"/>
          </a:p>
        </p:txBody>
      </p:sp>
      <p:sp>
        <p:nvSpPr>
          <p:cNvPr id="196618" name="Text Box 16"/>
          <p:cNvSpPr txBox="1">
            <a:spLocks noChangeArrowheads="1"/>
          </p:cNvSpPr>
          <p:nvPr/>
        </p:nvSpPr>
        <p:spPr bwMode="gray">
          <a:xfrm>
            <a:off x="2025650" y="241300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2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96619" name="Group 17"/>
          <p:cNvGrpSpPr/>
          <p:nvPr/>
        </p:nvGrpSpPr>
        <p:grpSpPr bwMode="auto">
          <a:xfrm>
            <a:off x="1828800" y="3206750"/>
            <a:ext cx="762000" cy="665163"/>
            <a:chOff x="1110" y="2656"/>
            <a:chExt cx="1549" cy="1351"/>
          </a:xfrm>
        </p:grpSpPr>
        <p:sp>
          <p:nvSpPr>
            <p:cNvPr id="196646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47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96620" name="Group 21"/>
          <p:cNvGrpSpPr/>
          <p:nvPr/>
        </p:nvGrpSpPr>
        <p:grpSpPr bwMode="auto">
          <a:xfrm>
            <a:off x="1828800" y="4071938"/>
            <a:ext cx="762000" cy="665162"/>
            <a:chOff x="3174" y="2656"/>
            <a:chExt cx="1549" cy="1351"/>
          </a:xfrm>
        </p:grpSpPr>
        <p:sp>
          <p:nvSpPr>
            <p:cNvPr id="196643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44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96621" name="Line 25"/>
          <p:cNvSpPr>
            <a:spLocks noChangeShapeType="1"/>
          </p:cNvSpPr>
          <p:nvPr/>
        </p:nvSpPr>
        <p:spPr bwMode="auto">
          <a:xfrm>
            <a:off x="2438400" y="38163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2" name="Text Box 26"/>
          <p:cNvSpPr txBox="1">
            <a:spLocks noChangeArrowheads="1"/>
          </p:cNvSpPr>
          <p:nvPr/>
        </p:nvSpPr>
        <p:spPr bwMode="auto">
          <a:xfrm>
            <a:off x="2667000" y="3282950"/>
            <a:ext cx="1831975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循环语句</a:t>
            </a:r>
            <a:endParaRPr lang="en-US" altLang="zh-CN" sz="3200" b="1"/>
          </a:p>
        </p:txBody>
      </p:sp>
      <p:sp>
        <p:nvSpPr>
          <p:cNvPr id="196623" name="Text Box 27"/>
          <p:cNvSpPr txBox="1">
            <a:spLocks noChangeArrowheads="1"/>
          </p:cNvSpPr>
          <p:nvPr/>
        </p:nvSpPr>
        <p:spPr bwMode="gray">
          <a:xfrm>
            <a:off x="2025650" y="33051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3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96624" name="Line 28"/>
          <p:cNvSpPr>
            <a:spLocks noChangeShapeType="1"/>
          </p:cNvSpPr>
          <p:nvPr/>
        </p:nvSpPr>
        <p:spPr bwMode="auto">
          <a:xfrm>
            <a:off x="2438400" y="46815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5" name="Text Box 29"/>
          <p:cNvSpPr txBox="1">
            <a:spLocks noChangeArrowheads="1"/>
          </p:cNvSpPr>
          <p:nvPr/>
        </p:nvSpPr>
        <p:spPr bwMode="auto">
          <a:xfrm>
            <a:off x="2667000" y="4148138"/>
            <a:ext cx="3068638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无条件转向语句</a:t>
            </a:r>
            <a:endParaRPr lang="en-US" altLang="zh-CN" sz="3200" b="1"/>
          </a:p>
        </p:txBody>
      </p:sp>
      <p:sp>
        <p:nvSpPr>
          <p:cNvPr id="196626" name="Text Box 30"/>
          <p:cNvSpPr txBox="1">
            <a:spLocks noChangeArrowheads="1"/>
          </p:cNvSpPr>
          <p:nvPr/>
        </p:nvSpPr>
        <p:spPr bwMode="gray">
          <a:xfrm>
            <a:off x="2025650" y="41703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grpSp>
        <p:nvGrpSpPr>
          <p:cNvPr id="196629" name="Group 17"/>
          <p:cNvGrpSpPr/>
          <p:nvPr/>
        </p:nvGrpSpPr>
        <p:grpSpPr bwMode="auto">
          <a:xfrm>
            <a:off x="1828800" y="4921250"/>
            <a:ext cx="762000" cy="665163"/>
            <a:chOff x="1110" y="2656"/>
            <a:chExt cx="1549" cy="1351"/>
          </a:xfrm>
        </p:grpSpPr>
        <p:sp>
          <p:nvSpPr>
            <p:cNvPr id="196640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41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96630" name="Group 21"/>
          <p:cNvGrpSpPr/>
          <p:nvPr/>
        </p:nvGrpSpPr>
        <p:grpSpPr bwMode="auto">
          <a:xfrm>
            <a:off x="1828800" y="5764213"/>
            <a:ext cx="762000" cy="665162"/>
            <a:chOff x="3174" y="2656"/>
            <a:chExt cx="1549" cy="1351"/>
          </a:xfrm>
        </p:grpSpPr>
        <p:sp>
          <p:nvSpPr>
            <p:cNvPr id="196637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8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96631" name="Line 25"/>
          <p:cNvSpPr>
            <a:spLocks noChangeShapeType="1"/>
          </p:cNvSpPr>
          <p:nvPr/>
        </p:nvSpPr>
        <p:spPr bwMode="auto">
          <a:xfrm>
            <a:off x="2438400" y="553085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2" name="Text Box 26"/>
          <p:cNvSpPr txBox="1">
            <a:spLocks noChangeArrowheads="1"/>
          </p:cNvSpPr>
          <p:nvPr/>
        </p:nvSpPr>
        <p:spPr bwMode="auto">
          <a:xfrm>
            <a:off x="2667000" y="4997450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/>
              <a:t>导出数据类型和数组</a:t>
            </a:r>
            <a:endParaRPr lang="en-US" altLang="zh-CN" sz="3200" b="1"/>
          </a:p>
        </p:txBody>
      </p:sp>
      <p:sp>
        <p:nvSpPr>
          <p:cNvPr id="196633" name="Text Box 27"/>
          <p:cNvSpPr txBox="1">
            <a:spLocks noChangeArrowheads="1"/>
          </p:cNvSpPr>
          <p:nvPr/>
        </p:nvSpPr>
        <p:spPr bwMode="gray">
          <a:xfrm>
            <a:off x="2025650" y="5019675"/>
            <a:ext cx="355600" cy="461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5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196634" name="Line 28"/>
          <p:cNvSpPr>
            <a:spLocks noChangeShapeType="1"/>
          </p:cNvSpPr>
          <p:nvPr/>
        </p:nvSpPr>
        <p:spPr bwMode="auto">
          <a:xfrm>
            <a:off x="2438400" y="637381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5" name="Text Box 29"/>
          <p:cNvSpPr txBox="1">
            <a:spLocks noChangeArrowheads="1"/>
          </p:cNvSpPr>
          <p:nvPr/>
        </p:nvSpPr>
        <p:spPr bwMode="auto">
          <a:xfrm>
            <a:off x="2667000" y="5840413"/>
            <a:ext cx="3892550" cy="5842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C00000"/>
                </a:solidFill>
              </a:rPr>
              <a:t>结构类型与联合类型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96636" name="Text Box 30"/>
          <p:cNvSpPr txBox="1">
            <a:spLocks noChangeArrowheads="1"/>
          </p:cNvSpPr>
          <p:nvPr/>
        </p:nvSpPr>
        <p:spPr bwMode="gray">
          <a:xfrm>
            <a:off x="2025650" y="5862638"/>
            <a:ext cx="355600" cy="461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</a:rPr>
              <a:t>6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763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05413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4.35】</a:t>
            </a:r>
            <a:r>
              <a:rPr lang="zh-CN" altLang="en-US" dirty="0">
                <a:solidFill>
                  <a:srgbClr val="C00000"/>
                </a:solidFill>
              </a:rPr>
              <a:t>已知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>
                <a:solidFill>
                  <a:srgbClr val="C00000"/>
                </a:solidFill>
              </a:rPr>
              <a:t>个学生的注册号和成绩，计算他们的平均成绩，并列出成绩最好的前</a:t>
            </a:r>
            <a:r>
              <a:rPr lang="en-US" altLang="zh-CN" dirty="0">
                <a:solidFill>
                  <a:srgbClr val="C00000"/>
                </a:solidFill>
              </a:rPr>
              <a:t>t</a:t>
            </a:r>
            <a:r>
              <a:rPr lang="zh-CN" altLang="en-US" dirty="0">
                <a:solidFill>
                  <a:srgbClr val="C00000"/>
                </a:solidFill>
              </a:rPr>
              <a:t>名学生的注册号和分数（教材</a:t>
            </a:r>
            <a:r>
              <a:rPr lang="en-US" altLang="zh-CN" dirty="0">
                <a:solidFill>
                  <a:srgbClr val="C00000"/>
                </a:solidFill>
              </a:rPr>
              <a:t>P108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Input 6 student's </a:t>
            </a:r>
            <a:r>
              <a:rPr lang="en-US" altLang="zh-CN" sz="1800" dirty="0" err="1">
                <a:solidFill>
                  <a:schemeClr val="tx2"/>
                </a:solidFill>
                <a:latin typeface="宋体" panose="02010600030101010101" pitchFamily="2" charset="-122"/>
              </a:rPr>
              <a:t>Reg_Num</a:t>
            </a: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 &amp; Score: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1001 88.5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1002 91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1003 85.5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1004 93.5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1005 85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1006 96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Average score:89.9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   register-number  score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1       1006        96.0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2       1004        93.5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宋体" panose="02010600030101010101" pitchFamily="2" charset="-122"/>
              </a:rPr>
              <a:t>3       1002        91.0</a:t>
            </a:r>
            <a:endParaRPr lang="zh-CN" altLang="en-US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86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n=6;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共有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t=3;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欲找出前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名最好成绩者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index[n];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index，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存放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个学生的注册号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float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score[n];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score，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存放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个学生的成绩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cout&lt;&lt;"Input "&lt;&lt;n&lt;&lt;" student's Reg_Num &amp; Score:"&lt;&lt;endl;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i=0; i&lt;n; i++)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个学生的注册号及成绩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cin&gt;&gt;index[i]&gt;&gt;score[i];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96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72488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float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sum=0;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放累加和的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先置为0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(i=0; i&lt;n; i++)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+= score[i];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个学生的成绩累加到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cout.setf(ios::fixed);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设置以定点数格式输出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cout.precision(1);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点后保留1位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输出平均成绩</a:t>
            </a: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cout&lt;&lt;“Average score:”&lt;&lt;sum/n&lt;&lt;endl;	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cout.width(25);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输出“题头行”</a:t>
            </a:r>
            <a:endParaRPr lang="en-US" altLang="zh-CN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cout&lt;&lt;"register-number score";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zh-CN" altLang="en-US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</a:pPr>
            <a:endParaRPr lang="zh-CN" altLang="en-US" sz="240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0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(i=0; i&lt;t; i++) {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找出前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名最好者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分量始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中的最大者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= score[i];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 = i;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//j1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中记录上述最大者的下标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看还有否比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更大的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j=i+1; j&lt;n; j++){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if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(s&lt;score[j]) {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有更大的时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s=score[j];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更大者放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	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j1=j;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对应下标放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j 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17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(j1&gt;i) {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score[i]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到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score[n-1]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中的最大者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//并非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score[i]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时，要进行交换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score[j1] = score[i];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score[i] =s ;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score[i]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交换为最大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 = index[j1];  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交换注册号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index[j1] = index[i];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index[i] = tmp;  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275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543925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cout.width(4);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输出名次号（前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名的第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名）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cout&lt;&lt;endl&lt;&lt;i+1; </a:t>
            </a:r>
            <a:endParaRPr lang="zh-CN" altLang="en-US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cout.width(11);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cout&lt;&lt;index[i];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输出第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名学生的注册号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cout.width(12);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cout.precision(1);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点后保留1位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cout&lt;&lt;score[i];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输出第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i+1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名学生的成绩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 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i 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zh-CN" altLang="en-US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cout&lt;&lt;endl;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		</a:t>
            </a:r>
            <a:r>
              <a:rPr lang="en-US" altLang="zh-CN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//main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结束</a:t>
            </a:r>
            <a:endParaRPr lang="en-US" altLang="zh-CN" sz="240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3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含义</a:t>
            </a:r>
            <a:endParaRPr lang="en-US" altLang="zh-CN"/>
          </a:p>
          <a:p>
            <a:pPr lvl="1" eaLnBrk="1" hangingPunct="1"/>
            <a:r>
              <a:rPr lang="zh-CN" altLang="en-US"/>
              <a:t>将不同类型的数据组合在一起的导出数据类型</a:t>
            </a:r>
            <a:endParaRPr lang="en-US" altLang="zh-CN"/>
          </a:p>
          <a:p>
            <a:pPr lvl="1" eaLnBrk="1" hangingPunct="1"/>
            <a:r>
              <a:rPr lang="zh-CN" altLang="en-US"/>
              <a:t>例如，一个公司雇员的数据可能包括：</a:t>
            </a:r>
            <a:endParaRPr lang="en-US" altLang="zh-CN"/>
          </a:p>
          <a:p>
            <a:pPr lvl="2" eaLnBrk="1" hangingPunct="1"/>
            <a:r>
              <a:rPr lang="en-US" altLang="zh-CN"/>
              <a:t>char name[20];</a:t>
            </a:r>
            <a:endParaRPr lang="en-US" altLang="zh-CN"/>
          </a:p>
          <a:p>
            <a:pPr lvl="2" eaLnBrk="1" hangingPunct="1"/>
            <a:r>
              <a:rPr lang="en-US" altLang="zh-CN"/>
              <a:t>enum sexType {male,female} sex;</a:t>
            </a:r>
            <a:endParaRPr lang="en-US" altLang="zh-CN"/>
          </a:p>
          <a:p>
            <a:pPr lvl="2" eaLnBrk="1" hangingPunct="1"/>
            <a:r>
              <a:rPr lang="en-US" altLang="zh-CN"/>
              <a:t>float salary;</a:t>
            </a:r>
            <a:endParaRPr lang="en-US" altLang="zh-CN"/>
          </a:p>
          <a:p>
            <a:pPr lvl="2" eaLnBrk="1" hangingPunct="1"/>
            <a:r>
              <a:rPr lang="en-US" altLang="zh-CN"/>
              <a:t>char phone[12];</a:t>
            </a:r>
            <a:endParaRPr lang="zh-CN" altLang="en-US"/>
          </a:p>
        </p:txBody>
      </p:sp>
      <p:pic>
        <p:nvPicPr>
          <p:cNvPr id="203782" name="Object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57688" y="4357688"/>
            <a:ext cx="4171950" cy="190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637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75" y="4786313"/>
            <a:ext cx="20764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结构类型的定义</a:t>
            </a:r>
            <a:endParaRPr lang="en-US" altLang="zh-CN"/>
          </a:p>
          <a:p>
            <a:pPr lvl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结构类型名称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{ &lt;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成员列表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};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/>
              <a:t>类型名：标示符，可看作一种</a:t>
            </a:r>
            <a:r>
              <a:rPr lang="zh-CN" altLang="en-US">
                <a:solidFill>
                  <a:srgbClr val="FF0000"/>
                </a:solidFill>
              </a:rPr>
              <a:t>新的</a:t>
            </a:r>
            <a:r>
              <a:rPr lang="zh-CN" altLang="en-US"/>
              <a:t>“数据类型”</a:t>
            </a:r>
            <a:endParaRPr lang="en-US" altLang="zh-CN"/>
          </a:p>
          <a:p>
            <a:pPr lvl="2"/>
            <a:r>
              <a:rPr lang="zh-CN" altLang="en-US"/>
              <a:t>成员表：&lt;类型</a:t>
            </a:r>
            <a:r>
              <a:rPr lang="en-US" altLang="zh-CN"/>
              <a:t>&gt;&lt;</a:t>
            </a:r>
            <a:r>
              <a:rPr lang="zh-CN" altLang="en-US"/>
              <a:t>成员1&gt;;… &lt;类型</a:t>
            </a:r>
            <a:r>
              <a:rPr lang="en-US" altLang="zh-CN"/>
              <a:t>&gt;&lt;</a:t>
            </a:r>
            <a:r>
              <a:rPr lang="zh-CN" altLang="en-US"/>
              <a:t>成员1&gt;;</a:t>
            </a:r>
            <a:endParaRPr lang="en-US" altLang="zh-CN"/>
          </a:p>
          <a:p>
            <a:pPr lvl="3"/>
            <a:r>
              <a:rPr lang="zh-CN" altLang="en-US"/>
              <a:t>成员的数据类型可以是该结构类型，也可以是其它结构类型</a:t>
            </a:r>
            <a:endParaRPr lang="zh-CN" altLang="en-US"/>
          </a:p>
          <a:p>
            <a:r>
              <a:rPr lang="zh-CN" altLang="en-US"/>
              <a:t>结构类型变量的说明</a:t>
            </a:r>
            <a:endParaRPr lang="en-US" altLang="zh-CN"/>
          </a:p>
          <a:p>
            <a:pPr lvl="1"/>
            <a:r>
              <a:rPr lang="en-US" altLang="zh-CN">
                <a:latin typeface="Courier New" panose="02070309020205020404" pitchFamily="49" charset="0"/>
              </a:rPr>
              <a:t>[struct] 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</a:rPr>
              <a:t>结构类型名称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 &lt;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</a:rPr>
              <a:t>变量列表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&gt;;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</a:rPr>
              <a:t>结构类型定义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zh-CN" altLang="en-US">
                <a:solidFill>
                  <a:schemeClr val="tx2"/>
                </a:solidFill>
                <a:latin typeface="Courier New" panose="02070309020205020404" pitchFamily="49" charset="0"/>
              </a:rPr>
              <a:t>结构类型变量表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&gt;;</a:t>
            </a:r>
            <a:endParaRPr lang="en-US" altLang="zh-CN"/>
          </a:p>
          <a:p>
            <a:pPr lvl="1"/>
            <a:endParaRPr lang="zh-CN" altLang="en-US"/>
          </a:p>
        </p:txBody>
      </p:sp>
      <p:pic>
        <p:nvPicPr>
          <p:cNvPr id="204806" name="Object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8625" y="5580063"/>
            <a:ext cx="8266113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结构类型变量的说明</a:t>
            </a:r>
            <a:endParaRPr lang="zh-CN" altLang="en-US"/>
          </a:p>
        </p:txBody>
      </p:sp>
      <p:pic>
        <p:nvPicPr>
          <p:cNvPr id="205830" name="Object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84200" y="2014538"/>
            <a:ext cx="7977188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685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329613" cy="5029200"/>
          </a:xfrm>
        </p:spPr>
        <p:txBody>
          <a:bodyPr/>
          <a:lstStyle/>
          <a:p>
            <a:r>
              <a:rPr lang="zh-CN" altLang="en-US"/>
              <a:t>结构类型变量的初始化</a:t>
            </a:r>
            <a:endParaRPr lang="en-US" altLang="zh-CN"/>
          </a:p>
          <a:p>
            <a:pPr lvl="1"/>
            <a:r>
              <a:rPr lang="en-US" altLang="zh-CN"/>
              <a:t>&lt;</a:t>
            </a:r>
            <a:r>
              <a:rPr lang="zh-CN" altLang="en-US"/>
              <a:t>结构类型名</a:t>
            </a:r>
            <a:r>
              <a:rPr lang="en-US" altLang="zh-CN"/>
              <a:t>&gt; &lt;</a:t>
            </a:r>
            <a:r>
              <a:rPr lang="zh-CN" altLang="en-US"/>
              <a:t>结构变量名</a:t>
            </a:r>
            <a:r>
              <a:rPr lang="en-US" altLang="zh-CN"/>
              <a:t>&gt; = &lt;</a:t>
            </a:r>
            <a:r>
              <a:rPr lang="zh-CN" altLang="en-US"/>
              <a:t>初始化列表</a:t>
            </a:r>
            <a:r>
              <a:rPr lang="en-US" altLang="zh-CN"/>
              <a:t>&gt;;</a:t>
            </a:r>
            <a:endParaRPr lang="en-US" altLang="zh-CN"/>
          </a:p>
          <a:p>
            <a:pPr lvl="2"/>
            <a:r>
              <a:rPr lang="zh-CN" altLang="en-US"/>
              <a:t>初始化列表形式为：</a:t>
            </a:r>
            <a:endParaRPr lang="en-US" altLang="zh-CN"/>
          </a:p>
          <a:p>
            <a:pPr lvl="2" algn="ctr">
              <a:buFontTx/>
              <a:buNone/>
            </a:pPr>
            <a:r>
              <a:rPr lang="en-US" altLang="zh-CN"/>
              <a:t>{</a:t>
            </a:r>
            <a:r>
              <a:rPr lang="zh-CN" altLang="en-US"/>
              <a:t>成员</a:t>
            </a:r>
            <a:r>
              <a:rPr lang="en-US" altLang="zh-CN"/>
              <a:t>1</a:t>
            </a:r>
            <a:r>
              <a:rPr lang="zh-CN" altLang="en-US"/>
              <a:t>实例</a:t>
            </a:r>
            <a:r>
              <a:rPr lang="en-US" altLang="zh-CN"/>
              <a:t>,</a:t>
            </a:r>
            <a:r>
              <a:rPr lang="zh-CN" altLang="en-US"/>
              <a:t>成员</a:t>
            </a:r>
            <a:r>
              <a:rPr lang="en-US" altLang="zh-CN"/>
              <a:t>2</a:t>
            </a:r>
            <a:r>
              <a:rPr lang="zh-CN" altLang="en-US"/>
              <a:t>实例，</a:t>
            </a:r>
            <a:r>
              <a:rPr lang="en-US" altLang="zh-CN"/>
              <a:t>……}</a:t>
            </a:r>
            <a:endParaRPr lang="en-US" altLang="zh-CN"/>
          </a:p>
          <a:p>
            <a:pPr lvl="2"/>
            <a:r>
              <a:rPr lang="zh-CN" altLang="en-US"/>
              <a:t>成员实例为与成员类型一致的数据</a:t>
            </a:r>
            <a:endParaRPr lang="zh-CN" altLang="en-US"/>
          </a:p>
        </p:txBody>
      </p:sp>
      <p:pic>
        <p:nvPicPr>
          <p:cNvPr id="206854" name="Object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2750" y="3998913"/>
            <a:ext cx="8747125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78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结构类型成员的引用</a:t>
            </a:r>
            <a:endParaRPr lang="en-US" altLang="zh-CN"/>
          </a:p>
          <a:p>
            <a:pPr lvl="1"/>
            <a:r>
              <a:rPr lang="zh-CN" altLang="en-US"/>
              <a:t>用运算符“</a:t>
            </a:r>
            <a:r>
              <a:rPr lang="en-US" altLang="zh-CN"/>
              <a:t>.</a:t>
            </a:r>
            <a:r>
              <a:rPr lang="zh-CN" altLang="en-US"/>
              <a:t>”对成员进行引用</a:t>
            </a:r>
            <a:endParaRPr lang="en-US" altLang="zh-CN"/>
          </a:p>
          <a:p>
            <a:pPr lvl="2"/>
            <a:r>
              <a:rPr lang="zh-CN" altLang="en-US"/>
              <a:t>雇员</a:t>
            </a:r>
            <a:r>
              <a:rPr lang="en-US" altLang="zh-CN"/>
              <a:t>emp1</a:t>
            </a:r>
            <a:r>
              <a:rPr lang="zh-CN" altLang="en-US"/>
              <a:t>的名字表示为：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emp1.name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/>
              <a:t>雇员</a:t>
            </a:r>
            <a:r>
              <a:rPr lang="en-US" altLang="zh-CN"/>
              <a:t>emp1</a:t>
            </a:r>
            <a:r>
              <a:rPr lang="zh-CN" altLang="en-US"/>
              <a:t>的电话表示为：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emp1.phone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zh-CN" altLang="en-US"/>
              <a:t>结构类型成员的赋值（保持类型一致性）</a:t>
            </a:r>
            <a:endParaRPr lang="en-US" altLang="zh-CN"/>
          </a:p>
          <a:p>
            <a:pPr lvl="1"/>
            <a:r>
              <a:rPr lang="zh-CN" altLang="en-US"/>
              <a:t>赋值语句：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emp2.name =“Tom Green”;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输入语句</a:t>
            </a:r>
            <a:r>
              <a:rPr lang="en-US" altLang="zh-CN"/>
              <a:t>: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cin&gt;&gt;emp3.salary;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zh-CN" altLang="en-US"/>
              <a:t>相同结构类型的变量可以赋值</a:t>
            </a:r>
            <a:endParaRPr lang="en-US" altLang="zh-CN"/>
          </a:p>
          <a:p>
            <a:pPr lvl="1"/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</a:rPr>
              <a:t>emp1 = emp2;</a:t>
            </a:r>
            <a:endParaRPr lang="en-US" altLang="zh-CN" sz="240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88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结构数组</a:t>
            </a:r>
            <a:endParaRPr lang="en-US" altLang="zh-CN"/>
          </a:p>
          <a:p>
            <a:pPr lvl="1"/>
            <a:r>
              <a:rPr lang="zh-CN" altLang="en-US"/>
              <a:t>将数组说明为某种结构类型的数组</a:t>
            </a:r>
            <a:endParaRPr lang="en-US" altLang="zh-CN"/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 emps[20];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/>
              <a:t>数组的每个元素都是结构类型</a:t>
            </a:r>
            <a:r>
              <a:rPr lang="en-US" altLang="zh-CN"/>
              <a:t>Employee</a:t>
            </a:r>
            <a:endParaRPr lang="zh-CN" altLang="en-US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172" y="878959"/>
            <a:ext cx="8641655" cy="5876925"/>
          </a:xfrm>
        </p:spPr>
        <p:txBody>
          <a:bodyPr/>
          <a:lstStyle/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如果结构体变量中的某个成员仍然是结构体类型的，则要对数据成员进行多层引用。例如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Date {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year,month,day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;};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Student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{	char 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[8],name[10];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score;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Date birthday;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}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如何访问学生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Student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类变量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的出生年份？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2755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stu.birthday.year</a:t>
            </a:r>
            <a:endParaRPr lang="zh-CN" altLang="en-US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ea typeface="宋体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474166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多属性数据的存储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4.36】</a:t>
            </a:r>
            <a:r>
              <a:rPr lang="zh-CN" altLang="en-US" dirty="0">
                <a:solidFill>
                  <a:srgbClr val="C00000"/>
                </a:solidFill>
              </a:rPr>
              <a:t>用结构类型实现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4.35】</a:t>
            </a:r>
            <a:endParaRPr lang="en-US" altLang="zh-CN" dirty="0"/>
          </a:p>
          <a:p>
            <a:pPr lvl="2"/>
            <a:r>
              <a:rPr lang="zh-CN" altLang="en-US" dirty="0"/>
              <a:t>设计结构类型，存储学生的学号和成绩数据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index;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8659" name="内容占位符 2"/>
          <p:cNvSpPr>
            <a:spLocks noGrp="1"/>
          </p:cNvSpPr>
          <p:nvPr>
            <p:ph idx="1"/>
          </p:nvPr>
        </p:nvSpPr>
        <p:spPr>
          <a:xfrm>
            <a:off x="214282" y="1295400"/>
            <a:ext cx="8686800" cy="5133996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n=6;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共有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个学生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t=3;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欲找出前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名最好成绩者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index;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score;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float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=0;	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输入注册号及成绩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].index&gt;&gt;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].score;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sum +=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].score;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9683" name="内容占位符 2"/>
          <p:cNvSpPr>
            <a:spLocks noGrp="1"/>
          </p:cNvSpPr>
          <p:nvPr>
            <p:ph idx="1"/>
          </p:nvPr>
        </p:nvSpPr>
        <p:spPr>
          <a:xfrm>
            <a:off x="171478" y="1295400"/>
            <a:ext cx="8472488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cout.setf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::fixed);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设置以定点数格式输出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cout.precision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(1);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点后保留1位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输出平均成绩</a:t>
            </a: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&lt;&lt;“Average score:”&lt;&lt;sum/n&lt;&lt;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(25);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输出“题头行”</a:t>
            </a:r>
            <a:endParaRPr lang="en-US" altLang="zh-CN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&lt;&lt;"register-number score";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zh-CN" alt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</a:pPr>
            <a:endParaRPr lang="zh-CN" alt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0707" name="内容占位符 2"/>
          <p:cNvSpPr>
            <a:spLocks noGrp="1"/>
          </p:cNvSpPr>
          <p:nvPr>
            <p:ph idx="1"/>
          </p:nvPr>
        </p:nvSpPr>
        <p:spPr>
          <a:xfrm>
            <a:off x="142844" y="1295400"/>
            <a:ext cx="8686832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&lt;t;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找出前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名最好者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分量始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中的最大者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].score;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 =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//j1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中记录上述最大者的下标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看还有否比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更大的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j=i+1; j&lt;n; j++){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if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[j].score){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有更大的时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	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[j].score;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更大者放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		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j1=j;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对应下标放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j1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j 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1731" name="内容占位符 2"/>
          <p:cNvSpPr>
            <a:spLocks noGrp="1"/>
          </p:cNvSpPr>
          <p:nvPr>
            <p:ph idx="1"/>
          </p:nvPr>
        </p:nvSpPr>
        <p:spPr>
          <a:xfrm>
            <a:off x="142844" y="1295400"/>
            <a:ext cx="8715436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(j1&gt;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].score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到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[n-1].score	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中的最大者并非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时，要进行交换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da-DK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  = scoretab[j1];</a:t>
            </a:r>
            <a:endParaRPr lang="da-DK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da-DK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scoretab [j1] = scoretab[i];</a:t>
            </a:r>
            <a:endParaRPr lang="da-DK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da-DK" altLang="zh-CN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scoretab [i] = temp;</a:t>
            </a:r>
            <a:endParaRPr lang="da-DK" altLang="zh-CN" sz="24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结构类型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2755" name="内容占位符 2"/>
          <p:cNvSpPr>
            <a:spLocks noGrp="1"/>
          </p:cNvSpPr>
          <p:nvPr>
            <p:ph idx="1"/>
          </p:nvPr>
        </p:nvSpPr>
        <p:spPr>
          <a:xfrm>
            <a:off x="71406" y="1295400"/>
            <a:ext cx="8543925" cy="5205434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输出名次号（前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名的第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i+1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名）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&lt;&lt;i+1; 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(11);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输出第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名学生的注册号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].index;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(12);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cout.precision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点后保留1位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输出第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名学生的成绩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scoretab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].score;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altLang="zh-CN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 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</a:t>
            </a:r>
            <a:r>
              <a:rPr lang="en-US" altLang="zh-CN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循环体结束</a:t>
            </a:r>
            <a:endParaRPr lang="zh-CN" alt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		</a:t>
            </a:r>
            <a:r>
              <a:rPr lang="en-US" altLang="zh-CN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//main</a:t>
            </a:r>
            <a:r>
              <a:rPr lang="zh-CN" altLang="en-US" sz="24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结束</a:t>
            </a: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联合类型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1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联合类型的含义</a:t>
            </a:r>
            <a:endParaRPr lang="en-US" altLang="zh-CN"/>
          </a:p>
          <a:p>
            <a:pPr lvl="1" eaLnBrk="1" hangingPunct="1"/>
            <a:r>
              <a:rPr lang="zh-CN" altLang="en-US"/>
              <a:t>几种不同类型的变量存放到同一段内存空间</a:t>
            </a:r>
            <a:endParaRPr lang="en-US" altLang="zh-CN"/>
          </a:p>
          <a:p>
            <a:pPr lvl="2" eaLnBrk="1" hangingPunct="1"/>
            <a:r>
              <a:rPr lang="zh-CN" altLang="en-US"/>
              <a:t>使用覆盖技术，使几个变量相互覆盖</a:t>
            </a:r>
            <a:endParaRPr lang="en-US" altLang="zh-CN"/>
          </a:p>
          <a:p>
            <a:pPr lvl="2" eaLnBrk="1" hangingPunct="1"/>
            <a:r>
              <a:rPr lang="zh-CN" altLang="en-US"/>
              <a:t>不同变量的首地址相同，占用空间大小不同</a:t>
            </a:r>
            <a:endParaRPr lang="zh-CN" altLang="en-US"/>
          </a:p>
        </p:txBody>
      </p:sp>
      <p:pic>
        <p:nvPicPr>
          <p:cNvPr id="211974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3" y="3357563"/>
            <a:ext cx="62865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联合类型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2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联合类型的定义</a:t>
            </a:r>
            <a:endParaRPr lang="en-US" altLang="zh-CN" dirty="0"/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联合类型名称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&gt;{&lt;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成员列表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&gt;};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类型名：标示符，可看作一种</a:t>
            </a:r>
            <a:r>
              <a:rPr lang="zh-CN" altLang="en-US" dirty="0">
                <a:solidFill>
                  <a:srgbClr val="FF0000"/>
                </a:solidFill>
              </a:rPr>
              <a:t>新的</a:t>
            </a:r>
            <a:r>
              <a:rPr lang="zh-CN" altLang="en-US" dirty="0"/>
              <a:t>“数据类型”</a:t>
            </a:r>
            <a:endParaRPr lang="en-US" altLang="zh-CN" dirty="0"/>
          </a:p>
          <a:p>
            <a:pPr lvl="2"/>
            <a:r>
              <a:rPr lang="zh-CN" altLang="en-US" dirty="0"/>
              <a:t>成员表：&lt;类型</a:t>
            </a:r>
            <a:r>
              <a:rPr lang="en-US" altLang="zh-CN" dirty="0"/>
              <a:t>&gt;&lt;</a:t>
            </a:r>
            <a:r>
              <a:rPr lang="zh-CN" altLang="en-US" dirty="0"/>
              <a:t>成员1&gt;;… &lt;类型</a:t>
            </a:r>
            <a:r>
              <a:rPr lang="en-US" altLang="zh-CN" dirty="0"/>
              <a:t>&gt;&lt;</a:t>
            </a:r>
            <a:r>
              <a:rPr lang="zh-CN" altLang="en-US" dirty="0"/>
              <a:t>成员1&gt;;</a:t>
            </a:r>
            <a:endParaRPr lang="en-US" altLang="zh-CN" dirty="0"/>
          </a:p>
          <a:p>
            <a:pPr lvl="3"/>
            <a:r>
              <a:rPr lang="zh-CN" altLang="en-US" dirty="0"/>
              <a:t>成员的数据类型可以是该联合类型，也可以是其它联合类型</a:t>
            </a:r>
            <a:endParaRPr lang="en-US" altLang="zh-CN" dirty="0"/>
          </a:p>
          <a:p>
            <a:r>
              <a:rPr lang="zh-CN" altLang="en-US" dirty="0"/>
              <a:t>联合类型变量的说明</a:t>
            </a:r>
            <a:endParaRPr lang="zh-CN" altLang="en-US" dirty="0"/>
          </a:p>
          <a:p>
            <a:pPr lvl="1"/>
            <a:r>
              <a:rPr lang="en-US" altLang="zh-CN" dirty="0">
                <a:latin typeface="Courier New" panose="02070309020205020404" pitchFamily="49" charset="0"/>
              </a:rPr>
              <a:t>[union] 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</a:rPr>
              <a:t>联合类型名称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 &lt;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</a:rPr>
              <a:t>变量列表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&gt;;</a:t>
            </a:r>
            <a:endParaRPr lang="en-US" altLang="zh-CN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</a:rPr>
              <a:t>联合类型定义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zh-CN" altLang="en-US" dirty="0">
                <a:solidFill>
                  <a:schemeClr val="tx2"/>
                </a:solidFill>
                <a:latin typeface="Courier New" panose="02070309020205020404" pitchFamily="49" charset="0"/>
              </a:rPr>
              <a:t>结构类型变量表</a:t>
            </a:r>
            <a:r>
              <a:rPr lang="en-US" altLang="zh-CN" dirty="0">
                <a:solidFill>
                  <a:schemeClr val="tx2"/>
                </a:solidFill>
                <a:latin typeface="Courier New" panose="02070309020205020404" pitchFamily="49" charset="0"/>
              </a:rPr>
              <a:t>&gt;;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212998" name="Picture 2" descr="stu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5470525"/>
            <a:ext cx="7718425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联合类型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4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联合类型变量的说明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联合类型变量的地址与成员的地址一致</a:t>
            </a:r>
            <a:endParaRPr lang="en-US" altLang="zh-CN"/>
          </a:p>
          <a:p>
            <a:r>
              <a:rPr lang="zh-CN" altLang="en-US"/>
              <a:t>联合类型变量的初始化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不允许</a:t>
            </a:r>
            <a:r>
              <a:rPr lang="zh-CN" altLang="en-US"/>
              <a:t>进行初始化</a:t>
            </a:r>
            <a:endParaRPr lang="en-US" altLang="zh-CN"/>
          </a:p>
          <a:p>
            <a:pPr lvl="1"/>
            <a:r>
              <a:rPr lang="zh-CN" altLang="en-US"/>
              <a:t>可以随时对成员变量赋值</a:t>
            </a:r>
            <a:endParaRPr lang="en-US" altLang="zh-CN"/>
          </a:p>
        </p:txBody>
      </p:sp>
      <p:pic>
        <p:nvPicPr>
          <p:cNvPr id="2140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60438" y="1820863"/>
            <a:ext cx="7291387" cy="168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联合类型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联合类型成员的引用</a:t>
            </a:r>
            <a:endParaRPr lang="en-US" altLang="zh-CN"/>
          </a:p>
          <a:p>
            <a:pPr lvl="1"/>
            <a:r>
              <a:rPr lang="zh-CN" altLang="en-US"/>
              <a:t>用运算符“</a:t>
            </a:r>
            <a:r>
              <a:rPr lang="en-US" altLang="zh-CN"/>
              <a:t>.</a:t>
            </a:r>
            <a:r>
              <a:rPr lang="zh-CN" altLang="en-US"/>
              <a:t>”对成员进行引用</a:t>
            </a:r>
            <a:endParaRPr lang="en-US" altLang="zh-CN"/>
          </a:p>
          <a:p>
            <a:pPr lvl="2"/>
            <a:r>
              <a:rPr lang="zh-CN" altLang="en-US"/>
              <a:t>学生</a:t>
            </a:r>
            <a:r>
              <a:rPr lang="en-US" altLang="zh-CN"/>
              <a:t>stu1</a:t>
            </a:r>
            <a:r>
              <a:rPr lang="zh-CN" altLang="en-US"/>
              <a:t>的年级表示为：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stu1.grade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/>
              <a:t>学生</a:t>
            </a:r>
            <a:r>
              <a:rPr lang="en-US" altLang="zh-CN"/>
              <a:t>stu1</a:t>
            </a:r>
            <a:r>
              <a:rPr lang="zh-CN" altLang="en-US"/>
              <a:t>的成绩表示为：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stu1.score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zh-CN" altLang="en-US"/>
              <a:t>联合类型成员的赋值（保持类型一致性）</a:t>
            </a:r>
            <a:endParaRPr lang="en-US" altLang="zh-CN"/>
          </a:p>
          <a:p>
            <a:pPr lvl="1"/>
            <a:r>
              <a:rPr lang="zh-CN" altLang="en-US"/>
              <a:t>赋值语句：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stu2.grade =2009;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输入语句</a:t>
            </a:r>
            <a:r>
              <a:rPr lang="en-US" altLang="zh-CN"/>
              <a:t>: </a:t>
            </a: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cin&gt;&gt;stu3.score;</a:t>
            </a:r>
            <a:endParaRPr lang="en-US" altLang="zh-CN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/>
              <a:t>不能对联合变量名赋值</a:t>
            </a:r>
            <a:endParaRPr lang="en-US" altLang="zh-CN"/>
          </a:p>
          <a:p>
            <a:pPr lvl="2"/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</a:rPr>
              <a:t>stu4 = stu3;</a:t>
            </a:r>
            <a:r>
              <a:rPr lang="en-US" altLang="zh-CN">
                <a:solidFill>
                  <a:srgbClr val="00B05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>
                <a:solidFill>
                  <a:srgbClr val="00B050"/>
                </a:solidFill>
                <a:latin typeface="Courier New" panose="02070309020205020404" pitchFamily="49" charset="0"/>
              </a:rPr>
              <a:t>语法错误！</a:t>
            </a:r>
            <a:endParaRPr lang="en-US" altLang="zh-CN">
              <a:solidFill>
                <a:srgbClr val="00B05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5"/>
          <p:cNvSpPr>
            <a:spLocks noChangeArrowheads="1" noChangeShapeType="1" noTextEdit="1"/>
          </p:cNvSpPr>
          <p:nvPr/>
        </p:nvSpPr>
        <p:spPr bwMode="gray">
          <a:xfrm>
            <a:off x="1524000" y="1447800"/>
            <a:ext cx="3887787" cy="1728192"/>
          </a:xfrm>
          <a:prstGeom prst="rect">
            <a:avLst/>
          </a:prstGeom>
        </p:spPr>
        <p:txBody>
          <a:bodyPr wrap="none" numCol="1" fromWordArt="1">
            <a:prstTxWarp prst="textDeflate">
              <a:avLst>
                <a:gd name="adj" fmla="val 0"/>
              </a:avLst>
            </a:prstTxWarp>
          </a:bodyPr>
          <a:lstStyle>
            <a:defPPr>
              <a:defRPr lang="en-US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Q&amp;A!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2b7803d-4946-4b9e-a517-87f9ba5b45c2"/>
  <p:tag name="COMMONDATA" val="eyJoZGlkIjoiNzUyNTk3ZGVhNjdkNDkxMTcyNzY1OTFmNGY3NDlhMDMifQ=="/>
</p:tagLst>
</file>

<file path=ppt/theme/theme1.xml><?xml version="1.0" encoding="utf-8"?>
<a:theme xmlns:a="http://schemas.openxmlformats.org/drawingml/2006/main" name="Office 主题">
  <a:themeElements>
    <a:clrScheme name="Office 主题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Office 主题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35168</Words>
  <Application>WPS 演示</Application>
  <PresentationFormat>全屏显示(4:3)</PresentationFormat>
  <Paragraphs>3253</Paragraphs>
  <Slides>236</Slides>
  <Notes>10</Notes>
  <HiddenSlides>1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236</vt:i4>
      </vt:variant>
    </vt:vector>
  </HeadingPairs>
  <TitlesOfParts>
    <vt:vector size="261" baseType="lpstr">
      <vt:lpstr>Arial</vt:lpstr>
      <vt:lpstr>宋体</vt:lpstr>
      <vt:lpstr>Wingdings</vt:lpstr>
      <vt:lpstr>Baskerville Old Face</vt:lpstr>
      <vt:lpstr>华文楷体</vt:lpstr>
      <vt:lpstr>华文新魏</vt:lpstr>
      <vt:lpstr>黑体</vt:lpstr>
      <vt:lpstr>Courier New</vt:lpstr>
      <vt:lpstr>微软雅黑</vt:lpstr>
      <vt:lpstr>Arial Unicode MS</vt:lpstr>
      <vt:lpstr>Calibri</vt:lpstr>
      <vt:lpstr>Times New Roman</vt:lpstr>
      <vt:lpstr>Verdana</vt:lpstr>
      <vt:lpstr>楷体_GB2312</vt:lpstr>
      <vt:lpstr>新宋体</vt:lpstr>
      <vt:lpstr>Consolas</vt:lpstr>
      <vt:lpstr>Cambria Math</vt:lpstr>
      <vt:lpstr>Comic Sans MS</vt:lpstr>
      <vt:lpstr>Courier New</vt:lpstr>
      <vt:lpstr>幼圆</vt:lpstr>
      <vt:lpstr>Comic Sans MS</vt:lpstr>
      <vt:lpstr>楷体_GB2312</vt:lpstr>
      <vt:lpstr>Office 主题</vt:lpstr>
      <vt:lpstr>Photoshop.Image.6</vt:lpstr>
      <vt:lpstr>Equation.3</vt:lpstr>
      <vt:lpstr>高级语言程序设计</vt:lpstr>
      <vt:lpstr>第4章 基本控制结构与导出数据类型</vt:lpstr>
      <vt:lpstr>C++语句概述</vt:lpstr>
      <vt:lpstr>C++语句概述</vt:lpstr>
      <vt:lpstr>C++语句概述</vt:lpstr>
      <vt:lpstr>C++语句概述</vt:lpstr>
      <vt:lpstr>C++语句概述</vt:lpstr>
      <vt:lpstr>PowerPoint 演示文稿</vt:lpstr>
      <vt:lpstr>C++语句概述</vt:lpstr>
      <vt:lpstr>C++语句概述</vt:lpstr>
      <vt:lpstr>C++语句概述</vt:lpstr>
      <vt:lpstr>第4章 基本控制结构与导出数据类型</vt:lpstr>
      <vt:lpstr>PowerPoint 演示文稿</vt:lpstr>
      <vt:lpstr>PowerPoint 演示文稿</vt:lpstr>
      <vt:lpstr>PowerPoint 演示文稿</vt:lpstr>
      <vt:lpstr>PowerPoint 演示文稿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第4章 基本控制结构与导出数据类型</vt:lpstr>
      <vt:lpstr>循环结构程序设计</vt:lpstr>
      <vt:lpstr>循环 (Loop)</vt:lpstr>
      <vt:lpstr>循环 (Loop)</vt:lpstr>
      <vt:lpstr>用循环来实现</vt:lpstr>
      <vt:lpstr>用循环来实现</vt:lpstr>
      <vt:lpstr>循环 (Loop)</vt:lpstr>
      <vt:lpstr>循环结构程序设计</vt:lpstr>
      <vt:lpstr>用for语句实现循环</vt:lpstr>
      <vt:lpstr>for语句</vt:lpstr>
      <vt:lpstr>for loop</vt:lpstr>
      <vt:lpstr>for循环语句</vt:lpstr>
      <vt:lpstr>for循环语句举例</vt:lpstr>
      <vt:lpstr>for循环语句举例</vt:lpstr>
      <vt:lpstr>for语句几点说明</vt:lpstr>
      <vt:lpstr>for语句几点说明</vt:lpstr>
      <vt:lpstr>for语句几点说明</vt:lpstr>
      <vt:lpstr>for语句几点说明</vt:lpstr>
      <vt:lpstr>用for语句实现循环</vt:lpstr>
      <vt:lpstr>循环语句</vt:lpstr>
      <vt:lpstr>循环语句</vt:lpstr>
      <vt:lpstr>循环语句</vt:lpstr>
      <vt:lpstr>循环语句</vt:lpstr>
      <vt:lpstr>循环语句</vt:lpstr>
      <vt:lpstr>while语句</vt:lpstr>
      <vt:lpstr>while loop</vt:lpstr>
      <vt:lpstr>while循环语句</vt:lpstr>
      <vt:lpstr>while循环语句</vt:lpstr>
      <vt:lpstr>用while语句实现循环</vt:lpstr>
      <vt:lpstr>for循环和while循环的关系</vt:lpstr>
      <vt:lpstr>while循环语句举例</vt:lpstr>
      <vt:lpstr>while循环举例</vt:lpstr>
      <vt:lpstr>循环语句</vt:lpstr>
      <vt:lpstr>循环语句</vt:lpstr>
      <vt:lpstr>do…while语句</vt:lpstr>
      <vt:lpstr>用do…while语句实现循环</vt:lpstr>
      <vt:lpstr>用do…while语句实现循环</vt:lpstr>
      <vt:lpstr>循环语句</vt:lpstr>
      <vt:lpstr>循环语句</vt:lpstr>
      <vt:lpstr>循环语句</vt:lpstr>
      <vt:lpstr>循环语句</vt:lpstr>
      <vt:lpstr>循环语句</vt:lpstr>
      <vt:lpstr>while和do…while循环的比较</vt:lpstr>
      <vt:lpstr>while和do…while循环的比较</vt:lpstr>
      <vt:lpstr>循环语句</vt:lpstr>
      <vt:lpstr>循环结构程序设计</vt:lpstr>
      <vt:lpstr>循环的嵌套</vt:lpstr>
      <vt:lpstr>循环的嵌套</vt:lpstr>
      <vt:lpstr>循环语句</vt:lpstr>
      <vt:lpstr>循环语句</vt:lpstr>
      <vt:lpstr>循环语句</vt:lpstr>
      <vt:lpstr>循环语句</vt:lpstr>
      <vt:lpstr>循环语句</vt:lpstr>
      <vt:lpstr>循环语句</vt:lpstr>
      <vt:lpstr>循环结构程序设计</vt:lpstr>
      <vt:lpstr>用break语句提前终止循环</vt:lpstr>
      <vt:lpstr>用break语句提前终止循环</vt:lpstr>
      <vt:lpstr>用break语句提前终止循环</vt:lpstr>
      <vt:lpstr>用continue语句提前结束本次循环</vt:lpstr>
      <vt:lpstr>continue语句示例</vt:lpstr>
      <vt:lpstr>continue语句和break语句的区别</vt:lpstr>
      <vt:lpstr>用break语句提前终止循环</vt:lpstr>
      <vt:lpstr>用continue语句提前终止循环</vt:lpstr>
      <vt:lpstr>循环结构程序设计</vt:lpstr>
      <vt:lpstr>循环程序举例</vt:lpstr>
      <vt:lpstr>循环程序举例</vt:lpstr>
      <vt:lpstr>循环程序举例</vt:lpstr>
      <vt:lpstr>循环程序举例</vt:lpstr>
      <vt:lpstr>第4章 基本控制结构与导出数据类型</vt:lpstr>
      <vt:lpstr>无条件转向语句</vt:lpstr>
      <vt:lpstr>无条件转向语句</vt:lpstr>
      <vt:lpstr>无条件转向语句</vt:lpstr>
      <vt:lpstr>无条件转向语句</vt:lpstr>
      <vt:lpstr>无条件转向语句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控制语句举例</vt:lpstr>
      <vt:lpstr>第4章 基本控制结构与导出数据类型</vt:lpstr>
      <vt:lpstr>导出数据类型</vt:lpstr>
      <vt:lpstr>导出数据类型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数组溢出问题</vt:lpstr>
      <vt:lpstr>第4章 基本控制结构与导出数据类型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结构类型</vt:lpstr>
      <vt:lpstr> 多属性数据的存储</vt:lpstr>
      <vt:lpstr>结构类型</vt:lpstr>
      <vt:lpstr>结构类型</vt:lpstr>
      <vt:lpstr>结构类型</vt:lpstr>
      <vt:lpstr>结构类型</vt:lpstr>
      <vt:lpstr>结构类型</vt:lpstr>
      <vt:lpstr>结构类型</vt:lpstr>
      <vt:lpstr>联合类型</vt:lpstr>
      <vt:lpstr>联合类型</vt:lpstr>
      <vt:lpstr>联合类型</vt:lpstr>
      <vt:lpstr>联合类型</vt:lpstr>
      <vt:lpstr>PowerPoint 演示文稿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智能所介绍</dc:title>
  <dc:creator>xujing</dc:creator>
  <cp:lastModifiedBy>许静</cp:lastModifiedBy>
  <cp:revision>279</cp:revision>
  <dcterms:created xsi:type="dcterms:W3CDTF">2004-07-21T02:43:00Z</dcterms:created>
  <dcterms:modified xsi:type="dcterms:W3CDTF">2023-11-13T07:32:25Z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631AEA2391E149A4B0CD2D3098192BF9</vt:lpwstr>
  </property>
</Properties>
</file>