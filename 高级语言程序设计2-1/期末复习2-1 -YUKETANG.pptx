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58" r:id="rId2"/>
    <p:sldId id="360" r:id="rId3"/>
    <p:sldId id="361" r:id="rId4"/>
    <p:sldId id="362" r:id="rId5"/>
    <p:sldId id="363" r:id="rId6"/>
    <p:sldId id="364" r:id="rId7"/>
    <p:sldId id="430" r:id="rId8"/>
    <p:sldId id="365" r:id="rId9"/>
    <p:sldId id="432" r:id="rId10"/>
    <p:sldId id="433" r:id="rId11"/>
    <p:sldId id="434" r:id="rId12"/>
    <p:sldId id="435" r:id="rId13"/>
    <p:sldId id="441" r:id="rId14"/>
    <p:sldId id="436" r:id="rId15"/>
    <p:sldId id="443" r:id="rId16"/>
    <p:sldId id="444" r:id="rId17"/>
    <p:sldId id="445" r:id="rId18"/>
    <p:sldId id="454" r:id="rId19"/>
    <p:sldId id="455" r:id="rId20"/>
    <p:sldId id="450" r:id="rId21"/>
    <p:sldId id="451" r:id="rId22"/>
    <p:sldId id="35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莹" initials="张莹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88" autoAdjust="0"/>
    <p:restoredTop sz="83975" autoAdjust="0"/>
  </p:normalViewPr>
  <p:slideViewPr>
    <p:cSldViewPr>
      <p:cViewPr>
        <p:scale>
          <a:sx n="80" d="100"/>
          <a:sy n="80" d="100"/>
        </p:scale>
        <p:origin x="96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1F6FC-FBE5-5748-9FA2-0C9616CD765F}" type="datetimeFigureOut">
              <a:rPr kumimoji="1" lang="zh-CN" altLang="en-US" smtClean="0"/>
              <a:t>2024/12/23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2A311-8845-8448-B205-32818F4E77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28443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D3266-7412-4A2B-A2DB-13B0A298B7EB}" type="datetimeFigureOut">
              <a:rPr lang="zh-CN" altLang="en-US" smtClean="0"/>
              <a:t>2024/12/23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AE0CC-46AB-412C-9D95-D1239D353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86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274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0AE0CC-46AB-412C-9D95-D1239D353BF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58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3527425"/>
            <a:ext cx="9144000" cy="3357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7" name="Oval 25"/>
          <p:cNvSpPr>
            <a:spLocks noChangeArrowheads="1"/>
          </p:cNvSpPr>
          <p:nvPr/>
        </p:nvSpPr>
        <p:spPr bwMode="ltGray">
          <a:xfrm>
            <a:off x="1258888" y="4508500"/>
            <a:ext cx="4248150" cy="1800225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86525"/>
            <a:ext cx="2895600" cy="168275"/>
          </a:xfr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/>
              <a:t>Database &amp; Information System Lab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86525"/>
            <a:ext cx="2133600" cy="16827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08D23FD-98F4-42DC-82C4-4AED005C67E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3141663"/>
            <a:ext cx="9144000" cy="431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0" name="Oval 18"/>
          <p:cNvSpPr>
            <a:spLocks noChangeArrowheads="1"/>
          </p:cNvSpPr>
          <p:nvPr/>
        </p:nvSpPr>
        <p:spPr bwMode="gray">
          <a:xfrm>
            <a:off x="276225" y="1255713"/>
            <a:ext cx="4656138" cy="4837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dist="172739" dir="3238358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" name="Freeform 20" descr="1"/>
          <p:cNvSpPr>
            <a:spLocks/>
          </p:cNvSpPr>
          <p:nvPr/>
        </p:nvSpPr>
        <p:spPr bwMode="gray">
          <a:xfrm>
            <a:off x="1130300" y="1416050"/>
            <a:ext cx="2873375" cy="2182813"/>
          </a:xfrm>
          <a:custGeom>
            <a:avLst/>
            <a:gdLst>
              <a:gd name="T0" fmla="*/ 905 w 1810"/>
              <a:gd name="T1" fmla="*/ 1375 h 1375"/>
              <a:gd name="T2" fmla="*/ 1810 w 1810"/>
              <a:gd name="T3" fmla="*/ 395 h 1375"/>
              <a:gd name="T4" fmla="*/ 876 w 1810"/>
              <a:gd name="T5" fmla="*/ 24 h 1375"/>
              <a:gd name="T6" fmla="*/ 0 w 1810"/>
              <a:gd name="T7" fmla="*/ 396 h 1375"/>
              <a:gd name="T8" fmla="*/ 905 w 1810"/>
              <a:gd name="T9" fmla="*/ 1375 h 1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10" h="1375">
                <a:moveTo>
                  <a:pt x="905" y="1375"/>
                </a:moveTo>
                <a:lnTo>
                  <a:pt x="1810" y="395"/>
                </a:lnTo>
                <a:cubicBezTo>
                  <a:pt x="1612" y="176"/>
                  <a:pt x="1300" y="0"/>
                  <a:pt x="876" y="24"/>
                </a:cubicBezTo>
                <a:cubicBezTo>
                  <a:pt x="452" y="48"/>
                  <a:pt x="252" y="149"/>
                  <a:pt x="0" y="396"/>
                </a:cubicBezTo>
                <a:lnTo>
                  <a:pt x="905" y="1375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3" name="Freeform 21" descr="2"/>
          <p:cNvSpPr>
            <a:spLocks/>
          </p:cNvSpPr>
          <p:nvPr/>
        </p:nvSpPr>
        <p:spPr bwMode="gray">
          <a:xfrm>
            <a:off x="376238" y="2147888"/>
            <a:ext cx="2103437" cy="3032125"/>
          </a:xfrm>
          <a:custGeom>
            <a:avLst/>
            <a:gdLst>
              <a:gd name="T0" fmla="*/ 1325 w 1325"/>
              <a:gd name="T1" fmla="*/ 960 h 1910"/>
              <a:gd name="T2" fmla="*/ 414 w 1325"/>
              <a:gd name="T3" fmla="*/ 0 h 1910"/>
              <a:gd name="T4" fmla="*/ 27 w 1325"/>
              <a:gd name="T5" fmla="*/ 1014 h 1910"/>
              <a:gd name="T6" fmla="*/ 402 w 1325"/>
              <a:gd name="T7" fmla="*/ 1910 h 1910"/>
              <a:gd name="T8" fmla="*/ 1325 w 1325"/>
              <a:gd name="T9" fmla="*/ 960 h 1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5" h="1910">
                <a:moveTo>
                  <a:pt x="1325" y="960"/>
                </a:moveTo>
                <a:lnTo>
                  <a:pt x="414" y="0"/>
                </a:lnTo>
                <a:cubicBezTo>
                  <a:pt x="238" y="162"/>
                  <a:pt x="0" y="570"/>
                  <a:pt x="27" y="1014"/>
                </a:cubicBezTo>
                <a:cubicBezTo>
                  <a:pt x="53" y="1458"/>
                  <a:pt x="233" y="1748"/>
                  <a:pt x="402" y="1910"/>
                </a:cubicBezTo>
                <a:lnTo>
                  <a:pt x="1325" y="96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4" name="Freeform 22" descr="55282"/>
          <p:cNvSpPr>
            <a:spLocks/>
          </p:cNvSpPr>
          <p:nvPr/>
        </p:nvSpPr>
        <p:spPr bwMode="gray">
          <a:xfrm>
            <a:off x="1085850" y="3730625"/>
            <a:ext cx="2962275" cy="2219325"/>
          </a:xfrm>
          <a:custGeom>
            <a:avLst/>
            <a:gdLst>
              <a:gd name="T0" fmla="*/ 927 w 1866"/>
              <a:gd name="T1" fmla="*/ 0 h 1398"/>
              <a:gd name="T2" fmla="*/ 0 w 1866"/>
              <a:gd name="T3" fmla="*/ 975 h 1398"/>
              <a:gd name="T4" fmla="*/ 996 w 1866"/>
              <a:gd name="T5" fmla="*/ 1387 h 1398"/>
              <a:gd name="T6" fmla="*/ 1866 w 1866"/>
              <a:gd name="T7" fmla="*/ 996 h 1398"/>
              <a:gd name="T8" fmla="*/ 927 w 1866"/>
              <a:gd name="T9" fmla="*/ 0 h 1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66" h="1398">
                <a:moveTo>
                  <a:pt x="927" y="0"/>
                </a:moveTo>
                <a:lnTo>
                  <a:pt x="0" y="975"/>
                </a:lnTo>
                <a:cubicBezTo>
                  <a:pt x="203" y="1204"/>
                  <a:pt x="607" y="1398"/>
                  <a:pt x="996" y="1387"/>
                </a:cubicBezTo>
                <a:cubicBezTo>
                  <a:pt x="1385" y="1375"/>
                  <a:pt x="1707" y="1159"/>
                  <a:pt x="1866" y="996"/>
                </a:cubicBezTo>
                <a:lnTo>
                  <a:pt x="927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24200" y="762000"/>
            <a:ext cx="5715000" cy="1828800"/>
          </a:xfrm>
        </p:spPr>
        <p:txBody>
          <a:bodyPr/>
          <a:lstStyle>
            <a:lvl1pPr algn="r">
              <a:defRPr sz="4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343400" y="3178175"/>
            <a:ext cx="4572000" cy="3810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3091" name="Freeform 19" descr="4"/>
          <p:cNvSpPr>
            <a:spLocks/>
          </p:cNvSpPr>
          <p:nvPr/>
        </p:nvSpPr>
        <p:spPr bwMode="gray">
          <a:xfrm>
            <a:off x="2625725" y="2119313"/>
            <a:ext cx="2139950" cy="3116262"/>
          </a:xfrm>
          <a:custGeom>
            <a:avLst/>
            <a:gdLst>
              <a:gd name="T0" fmla="*/ 951 w 1348"/>
              <a:gd name="T1" fmla="*/ 1963 h 1963"/>
              <a:gd name="T2" fmla="*/ 1338 w 1348"/>
              <a:gd name="T3" fmla="*/ 977 h 1963"/>
              <a:gd name="T4" fmla="*/ 905 w 1348"/>
              <a:gd name="T5" fmla="*/ 0 h 1963"/>
              <a:gd name="T6" fmla="*/ 0 w 1348"/>
              <a:gd name="T7" fmla="*/ 987 h 1963"/>
              <a:gd name="T8" fmla="*/ 951 w 1348"/>
              <a:gd name="T9" fmla="*/ 1963 h 1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48" h="1963">
                <a:moveTo>
                  <a:pt x="951" y="1963"/>
                </a:moveTo>
                <a:cubicBezTo>
                  <a:pt x="1244" y="1689"/>
                  <a:pt x="1348" y="1323"/>
                  <a:pt x="1338" y="977"/>
                </a:cubicBezTo>
                <a:cubicBezTo>
                  <a:pt x="1329" y="629"/>
                  <a:pt x="1132" y="226"/>
                  <a:pt x="905" y="0"/>
                </a:cubicBezTo>
                <a:lnTo>
                  <a:pt x="0" y="987"/>
                </a:lnTo>
                <a:lnTo>
                  <a:pt x="951" y="1963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cmpd="sng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95" name="Oval 23"/>
          <p:cNvSpPr>
            <a:spLocks noChangeArrowheads="1"/>
          </p:cNvSpPr>
          <p:nvPr/>
        </p:nvSpPr>
        <p:spPr bwMode="gray">
          <a:xfrm>
            <a:off x="1806575" y="2924796"/>
            <a:ext cx="1685305" cy="16853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" name="图片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024025"/>
            <a:ext cx="1512168" cy="1485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93290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622E5D-7BC3-44E6-BA65-C8AAD10FCE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61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E1BC1-228F-482E-8CFA-8633C1FC6F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8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41425"/>
            <a:ext cx="4038600" cy="5248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41425"/>
            <a:ext cx="4038600" cy="5248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FE93A-C8A7-4BF0-809C-5CD04739F1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547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6F0EF-F4D1-4F26-B161-37BB4C201B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618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182AA-7D37-4F4A-B3FF-2ED9AFB978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14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DCE65-C438-467B-808B-2463479BB9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39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EE4E85-E134-4C6A-94D1-DAD0BEFDD1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017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18A697-B4F1-4FE4-813C-D5798309C9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59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9AD19F-6278-4277-B296-4C15C3C3FB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9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337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337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EBAB-404B-4162-86EA-3134271E5A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583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B2637C74-671B-49DE-889D-7CB4D76831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465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F3D66CF0-E22F-4DAB-9A91-EF1638D719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4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 userDrawn="1"/>
        </p:nvSpPr>
        <p:spPr bwMode="gray">
          <a:xfrm>
            <a:off x="0" y="798513"/>
            <a:ext cx="9144000" cy="3127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white">
          <a:xfrm>
            <a:off x="0" y="0"/>
            <a:ext cx="9144000" cy="8366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14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64313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 i="1">
                <a:latin typeface="Comic Sans MS" panose="030F0702030302020204" pitchFamily="66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Database &amp; Information System Lab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fld id="{40B0C06F-4C5E-4398-9EA9-FF291EBC996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81000" y="1524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grpSp>
        <p:nvGrpSpPr>
          <p:cNvPr id="1041" name="Group 17"/>
          <p:cNvGrpSpPr>
            <a:grpSpLocks/>
          </p:cNvGrpSpPr>
          <p:nvPr/>
        </p:nvGrpSpPr>
        <p:grpSpPr bwMode="auto">
          <a:xfrm>
            <a:off x="7308850" y="188913"/>
            <a:ext cx="1665288" cy="1512887"/>
            <a:chOff x="4604" y="119"/>
            <a:chExt cx="1049" cy="953"/>
          </a:xfrm>
        </p:grpSpPr>
        <p:sp>
          <p:nvSpPr>
            <p:cNvPr id="1042" name="Oval 18"/>
            <p:cNvSpPr>
              <a:spLocks noChangeArrowheads="1"/>
            </p:cNvSpPr>
            <p:nvPr userDrawn="1"/>
          </p:nvSpPr>
          <p:spPr bwMode="gray">
            <a:xfrm>
              <a:off x="4921" y="845"/>
              <a:ext cx="732" cy="227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tint val="0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Oval 19"/>
            <p:cNvSpPr>
              <a:spLocks noChangeArrowheads="1"/>
            </p:cNvSpPr>
            <p:nvPr userDrawn="1"/>
          </p:nvSpPr>
          <p:spPr bwMode="gray">
            <a:xfrm>
              <a:off x="4604" y="119"/>
              <a:ext cx="932" cy="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dist="63500" dir="2212194" algn="ctr" rotWithShape="0">
                <a:schemeClr val="tx1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Freeform 20" descr="4"/>
            <p:cNvSpPr>
              <a:spLocks/>
            </p:cNvSpPr>
            <p:nvPr userDrawn="1"/>
          </p:nvSpPr>
          <p:spPr bwMode="gray">
            <a:xfrm>
              <a:off x="5077" y="281"/>
              <a:ext cx="426" cy="588"/>
            </a:xfrm>
            <a:custGeom>
              <a:avLst/>
              <a:gdLst>
                <a:gd name="T0" fmla="*/ 951 w 1348"/>
                <a:gd name="T1" fmla="*/ 1963 h 1963"/>
                <a:gd name="T2" fmla="*/ 1338 w 1348"/>
                <a:gd name="T3" fmla="*/ 977 h 1963"/>
                <a:gd name="T4" fmla="*/ 905 w 1348"/>
                <a:gd name="T5" fmla="*/ 0 h 1963"/>
                <a:gd name="T6" fmla="*/ 0 w 1348"/>
                <a:gd name="T7" fmla="*/ 987 h 1963"/>
                <a:gd name="T8" fmla="*/ 951 w 1348"/>
                <a:gd name="T9" fmla="*/ 1963 h 1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8" h="1963">
                  <a:moveTo>
                    <a:pt x="951" y="1963"/>
                  </a:moveTo>
                  <a:cubicBezTo>
                    <a:pt x="1244" y="1689"/>
                    <a:pt x="1348" y="1323"/>
                    <a:pt x="1338" y="977"/>
                  </a:cubicBezTo>
                  <a:cubicBezTo>
                    <a:pt x="1329" y="629"/>
                    <a:pt x="1132" y="226"/>
                    <a:pt x="905" y="0"/>
                  </a:cubicBezTo>
                  <a:lnTo>
                    <a:pt x="0" y="987"/>
                  </a:lnTo>
                  <a:lnTo>
                    <a:pt x="951" y="1963"/>
                  </a:lnTo>
                  <a:close/>
                </a:path>
              </a:pathLst>
            </a:custGeom>
            <a:blipFill dpi="0" rotWithShape="1">
              <a:blip r:embed="rId15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21" descr="1"/>
            <p:cNvSpPr>
              <a:spLocks/>
            </p:cNvSpPr>
            <p:nvPr userDrawn="1"/>
          </p:nvSpPr>
          <p:spPr bwMode="gray">
            <a:xfrm>
              <a:off x="4779" y="144"/>
              <a:ext cx="572" cy="416"/>
            </a:xfrm>
            <a:custGeom>
              <a:avLst/>
              <a:gdLst>
                <a:gd name="T0" fmla="*/ 905 w 1810"/>
                <a:gd name="T1" fmla="*/ 1388 h 1388"/>
                <a:gd name="T2" fmla="*/ 1810 w 1810"/>
                <a:gd name="T3" fmla="*/ 408 h 1388"/>
                <a:gd name="T4" fmla="*/ 874 w 1810"/>
                <a:gd name="T5" fmla="*/ 40 h 1388"/>
                <a:gd name="T6" fmla="*/ 0 w 1810"/>
                <a:gd name="T7" fmla="*/ 409 h 1388"/>
                <a:gd name="T8" fmla="*/ 905 w 1810"/>
                <a:gd name="T9" fmla="*/ 1388 h 1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0" h="1388">
                  <a:moveTo>
                    <a:pt x="905" y="1388"/>
                  </a:moveTo>
                  <a:lnTo>
                    <a:pt x="1810" y="408"/>
                  </a:lnTo>
                  <a:cubicBezTo>
                    <a:pt x="1612" y="189"/>
                    <a:pt x="1272" y="0"/>
                    <a:pt x="874" y="40"/>
                  </a:cubicBezTo>
                  <a:cubicBezTo>
                    <a:pt x="541" y="52"/>
                    <a:pt x="252" y="162"/>
                    <a:pt x="0" y="409"/>
                  </a:cubicBezTo>
                  <a:lnTo>
                    <a:pt x="905" y="1388"/>
                  </a:lnTo>
                  <a:close/>
                </a:path>
              </a:pathLst>
            </a:custGeom>
            <a:blipFill dpi="0" rotWithShape="1">
              <a:blip r:embed="rId16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22" descr="2"/>
            <p:cNvSpPr>
              <a:spLocks/>
            </p:cNvSpPr>
            <p:nvPr userDrawn="1"/>
          </p:nvSpPr>
          <p:spPr bwMode="gray">
            <a:xfrm>
              <a:off x="4629" y="286"/>
              <a:ext cx="419" cy="572"/>
            </a:xfrm>
            <a:custGeom>
              <a:avLst/>
              <a:gdLst>
                <a:gd name="T0" fmla="*/ 1325 w 1325"/>
                <a:gd name="T1" fmla="*/ 960 h 1910"/>
                <a:gd name="T2" fmla="*/ 414 w 1325"/>
                <a:gd name="T3" fmla="*/ 0 h 1910"/>
                <a:gd name="T4" fmla="*/ 27 w 1325"/>
                <a:gd name="T5" fmla="*/ 1014 h 1910"/>
                <a:gd name="T6" fmla="*/ 402 w 1325"/>
                <a:gd name="T7" fmla="*/ 1910 h 1910"/>
                <a:gd name="T8" fmla="*/ 1325 w 1325"/>
                <a:gd name="T9" fmla="*/ 960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5" h="1910">
                  <a:moveTo>
                    <a:pt x="1325" y="960"/>
                  </a:moveTo>
                  <a:lnTo>
                    <a:pt x="414" y="0"/>
                  </a:lnTo>
                  <a:cubicBezTo>
                    <a:pt x="238" y="162"/>
                    <a:pt x="0" y="570"/>
                    <a:pt x="27" y="1014"/>
                  </a:cubicBezTo>
                  <a:cubicBezTo>
                    <a:pt x="53" y="1458"/>
                    <a:pt x="233" y="1748"/>
                    <a:pt x="402" y="1910"/>
                  </a:cubicBezTo>
                  <a:lnTo>
                    <a:pt x="1325" y="960"/>
                  </a:lnTo>
                  <a:close/>
                </a:path>
              </a:pathLst>
            </a:custGeom>
            <a:blipFill dpi="0" rotWithShape="1">
              <a:blip r:embed="rId17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23" descr="55282"/>
            <p:cNvSpPr>
              <a:spLocks/>
            </p:cNvSpPr>
            <p:nvPr userDrawn="1"/>
          </p:nvSpPr>
          <p:spPr bwMode="gray">
            <a:xfrm>
              <a:off x="4770" y="585"/>
              <a:ext cx="590" cy="418"/>
            </a:xfrm>
            <a:custGeom>
              <a:avLst/>
              <a:gdLst>
                <a:gd name="T0" fmla="*/ 927 w 1866"/>
                <a:gd name="T1" fmla="*/ 0 h 1398"/>
                <a:gd name="T2" fmla="*/ 0 w 1866"/>
                <a:gd name="T3" fmla="*/ 975 h 1398"/>
                <a:gd name="T4" fmla="*/ 996 w 1866"/>
                <a:gd name="T5" fmla="*/ 1387 h 1398"/>
                <a:gd name="T6" fmla="*/ 1866 w 1866"/>
                <a:gd name="T7" fmla="*/ 996 h 1398"/>
                <a:gd name="T8" fmla="*/ 927 w 1866"/>
                <a:gd name="T9" fmla="*/ 0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6" h="1398">
                  <a:moveTo>
                    <a:pt x="927" y="0"/>
                  </a:moveTo>
                  <a:lnTo>
                    <a:pt x="0" y="975"/>
                  </a:lnTo>
                  <a:cubicBezTo>
                    <a:pt x="203" y="1204"/>
                    <a:pt x="607" y="1398"/>
                    <a:pt x="996" y="1387"/>
                  </a:cubicBezTo>
                  <a:cubicBezTo>
                    <a:pt x="1385" y="1375"/>
                    <a:pt x="1707" y="1159"/>
                    <a:pt x="1866" y="996"/>
                  </a:cubicBezTo>
                  <a:lnTo>
                    <a:pt x="927" y="0"/>
                  </a:lnTo>
                  <a:close/>
                </a:path>
              </a:pathLst>
            </a:custGeom>
            <a:blipFill dpi="0" rotWithShape="1">
              <a:blip r:embed="rId18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cmpd="sng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Oval 24"/>
            <p:cNvSpPr>
              <a:spLocks noChangeArrowheads="1"/>
            </p:cNvSpPr>
            <p:nvPr userDrawn="1"/>
          </p:nvSpPr>
          <p:spPr bwMode="gray">
            <a:xfrm>
              <a:off x="4921" y="391"/>
              <a:ext cx="331" cy="3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pic>
        <p:nvPicPr>
          <p:cNvPr id="16" name="图片 3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885" y="656744"/>
            <a:ext cx="476531" cy="4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omic Sans MS" panose="030F0702030302020204" pitchFamily="66" charset="0"/>
          <a:ea typeface="华文新魏" panose="02010800040101010101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2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Comic Sans MS" panose="030F0702030302020204" pitchFamily="66" charset="0"/>
          <a:ea typeface="华文新魏" panose="0201080004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高级语言程序设计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2" name="Oval 4"/>
          <p:cNvSpPr>
            <a:spLocks noChangeArrowheads="1"/>
          </p:cNvSpPr>
          <p:nvPr/>
        </p:nvSpPr>
        <p:spPr bwMode="ltGray">
          <a:xfrm>
            <a:off x="5724376" y="5661248"/>
            <a:ext cx="431800" cy="4318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5725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6012160" y="5590981"/>
            <a:ext cx="27751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计算机学院</a:t>
            </a:r>
            <a:endParaRPr lang="en-US" altLang="zh-CN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007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期末复习</a:t>
            </a:r>
            <a:endParaRPr lang="en-US" altLang="zh-CN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828800" y="2024063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828800" y="2938463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633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2100263"/>
            <a:ext cx="100860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rgbClr val="C00000"/>
                </a:solidFill>
                <a:ea typeface="宋体" pitchFamily="2" charset="-122"/>
              </a:rPr>
              <a:t>题型</a:t>
            </a:r>
            <a:endParaRPr lang="en-US" altLang="zh-CN" sz="3200" b="1" dirty="0">
              <a:solidFill>
                <a:srgbClr val="C00000"/>
              </a:solidFill>
              <a:ea typeface="宋体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2122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548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301466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ea typeface="宋体" pitchFamily="2" charset="-122"/>
              </a:rPr>
              <a:t>复习知识点</a:t>
            </a:r>
            <a:endParaRPr lang="en-US" altLang="zh-CN" sz="3200" b="1" dirty="0">
              <a:ea typeface="宋体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3036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ea typeface="宋体" pitchFamily="2" charset="-122"/>
              </a:rPr>
              <a:t>2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828800" y="3830638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4402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906838"/>
            <a:ext cx="265649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ea typeface="宋体" pitchFamily="2" charset="-122"/>
              </a:rPr>
              <a:t>考试题目示例</a:t>
            </a:r>
            <a:endParaRPr lang="en-US" altLang="zh-CN" sz="3200" b="1" dirty="0">
              <a:ea typeface="宋体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9290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681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单项选择</a:t>
            </a:r>
            <a:endParaRPr lang="en-US" altLang="zh-CN" dirty="0"/>
          </a:p>
          <a:p>
            <a:pPr lvl="1"/>
            <a:r>
              <a:rPr lang="en-US" altLang="zh-CN" dirty="0"/>
              <a:t>10</a:t>
            </a:r>
            <a:r>
              <a:rPr lang="zh-CN" altLang="en-US" dirty="0"/>
              <a:t>题 每题</a:t>
            </a:r>
            <a:r>
              <a:rPr lang="en-US" altLang="zh-CN" dirty="0"/>
              <a:t>2</a:t>
            </a:r>
            <a:r>
              <a:rPr lang="zh-CN" altLang="en-US" dirty="0"/>
              <a:t>分 共</a:t>
            </a:r>
            <a:r>
              <a:rPr lang="en-US" altLang="zh-CN" dirty="0"/>
              <a:t>20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程序改错（</a:t>
            </a:r>
            <a:r>
              <a:rPr lang="zh-CN" altLang="en-US" dirty="0">
                <a:solidFill>
                  <a:srgbClr val="FF0000"/>
                </a:solidFill>
              </a:rPr>
              <a:t>语法错误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题 每题</a:t>
            </a:r>
            <a:r>
              <a:rPr lang="en-US" altLang="zh-CN" dirty="0"/>
              <a:t>8</a:t>
            </a:r>
            <a:r>
              <a:rPr lang="zh-CN" altLang="en-US" dirty="0"/>
              <a:t>分 共</a:t>
            </a:r>
            <a:r>
              <a:rPr lang="en-US" altLang="zh-CN" dirty="0"/>
              <a:t>16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读程序写结果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题 每题</a:t>
            </a:r>
            <a:r>
              <a:rPr lang="en-US" altLang="zh-CN" dirty="0"/>
              <a:t>6</a:t>
            </a:r>
            <a:r>
              <a:rPr lang="zh-CN" altLang="en-US" dirty="0"/>
              <a:t>分 共</a:t>
            </a:r>
            <a:r>
              <a:rPr lang="en-US" altLang="zh-CN" dirty="0"/>
              <a:t>24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程序填空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题 </a:t>
            </a:r>
            <a:r>
              <a:rPr lang="en-US" altLang="zh-CN" dirty="0"/>
              <a:t>10</a:t>
            </a:r>
            <a:r>
              <a:rPr lang="zh-CN" altLang="en-US" dirty="0"/>
              <a:t>空 每空</a:t>
            </a:r>
            <a:r>
              <a:rPr lang="en-US" altLang="zh-CN" dirty="0"/>
              <a:t>2</a:t>
            </a:r>
            <a:r>
              <a:rPr lang="zh-CN" altLang="en-US" dirty="0"/>
              <a:t>分 共</a:t>
            </a:r>
            <a:r>
              <a:rPr lang="en-US" altLang="zh-CN" dirty="0"/>
              <a:t>20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程序设计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题 每题</a:t>
            </a:r>
            <a:r>
              <a:rPr lang="en-US" altLang="zh-CN" dirty="0"/>
              <a:t>10</a:t>
            </a:r>
            <a:r>
              <a:rPr lang="zh-CN" altLang="en-US" dirty="0"/>
              <a:t>分 共</a:t>
            </a:r>
            <a:r>
              <a:rPr lang="en-US" altLang="zh-CN" dirty="0"/>
              <a:t>20</a:t>
            </a:r>
            <a:r>
              <a:rPr lang="zh-CN" altLang="en-US" dirty="0"/>
              <a:t>分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36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期末复习</a:t>
            </a:r>
            <a:endParaRPr lang="en-US" altLang="zh-CN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828800" y="2024063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828800" y="2938463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6336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667000" y="2100263"/>
            <a:ext cx="100860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ea typeface="宋体" pitchFamily="2" charset="-122"/>
              </a:rPr>
              <a:t>题型</a:t>
            </a:r>
            <a:endParaRPr lang="en-US" altLang="zh-CN" sz="3200" b="1" dirty="0">
              <a:ea typeface="宋体" pitchFamily="2" charset="-122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5650" y="21224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548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667000" y="301466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rgbClr val="C00000"/>
                </a:solidFill>
                <a:ea typeface="宋体" pitchFamily="2" charset="-122"/>
              </a:rPr>
              <a:t>复习知识点</a:t>
            </a:r>
            <a:endParaRPr lang="en-US" altLang="zh-CN" sz="3200" b="1" dirty="0">
              <a:solidFill>
                <a:srgbClr val="C00000"/>
              </a:solidFill>
              <a:ea typeface="宋体" pitchFamily="2" charset="-122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5650" y="3036888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ea typeface="宋体" pitchFamily="2" charset="-122"/>
              </a:rPr>
              <a:t>2</a:t>
            </a:r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828800" y="3830638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4402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3906838"/>
            <a:ext cx="265649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ea typeface="宋体" pitchFamily="2" charset="-122"/>
              </a:rPr>
              <a:t>考试题目示例</a:t>
            </a:r>
            <a:endParaRPr lang="en-US" altLang="zh-CN" sz="3200" b="1" dirty="0">
              <a:ea typeface="宋体" pitchFamily="2" charset="-122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5650" y="3929063"/>
            <a:ext cx="3540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201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程序的</a:t>
            </a:r>
            <a:r>
              <a:rPr lang="en-US" altLang="zh-CN" dirty="0"/>
              <a:t>SP</a:t>
            </a:r>
            <a:r>
              <a:rPr lang="zh-CN" altLang="en-US" dirty="0"/>
              <a:t>框架结构</a:t>
            </a:r>
            <a:endParaRPr lang="en-US" altLang="zh-CN" dirty="0"/>
          </a:p>
          <a:p>
            <a:pPr lvl="1"/>
            <a:r>
              <a:rPr lang="zh-CN" altLang="en-US" dirty="0"/>
              <a:t>预处理指令</a:t>
            </a:r>
            <a:endParaRPr lang="en-US" altLang="zh-CN" dirty="0"/>
          </a:p>
          <a:p>
            <a:pPr lvl="1"/>
            <a:r>
              <a:rPr lang="zh-CN" altLang="en-US" dirty="0"/>
              <a:t>全局变量</a:t>
            </a:r>
            <a:endParaRPr lang="en-US" altLang="zh-CN" dirty="0"/>
          </a:p>
          <a:p>
            <a:pPr lvl="1"/>
            <a:r>
              <a:rPr lang="zh-CN" altLang="en-US" dirty="0"/>
              <a:t>函数原型与函数定义</a:t>
            </a:r>
            <a:endParaRPr lang="en-US" altLang="zh-CN" dirty="0"/>
          </a:p>
          <a:p>
            <a:pPr lvl="1"/>
            <a:r>
              <a:rPr lang="zh-CN" altLang="en-US" dirty="0"/>
              <a:t>主函数</a:t>
            </a:r>
            <a:endParaRPr lang="en-US" altLang="zh-CN" dirty="0"/>
          </a:p>
          <a:p>
            <a:pPr lvl="1"/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各部分的有序组合，构成</a:t>
            </a:r>
            <a:r>
              <a:rPr lang="en-US" altLang="zh-CN" dirty="0"/>
              <a:t>SP</a:t>
            </a:r>
            <a:r>
              <a:rPr lang="zh-CN" altLang="en-US" dirty="0"/>
              <a:t>框架结构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755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76872"/>
          </a:xfrm>
        </p:spPr>
        <p:txBody>
          <a:bodyPr/>
          <a:lstStyle/>
          <a:p>
            <a:r>
              <a:rPr lang="zh-CN" altLang="en-US" dirty="0"/>
              <a:t>数制转换</a:t>
            </a:r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  <a:endParaRPr lang="en-US" altLang="zh-CN" dirty="0"/>
          </a:p>
          <a:p>
            <a:r>
              <a:rPr lang="zh-CN" altLang="en-US" dirty="0"/>
              <a:t>数据类型、运算符与表达式</a:t>
            </a:r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语言的语句</a:t>
            </a:r>
            <a:endParaRPr lang="en-US" altLang="zh-CN" dirty="0"/>
          </a:p>
          <a:p>
            <a:r>
              <a:rPr lang="zh-CN" altLang="en-US" dirty="0"/>
              <a:t>一维数组、多维数组、字符数组</a:t>
            </a:r>
            <a:endParaRPr lang="en-US" altLang="zh-CN" dirty="0"/>
          </a:p>
          <a:p>
            <a:r>
              <a:rPr lang="zh-CN" altLang="en-US" dirty="0"/>
              <a:t>结构类型</a:t>
            </a:r>
            <a:endParaRPr lang="en-US" altLang="zh-CN" dirty="0"/>
          </a:p>
          <a:p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运算符重载</a:t>
            </a:r>
            <a:endParaRPr lang="en-US" altLang="zh-CN" dirty="0"/>
          </a:p>
          <a:p>
            <a:r>
              <a:rPr lang="zh-CN" altLang="en-US" dirty="0"/>
              <a:t>全局变量、局部变量、静态变量</a:t>
            </a:r>
            <a:endParaRPr lang="en-US" altLang="zh-CN" dirty="0"/>
          </a:p>
          <a:p>
            <a:r>
              <a:rPr lang="zh-CN" altLang="en-US" dirty="0"/>
              <a:t>指针变量、指针与数组</a:t>
            </a:r>
            <a:r>
              <a:rPr lang="zh-CN" altLang="en-US"/>
              <a:t>、引用与引用</a:t>
            </a:r>
            <a:r>
              <a:rPr lang="zh-CN" altLang="en-US" dirty="0"/>
              <a:t>参数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114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十进制与二进制的互相转换</a:t>
            </a:r>
            <a:endParaRPr lang="en-US" altLang="zh-CN" dirty="0"/>
          </a:p>
          <a:p>
            <a:r>
              <a:rPr lang="zh-CN" altLang="en-US" dirty="0"/>
              <a:t>八进制、十六进制与二进制的互相转换</a:t>
            </a:r>
          </a:p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2E5D-7BC3-44E6-BA65-C8AAD10FCEE5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7162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pPr lvl="1"/>
            <a:r>
              <a:rPr lang="zh-CN" altLang="en-US" dirty="0"/>
              <a:t>合法的标识符</a:t>
            </a:r>
            <a:endParaRPr lang="en-US" altLang="zh-CN" dirty="0"/>
          </a:p>
          <a:p>
            <a:r>
              <a:rPr lang="zh-CN" altLang="en-US" dirty="0"/>
              <a:t>字面常量</a:t>
            </a:r>
            <a:endParaRPr lang="en-US" altLang="zh-CN" dirty="0"/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、</a:t>
            </a:r>
            <a:r>
              <a:rPr lang="en-US" altLang="zh-CN" dirty="0"/>
              <a:t>double</a:t>
            </a:r>
            <a:r>
              <a:rPr lang="zh-CN" altLang="en-US" dirty="0"/>
              <a:t>、</a:t>
            </a:r>
            <a:r>
              <a:rPr lang="en-US" altLang="zh-CN" dirty="0"/>
              <a:t>char</a:t>
            </a:r>
            <a:r>
              <a:rPr lang="zh-CN" altLang="en-US" dirty="0"/>
              <a:t>、</a:t>
            </a:r>
            <a:r>
              <a:rPr lang="en-US" altLang="zh-CN" dirty="0" err="1"/>
              <a:t>bool</a:t>
            </a:r>
            <a:r>
              <a:rPr lang="zh-CN" altLang="en-US" dirty="0"/>
              <a:t>、字符串常量</a:t>
            </a:r>
            <a:endParaRPr lang="en-US" altLang="zh-CN" dirty="0"/>
          </a:p>
          <a:p>
            <a:pPr lvl="1"/>
            <a:r>
              <a:rPr lang="zh-CN" altLang="en-US" dirty="0"/>
              <a:t>特别注意整型常量前后缀、浮点常量后缀</a:t>
            </a:r>
            <a:endParaRPr lang="en-US" altLang="zh-CN" dirty="0"/>
          </a:p>
          <a:p>
            <a:r>
              <a:rPr lang="zh-CN" altLang="en-US" dirty="0"/>
              <a:t>运算符</a:t>
            </a:r>
            <a:endParaRPr lang="en-US" altLang="zh-CN" dirty="0"/>
          </a:p>
          <a:p>
            <a:r>
              <a:rPr lang="zh-CN" altLang="en-US" dirty="0"/>
              <a:t>分割符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270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13026"/>
          </a:xfrm>
        </p:spPr>
        <p:txBody>
          <a:bodyPr/>
          <a:lstStyle/>
          <a:p>
            <a:r>
              <a:rPr lang="zh-CN" altLang="en-US" dirty="0"/>
              <a:t>基本类型</a:t>
            </a:r>
            <a:endParaRPr lang="en-US" altLang="zh-CN" dirty="0"/>
          </a:p>
          <a:p>
            <a:r>
              <a:rPr lang="zh-CN" altLang="en-US" dirty="0"/>
              <a:t>基本类型的派生类型</a:t>
            </a:r>
            <a:endParaRPr lang="en-US" altLang="zh-CN" dirty="0"/>
          </a:p>
          <a:p>
            <a:r>
              <a:rPr lang="zh-CN" altLang="en-US" dirty="0"/>
              <a:t>复合类型</a:t>
            </a:r>
            <a:endParaRPr lang="en-US" altLang="zh-CN" dirty="0"/>
          </a:p>
          <a:p>
            <a:pPr lvl="1"/>
            <a:r>
              <a:rPr lang="zh-CN" altLang="en-US" dirty="0"/>
              <a:t>用户定义类型</a:t>
            </a:r>
            <a:endParaRPr lang="en-US" altLang="zh-CN" dirty="0"/>
          </a:p>
          <a:p>
            <a:pPr lvl="2"/>
            <a:r>
              <a:rPr lang="zh-CN" altLang="en-US" dirty="0"/>
              <a:t>枚举类型：定义方式、与整数的对应关系</a:t>
            </a:r>
            <a:endParaRPr lang="en-US" altLang="zh-CN" dirty="0"/>
          </a:p>
          <a:p>
            <a:pPr lvl="2"/>
            <a:r>
              <a:rPr lang="zh-CN" altLang="en-US" dirty="0"/>
              <a:t>结构类型：类型定义方式与变量定义方式</a:t>
            </a:r>
            <a:endParaRPr lang="en-US" altLang="zh-CN" dirty="0"/>
          </a:p>
          <a:p>
            <a:pPr lvl="2"/>
            <a:r>
              <a:rPr lang="en-US" altLang="zh-CN" dirty="0"/>
              <a:t>string</a:t>
            </a:r>
            <a:r>
              <a:rPr lang="zh-CN" altLang="en-US" dirty="0"/>
              <a:t>类型：基本的用法</a:t>
            </a:r>
            <a:endParaRPr lang="en-US" altLang="zh-CN" dirty="0"/>
          </a:p>
          <a:p>
            <a:pPr lvl="1"/>
            <a:r>
              <a:rPr lang="zh-CN" altLang="en-US" dirty="0"/>
              <a:t>导出类型</a:t>
            </a:r>
            <a:endParaRPr lang="en-US" altLang="zh-CN" dirty="0"/>
          </a:p>
          <a:p>
            <a:pPr lvl="2"/>
            <a:r>
              <a:rPr lang="zh-CN" altLang="en-US" dirty="0"/>
              <a:t>数组类型</a:t>
            </a:r>
            <a:endParaRPr lang="en-US" altLang="zh-CN" dirty="0"/>
          </a:p>
          <a:p>
            <a:pPr lvl="2"/>
            <a:r>
              <a:rPr lang="zh-CN" altLang="en-US" dirty="0"/>
              <a:t>引用类型</a:t>
            </a:r>
            <a:endParaRPr lang="en-US" altLang="zh-CN" dirty="0"/>
          </a:p>
          <a:p>
            <a:pPr lvl="2"/>
            <a:r>
              <a:rPr lang="zh-CN" altLang="en-US" dirty="0"/>
              <a:t>指针类型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653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运算符含义</a:t>
            </a:r>
            <a:endParaRPr lang="en-US" altLang="zh-CN" dirty="0"/>
          </a:p>
          <a:p>
            <a:r>
              <a:rPr lang="zh-CN" altLang="en-US" dirty="0"/>
              <a:t>运算分量</a:t>
            </a:r>
            <a:endParaRPr lang="en-US" altLang="zh-CN" dirty="0"/>
          </a:p>
          <a:p>
            <a:r>
              <a:rPr lang="zh-CN" altLang="en-US" dirty="0"/>
              <a:t>运算表达式</a:t>
            </a:r>
            <a:endParaRPr lang="en-US" altLang="zh-CN" dirty="0"/>
          </a:p>
          <a:p>
            <a:pPr lvl="1"/>
            <a:r>
              <a:rPr lang="zh-CN" altLang="en-US" dirty="0"/>
              <a:t>增量运算、条件运算、逗号运算等等</a:t>
            </a:r>
            <a:endParaRPr lang="en-US" altLang="zh-CN" dirty="0"/>
          </a:p>
          <a:p>
            <a:r>
              <a:rPr lang="zh-CN" altLang="en-US" dirty="0"/>
              <a:t>多种运算的表达式</a:t>
            </a:r>
            <a:endParaRPr lang="en-US" altLang="zh-CN" dirty="0"/>
          </a:p>
          <a:p>
            <a:pPr lvl="1"/>
            <a:r>
              <a:rPr lang="zh-CN" altLang="en-US" dirty="0"/>
              <a:t>运算符的优先级与结合性</a:t>
            </a:r>
            <a:endParaRPr lang="en-US" altLang="zh-CN" dirty="0"/>
          </a:p>
          <a:p>
            <a:pPr lvl="2"/>
            <a:r>
              <a:rPr lang="zh-CN" altLang="en-US" dirty="0"/>
              <a:t>算术运算、关系运算、逻辑运算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048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运算中的隐式数据类型转换（也称为数据类型的兼容）</a:t>
            </a:r>
            <a:endParaRPr lang="en-US" altLang="zh-CN" dirty="0"/>
          </a:p>
          <a:p>
            <a:pPr lvl="1"/>
            <a:r>
              <a:rPr lang="zh-CN" altLang="en-US" dirty="0"/>
              <a:t>整型、字符型、布尔型、枚举型之间的兼容性</a:t>
            </a:r>
            <a:endParaRPr lang="en-US" altLang="zh-CN" dirty="0"/>
          </a:p>
          <a:p>
            <a:pPr lvl="1"/>
            <a:r>
              <a:rPr lang="zh-CN" altLang="en-US" dirty="0"/>
              <a:t>整型和浮点型的兼容性</a:t>
            </a:r>
            <a:endParaRPr lang="en-US" altLang="zh-CN" dirty="0"/>
          </a:p>
          <a:p>
            <a:pPr lvl="1"/>
            <a:r>
              <a:rPr lang="zh-CN" altLang="en-US" dirty="0"/>
              <a:t>单精度浮点型与双精度浮点型的兼容性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2E5D-7BC3-44E6-BA65-C8AAD10FCEE5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490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579296" cy="4932908"/>
          </a:xfrm>
        </p:spPr>
        <p:txBody>
          <a:bodyPr/>
          <a:lstStyle/>
          <a:p>
            <a:r>
              <a:rPr lang="zh-CN" altLang="en-US" dirty="0"/>
              <a:t>说明语句</a:t>
            </a:r>
            <a:endParaRPr lang="en-US" altLang="zh-CN" dirty="0"/>
          </a:p>
          <a:p>
            <a:r>
              <a:rPr lang="zh-CN" altLang="en-US" dirty="0"/>
              <a:t>表达式语句</a:t>
            </a:r>
            <a:endParaRPr lang="en-US" altLang="zh-CN" dirty="0"/>
          </a:p>
          <a:p>
            <a:r>
              <a:rPr lang="zh-CN" altLang="en-US" dirty="0"/>
              <a:t>控制语句</a:t>
            </a:r>
            <a:endParaRPr lang="en-US" altLang="zh-CN" dirty="0"/>
          </a:p>
          <a:p>
            <a:pPr lvl="1"/>
            <a:r>
              <a:rPr lang="zh-CN" altLang="en-US" dirty="0"/>
              <a:t>分支语句：</a:t>
            </a:r>
            <a:r>
              <a:rPr lang="en-US" altLang="zh-CN" dirty="0"/>
              <a:t>if</a:t>
            </a:r>
            <a:r>
              <a:rPr lang="zh-CN" altLang="en-US" dirty="0"/>
              <a:t>， </a:t>
            </a:r>
            <a:r>
              <a:rPr lang="en-US" altLang="zh-CN" dirty="0"/>
              <a:t>if…else…</a:t>
            </a:r>
          </a:p>
          <a:p>
            <a:pPr lvl="1"/>
            <a:r>
              <a:rPr lang="zh-CN" altLang="en-US" dirty="0"/>
              <a:t>循环语句：</a:t>
            </a:r>
            <a:r>
              <a:rPr lang="en-US" altLang="zh-CN" dirty="0"/>
              <a:t>for</a:t>
            </a:r>
            <a:r>
              <a:rPr lang="zh-CN" altLang="en-US" dirty="0"/>
              <a:t>，</a:t>
            </a:r>
            <a:r>
              <a:rPr lang="en-US" altLang="zh-CN" dirty="0"/>
              <a:t>while</a:t>
            </a:r>
            <a:r>
              <a:rPr lang="zh-CN" altLang="en-US" dirty="0"/>
              <a:t>，</a:t>
            </a:r>
            <a:r>
              <a:rPr lang="en-US" altLang="zh-CN" dirty="0"/>
              <a:t>do…while</a:t>
            </a:r>
            <a:r>
              <a:rPr lang="zh-CN" altLang="en-US" dirty="0"/>
              <a:t>，</a:t>
            </a:r>
            <a:r>
              <a:rPr lang="en-US" altLang="zh-CN" dirty="0"/>
              <a:t>ranged for</a:t>
            </a:r>
          </a:p>
          <a:p>
            <a:pPr lvl="1"/>
            <a:r>
              <a:rPr lang="zh-CN" altLang="en-US" dirty="0"/>
              <a:t>转向语句：</a:t>
            </a:r>
            <a:r>
              <a:rPr lang="en-US" altLang="zh-CN" dirty="0"/>
              <a:t>break</a:t>
            </a:r>
            <a:r>
              <a:rPr lang="zh-CN" altLang="en-US" dirty="0"/>
              <a:t>，</a:t>
            </a:r>
            <a:r>
              <a:rPr lang="en-US" altLang="zh-CN" dirty="0"/>
              <a:t>continue</a:t>
            </a:r>
            <a:r>
              <a:rPr lang="zh-CN" altLang="en-US" dirty="0"/>
              <a:t>，</a:t>
            </a:r>
            <a:r>
              <a:rPr lang="en-US" altLang="zh-CN" dirty="0"/>
              <a:t>return</a:t>
            </a:r>
          </a:p>
          <a:p>
            <a:r>
              <a:rPr lang="zh-CN" altLang="en-US" dirty="0"/>
              <a:t>复合语句（语句块）</a:t>
            </a:r>
            <a:endParaRPr lang="en-US" altLang="zh-CN" dirty="0"/>
          </a:p>
          <a:p>
            <a:r>
              <a:rPr lang="zh-CN" altLang="en-US" dirty="0"/>
              <a:t>空语句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937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各类语句的格式</a:t>
            </a:r>
            <a:endParaRPr lang="en-US" altLang="zh-CN" dirty="0"/>
          </a:p>
          <a:p>
            <a:r>
              <a:rPr lang="zh-CN" altLang="en-US" dirty="0"/>
              <a:t>条件表达式的写法与求值</a:t>
            </a:r>
            <a:endParaRPr lang="en-US" altLang="zh-CN" dirty="0"/>
          </a:p>
          <a:p>
            <a:pPr lvl="1"/>
            <a:r>
              <a:rPr lang="zh-CN" altLang="en-US" dirty="0"/>
              <a:t>分支条件</a:t>
            </a:r>
            <a:endParaRPr lang="en-US" altLang="zh-CN" dirty="0"/>
          </a:p>
          <a:p>
            <a:pPr lvl="1"/>
            <a:r>
              <a:rPr lang="zh-CN" altLang="en-US" dirty="0"/>
              <a:t>循环条件</a:t>
            </a:r>
            <a:endParaRPr lang="en-US" altLang="zh-CN" dirty="0"/>
          </a:p>
          <a:p>
            <a:r>
              <a:rPr lang="zh-CN" altLang="en-US" dirty="0"/>
              <a:t>掌握典型的语句块</a:t>
            </a:r>
            <a:endParaRPr lang="en-US" altLang="zh-CN" dirty="0"/>
          </a:p>
          <a:p>
            <a:pPr lvl="1"/>
            <a:r>
              <a:rPr lang="zh-CN" altLang="en-US" dirty="0"/>
              <a:t>累加、累乘</a:t>
            </a:r>
            <a:endParaRPr lang="en-US" altLang="zh-CN" dirty="0"/>
          </a:p>
          <a:p>
            <a:pPr lvl="1"/>
            <a:r>
              <a:rPr lang="zh-CN" altLang="en-US" dirty="0"/>
              <a:t>冒泡排序</a:t>
            </a:r>
            <a:endParaRPr lang="en-US" altLang="zh-CN" dirty="0"/>
          </a:p>
          <a:p>
            <a:pPr lvl="1"/>
            <a:r>
              <a:rPr lang="zh-CN" altLang="en-US" dirty="0"/>
              <a:t>数组遍历、字符串遍历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0290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2908"/>
          </a:xfrm>
        </p:spPr>
        <p:txBody>
          <a:bodyPr/>
          <a:lstStyle/>
          <a:p>
            <a:r>
              <a:rPr lang="zh-CN" altLang="en-US" dirty="0"/>
              <a:t>一维数组和二维数组</a:t>
            </a:r>
            <a:endParaRPr lang="en-US" altLang="zh-CN" dirty="0"/>
          </a:p>
          <a:p>
            <a:pPr lvl="1"/>
            <a:r>
              <a:rPr lang="zh-CN" altLang="en-US" sz="2400" dirty="0"/>
              <a:t>说明方式</a:t>
            </a:r>
            <a:endParaRPr lang="en-US" altLang="zh-CN" sz="2400" dirty="0"/>
          </a:p>
          <a:p>
            <a:pPr lvl="1"/>
            <a:r>
              <a:rPr lang="zh-CN" altLang="en-US" sz="2400" dirty="0"/>
              <a:t>初始化</a:t>
            </a:r>
            <a:endParaRPr lang="en-US" altLang="zh-CN" sz="2400" dirty="0"/>
          </a:p>
          <a:p>
            <a:pPr lvl="1"/>
            <a:r>
              <a:rPr lang="zh-CN" altLang="en-US" sz="2400" dirty="0"/>
              <a:t>访问</a:t>
            </a:r>
            <a:endParaRPr lang="en-US" altLang="zh-CN" sz="2400" dirty="0"/>
          </a:p>
          <a:p>
            <a:r>
              <a:rPr lang="zh-CN" altLang="en-US" dirty="0"/>
              <a:t>字符数组</a:t>
            </a:r>
            <a:endParaRPr lang="en-US" altLang="zh-CN" dirty="0"/>
          </a:p>
          <a:p>
            <a:pPr lvl="1"/>
            <a:r>
              <a:rPr lang="zh-CN" altLang="en-US" sz="2400" dirty="0"/>
              <a:t>说明方式</a:t>
            </a:r>
            <a:endParaRPr lang="en-US" altLang="zh-CN" sz="2400" dirty="0"/>
          </a:p>
          <a:p>
            <a:pPr lvl="1"/>
            <a:r>
              <a:rPr lang="zh-CN" altLang="en-US" sz="2400" dirty="0"/>
              <a:t>初始化方式</a:t>
            </a:r>
            <a:endParaRPr lang="en-US" altLang="zh-CN" sz="2400" dirty="0"/>
          </a:p>
          <a:p>
            <a:pPr lvl="2"/>
            <a:r>
              <a:rPr lang="zh-CN" altLang="en-US" sz="2000" dirty="0"/>
              <a:t>按照字符串进行初始化</a:t>
            </a:r>
            <a:endParaRPr lang="en-US" altLang="zh-CN" sz="2000" dirty="0"/>
          </a:p>
          <a:p>
            <a:pPr lvl="2"/>
            <a:r>
              <a:rPr lang="zh-CN" altLang="en-US" sz="2000" dirty="0"/>
              <a:t>将字符数组整体进行输入输出</a:t>
            </a:r>
            <a:endParaRPr lang="en-US" altLang="zh-CN" sz="2000" dirty="0"/>
          </a:p>
          <a:p>
            <a:pPr lvl="1"/>
            <a:r>
              <a:rPr lang="zh-CN" altLang="en-US" sz="2400" dirty="0"/>
              <a:t>访问字符或子字符串</a:t>
            </a:r>
            <a:endParaRPr lang="en-US" altLang="zh-CN" sz="2400" dirty="0"/>
          </a:p>
          <a:p>
            <a:pPr lvl="1"/>
            <a:r>
              <a:rPr lang="en-US" altLang="zh-CN" sz="2400" dirty="0"/>
              <a:t>string</a:t>
            </a:r>
            <a:r>
              <a:rPr lang="zh-CN" altLang="en-US" sz="2400" dirty="0"/>
              <a:t>类型的简单用法</a:t>
            </a:r>
            <a:endParaRPr lang="en-US" altLang="zh-CN" sz="2400" dirty="0"/>
          </a:p>
          <a:p>
            <a:pPr lvl="1"/>
            <a:r>
              <a:rPr lang="zh-CN" altLang="en-US" sz="2400" dirty="0"/>
              <a:t>字符串函数，会自己编写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683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结构类型的含义</a:t>
            </a:r>
            <a:endParaRPr lang="en-US" altLang="zh-CN" dirty="0"/>
          </a:p>
          <a:p>
            <a:r>
              <a:rPr lang="zh-CN" altLang="en-US" dirty="0"/>
              <a:t>结构类型的定义</a:t>
            </a:r>
            <a:endParaRPr lang="en-US" altLang="zh-CN" dirty="0"/>
          </a:p>
          <a:p>
            <a:r>
              <a:rPr lang="zh-CN" altLang="en-US" dirty="0"/>
              <a:t>结构类型变量的说明与初始化</a:t>
            </a:r>
            <a:endParaRPr lang="en-US" altLang="zh-CN" dirty="0"/>
          </a:p>
          <a:p>
            <a:r>
              <a:rPr lang="zh-CN" altLang="en-US" dirty="0"/>
              <a:t>结构类型变量成员的访问方式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252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函数的说明方式</a:t>
            </a:r>
            <a:endParaRPr lang="en-US" altLang="zh-CN" dirty="0"/>
          </a:p>
          <a:p>
            <a:pPr lvl="1"/>
            <a:r>
              <a:rPr lang="zh-CN" altLang="en-US" dirty="0"/>
              <a:t>函数原型</a:t>
            </a:r>
            <a:endParaRPr lang="en-US" altLang="zh-CN" dirty="0"/>
          </a:p>
          <a:p>
            <a:pPr lvl="1"/>
            <a:r>
              <a:rPr lang="zh-CN" altLang="en-US" dirty="0"/>
              <a:t>函数定义</a:t>
            </a:r>
            <a:endParaRPr lang="en-US" altLang="zh-CN" dirty="0"/>
          </a:p>
          <a:p>
            <a:r>
              <a:rPr lang="zh-CN" altLang="en-US" dirty="0"/>
              <a:t>函数的调用</a:t>
            </a:r>
            <a:endParaRPr lang="en-US" altLang="zh-CN" dirty="0"/>
          </a:p>
          <a:p>
            <a:pPr lvl="1"/>
            <a:r>
              <a:rPr lang="zh-CN" altLang="en-US" dirty="0"/>
              <a:t>嵌套</a:t>
            </a:r>
            <a:endParaRPr lang="en-US" altLang="zh-CN" dirty="0"/>
          </a:p>
          <a:p>
            <a:pPr lvl="1"/>
            <a:r>
              <a:rPr lang="zh-CN" altLang="en-US" dirty="0"/>
              <a:t>递归</a:t>
            </a:r>
            <a:endParaRPr lang="en-US" altLang="zh-CN" dirty="0"/>
          </a:p>
          <a:p>
            <a:r>
              <a:rPr lang="zh-CN" altLang="en-US" dirty="0"/>
              <a:t>函数的返回值</a:t>
            </a:r>
            <a:endParaRPr lang="en-US" altLang="zh-CN" dirty="0"/>
          </a:p>
          <a:p>
            <a:r>
              <a:rPr lang="zh-CN" altLang="en-US" dirty="0"/>
              <a:t>函数的参数</a:t>
            </a:r>
            <a:endParaRPr lang="en-US" altLang="zh-CN" dirty="0"/>
          </a:p>
          <a:p>
            <a:pPr lvl="1"/>
            <a:r>
              <a:rPr lang="zh-CN" altLang="en-US" dirty="0"/>
              <a:t>数组参数、引用参数的意义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733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变量、函数的相关概念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全局变量与局部变量（文件内的变量）</a:t>
            </a:r>
            <a:endParaRPr lang="en-US" altLang="zh-CN" dirty="0"/>
          </a:p>
          <a:p>
            <a:pPr lvl="1"/>
            <a:r>
              <a:rPr lang="zh-CN" altLang="en-US" dirty="0"/>
              <a:t>静态局部变量</a:t>
            </a:r>
            <a:r>
              <a:rPr lang="en-US" altLang="zh-CN" dirty="0"/>
              <a:t>*</a:t>
            </a:r>
            <a:endParaRPr lang="zh-CN" altLang="en-US" dirty="0"/>
          </a:p>
          <a:p>
            <a:r>
              <a:rPr lang="zh-CN" altLang="en-US" dirty="0"/>
              <a:t>静态属性与外部属性（</a:t>
            </a:r>
            <a:r>
              <a:rPr lang="zh-CN" altLang="en-US"/>
              <a:t>文件间的变量与函数）</a:t>
            </a:r>
            <a:endParaRPr lang="en-US" altLang="zh-CN" dirty="0"/>
          </a:p>
          <a:p>
            <a:pPr lvl="1"/>
            <a:r>
              <a:rPr lang="zh-CN" altLang="en-US" dirty="0"/>
              <a:t>静态</a:t>
            </a:r>
            <a:endParaRPr lang="en-US" altLang="zh-CN" dirty="0"/>
          </a:p>
          <a:p>
            <a:pPr lvl="2"/>
            <a:r>
              <a:rPr lang="zh-CN" altLang="en-US" dirty="0"/>
              <a:t>文件级作用域</a:t>
            </a:r>
            <a:r>
              <a:rPr lang="en-US" altLang="zh-CN" dirty="0"/>
              <a:t>/</a:t>
            </a:r>
            <a:r>
              <a:rPr lang="zh-CN" altLang="en-US" dirty="0"/>
              <a:t>块级</a:t>
            </a:r>
            <a:endParaRPr lang="en-US" altLang="zh-CN" dirty="0"/>
          </a:p>
          <a:p>
            <a:pPr lvl="1"/>
            <a:r>
              <a:rPr lang="zh-CN" altLang="en-US" dirty="0"/>
              <a:t>外部</a:t>
            </a:r>
            <a:endParaRPr lang="en-US" altLang="zh-CN" dirty="0"/>
          </a:p>
          <a:p>
            <a:pPr lvl="2"/>
            <a:r>
              <a:rPr lang="zh-CN" altLang="en-US" dirty="0"/>
              <a:t>程序级作用域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9954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变量存储类型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变量各种存储类型的含义</a:t>
            </a:r>
            <a:endParaRPr lang="en-US" altLang="zh-CN" dirty="0"/>
          </a:p>
          <a:p>
            <a:pPr lvl="1"/>
            <a:r>
              <a:rPr lang="zh-CN" altLang="en-US" dirty="0"/>
              <a:t>全局变量与局部变量</a:t>
            </a:r>
            <a:endParaRPr lang="en-US" altLang="zh-CN" dirty="0"/>
          </a:p>
          <a:p>
            <a:pPr lvl="2"/>
            <a:r>
              <a:rPr lang="zh-CN" altLang="en-US" dirty="0"/>
              <a:t>生存期与作用域</a:t>
            </a:r>
            <a:endParaRPr lang="en-US" altLang="zh-CN" dirty="0"/>
          </a:p>
          <a:p>
            <a:pPr lvl="1"/>
            <a:r>
              <a:rPr lang="zh-CN" altLang="en-US" dirty="0"/>
              <a:t>静态变量</a:t>
            </a:r>
            <a:endParaRPr lang="en-US" altLang="zh-CN" dirty="0"/>
          </a:p>
          <a:p>
            <a:pPr lvl="2"/>
            <a:r>
              <a:rPr lang="zh-CN" altLang="en-US" dirty="0"/>
              <a:t>初始化一次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027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90C01-6903-42A3-B6F6-7C2E3C40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指针与引用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4EE65-68B7-457F-8191-5BD0B834A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指针变量</a:t>
            </a:r>
            <a:endParaRPr lang="en-US" altLang="zh-CN" dirty="0"/>
          </a:p>
          <a:p>
            <a:pPr lvl="1"/>
            <a:r>
              <a:rPr lang="zh-CN" altLang="en-US" dirty="0"/>
              <a:t>基本概念、基本运算、基本用法</a:t>
            </a:r>
            <a:endParaRPr lang="en-US" altLang="zh-CN" dirty="0"/>
          </a:p>
          <a:p>
            <a:r>
              <a:rPr lang="zh-CN" altLang="en-US" dirty="0"/>
              <a:t>指针与数组</a:t>
            </a:r>
            <a:endParaRPr lang="en-US" altLang="zh-CN" dirty="0"/>
          </a:p>
          <a:p>
            <a:pPr lvl="1"/>
            <a:r>
              <a:rPr lang="zh-CN" altLang="en-US" dirty="0"/>
              <a:t>三组等价关系及其应用</a:t>
            </a:r>
            <a:endParaRPr lang="en-US" altLang="zh-CN" dirty="0"/>
          </a:p>
          <a:p>
            <a:r>
              <a:rPr lang="zh-CN" altLang="en-US" dirty="0"/>
              <a:t>指针与字符串</a:t>
            </a:r>
            <a:endParaRPr lang="en-US" altLang="zh-CN" dirty="0"/>
          </a:p>
          <a:p>
            <a:pPr lvl="1"/>
            <a:r>
              <a:rPr lang="zh-CN" altLang="en-US" dirty="0"/>
              <a:t>说明与初始化、字符型常量指针的设置</a:t>
            </a:r>
            <a:endParaRPr lang="en-US" altLang="zh-CN" dirty="0"/>
          </a:p>
          <a:p>
            <a:r>
              <a:rPr lang="zh-CN" altLang="en-US" dirty="0"/>
              <a:t>引用</a:t>
            </a:r>
            <a:endParaRPr lang="en-US" altLang="zh-CN" dirty="0"/>
          </a:p>
          <a:p>
            <a:pPr lvl="1"/>
            <a:r>
              <a:rPr lang="zh-CN" altLang="en-US" dirty="0"/>
              <a:t>基本概念、基本用法</a:t>
            </a:r>
            <a:endParaRPr lang="en-US" altLang="zh-CN" dirty="0"/>
          </a:p>
          <a:p>
            <a:pPr lvl="1"/>
            <a:r>
              <a:rPr lang="zh-CN" altLang="en-US" dirty="0"/>
              <a:t>引用参数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8036DB-0B4B-4240-9205-4AC32042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2E5D-7BC3-44E6-BA65-C8AAD10FCEE5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8106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基本概念汇总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435280" cy="4932908"/>
          </a:xfrm>
        </p:spPr>
        <p:txBody>
          <a:bodyPr/>
          <a:lstStyle/>
          <a:p>
            <a:r>
              <a:rPr lang="en-US" altLang="zh-CN" sz="2800" dirty="0"/>
              <a:t>C++</a:t>
            </a:r>
            <a:r>
              <a:rPr lang="zh-CN" altLang="en-US" sz="2800" dirty="0"/>
              <a:t>词汇，包括关键字、标识符、字面常量、运算符、分隔符</a:t>
            </a:r>
            <a:endParaRPr lang="en-US" altLang="zh-CN" sz="2800" dirty="0"/>
          </a:p>
          <a:p>
            <a:r>
              <a:rPr lang="zh-CN" altLang="en-US" sz="2800" dirty="0"/>
              <a:t>枚举类型</a:t>
            </a:r>
            <a:endParaRPr lang="en-US" altLang="zh-CN" sz="2800" dirty="0"/>
          </a:p>
          <a:p>
            <a:r>
              <a:rPr lang="zh-CN" altLang="en-US" sz="2800" dirty="0"/>
              <a:t>变量、数组、结构变量、函数说明</a:t>
            </a:r>
            <a:endParaRPr lang="en-US" altLang="zh-CN" sz="2800" dirty="0"/>
          </a:p>
          <a:p>
            <a:r>
              <a:rPr lang="zh-CN" altLang="en-US" sz="2800" dirty="0"/>
              <a:t>函数的参数、返回值类型、调用表达式、函数重载</a:t>
            </a:r>
            <a:endParaRPr lang="en-US" altLang="zh-CN" sz="2800" dirty="0"/>
          </a:p>
          <a:p>
            <a:r>
              <a:rPr lang="zh-CN" altLang="en-US" dirty="0"/>
              <a:t>生存期、作用域</a:t>
            </a:r>
            <a:endParaRPr lang="en-US" altLang="zh-CN" dirty="0"/>
          </a:p>
          <a:p>
            <a:r>
              <a:rPr lang="zh-CN" altLang="en-US" sz="2800" dirty="0"/>
              <a:t>全局变量、局部变量</a:t>
            </a:r>
            <a:endParaRPr lang="en-US" altLang="zh-CN" sz="2800" dirty="0"/>
          </a:p>
          <a:p>
            <a:r>
              <a:rPr lang="zh-CN" altLang="en-US" sz="2800" dirty="0"/>
              <a:t>静态变量、外部变量</a:t>
            </a:r>
            <a:endParaRPr lang="en-US" altLang="zh-CN" sz="2800" dirty="0"/>
          </a:p>
          <a:p>
            <a:r>
              <a:rPr lang="zh-CN" altLang="en-US" sz="2800" dirty="0"/>
              <a:t>外部函数、静态函数、内联函数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33776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程序改错汇总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96752"/>
            <a:ext cx="8579296" cy="5148808"/>
          </a:xfrm>
        </p:spPr>
        <p:txBody>
          <a:bodyPr/>
          <a:lstStyle/>
          <a:p>
            <a:r>
              <a:rPr lang="zh-CN" altLang="en-US" dirty="0"/>
              <a:t>错用或未用分隔符</a:t>
            </a:r>
            <a:endParaRPr lang="en-US" altLang="zh-CN" dirty="0"/>
          </a:p>
          <a:p>
            <a:r>
              <a:rPr lang="zh-CN" altLang="en-US" dirty="0"/>
              <a:t>标识符未说明或者错误说明（变量、数组、函数等）</a:t>
            </a:r>
            <a:endParaRPr lang="en-US" altLang="zh-CN" dirty="0"/>
          </a:p>
          <a:p>
            <a:r>
              <a:rPr lang="zh-CN" altLang="en-US" dirty="0"/>
              <a:t>初始化错误（数组、字符串等）</a:t>
            </a:r>
            <a:endParaRPr lang="en-US" altLang="zh-CN" dirty="0"/>
          </a:p>
          <a:p>
            <a:r>
              <a:rPr lang="zh-CN" altLang="en-US" dirty="0"/>
              <a:t>常变量改值</a:t>
            </a:r>
            <a:endParaRPr lang="en-US" altLang="zh-CN" dirty="0"/>
          </a:p>
          <a:p>
            <a:r>
              <a:rPr lang="zh-CN" altLang="en-US" dirty="0"/>
              <a:t>错用运算符</a:t>
            </a:r>
            <a:endParaRPr lang="en-US" altLang="zh-CN" dirty="0"/>
          </a:p>
          <a:p>
            <a:r>
              <a:rPr lang="en-US" altLang="zh-CN" dirty="0"/>
              <a:t>if…else</a:t>
            </a:r>
            <a:r>
              <a:rPr lang="zh-CN" altLang="en-US" dirty="0"/>
              <a:t>匹配问题</a:t>
            </a:r>
            <a:endParaRPr lang="en-US" altLang="zh-CN" dirty="0"/>
          </a:p>
          <a:p>
            <a:r>
              <a:rPr lang="zh-CN" altLang="en-US" dirty="0"/>
              <a:t>函数返回语句问题</a:t>
            </a:r>
            <a:endParaRPr lang="en-US" altLang="zh-CN" dirty="0"/>
          </a:p>
          <a:p>
            <a:r>
              <a:rPr lang="zh-CN" altLang="en-US" dirty="0"/>
              <a:t>数据类型不一致问题（函数形参和实参）</a:t>
            </a:r>
            <a:endParaRPr lang="en-US" altLang="zh-CN" dirty="0"/>
          </a:p>
          <a:p>
            <a:r>
              <a:rPr lang="zh-CN" altLang="en-US" dirty="0"/>
              <a:t>数组越界</a:t>
            </a:r>
            <a:endParaRPr lang="en-US" altLang="zh-CN" dirty="0"/>
          </a:p>
          <a:p>
            <a:r>
              <a:rPr lang="zh-CN" altLang="en-US" dirty="0"/>
              <a:t>变量与函数的作用域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9215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WordArt 5"/>
          <p:cNvSpPr>
            <a:spLocks noChangeArrowheads="1" noChangeShapeType="1" noTextEdit="1"/>
          </p:cNvSpPr>
          <p:nvPr/>
        </p:nvSpPr>
        <p:spPr bwMode="gray">
          <a:xfrm>
            <a:off x="4860032" y="1196752"/>
            <a:ext cx="3887787" cy="172819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Q&amp;A!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24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 animBg="1"/>
    </p:bldLst>
  </p:timing>
</p:sld>
</file>

<file path=ppt/theme/theme1.xml><?xml version="1.0" encoding="utf-8"?>
<a:theme xmlns:a="http://schemas.openxmlformats.org/drawingml/2006/main" name="sample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123TGp_biz_diagram_v2</Template>
  <TotalTime>3147</TotalTime>
  <Words>776</Words>
  <Application>Microsoft Office PowerPoint</Application>
  <PresentationFormat>全屏显示(4:3)</PresentationFormat>
  <Paragraphs>198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华文新魏</vt:lpstr>
      <vt:lpstr>Arial</vt:lpstr>
      <vt:lpstr>Calibri</vt:lpstr>
      <vt:lpstr>Comic Sans MS</vt:lpstr>
      <vt:lpstr>Verdana</vt:lpstr>
      <vt:lpstr>Wingdings</vt:lpstr>
      <vt:lpstr>sample</vt:lpstr>
      <vt:lpstr>高级语言程序设计</vt:lpstr>
      <vt:lpstr>期末复习</vt:lpstr>
      <vt:lpstr>考试题型</vt:lpstr>
      <vt:lpstr>期末复习</vt:lpstr>
      <vt:lpstr>复习知识点</vt:lpstr>
      <vt:lpstr>复习知识点</vt:lpstr>
      <vt:lpstr>数制转换</vt:lpstr>
      <vt:lpstr>C++语言的词汇</vt:lpstr>
      <vt:lpstr>数据类型</vt:lpstr>
      <vt:lpstr>运算符与表达式</vt:lpstr>
      <vt:lpstr>运算符与表达式</vt:lpstr>
      <vt:lpstr>C++语句</vt:lpstr>
      <vt:lpstr>C++语句</vt:lpstr>
      <vt:lpstr>数组</vt:lpstr>
      <vt:lpstr>结构类型</vt:lpstr>
      <vt:lpstr>函数</vt:lpstr>
      <vt:lpstr>变量、函数的相关概念</vt:lpstr>
      <vt:lpstr>变量存储类型</vt:lpstr>
      <vt:lpstr>指针与引用</vt:lpstr>
      <vt:lpstr>基本概念汇总</vt:lpstr>
      <vt:lpstr>程序改错汇总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高级语言程序设计</dc:title>
  <dc:creator>dell</dc:creator>
  <cp:lastModifiedBy>Administrator</cp:lastModifiedBy>
  <cp:revision>274</cp:revision>
  <dcterms:created xsi:type="dcterms:W3CDTF">2015-07-19T02:17:45Z</dcterms:created>
  <dcterms:modified xsi:type="dcterms:W3CDTF">2024-12-23T14:09:39Z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64440492-4C8B-11D1-8B70-080036B11A03}" pid="4">
    <vt:lpwstr>ThemeGallery.com</vt:lpwstr>
  </property>
</Properties>
</file>