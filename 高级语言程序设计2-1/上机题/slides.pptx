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84" r:id="rId5"/>
    <p:sldId id="285" r:id="rId6"/>
    <p:sldId id="282" r:id="rId7"/>
    <p:sldId id="267" r:id="rId8"/>
    <p:sldId id="283" r:id="rId9"/>
    <p:sldId id="268" r:id="rId10"/>
    <p:sldId id="286" r:id="rId11"/>
    <p:sldId id="287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461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23" name="Picture 4" descr="案例_山东华途文化传媒有限公司官网|济南地标户外媒体广告运营商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0" y="-524059"/>
            <a:ext cx="3206730" cy="2142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箭头: 五边形 7"/>
          <p:cNvSpPr/>
          <p:nvPr userDrawn="1"/>
        </p:nvSpPr>
        <p:spPr>
          <a:xfrm>
            <a:off x="-1" y="298174"/>
            <a:ext cx="6418907" cy="762844"/>
          </a:xfrm>
          <a:prstGeom prst="homePlate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dirty="0">
                <a:solidFill>
                  <a:schemeClr val="bg1"/>
                </a:solidFill>
              </a:rPr>
              <a:t>1119 - </a:t>
            </a:r>
            <a:r>
              <a:rPr lang="zh-CN" altLang="en-US" sz="2800" dirty="0">
                <a:solidFill>
                  <a:schemeClr val="bg1"/>
                </a:solidFill>
              </a:rPr>
              <a:t>题目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55" y="1345640"/>
            <a:ext cx="12192000" cy="45870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1119 - </a:t>
            </a:r>
            <a:r>
              <a:rPr lang="en-US" altLang="zh-CN" sz="2800" dirty="0" err="1">
                <a:solidFill>
                  <a:schemeClr val="bg1"/>
                </a:solidFill>
              </a:rPr>
              <a:t>解题思路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5025" y="1433062"/>
            <a:ext cx="9872732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使用递归策略计算每种不同走法的总数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141718"/>
                </a:solidFill>
                <a:effectLst/>
                <a:latin typeface="__Karla_78bc08"/>
              </a:rPr>
              <a:t>定义一个递归函数</a:t>
            </a:r>
            <a:r>
              <a:rPr lang="en-US" altLang="zh-CN" b="0" i="0" dirty="0" err="1">
                <a:solidFill>
                  <a:srgbClr val="141718"/>
                </a:solidFill>
                <a:effectLst/>
                <a:latin typeface="__Karla_78bc08"/>
              </a:rPr>
              <a:t>countWays</a:t>
            </a:r>
            <a:r>
              <a:rPr lang="zh-CN" altLang="en-US" b="0" i="0" dirty="0">
                <a:solidFill>
                  <a:srgbClr val="141718"/>
                </a:solidFill>
                <a:effectLst/>
                <a:latin typeface="__Karla_78bc08"/>
              </a:rPr>
              <a:t>来计算给定数量的台阶所可能的不同走法数量</a:t>
            </a:r>
            <a:endParaRPr lang="en-US" altLang="zh-CN" b="0" i="0" dirty="0">
              <a:solidFill>
                <a:srgbClr val="141718"/>
              </a:solidFill>
              <a:effectLst/>
              <a:latin typeface="__Karla_78bc08"/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注意递归的终止条件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dirty="0">
                <a:solidFill>
                  <a:schemeClr val="bg1"/>
                </a:solidFill>
              </a:rPr>
              <a:t>1236 - </a:t>
            </a:r>
            <a:r>
              <a:rPr lang="zh-CN" altLang="en-US" sz="2800" dirty="0">
                <a:solidFill>
                  <a:schemeClr val="bg1"/>
                </a:solidFill>
              </a:rPr>
              <a:t>题目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942" y="1172937"/>
            <a:ext cx="11307029" cy="56287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1236 - </a:t>
            </a:r>
            <a:r>
              <a:rPr lang="en-US" altLang="zh-CN" sz="2800" dirty="0" err="1">
                <a:solidFill>
                  <a:schemeClr val="bg1"/>
                </a:solidFill>
              </a:rPr>
              <a:t>解题思路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5025" y="1433062"/>
            <a:ext cx="9872732" cy="2125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爱丽丝希望将选择的字符变为 </a:t>
            </a:r>
            <a:r>
              <a:rPr lang="en-US" altLang="zh-CN" dirty="0"/>
              <a:t>'a'</a:t>
            </a:r>
            <a:r>
              <a:rPr lang="zh-CN" altLang="en-US" dirty="0"/>
              <a:t>（假设可以变）来尽量令字符串变小。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鲍勃希望将选择的字符变为 </a:t>
            </a:r>
            <a:r>
              <a:rPr lang="en-US" altLang="zh-CN" dirty="0"/>
              <a:t>'z'</a:t>
            </a:r>
            <a:r>
              <a:rPr lang="zh-CN" altLang="en-US" dirty="0"/>
              <a:t>（假设可以变）来尽量令字符串变大。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因为他们轮流进行操作，并且都使用最佳策略，所以对于每个字符串中的每个字符：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如果该字符的选择顺序是爱丽丝选择，她会将字符尽量变为 </a:t>
            </a:r>
            <a:r>
              <a:rPr lang="en-US" altLang="zh-CN" dirty="0"/>
              <a:t>'a'</a:t>
            </a:r>
            <a:r>
              <a:rPr lang="zh-CN" altLang="en-US" dirty="0"/>
              <a:t>。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如果选择顺序是鲍勃选择，他会将字符尽量变为 </a:t>
            </a:r>
            <a:r>
              <a:rPr lang="en-US" altLang="zh-CN" dirty="0"/>
              <a:t>'z'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1241 - </a:t>
            </a:r>
            <a:r>
              <a:rPr lang="en-US" altLang="zh-CN" sz="2800" dirty="0" err="1">
                <a:solidFill>
                  <a:schemeClr val="bg1"/>
                </a:solidFill>
              </a:rPr>
              <a:t>题目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34981"/>
            <a:ext cx="12192000" cy="39880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1241 - </a:t>
            </a:r>
            <a:r>
              <a:rPr lang="en-US" altLang="zh-CN" sz="2800" dirty="0" err="1">
                <a:solidFill>
                  <a:schemeClr val="bg1"/>
                </a:solidFill>
              </a:rPr>
              <a:t>解题思路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74661" y="1414143"/>
            <a:ext cx="9872732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遍历字符串，查找连续重复的字符块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查找时维护最大长度</a:t>
            </a:r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1253 - </a:t>
            </a:r>
            <a:r>
              <a:rPr lang="en-US" altLang="zh-CN" sz="2800" dirty="0" err="1">
                <a:solidFill>
                  <a:schemeClr val="bg1"/>
                </a:solidFill>
              </a:rPr>
              <a:t>题目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64712"/>
            <a:ext cx="12192000" cy="43285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1253 - </a:t>
            </a:r>
            <a:r>
              <a:rPr lang="en-US" altLang="zh-CN" sz="2800" dirty="0" err="1">
                <a:solidFill>
                  <a:schemeClr val="bg1"/>
                </a:solidFill>
              </a:rPr>
              <a:t>解题思路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74661" y="1414143"/>
            <a:ext cx="9872732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0" i="0" dirty="0">
                <a:solidFill>
                  <a:srgbClr val="141718"/>
                </a:solidFill>
                <a:effectLst/>
                <a:latin typeface="__Karla_78bc08"/>
              </a:rPr>
              <a:t>维护一个游标用于建立结果数组，并用另一个游标遍历当前数组，同时记录当前数字连续出现的次数。每当我们遇到一个数字，我们检查它是否与前一个数字相同，并且记录它已经出现的次数：</a:t>
            </a:r>
            <a:endParaRPr lang="zh-CN" altLang="en-US" b="0" i="0" dirty="0">
              <a:solidFill>
                <a:srgbClr val="141718"/>
              </a:solidFill>
              <a:effectLst/>
              <a:latin typeface="__Karla_78bc08"/>
            </a:endParaRPr>
          </a:p>
          <a:p>
            <a:pPr algn="l"/>
            <a:endParaRPr lang="en-US" altLang="zh-CN" b="0" i="0" dirty="0">
              <a:solidFill>
                <a:srgbClr val="141718"/>
              </a:solidFill>
              <a:effectLst/>
              <a:latin typeface="__Karla_78bc08"/>
            </a:endParaRPr>
          </a:p>
          <a:p>
            <a:pPr algn="l"/>
            <a:r>
              <a:rPr lang="zh-CN" altLang="en-US" b="0" i="0" dirty="0">
                <a:solidFill>
                  <a:srgbClr val="141718"/>
                </a:solidFill>
                <a:effectLst/>
                <a:latin typeface="__Karla_78bc08"/>
              </a:rPr>
              <a:t>如果它是新的数字，我们重置计数器，并把它放到结果数组中。</a:t>
            </a:r>
            <a:endParaRPr lang="zh-CN" altLang="en-US" b="0" i="0" dirty="0">
              <a:solidFill>
                <a:srgbClr val="141718"/>
              </a:solidFill>
              <a:effectLst/>
              <a:latin typeface="__Karla_78bc08"/>
            </a:endParaRPr>
          </a:p>
          <a:p>
            <a:pPr algn="l"/>
            <a:r>
              <a:rPr lang="zh-CN" altLang="en-US" b="0" i="0" dirty="0">
                <a:solidFill>
                  <a:srgbClr val="141718"/>
                </a:solidFill>
                <a:effectLst/>
                <a:latin typeface="__Karla_78bc08"/>
              </a:rPr>
              <a:t>如果它与前一个数字相同，而且出现次数小于</a:t>
            </a:r>
            <a:r>
              <a:rPr lang="en-US" altLang="zh-CN" b="0" i="0" dirty="0">
                <a:solidFill>
                  <a:srgbClr val="141718"/>
                </a:solidFill>
                <a:effectLst/>
                <a:latin typeface="__Karla_78bc08"/>
              </a:rPr>
              <a:t>2</a:t>
            </a:r>
            <a:r>
              <a:rPr lang="zh-CN" altLang="en-US" b="0" i="0" dirty="0">
                <a:solidFill>
                  <a:srgbClr val="141718"/>
                </a:solidFill>
                <a:effectLst/>
                <a:latin typeface="__Karla_78bc08"/>
              </a:rPr>
              <a:t>，我们也把它放到结果数组中。</a:t>
            </a:r>
            <a:endParaRPr lang="zh-CN" altLang="en-US" b="0" i="0" dirty="0">
              <a:solidFill>
                <a:srgbClr val="141718"/>
              </a:solidFill>
              <a:effectLst/>
              <a:latin typeface="__Karla_78bc08"/>
            </a:endParaRPr>
          </a:p>
          <a:p>
            <a:pPr algn="l"/>
            <a:r>
              <a:rPr lang="zh-CN" altLang="en-US" b="0" i="0" dirty="0">
                <a:solidFill>
                  <a:srgbClr val="141718"/>
                </a:solidFill>
                <a:effectLst/>
                <a:latin typeface="__Karla_78bc08"/>
              </a:rPr>
              <a:t>如果当前数字连续出现超过两次，则忽略其后续出现。</a:t>
            </a:r>
            <a:endParaRPr lang="zh-CN" altLang="en-US" b="0" i="0" dirty="0">
              <a:solidFill>
                <a:srgbClr val="141718"/>
              </a:solidFill>
              <a:effectLst/>
              <a:latin typeface="__Karla_78bc08"/>
            </a:endParaRPr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B2113 - </a:t>
            </a:r>
            <a:r>
              <a:rPr lang="en-US" altLang="zh-CN" sz="2800" dirty="0" err="1">
                <a:solidFill>
                  <a:schemeClr val="bg1"/>
                </a:solidFill>
              </a:rPr>
              <a:t>题目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18792"/>
            <a:ext cx="12192000" cy="30204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B2113 - </a:t>
            </a:r>
            <a:r>
              <a:rPr lang="en-US" altLang="zh-CN" sz="2800" dirty="0" err="1">
                <a:solidFill>
                  <a:schemeClr val="bg1"/>
                </a:solidFill>
              </a:rPr>
              <a:t>解题思路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74661" y="1414143"/>
            <a:ext cx="9872732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遍历字符串，对于每个字符，将其</a:t>
            </a:r>
            <a:r>
              <a:rPr lang="en-US" altLang="zh-CN" dirty="0"/>
              <a:t>ASCII</a:t>
            </a:r>
            <a:r>
              <a:rPr lang="zh-CN" altLang="en-US" dirty="0"/>
              <a:t>码值与下一个字符的</a:t>
            </a:r>
            <a:r>
              <a:rPr lang="en-US" altLang="zh-CN" dirty="0"/>
              <a:t>ASCII</a:t>
            </a:r>
            <a:r>
              <a:rPr lang="zh-CN" altLang="en-US" dirty="0"/>
              <a:t>码值相加，使用 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 + 1) % n </a:t>
            </a:r>
            <a:r>
              <a:rPr lang="zh-CN" altLang="en-US" dirty="0"/>
              <a:t>进行环形索引，确保最后一个字符与第一个字符可以按照题目要求相加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注意输入字符串可能包含空格，需要用</a:t>
            </a:r>
            <a:r>
              <a:rPr lang="en-US" altLang="zh-CN" dirty="0" err="1"/>
              <a:t>getline</a:t>
            </a:r>
            <a:r>
              <a:rPr lang="zh-CN" altLang="en-US" dirty="0"/>
              <a:t>读入字符串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mJhNTgxZjI2ZmUzMDA4YjY3NzlhZjVmNmU0YTUzZm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637</Words>
  <Application>WPS 演示</Application>
  <PresentationFormat>宽屏</PresentationFormat>
  <Paragraphs>46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Noto Sans S Chinese Black</vt:lpstr>
      <vt:lpstr>__Karla_78bc08</vt:lpstr>
      <vt:lpstr>Segoe Print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无名</cp:lastModifiedBy>
  <cp:revision>154</cp:revision>
  <dcterms:created xsi:type="dcterms:W3CDTF">2023-08-09T12:44:00Z</dcterms:created>
  <dcterms:modified xsi:type="dcterms:W3CDTF">2024-12-05T13:38:54Z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2052-12.1.0.19302</vt:lpwstr>
  </property>
</Properties>
</file>