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10.17</a:t>
            </a:r>
            <a:r>
              <a:rPr lang="zh-CN" altLang="en-US"/>
              <a:t>上机课</a:t>
            </a:r>
            <a:r>
              <a:rPr lang="zh-CN" altLang="en-US"/>
              <a:t>练习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练习</a:t>
            </a:r>
            <a:r>
              <a:rPr lang="en-US" altLang="zh-CN"/>
              <a:t>1</a:t>
            </a:r>
            <a:r>
              <a:rPr lang="zh-CN" altLang="en-US"/>
              <a:t>：洛谷P2433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14655" y="1511935"/>
            <a:ext cx="1145349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b="1"/>
          </a:p>
          <a:p>
            <a:r>
              <a:rPr lang="zh-CN" altLang="en-US" b="1"/>
              <a:t>问题 1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请输出 I love Luogu!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 b="1"/>
              <a:t>问题 2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这里有 </a:t>
            </a:r>
            <a:r>
              <a:rPr lang="en-US" altLang="zh-CN"/>
              <a:t>10</a:t>
            </a:r>
            <a:r>
              <a:rPr lang="zh-CN" altLang="en-US"/>
              <a:t> 个苹果，小 A 拿走了 </a:t>
            </a:r>
            <a:r>
              <a:rPr lang="en-US" altLang="zh-CN"/>
              <a:t>2</a:t>
            </a:r>
            <a:r>
              <a:rPr lang="zh-CN" altLang="en-US"/>
              <a:t> 个，Uim 拿走了 </a:t>
            </a:r>
            <a:r>
              <a:rPr lang="en-US" altLang="zh-CN"/>
              <a:t>4</a:t>
            </a:r>
            <a:r>
              <a:rPr lang="zh-CN" altLang="en-US"/>
              <a:t>个，小 B 拿走剩下的所有的苹果。我们想知道：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1. 小 A 和 Uim 两个人一共拿走多少苹果？</a:t>
            </a:r>
            <a:endParaRPr lang="zh-CN" altLang="en-US"/>
          </a:p>
          <a:p>
            <a:r>
              <a:rPr lang="zh-CN" altLang="en-US"/>
              <a:t>2. 小 B 能拿走多少苹果？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现在需要编写一个程序，输出两个数字作为答案，中间使用空格分开。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64795" y="276860"/>
            <a:ext cx="11430000" cy="6462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ym typeface="+mn-ea"/>
              </a:rPr>
              <a:t>问题 3</a:t>
            </a:r>
            <a:endParaRPr lang="zh-CN" altLang="en-US" b="1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现在有 14 个苹果。要均分给 4 名同学，分不掉的苹果放回冰箱。请问：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1. 每位同学能分得几个苹果？</a:t>
            </a:r>
            <a:endParaRPr lang="zh-CN" altLang="en-US"/>
          </a:p>
          <a:p>
            <a:r>
              <a:rPr lang="zh-CN" altLang="en-US">
                <a:sym typeface="+mn-ea"/>
              </a:rPr>
              <a:t>2. 一共分出去多少苹果？</a:t>
            </a:r>
            <a:endParaRPr lang="zh-CN" altLang="en-US"/>
          </a:p>
          <a:p>
            <a:r>
              <a:rPr lang="zh-CN" altLang="en-US">
                <a:sym typeface="+mn-ea"/>
              </a:rPr>
              <a:t>3. 把几个苹果放回冰箱？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         现在需要编写一个程序，输出三个数字作为答案，每个数字一行。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 b="1">
                <a:sym typeface="+mn-ea"/>
              </a:rPr>
              <a:t>问题 4</a:t>
            </a:r>
            <a:endParaRPr lang="zh-CN" altLang="en-US" b="1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现在有 500 毫升的肥宅快乐水，要均分给 3 名同学，每位同学可以分到多少毫升？请输出一个数字作为输出。保留 6 位有效数字，且不使用科学计数法。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 b="1"/>
              <a:t>问题 5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甲列火车长 260 米，每秒行 12 米；乙列火车长 220 米，每秒行 20 米，两车相向而行，从两车车头相遇时开始计时，多长时间后两车车尾相离？已知答案是整数。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22935" y="184150"/>
            <a:ext cx="10829925" cy="6405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ym typeface="+mn-ea"/>
              </a:rPr>
              <a:t>问题 6</a:t>
            </a:r>
            <a:endParaRPr lang="zh-CN" altLang="en-US" b="1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一个长方形长宽分别是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6 cm、9 cm，求它的对角线长度（</a:t>
            </a:r>
            <a:r>
              <a:rPr lang="en-US" altLang="zh-CN">
                <a:sym typeface="+mn-ea"/>
              </a:rPr>
              <a:t>cm</a:t>
            </a:r>
            <a:r>
              <a:rPr lang="zh-CN" altLang="en-US">
                <a:sym typeface="+mn-ea"/>
              </a:rPr>
              <a:t>）。直接使用 cout 输出。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 b="1">
                <a:sym typeface="+mn-ea"/>
              </a:rPr>
              <a:t>问题</a:t>
            </a:r>
            <a:r>
              <a:rPr lang="en-US" altLang="zh-CN" b="1">
                <a:sym typeface="+mn-ea"/>
              </a:rPr>
              <a:t> 7</a:t>
            </a:r>
            <a:endParaRPr lang="en-US" altLang="zh-CN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zh-CN" altLang="en-US">
                <a:sym typeface="+mn-ea"/>
              </a:rPr>
              <a:t>Uim 银行账户里面有 100 元。经过了下面的操作：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1. 往里面存了 10 元；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2. 购物花掉了 20 元；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3. 把里面的钱全部取出。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         请在每次操作后输出账户余额，并使用换行符隔开。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 b="1">
                <a:sym typeface="+mn-ea"/>
              </a:rPr>
              <a:t>问题 8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zh-CN" altLang="en-US">
                <a:sym typeface="+mn-ea"/>
              </a:rPr>
              <a:t>当半径为 r=5，请输出圆的周长、面积和球体积。取 pi=3.141593。请直接使用 cout 输出答案，每行一个数字。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9720" y="322580"/>
            <a:ext cx="1126807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问题 9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一只小猴买了若干个桃子。第一天他刚好吃了这些桃子的一半，又贪嘴多吃了一个；第二天他也刚好吃了剩余桃子的一半，贪嘴多吃了一个；第三天他又刚好吃了剩下的桃子的一半，并贪嘴多吃了一个。第四天起来一看，发现桃子只剩下一个了。请问小猴买了几个桃子？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 b="1"/>
              <a:t>问题 10</a:t>
            </a:r>
            <a:endParaRPr lang="zh-CN" altLang="en-US" b="1"/>
          </a:p>
          <a:p>
            <a:endParaRPr lang="zh-CN" altLang="en-US"/>
          </a:p>
          <a:p>
            <a:pPr algn="l">
              <a:buClrTx/>
              <a:buSzTx/>
              <a:buFontTx/>
            </a:pPr>
            <a:r>
              <a:rPr lang="zh-CN" altLang="en-US"/>
              <a:t>洛谷的评测任务是单位时间内均匀增加的。</a:t>
            </a:r>
            <a:r>
              <a:rPr lang="zh-CN" altLang="en-US"/>
              <a:t>8 台评测机 30 分钟可以刚好把评测队列中的程序评测完毕，10 台评测机 6 分钟可以刚好把评测队列中的程序评测完毕，请问几台评测机可以在 10 分钟时刚好把评测队列中的程序评测完毕？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 b="1"/>
              <a:t>问题 11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小 A 跑步速度</a:t>
            </a:r>
            <a:r>
              <a:rPr lang="en-US" altLang="zh-CN"/>
              <a:t> </a:t>
            </a:r>
            <a:r>
              <a:rPr lang="zh-CN" altLang="en-US"/>
              <a:t>5  m/s，小 B 跑步速度 8 m/s，小 B 在小 A 后面 100 m，他们同时起跑，请问需要多长时间小 B 可以追上小 A？输出一个数字表示答案，使用 cout 直接输出。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87655" y="415290"/>
            <a:ext cx="11280140" cy="6116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问题 12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大家都知道有 26 个英文字母，其中 A 是第一个字母。现在请编程求出：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1. M 是字母表中的第几个字母？</a:t>
            </a:r>
            <a:endParaRPr lang="zh-CN" altLang="en-US"/>
          </a:p>
          <a:p>
            <a:r>
              <a:rPr lang="zh-CN" altLang="en-US"/>
              <a:t>2. 第 18 个字母是什么？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输出一个数字和一个字母，使用换行隔开。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 b="1"/>
              <a:t>问题 13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小 A 有两块球形橡皮泥，一个半径是 4，一个半径是 10。他想把这两块橡皮泥揉在一起，然后塑造成一个正方体，请问这个正方体的棱长是多少？如果结果不是整数，则舍去小数点之后的数字。取 pi = 3.141593。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 b="1"/>
              <a:t>问题 14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根据咕咕网校的预测，当课程定价为 110 元时，会有 10 人报名。如果课程价格每降低 1 元，就会多 1 名报名者（反之亦然）。如果希望总共能收到 3500 元学费的话，那么应该定价多少呢？已知本题有两个答案符合要求，则取较小的那一个。如果这个答案不是整数，则需四舍五入精确到整数。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练习</a:t>
            </a:r>
            <a:r>
              <a:rPr lang="en-US" altLang="zh-CN"/>
              <a:t>2</a:t>
            </a:r>
            <a:r>
              <a:rPr lang="zh-CN" altLang="en-US"/>
              <a:t>：对称数</a:t>
            </a:r>
            <a:r>
              <a:rPr lang="zh-CN" altLang="en-US"/>
              <a:t>判断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38200" y="1691005"/>
            <a:ext cx="9526905" cy="3761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输入一个5位数，判断其是否为对称数</a:t>
            </a:r>
            <a:endParaRPr lang="zh-CN" altLang="en-US" sz="2400"/>
          </a:p>
          <a:p>
            <a:endParaRPr lang="zh-CN" altLang="en-US" sz="2400"/>
          </a:p>
          <a:p>
            <a:pPr algn="l">
              <a:buClrTx/>
              <a:buSzTx/>
              <a:buFontTx/>
            </a:pPr>
            <a:r>
              <a:rPr lang="zh-CN" altLang="en-US" sz="2400"/>
              <a:t>若是对称数，则输出“yes”，否则输出“no”</a:t>
            </a:r>
            <a:endParaRPr lang="zh-CN" altLang="en-US" sz="2400"/>
          </a:p>
          <a:p>
            <a:pPr algn="l">
              <a:buClrTx/>
              <a:buSzTx/>
              <a:buFontTx/>
            </a:pPr>
            <a:endParaRPr lang="zh-CN" altLang="en-US" sz="2400"/>
          </a:p>
          <a:p>
            <a:pPr algn="l">
              <a:buClrTx/>
              <a:buSzTx/>
              <a:buFontTx/>
            </a:pPr>
            <a:r>
              <a:rPr lang="zh-CN" altLang="en-US" sz="2400"/>
              <a:t>示例：</a:t>
            </a:r>
            <a:endParaRPr lang="zh-CN" altLang="en-US" sz="2400"/>
          </a:p>
          <a:p>
            <a:pPr algn="l">
              <a:buClrTx/>
              <a:buSzTx/>
              <a:buFontTx/>
            </a:pPr>
            <a:r>
              <a:rPr lang="zh-CN" altLang="en-US" sz="2400"/>
              <a:t>输入：12321</a:t>
            </a:r>
            <a:endParaRPr lang="zh-CN" altLang="en-US" sz="2400"/>
          </a:p>
          <a:p>
            <a:pPr algn="l">
              <a:buClrTx/>
              <a:buSzTx/>
              <a:buFontTx/>
            </a:pPr>
            <a:r>
              <a:rPr lang="zh-CN" altLang="en-US" sz="2400"/>
              <a:t>输出：yes</a:t>
            </a:r>
            <a:endParaRPr lang="zh-CN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练习</a:t>
            </a:r>
            <a:r>
              <a:rPr lang="en-US" altLang="zh-CN"/>
              <a:t>3</a:t>
            </a:r>
            <a:r>
              <a:rPr lang="zh-CN" altLang="en-US"/>
              <a:t>：分段函数</a:t>
            </a:r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23570" y="1838325"/>
            <a:ext cx="9364980" cy="3632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输入</a:t>
            </a:r>
            <a:r>
              <a:rPr lang="en-US" altLang="zh-CN" sz="2400"/>
              <a:t>x</a:t>
            </a:r>
            <a:r>
              <a:rPr lang="zh-CN" altLang="en-US" sz="2400"/>
              <a:t>，求分段函数</a:t>
            </a:r>
            <a:r>
              <a:rPr lang="en-US" altLang="zh-CN" sz="2400"/>
              <a:t>y</a:t>
            </a:r>
            <a:r>
              <a:rPr lang="zh-CN" altLang="en-US" sz="2400"/>
              <a:t>的值，分段函数定义如下：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110" y="2532380"/>
            <a:ext cx="6838315" cy="27984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练习</a:t>
            </a:r>
            <a:r>
              <a:rPr lang="en-US" altLang="zh-CN"/>
              <a:t>4</a:t>
            </a:r>
            <a:r>
              <a:rPr lang="zh-CN" altLang="en-US"/>
              <a:t>：洛谷</a:t>
            </a:r>
            <a:r>
              <a:rPr lang="en-US" altLang="zh-CN"/>
              <a:t>P1909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318135" y="1366520"/>
            <a:ext cx="11636375" cy="1059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/>
              <a:t>题目描述</a:t>
            </a:r>
            <a:endParaRPr lang="zh-CN" altLang="en-US"/>
          </a:p>
          <a:p>
            <a:r>
              <a:rPr lang="zh-CN" altLang="en-US"/>
              <a:t>P 老师需要去商店买 n 支铅笔作为小朋友们参加 NOIP 的礼物。她发现商店一共有 3 种包装的铅笔，不同包装内的铅笔数量有可能不同，价格也有可能不同。为了公平起见，P 老师决定只买同一种包装的铅笔。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商店不允许将铅笔的包装拆开，因此 P 老师可能需要购买超过 n 支铅笔才够给小朋友们发礼物。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现在 P 老师想知道，在商店每种包装的数量都足够的情况下，要买够至少 n 支铅笔最少需要花费多少钱。</a:t>
            </a:r>
            <a:endParaRPr lang="zh-CN" altLang="en-US"/>
          </a:p>
          <a:p>
            <a:endParaRPr lang="zh-CN" altLang="en-US"/>
          </a:p>
          <a:p>
            <a:r>
              <a:rPr lang="zh-CN" altLang="en-US" sz="2000" b="1"/>
              <a:t>输入格式</a:t>
            </a:r>
            <a:endParaRPr lang="zh-CN" altLang="en-US" sz="2000" b="1"/>
          </a:p>
          <a:p>
            <a:r>
              <a:rPr lang="zh-CN" altLang="en-US"/>
              <a:t>第一行包含一个正整数 n，表示需要的铅笔数量。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接下来三行，每行用 2 个正整数描述一种包装的铅笔：其中第 1 个整数表示这种包装内铅笔的数量，第 2 个整数表示这种包装的价格。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保证所有的 7 个数都是不超过 10000 的正整数。</a:t>
            </a:r>
            <a:endParaRPr lang="zh-CN" altLang="en-US"/>
          </a:p>
          <a:p>
            <a:endParaRPr lang="zh-CN" altLang="en-US"/>
          </a:p>
          <a:p>
            <a:r>
              <a:rPr lang="zh-CN" altLang="en-US" sz="2000" b="1"/>
              <a:t>输出格式</a:t>
            </a:r>
            <a:endParaRPr lang="zh-CN" altLang="en-US" sz="2000" b="1"/>
          </a:p>
          <a:p>
            <a:r>
              <a:rPr lang="zh-CN" altLang="en-US"/>
              <a:t>1 个整数，表示 P 老师最少需要花费的钱。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41655" y="142240"/>
            <a:ext cx="11484610" cy="7443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/>
              <a:t>输入输出样例</a:t>
            </a:r>
            <a:endParaRPr lang="zh-CN" altLang="en-US" sz="2400" b="1"/>
          </a:p>
          <a:p>
            <a:endParaRPr lang="zh-CN" altLang="en-US" sz="2000" b="1"/>
          </a:p>
          <a:p>
            <a:r>
              <a:rPr lang="zh-CN" altLang="en-US" sz="2000" b="1"/>
              <a:t>示例一：</a:t>
            </a:r>
            <a:endParaRPr lang="zh-CN" altLang="en-US" sz="2000" b="1"/>
          </a:p>
          <a:p>
            <a:r>
              <a:rPr lang="zh-CN" altLang="en-US" sz="2000" b="1"/>
              <a:t>输入：</a:t>
            </a:r>
            <a:endParaRPr lang="zh-CN" altLang="en-US" sz="2000" b="1"/>
          </a:p>
          <a:p>
            <a:r>
              <a:rPr lang="en-US" altLang="zh-CN" sz="2000" b="1"/>
              <a:t>57</a:t>
            </a:r>
            <a:endParaRPr lang="en-US" altLang="zh-CN" sz="2000" b="1"/>
          </a:p>
          <a:p>
            <a:r>
              <a:rPr lang="en-US" altLang="zh-CN" sz="2000" b="1"/>
              <a:t>2 2</a:t>
            </a:r>
            <a:endParaRPr lang="en-US" altLang="zh-CN" sz="2000" b="1"/>
          </a:p>
          <a:p>
            <a:r>
              <a:rPr lang="en-US" altLang="zh-CN" sz="2000" b="1"/>
              <a:t>50 30</a:t>
            </a:r>
            <a:endParaRPr lang="en-US" altLang="zh-CN" sz="2000" b="1"/>
          </a:p>
          <a:p>
            <a:r>
              <a:rPr lang="en-US" altLang="zh-CN" sz="2000" b="1"/>
              <a:t>30 27</a:t>
            </a:r>
            <a:endParaRPr lang="en-US" altLang="zh-CN" sz="2000" b="1"/>
          </a:p>
          <a:p>
            <a:endParaRPr lang="en-US" altLang="zh-CN" sz="2000" b="1"/>
          </a:p>
          <a:p>
            <a:r>
              <a:rPr lang="zh-CN" altLang="en-US" sz="2000" b="1"/>
              <a:t>输出：</a:t>
            </a:r>
            <a:endParaRPr lang="zh-CN" altLang="en-US" sz="2000" b="1"/>
          </a:p>
          <a:p>
            <a:r>
              <a:rPr lang="en-US" altLang="zh-CN" sz="2000" b="1"/>
              <a:t>54</a:t>
            </a:r>
            <a:endParaRPr lang="en-US" altLang="zh-CN" sz="2000" b="1"/>
          </a:p>
          <a:p>
            <a:endParaRPr lang="en-US" altLang="zh-CN" sz="2000" b="1"/>
          </a:p>
          <a:p>
            <a:r>
              <a:rPr lang="zh-CN" altLang="en-US" sz="2000" b="1"/>
              <a:t>示例二：</a:t>
            </a:r>
            <a:endParaRPr lang="en-US" altLang="zh-CN" sz="2000" b="1"/>
          </a:p>
          <a:p>
            <a:r>
              <a:rPr lang="zh-CN" altLang="en-US" sz="2000" b="1">
                <a:sym typeface="+mn-ea"/>
              </a:rPr>
              <a:t>输入：</a:t>
            </a:r>
            <a:endParaRPr lang="zh-CN" altLang="en-US" sz="2000" b="1"/>
          </a:p>
          <a:p>
            <a:r>
              <a:rPr lang="en-US" altLang="zh-CN" sz="2000" b="1"/>
              <a:t>9998</a:t>
            </a:r>
            <a:endParaRPr lang="en-US" altLang="zh-CN" sz="2000" b="1"/>
          </a:p>
          <a:p>
            <a:r>
              <a:rPr lang="en-US" altLang="zh-CN" sz="2000" b="1"/>
              <a:t>128 233</a:t>
            </a:r>
            <a:endParaRPr lang="en-US" altLang="zh-CN" sz="2000" b="1"/>
          </a:p>
          <a:p>
            <a:r>
              <a:rPr lang="en-US" altLang="zh-CN" sz="2000" b="1"/>
              <a:t>128 2333</a:t>
            </a:r>
            <a:endParaRPr lang="en-US" altLang="zh-CN" sz="2000" b="1"/>
          </a:p>
          <a:p>
            <a:r>
              <a:rPr lang="en-US" altLang="zh-CN" sz="2000" b="1"/>
              <a:t>128 666</a:t>
            </a:r>
            <a:endParaRPr lang="en-US" altLang="zh-CN" sz="2000" b="1"/>
          </a:p>
          <a:p>
            <a:endParaRPr lang="en-US" altLang="zh-CN" sz="2000" b="1"/>
          </a:p>
          <a:p>
            <a:r>
              <a:rPr lang="zh-CN" altLang="en-US" sz="2000" b="1">
                <a:sym typeface="+mn-ea"/>
              </a:rPr>
              <a:t>输出：</a:t>
            </a:r>
            <a:endParaRPr lang="zh-CN" altLang="en-US" sz="2000" b="1"/>
          </a:p>
          <a:p>
            <a:r>
              <a:rPr lang="en-US" altLang="zh-CN" sz="2000" b="1"/>
              <a:t>18407</a:t>
            </a:r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TQ2ZDEzZTQ0ZjlhZmNjMzJkODM5NDcwNmIwNWI0YT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1900</Words>
  <Application>WPS 演示</Application>
  <PresentationFormat>宽屏</PresentationFormat>
  <Paragraphs>160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 Unicode MS</vt:lpstr>
      <vt:lpstr>Calibri</vt:lpstr>
      <vt:lpstr>微软雅黑</vt:lpstr>
      <vt:lpstr>Cambria Math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沈梦菊</cp:lastModifiedBy>
  <cp:revision>9</cp:revision>
  <dcterms:created xsi:type="dcterms:W3CDTF">2023-08-09T12:44:00Z</dcterms:created>
  <dcterms:modified xsi:type="dcterms:W3CDTF">2024-10-13T15:58:12Z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2052-12.1.0.16729</vt:lpwstr>
  </property>
</Properties>
</file>