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6" r:id="rId4"/>
    <p:sldId id="271" r:id="rId5"/>
    <p:sldId id="257" r:id="rId6"/>
    <p:sldId id="272" r:id="rId7"/>
    <p:sldId id="258" r:id="rId8"/>
    <p:sldId id="262" r:id="rId9"/>
    <p:sldId id="273" r:id="rId10"/>
    <p:sldId id="259" r:id="rId11"/>
    <p:sldId id="261" r:id="rId12"/>
    <p:sldId id="263" r:id="rId13"/>
    <p:sldId id="269" r:id="rId14"/>
    <p:sldId id="264" r:id="rId15"/>
    <p:sldId id="265" r:id="rId16"/>
    <p:sldId id="266" r:id="rId17"/>
    <p:sldId id="270" r:id="rId18"/>
    <p:sldId id="274" r:id="rId19"/>
    <p:sldId id="267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9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5.xml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7.xml"/><Relationship Id="rId2" Type="http://schemas.openxmlformats.org/officeDocument/2006/relationships/image" Target="../media/image11.png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9465" y="1877695"/>
            <a:ext cx="10515600" cy="1325563"/>
          </a:xfrm>
        </p:spPr>
        <p:txBody>
          <a:bodyPr/>
          <a:p>
            <a:pPr algn="ctr"/>
            <a:r>
              <a:rPr lang="en-US" altLang="zh-CN"/>
              <a:t>2023</a:t>
            </a:r>
            <a:r>
              <a:rPr lang="zh-CN" altLang="en-US"/>
              <a:t>级大一期末上机考试</a:t>
            </a:r>
            <a:r>
              <a:rPr lang="en-US" altLang="zh-CN"/>
              <a:t>AB</a:t>
            </a:r>
            <a:r>
              <a:rPr lang="zh-CN" altLang="en-US"/>
              <a:t>卷讲解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3860" y="3286760"/>
            <a:ext cx="5328920" cy="4267835"/>
          </a:xfrm>
        </p:spPr>
        <p:txBody>
          <a:bodyPr/>
          <a:p>
            <a:pPr marL="914400" lvl="2" indent="0">
              <a:buNone/>
            </a:pPr>
            <a:r>
              <a:rPr lang="en-US" altLang="zh-CN"/>
              <a:t>                 by lazysheep</a:t>
            </a:r>
            <a:endParaRPr lang="en-US" altLang="zh-CN"/>
          </a:p>
          <a:p>
            <a:pPr marL="914400" lvl="2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439025" y="3825240"/>
            <a:ext cx="4064000" cy="3314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0" lvl="2" algn="ctr"/>
            <a:r>
              <a:rPr lang="en-US" altLang="zh-CN" sz="1200">
                <a:sym typeface="+mn-ea"/>
              </a:rPr>
              <a:t>2023</a:t>
            </a:r>
            <a:r>
              <a:rPr lang="zh-CN" altLang="en-US" sz="1200">
                <a:sym typeface="+mn-ea"/>
              </a:rPr>
              <a:t>级人工智能学院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李子扬</a:t>
            </a:r>
            <a:endParaRPr lang="zh-CN" altLang="en-US" sz="1200"/>
          </a:p>
          <a:p>
            <a:pPr algn="ctr"/>
            <a:endParaRPr lang="zh-CN" altLang="en-US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167" r="37485" b="11959"/>
          <a:stretch>
            <a:fillRect/>
          </a:stretch>
        </p:blipFill>
        <p:spPr>
          <a:xfrm>
            <a:off x="5821680" y="887730"/>
            <a:ext cx="6040120" cy="5082540"/>
          </a:xfrm>
          <a:prstGeom prst="rect">
            <a:avLst/>
          </a:prstGeom>
        </p:spPr>
      </p:pic>
      <p:pic>
        <p:nvPicPr>
          <p:cNvPr id="5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r="37605" b="3574"/>
          <a:stretch>
            <a:fillRect/>
          </a:stretch>
        </p:blipFill>
        <p:spPr>
          <a:xfrm>
            <a:off x="0" y="328295"/>
            <a:ext cx="5873115" cy="5817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Code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7855" y="99695"/>
            <a:ext cx="5772785" cy="66592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784590" y="84391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A/B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37118" b="-522"/>
          <a:stretch>
            <a:fillRect/>
          </a:stretch>
        </p:blipFill>
        <p:spPr>
          <a:xfrm>
            <a:off x="-114935" y="144780"/>
            <a:ext cx="6727190" cy="6445885"/>
          </a:xfrm>
          <a:prstGeom prst="rect">
            <a:avLst/>
          </a:prstGeom>
        </p:spPr>
      </p:pic>
      <p:pic>
        <p:nvPicPr>
          <p:cNvPr id="5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-1297" r="40164"/>
          <a:stretch>
            <a:fillRect/>
          </a:stretch>
        </p:blipFill>
        <p:spPr>
          <a:xfrm>
            <a:off x="5916930" y="92710"/>
            <a:ext cx="5993765" cy="64979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Code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00475" y="94615"/>
            <a:ext cx="3932555" cy="66687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874125" y="84391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33325" b="-2149"/>
          <a:stretch>
            <a:fillRect/>
          </a:stretch>
        </p:blipFill>
        <p:spPr>
          <a:xfrm>
            <a:off x="72390" y="48260"/>
            <a:ext cx="5806440" cy="6979285"/>
          </a:xfrm>
          <a:prstGeom prst="rect">
            <a:avLst/>
          </a:prstGeom>
        </p:spPr>
      </p:pic>
      <p:pic>
        <p:nvPicPr>
          <p:cNvPr id="7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36383" b="-1647"/>
          <a:stretch>
            <a:fillRect/>
          </a:stretch>
        </p:blipFill>
        <p:spPr>
          <a:xfrm>
            <a:off x="5744210" y="-112395"/>
            <a:ext cx="6299200" cy="7209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知识点：</a:t>
            </a:r>
            <a:endParaRPr lang="zh-CN" altLang="en-US"/>
          </a:p>
          <a:p>
            <a:pPr lvl="1"/>
            <a:r>
              <a:rPr lang="zh-CN" altLang="en-US"/>
              <a:t>重载函数、进制转换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注意：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/>
              <a:t>判断数据</a:t>
            </a:r>
            <a:r>
              <a:rPr lang="zh-CN" altLang="en-US"/>
              <a:t>不规范</a:t>
            </a:r>
            <a:endParaRPr lang="zh-CN" altLang="en-US"/>
          </a:p>
          <a:p>
            <a:pPr lvl="1"/>
            <a:r>
              <a:rPr lang="zh-CN" altLang="en-US"/>
              <a:t>进制转换存在</a:t>
            </a:r>
            <a:r>
              <a:rPr lang="zh-CN" altLang="en-US"/>
              <a:t>前导零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0195" y="365125"/>
            <a:ext cx="11063605" cy="1325880"/>
          </a:xfrm>
        </p:spPr>
        <p:txBody>
          <a:bodyPr/>
          <a:p>
            <a:r>
              <a:rPr lang="en-US" altLang="zh-CN"/>
              <a:t>Code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72615" y="99695"/>
            <a:ext cx="4550410" cy="66871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805" y="2540"/>
            <a:ext cx="3529965" cy="68554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51705" y="631190"/>
            <a:ext cx="3029585" cy="327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690735" y="58983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B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进制</a:t>
            </a:r>
            <a:r>
              <a:rPr lang="zh-CN" altLang="en-US"/>
              <a:t>转换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284095"/>
            <a:ext cx="4760595" cy="38931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转换方法：</a:t>
            </a:r>
            <a:endParaRPr lang="en-US" altLang="zh-CN"/>
          </a:p>
          <a:p>
            <a:r>
              <a:rPr lang="en-US" altLang="zh-CN"/>
              <a:t>hex , oct , dec</a:t>
            </a:r>
            <a:r>
              <a:rPr lang="zh-CN" altLang="en-US"/>
              <a:t>（没有前导零）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手动</a:t>
            </a:r>
            <a:r>
              <a:rPr lang="zh-CN" altLang="en-US"/>
              <a:t>转换</a:t>
            </a:r>
            <a:r>
              <a:rPr lang="en-US" altLang="zh-CN"/>
              <a:t> </a:t>
            </a:r>
            <a:r>
              <a:rPr lang="zh-CN" altLang="en-US"/>
              <a:t>（可有</a:t>
            </a:r>
            <a:r>
              <a:rPr lang="zh-CN" altLang="en-US"/>
              <a:t>可无）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                     </a:t>
            </a:r>
            <a:r>
              <a:rPr lang="zh-CN" altLang="en-US"/>
              <a:t>循环</a:t>
            </a:r>
            <a:endParaRPr lang="en-US" altLang="zh-CN"/>
          </a:p>
          <a:p>
            <a:r>
              <a:rPr lang="en-US" altLang="zh-CN"/>
              <a:t>                     </a:t>
            </a:r>
            <a:r>
              <a:rPr lang="zh-CN" altLang="en-US"/>
              <a:t>递归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895975" y="2284095"/>
            <a:ext cx="5883275" cy="36798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特殊情况：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        </a:t>
            </a:r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457200"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二进制和二的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n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次幂进制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转换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457200"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（按位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转换）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39373" b="-10"/>
          <a:stretch>
            <a:fillRect/>
          </a:stretch>
        </p:blipFill>
        <p:spPr>
          <a:xfrm>
            <a:off x="0" y="0"/>
            <a:ext cx="6018530" cy="6865620"/>
          </a:xfrm>
          <a:prstGeom prst="rect">
            <a:avLst/>
          </a:prstGeom>
        </p:spPr>
      </p:pic>
      <p:pic>
        <p:nvPicPr>
          <p:cNvPr id="9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39441" b="-4831"/>
          <a:stretch>
            <a:fillRect/>
          </a:stretch>
        </p:blipFill>
        <p:spPr>
          <a:xfrm>
            <a:off x="6018530" y="-170180"/>
            <a:ext cx="6233160" cy="7205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知识点：</a:t>
            </a:r>
            <a:endParaRPr lang="zh-CN" altLang="en-US"/>
          </a:p>
          <a:p>
            <a:pPr lvl="1"/>
            <a:r>
              <a:rPr lang="zh-CN" altLang="en-US"/>
              <a:t>结构体</a:t>
            </a:r>
            <a:endParaRPr lang="zh-CN" altLang="en-US"/>
          </a:p>
          <a:p>
            <a:pPr lvl="1"/>
            <a:r>
              <a:rPr lang="zh-CN" altLang="en-US"/>
              <a:t>思维题：</a:t>
            </a:r>
            <a:r>
              <a:rPr lang="zh-CN" altLang="en-US"/>
              <a:t>如何判断</a:t>
            </a:r>
            <a:r>
              <a:rPr lang="zh-CN" altLang="en-US"/>
              <a:t>是否重叠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注意：</a:t>
            </a:r>
            <a:endParaRPr lang="zh-CN" altLang="en-US"/>
          </a:p>
          <a:p>
            <a:pPr lvl="1"/>
            <a:r>
              <a:rPr lang="zh-CN" altLang="en-US"/>
              <a:t>数据范围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420" y="365125"/>
            <a:ext cx="11295380" cy="1325880"/>
          </a:xfrm>
        </p:spPr>
        <p:txBody>
          <a:bodyPr/>
          <a:p>
            <a:r>
              <a:rPr lang="en-US" altLang="zh-CN"/>
              <a:t>Code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t="1435"/>
          <a:stretch>
            <a:fillRect/>
          </a:stretch>
        </p:blipFill>
        <p:spPr>
          <a:xfrm>
            <a:off x="6666865" y="38100"/>
            <a:ext cx="5055870" cy="6819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745" y="0"/>
            <a:ext cx="5126990" cy="68160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07585" y="84391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83800" y="84383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B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52195" y="136525"/>
            <a:ext cx="9681210" cy="6721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知识点：</a:t>
            </a:r>
            <a:endParaRPr lang="zh-CN" altLang="en-US"/>
          </a:p>
          <a:p>
            <a:pPr lvl="1"/>
            <a:r>
              <a:rPr lang="zh-CN" altLang="en-US" sz="2400"/>
              <a:t>二分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注意：</a:t>
            </a:r>
            <a:endParaRPr lang="zh-CN" altLang="en-US"/>
          </a:p>
          <a:p>
            <a:pPr lvl="1"/>
            <a:r>
              <a:rPr lang="zh-CN" altLang="en-US"/>
              <a:t>分类</a:t>
            </a:r>
            <a:r>
              <a:rPr lang="zh-CN" altLang="en-US"/>
              <a:t>讨论</a:t>
            </a:r>
            <a:endParaRPr lang="zh-CN" altLang="en-US"/>
          </a:p>
          <a:p>
            <a:pPr lvl="1"/>
            <a:endParaRPr lang="zh-CN" altLang="en-US"/>
          </a:p>
          <a:p>
            <a:pPr marL="457200" lvl="1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判断是否满足二分性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</a:t>
            </a:r>
            <a:r>
              <a:rPr lang="zh-CN" altLang="en-US"/>
              <a:t>确定答案范围</a:t>
            </a:r>
            <a:r>
              <a:rPr lang="en-US" altLang="zh-CN"/>
              <a:t>  l , r , mid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判断答案是否</a:t>
            </a:r>
            <a:r>
              <a:rPr lang="zh-CN" altLang="en-US"/>
              <a:t>可能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9570" y="365125"/>
            <a:ext cx="10984230" cy="1325880"/>
          </a:xfrm>
        </p:spPr>
        <p:txBody>
          <a:bodyPr/>
          <a:p>
            <a:r>
              <a:rPr lang="en-US" altLang="zh-CN"/>
              <a:t>Code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t="993"/>
          <a:stretch>
            <a:fillRect/>
          </a:stretch>
        </p:blipFill>
        <p:spPr>
          <a:xfrm>
            <a:off x="1829435" y="73025"/>
            <a:ext cx="9307830" cy="6711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考试时遇到的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如何检查</a:t>
            </a:r>
            <a:endParaRPr lang="zh-CN" altLang="en-US"/>
          </a:p>
          <a:p>
            <a:endParaRPr lang="zh-CN" altLang="en-US"/>
          </a:p>
          <a:p>
            <a:pPr lvl="1"/>
            <a:r>
              <a:rPr lang="zh-CN" altLang="en-US" sz="2400"/>
              <a:t>范围问题：数据范围、数组范围</a:t>
            </a:r>
            <a:endParaRPr lang="zh-CN" altLang="en-US" sz="2400"/>
          </a:p>
          <a:p>
            <a:pPr lvl="1"/>
            <a:endParaRPr lang="zh-CN" altLang="en-US"/>
          </a:p>
          <a:p>
            <a:pPr lvl="1"/>
            <a:r>
              <a:rPr lang="zh-CN" altLang="en-US"/>
              <a:t>测数据、调试</a:t>
            </a:r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暴力对比</a:t>
            </a:r>
            <a:endParaRPr lang="zh-CN" altLang="en-US"/>
          </a:p>
          <a:p>
            <a:pPr lvl="1"/>
            <a:endParaRPr lang="zh-CN" altLang="en-US"/>
          </a:p>
          <a:p>
            <a:pPr marL="457200" lvl="1" indent="0">
              <a:buNone/>
            </a:pPr>
            <a:endParaRPr lang="zh-CN" altLang="en-US"/>
          </a:p>
          <a:p>
            <a:pPr marL="457200" lvl="1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提高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1082020" cy="4351655"/>
          </a:xfrm>
        </p:spPr>
        <p:txBody>
          <a:bodyPr/>
          <a:p>
            <a:r>
              <a:rPr lang="zh-CN" altLang="en-US"/>
              <a:t>养成代码习惯：</a:t>
            </a:r>
            <a:r>
              <a:rPr lang="en-US" altLang="zh-CN"/>
              <a:t> </a:t>
            </a:r>
            <a:r>
              <a:rPr lang="zh-CN" altLang="en-US"/>
              <a:t>自定义变量命名、代码的模块化、风格</a:t>
            </a:r>
            <a:r>
              <a:rPr lang="zh-CN" altLang="en-US"/>
              <a:t>化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做题：</a:t>
            </a:r>
            <a:r>
              <a:rPr lang="en-US" altLang="zh-CN"/>
              <a:t>   </a:t>
            </a:r>
            <a:r>
              <a:rPr lang="zh-CN" altLang="en-US"/>
              <a:t>难题</a:t>
            </a:r>
            <a:r>
              <a:rPr lang="en-US" altLang="zh-CN"/>
              <a:t>    /    </a:t>
            </a:r>
            <a:r>
              <a:rPr lang="zh-CN" altLang="en-US"/>
              <a:t>复杂</a:t>
            </a:r>
            <a:r>
              <a:rPr lang="zh-CN" altLang="en-US"/>
              <a:t>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能力：</a:t>
            </a:r>
            <a:r>
              <a:rPr lang="en-US" altLang="zh-CN"/>
              <a:t>   </a:t>
            </a:r>
            <a:r>
              <a:rPr lang="zh-CN" altLang="en-US"/>
              <a:t>思维</a:t>
            </a:r>
            <a:r>
              <a:rPr lang="en-US" altLang="zh-CN"/>
              <a:t>   /   </a:t>
            </a:r>
            <a:r>
              <a:rPr lang="zh-CN" altLang="en-US"/>
              <a:t>代码实现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学习网站：</a:t>
            </a:r>
            <a:r>
              <a:rPr lang="en-US" altLang="zh-CN"/>
              <a:t>oi-wiki</a:t>
            </a:r>
            <a:r>
              <a:rPr lang="zh-CN" altLang="en-US"/>
              <a:t>，</a:t>
            </a:r>
            <a:r>
              <a:rPr lang="en-US" altLang="zh-CN"/>
              <a:t>csdn</a:t>
            </a:r>
            <a:r>
              <a:rPr lang="zh-CN" altLang="en-US"/>
              <a:t>，洛谷，力扣，牛客网、算法导论相关</a:t>
            </a:r>
            <a:r>
              <a:rPr lang="zh-CN" altLang="en-US"/>
              <a:t>书籍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commondata" val="eyJoZGlkIjoiNzZiNDg0YzhmOGU1ZGM1YjFlNDdlNjAxYzk0NDIyNz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WPS 演示</Application>
  <PresentationFormat>宽屏</PresentationFormat>
  <Paragraphs>104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李子扬</dc:creator>
  <cp:lastModifiedBy>李太皮</cp:lastModifiedBy>
  <cp:revision>39</cp:revision>
  <dcterms:created xsi:type="dcterms:W3CDTF">2023-08-09T12:44:00Z</dcterms:created>
  <dcterms:modified xsi:type="dcterms:W3CDTF">2024-01-09T03:54:08Z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