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84" r:id="rId4"/>
    <p:sldId id="285" r:id="rId5"/>
    <p:sldId id="282" r:id="rId6"/>
    <p:sldId id="267" r:id="rId7"/>
    <p:sldId id="283" r:id="rId8"/>
    <p:sldId id="268" r:id="rId9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/>
  </p:normalViewPr>
  <p:slideViewPr>
    <p:cSldViewPr snapToGrid="0">
      <p:cViewPr varScale="1">
        <p:scale>
          <a:sx n="96" d="100"/>
          <a:sy n="96" d="100"/>
        </p:scale>
        <p:origin x="176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3" name="Picture 4" descr="案例_山东华途文化传媒有限公司官网|济南地标户外媒体广告运营商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5250" y="-524059"/>
            <a:ext cx="3206730" cy="2142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箭头: 五边形 7"/>
          <p:cNvSpPr/>
          <p:nvPr userDrawn="1"/>
        </p:nvSpPr>
        <p:spPr>
          <a:xfrm>
            <a:off x="-1" y="298174"/>
            <a:ext cx="6418907" cy="762844"/>
          </a:xfrm>
          <a:prstGeom prst="homePlate">
            <a:avLst/>
          </a:prstGeom>
          <a:solidFill>
            <a:srgbClr val="6817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Noto Sans S Chinese Black" panose="020B0A00000000000000" pitchFamily="34" charset="-122"/>
              <a:ea typeface="Noto Sans S Chinese Black" panose="020B0A00000000000000" pitchFamily="3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01040" y="4019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dirty="0">
                <a:solidFill>
                  <a:schemeClr val="bg1"/>
                </a:solidFill>
              </a:rPr>
              <a:t>1026 - </a:t>
            </a:r>
            <a:r>
              <a:rPr lang="zh-CN" altLang="en-US" sz="2800" dirty="0">
                <a:solidFill>
                  <a:schemeClr val="bg1"/>
                </a:solidFill>
              </a:rPr>
              <a:t>题目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1826A81-46A1-6143-92A7-2A8E1FFFE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840" y="1062796"/>
            <a:ext cx="9120320" cy="57952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01040" y="4019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dirty="0">
                <a:solidFill>
                  <a:schemeClr val="bg1"/>
                </a:solidFill>
              </a:rPr>
              <a:t>1026 - </a:t>
            </a:r>
            <a:r>
              <a:rPr lang="en-US" altLang="zh-CN" sz="2800" dirty="0" err="1">
                <a:solidFill>
                  <a:schemeClr val="bg1"/>
                </a:solidFill>
              </a:rPr>
              <a:t>解题思路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E4D6941-5D9B-49AA-BE99-A7FEA9917FED}"/>
              </a:ext>
            </a:extLst>
          </p:cNvPr>
          <p:cNvSpPr txBox="1"/>
          <p:nvPr/>
        </p:nvSpPr>
        <p:spPr>
          <a:xfrm>
            <a:off x="835025" y="1433062"/>
            <a:ext cx="9872732" cy="1710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在此提供两个思路：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编写一个函数，将输入的整数</a:t>
            </a:r>
            <a:r>
              <a:rPr lang="en-US" altLang="zh-CN" dirty="0"/>
              <a:t>num</a:t>
            </a:r>
            <a:r>
              <a:rPr lang="zh-CN" altLang="en-US" dirty="0"/>
              <a:t>转换成字符串的形式（建议不要使用 </a:t>
            </a:r>
            <a:r>
              <a:rPr lang="en-US" altLang="zh-CN" dirty="0" err="1"/>
              <a:t>stl</a:t>
            </a:r>
            <a:r>
              <a:rPr lang="zh-CN" altLang="en-US" dirty="0"/>
              <a:t> 库函数，尝试自己编写完成），后续的操作在字符串的基础上完成即可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以数的形式去完成后续计算，使用取模、除法运算进行计算，并加之条件判断</a:t>
            </a:r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01040" y="4019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dirty="0">
                <a:solidFill>
                  <a:schemeClr val="bg1"/>
                </a:solidFill>
              </a:rPr>
              <a:t>1081 - </a:t>
            </a:r>
            <a:r>
              <a:rPr lang="zh-CN" altLang="en-US" sz="2800" dirty="0">
                <a:solidFill>
                  <a:schemeClr val="bg1"/>
                </a:solidFill>
              </a:rPr>
              <a:t>题目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F31F767-D034-8D41-A0E0-873D3D376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907" y="1099562"/>
            <a:ext cx="7338186" cy="5758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786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01040" y="4019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dirty="0">
                <a:solidFill>
                  <a:schemeClr val="bg1"/>
                </a:solidFill>
              </a:rPr>
              <a:t>1081 - </a:t>
            </a:r>
            <a:r>
              <a:rPr lang="en-US" altLang="zh-CN" sz="2800" dirty="0" err="1">
                <a:solidFill>
                  <a:schemeClr val="bg1"/>
                </a:solidFill>
              </a:rPr>
              <a:t>解题思路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E4D6941-5D9B-49AA-BE99-A7FEA9917FED}"/>
              </a:ext>
            </a:extLst>
          </p:cNvPr>
          <p:cNvSpPr txBox="1"/>
          <p:nvPr/>
        </p:nvSpPr>
        <p:spPr>
          <a:xfrm>
            <a:off x="835025" y="1433062"/>
            <a:ext cx="9872732" cy="2542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首先明确函数的功能：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将整数 </a:t>
            </a:r>
            <a:r>
              <a:rPr lang="en-US" altLang="zh-CN" dirty="0"/>
              <a:t>x </a:t>
            </a:r>
            <a:r>
              <a:rPr lang="zh-CN" altLang="en-US" dirty="0"/>
              <a:t>的第 </a:t>
            </a:r>
            <a:r>
              <a:rPr lang="en-US" altLang="zh-CN" dirty="0"/>
              <a:t>n </a:t>
            </a:r>
            <a:r>
              <a:rPr lang="zh-CN" altLang="en-US" dirty="0"/>
              <a:t>位（从左边数第 </a:t>
            </a:r>
            <a:r>
              <a:rPr lang="en-US" altLang="zh-CN" dirty="0"/>
              <a:t>n </a:t>
            </a:r>
            <a:r>
              <a:rPr lang="zh-CN" altLang="en-US" dirty="0"/>
              <a:t>位）的数值保存在引用 </a:t>
            </a:r>
            <a:r>
              <a:rPr lang="en-US" altLang="zh-CN" dirty="0" err="1"/>
              <a:t>Lxn</a:t>
            </a:r>
            <a:r>
              <a:rPr lang="en-US" altLang="zh-CN" dirty="0"/>
              <a:t> </a:t>
            </a:r>
            <a:r>
              <a:rPr lang="zh-CN" altLang="en-US" dirty="0"/>
              <a:t>中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将倒数第 </a:t>
            </a:r>
            <a:r>
              <a:rPr lang="en-US" altLang="zh-CN" dirty="0"/>
              <a:t>n </a:t>
            </a:r>
            <a:r>
              <a:rPr lang="zh-CN" altLang="en-US" dirty="0"/>
              <a:t>位（从右边数第 </a:t>
            </a:r>
            <a:r>
              <a:rPr lang="en-US" altLang="zh-CN" dirty="0"/>
              <a:t>n </a:t>
            </a:r>
            <a:r>
              <a:rPr lang="zh-CN" altLang="en-US" dirty="0"/>
              <a:t>位）的数值作为函数结果返回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本题同前题，可以进行思路借鉴。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可以考虑将其转换为字符串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也可以直接对数进行计算，使用取模和位运算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18059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01040" y="4019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dirty="0">
                <a:solidFill>
                  <a:schemeClr val="bg1"/>
                </a:solidFill>
              </a:rPr>
              <a:t>1114 - </a:t>
            </a:r>
            <a:r>
              <a:rPr lang="en-US" altLang="zh-CN" sz="2800" dirty="0" err="1">
                <a:solidFill>
                  <a:schemeClr val="bg1"/>
                </a:solidFill>
              </a:rPr>
              <a:t>题目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33E46DC-8439-1D4C-AEDC-92103190A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2499" y="1126434"/>
            <a:ext cx="7247001" cy="57315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01040" y="4019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dirty="0">
                <a:solidFill>
                  <a:schemeClr val="bg1"/>
                </a:solidFill>
              </a:rPr>
              <a:t>1114 - </a:t>
            </a:r>
            <a:r>
              <a:rPr lang="en-US" altLang="zh-CN" sz="2800" dirty="0" err="1">
                <a:solidFill>
                  <a:schemeClr val="bg1"/>
                </a:solidFill>
              </a:rPr>
              <a:t>解题思路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158AF82-F304-8142-9502-619CB366B368}"/>
              </a:ext>
            </a:extLst>
          </p:cNvPr>
          <p:cNvSpPr txBox="1"/>
          <p:nvPr/>
        </p:nvSpPr>
        <p:spPr>
          <a:xfrm>
            <a:off x="835025" y="1433062"/>
            <a:ext cx="9872732" cy="2542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本题尝试找出母牛数量的递归方程即可。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初始条件：</a:t>
            </a:r>
            <a:r>
              <a:rPr lang="en-US" altLang="zh-CN" dirty="0"/>
              <a:t>f(1) = 1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, </a:t>
            </a:r>
            <a:r>
              <a:rPr lang="en-US" altLang="zh-CN" dirty="0"/>
              <a:t>f(2) = 1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, </a:t>
            </a:r>
            <a:r>
              <a:rPr lang="en-US" altLang="zh-CN" dirty="0"/>
              <a:t>f(3) = 1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因为第 </a:t>
            </a:r>
            <a:r>
              <a:rPr lang="en-US" altLang="zh-CN" dirty="0"/>
              <a:t>m-3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 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年的母牛会在第 </a:t>
            </a:r>
            <a:r>
              <a:rPr lang="en-US" altLang="zh-CN" dirty="0"/>
              <a:t>m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 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年生小母牛，所以从第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4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年开始，每年的母牛总数等于前一年的母牛总数加上第 </a:t>
            </a:r>
            <a:r>
              <a:rPr lang="en-US" altLang="zh-CN" dirty="0"/>
              <a:t>m-3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 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年的母牛总数</a:t>
            </a:r>
            <a:endParaRPr lang="en-US" altLang="zh-CN" b="0" i="0" dirty="0">
              <a:solidFill>
                <a:srgbClr val="2C2C36"/>
              </a:solidFill>
              <a:effectLst/>
              <a:latin typeface="-apple-system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2C2C36"/>
                </a:solidFill>
                <a:latin typeface="-apple-system"/>
              </a:rPr>
              <a:t>综上，得到递归方程：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ui-monospace"/>
              </a:rPr>
              <a:t> f(m) = f(m-1) + f(m-3)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2C2C36"/>
                </a:solidFill>
                <a:latin typeface="ui-monospace"/>
              </a:rPr>
              <a:t>注意对输入数据进行判定</a:t>
            </a:r>
            <a:endParaRPr lang="en-US" altLang="zh-C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01040" y="4019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dirty="0">
                <a:solidFill>
                  <a:schemeClr val="bg1"/>
                </a:solidFill>
              </a:rPr>
              <a:t>1124 - </a:t>
            </a:r>
            <a:r>
              <a:rPr lang="en-US" altLang="zh-CN" sz="2800" dirty="0" err="1">
                <a:solidFill>
                  <a:schemeClr val="bg1"/>
                </a:solidFill>
              </a:rPr>
              <a:t>题目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7773743-4203-8A43-B436-50680DB05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137" y="1139687"/>
            <a:ext cx="7545725" cy="57183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01040" y="4019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dirty="0">
                <a:solidFill>
                  <a:schemeClr val="bg1"/>
                </a:solidFill>
              </a:rPr>
              <a:t>1124 - </a:t>
            </a:r>
            <a:r>
              <a:rPr lang="en-US" altLang="zh-CN" sz="2800" dirty="0" err="1">
                <a:solidFill>
                  <a:schemeClr val="bg1"/>
                </a:solidFill>
              </a:rPr>
              <a:t>解题思路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5BE994E-7DA6-DE8D-4AA0-593F648D5EE3}"/>
              </a:ext>
            </a:extLst>
          </p:cNvPr>
          <p:cNvSpPr txBox="1"/>
          <p:nvPr/>
        </p:nvSpPr>
        <p:spPr>
          <a:xfrm>
            <a:off x="835025" y="1334770"/>
            <a:ext cx="10521950" cy="335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本题关键在于如何求取</a:t>
            </a:r>
            <a:r>
              <a:rPr lang="zh-CN" altLang="en-US" sz="2400" b="0" i="0" dirty="0">
                <a:solidFill>
                  <a:srgbClr val="2C2C36"/>
                </a:solidFill>
                <a:effectLst/>
                <a:latin typeface="-apple-system"/>
              </a:rPr>
              <a:t>一个数的阶乘的质因数分解</a:t>
            </a:r>
            <a:endParaRPr lang="en-US" altLang="zh-CN" sz="2400" b="0" i="0" dirty="0">
              <a:solidFill>
                <a:srgbClr val="2C2C36"/>
              </a:solidFill>
              <a:effectLst/>
              <a:latin typeface="-apple-system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2C2C36"/>
                </a:solidFill>
                <a:effectLst/>
                <a:latin typeface="-apple-system"/>
              </a:rPr>
              <a:t>对于一个数 </a:t>
            </a:r>
            <a:r>
              <a:rPr lang="en-US" altLang="zh-CN" sz="2400" dirty="0"/>
              <a:t>n!</a:t>
            </a:r>
            <a:r>
              <a:rPr lang="zh-CN" altLang="en-US" sz="2400" b="0" i="0" dirty="0">
                <a:solidFill>
                  <a:srgbClr val="2C2C36"/>
                </a:solidFill>
                <a:effectLst/>
                <a:latin typeface="-apple-system"/>
              </a:rPr>
              <a:t>，它的质因数分解可以通过计算每个质数在 </a:t>
            </a:r>
            <a:r>
              <a:rPr lang="en-US" altLang="zh-CN" sz="2400" dirty="0"/>
              <a:t>n!</a:t>
            </a:r>
            <a:r>
              <a:rPr lang="en-US" altLang="zh-CN" sz="2400" b="0" i="0" dirty="0">
                <a:solidFill>
                  <a:srgbClr val="2C2C36"/>
                </a:solidFill>
                <a:effectLst/>
                <a:latin typeface="-apple-system"/>
              </a:rPr>
              <a:t> </a:t>
            </a:r>
            <a:r>
              <a:rPr lang="zh-CN" altLang="en-US" sz="2400" b="0" i="0" dirty="0">
                <a:solidFill>
                  <a:srgbClr val="2C2C36"/>
                </a:solidFill>
                <a:effectLst/>
                <a:latin typeface="-apple-system"/>
              </a:rPr>
              <a:t>中的幂次来实现</a:t>
            </a:r>
            <a:endParaRPr lang="en-US" altLang="zh-CN" sz="2400" b="0" i="0" dirty="0">
              <a:solidFill>
                <a:srgbClr val="2C2C36"/>
              </a:solidFill>
              <a:effectLst/>
              <a:latin typeface="-apple-system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2C2C36"/>
                </a:solidFill>
                <a:effectLst/>
                <a:latin typeface="-apple-system"/>
              </a:rPr>
              <a:t>对于一个质数 </a:t>
            </a:r>
            <a:r>
              <a:rPr lang="en-US" altLang="zh-CN" sz="2400" dirty="0"/>
              <a:t>p</a:t>
            </a:r>
            <a:r>
              <a:rPr lang="zh-CN" altLang="en-US" sz="2400" b="0" i="0" dirty="0">
                <a:solidFill>
                  <a:srgbClr val="2C2C36"/>
                </a:solidFill>
                <a:effectLst/>
                <a:latin typeface="-apple-system"/>
              </a:rPr>
              <a:t>，它在 </a:t>
            </a:r>
            <a:r>
              <a:rPr lang="en-US" altLang="zh-CN" sz="2400" dirty="0"/>
              <a:t>n!</a:t>
            </a:r>
            <a:r>
              <a:rPr lang="en-US" altLang="zh-CN" sz="2400" b="0" i="0" dirty="0">
                <a:solidFill>
                  <a:srgbClr val="2C2C36"/>
                </a:solidFill>
                <a:effectLst/>
                <a:latin typeface="-apple-system"/>
              </a:rPr>
              <a:t> </a:t>
            </a:r>
            <a:r>
              <a:rPr lang="zh-CN" altLang="en-US" sz="2400" b="0" i="0" dirty="0">
                <a:solidFill>
                  <a:srgbClr val="2C2C36"/>
                </a:solidFill>
                <a:effectLst/>
                <a:latin typeface="-apple-system"/>
              </a:rPr>
              <a:t>中的幂次可以通过以下公式计算</a:t>
            </a:r>
            <a:r>
              <a:rPr lang="zh-CN" altLang="en-US" sz="2400" dirty="0">
                <a:solidFill>
                  <a:srgbClr val="2C2C36"/>
                </a:solidFill>
                <a:latin typeface="-apple-system"/>
              </a:rPr>
              <a:t>：</a:t>
            </a:r>
            <a:endParaRPr lang="en-US" altLang="zh-CN" sz="2400" dirty="0">
              <a:solidFill>
                <a:srgbClr val="2C2C36"/>
              </a:solidFill>
              <a:latin typeface="-apple-system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solidFill>
                <a:srgbClr val="2C2C36"/>
              </a:solidFill>
              <a:latin typeface="-apple-system"/>
            </a:endParaRPr>
          </a:p>
          <a:p>
            <a:pPr>
              <a:lnSpc>
                <a:spcPct val="150000"/>
              </a:lnSpc>
            </a:pPr>
            <a:endParaRPr lang="en-US" altLang="zh-CN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C6E28AE-E59E-4E4D-84AF-68B6FF94D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4450" y="3542196"/>
            <a:ext cx="4483100" cy="9398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9FD0F72-E03F-0C44-8F8B-88810A3CF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" y="4425950"/>
            <a:ext cx="5075583" cy="243205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mJhNTgxZjI2ZmUzMDA4YjY3NzlhZjVmNmU0YTUzZmQ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</TotalTime>
  <Words>336</Words>
  <Application>Microsoft Macintosh PowerPoint</Application>
  <PresentationFormat>宽屏</PresentationFormat>
  <Paragraphs>25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-apple-system</vt:lpstr>
      <vt:lpstr>Noto Sans S Chinese Black</vt:lpstr>
      <vt:lpstr>ui-monospace</vt:lpstr>
      <vt:lpstr>Arial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XiuMing Liu</cp:lastModifiedBy>
  <cp:revision>130</cp:revision>
  <dcterms:created xsi:type="dcterms:W3CDTF">2023-08-09T12:44:00Z</dcterms:created>
  <dcterms:modified xsi:type="dcterms:W3CDTF">2024-11-26T03:21:22Z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2052-12.1.0.18608</vt:lpwstr>
  </property>
</Properties>
</file>