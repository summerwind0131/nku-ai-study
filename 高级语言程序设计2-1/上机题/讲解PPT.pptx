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335" r:id="rId5"/>
    <p:sldId id="281" r:id="rId6"/>
    <p:sldId id="266" r:id="rId7"/>
    <p:sldId id="280" r:id="rId8"/>
    <p:sldId id="282" r:id="rId9"/>
    <p:sldId id="267" r:id="rId10"/>
    <p:sldId id="294" r:id="rId11"/>
    <p:sldId id="283" r:id="rId12"/>
    <p:sldId id="268" r:id="rId13"/>
    <p:sldId id="295" r:id="rId14"/>
    <p:sldId id="284" r:id="rId15"/>
    <p:sldId id="269" r:id="rId16"/>
    <p:sldId id="296" r:id="rId17"/>
    <p:sldId id="272" r:id="rId18"/>
    <p:sldId id="287" r:id="rId19"/>
    <p:sldId id="299" r:id="rId20"/>
    <p:sldId id="274" r:id="rId21"/>
    <p:sldId id="289" r:id="rId22"/>
    <p:sldId id="301" r:id="rId23"/>
    <p:sldId id="275" r:id="rId24"/>
    <p:sldId id="290" r:id="rId25"/>
    <p:sldId id="302" r:id="rId26"/>
  </p:sldIdLst>
  <p:sldSz cx="12192000" cy="6858000"/>
  <p:notesSz cx="6858000" cy="9144000"/>
  <p:custDataLst>
    <p:tags r:id="rId2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25" d="100"/>
          <a:sy n="125" d="100"/>
        </p:scale>
        <p:origin x="672" y="4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gs" Target="tags/tag1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2024/11/10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23" name="Picture 4" descr="案例_山东华途文化传媒有限公司官网|济南地标户外媒体广告运营商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5250" y="-524059"/>
            <a:ext cx="3206730" cy="2142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箭头: 五边形 7"/>
          <p:cNvSpPr/>
          <p:nvPr userDrawn="1"/>
        </p:nvSpPr>
        <p:spPr>
          <a:xfrm>
            <a:off x="-1" y="298174"/>
            <a:ext cx="6418907" cy="762844"/>
          </a:xfrm>
          <a:prstGeom prst="homePlate">
            <a:avLst/>
          </a:prstGeom>
          <a:solidFill>
            <a:srgbClr val="6817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Noto Sans S Chinese Black" panose="020B0A00000000000000" pitchFamily="34" charset="-122"/>
              <a:ea typeface="Noto Sans S Chinese Black" panose="020B0A00000000000000" pitchFamily="34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2024/11/10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2024/11/10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2024/11/10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2024/11/10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2024/11/10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2024/11/10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2024/11/10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2024/11/10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2024/11/10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2024/11/10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2024/11/10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01040" y="40195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dirty="0">
                <a:solidFill>
                  <a:schemeClr val="bg1"/>
                </a:solidFill>
              </a:rPr>
              <a:t>1020 - </a:t>
            </a:r>
            <a:r>
              <a:rPr lang="zh-CN" altLang="en-US" sz="2800" dirty="0">
                <a:solidFill>
                  <a:schemeClr val="bg1"/>
                </a:solidFill>
              </a:rPr>
              <a:t>题目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222FAD8-08D8-88EB-C7AD-15A735461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7218" y="1101635"/>
            <a:ext cx="6057564" cy="567363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01040" y="40195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800" dirty="0">
                <a:solidFill>
                  <a:schemeClr val="bg1"/>
                </a:solidFill>
              </a:rPr>
              <a:t>1020 - </a:t>
            </a:r>
            <a:r>
              <a:rPr lang="en-US" altLang="zh-CN" sz="2800" dirty="0" err="1">
                <a:solidFill>
                  <a:schemeClr val="bg1"/>
                </a:solidFill>
              </a:rPr>
              <a:t>解题思路</a:t>
            </a:r>
            <a:endParaRPr lang="en-US" altLang="zh-CN" sz="2800" dirty="0">
              <a:solidFill>
                <a:schemeClr val="bg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35025" y="1334770"/>
            <a:ext cx="10521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首先需要知道矩阵乘法的定义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E4D6941-5D9B-49AA-BE99-A7FEA9917FED}"/>
              </a:ext>
            </a:extLst>
          </p:cNvPr>
          <p:cNvSpPr txBox="1"/>
          <p:nvPr/>
        </p:nvSpPr>
        <p:spPr>
          <a:xfrm>
            <a:off x="835025" y="4507567"/>
            <a:ext cx="10521950" cy="879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程序的主体按照矩阵乘法的定义运算即可。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注意输出宽度的限制，以及头文件的引用。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1F8E331-6B79-1460-8A0C-D9D68C4E32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025" y="1704102"/>
            <a:ext cx="4044149" cy="270517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3DF08C3-7903-5EA8-B7CD-C65428370D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6397" y="4947110"/>
            <a:ext cx="6277351" cy="173537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01040" y="40195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800" dirty="0">
                <a:solidFill>
                  <a:schemeClr val="bg1"/>
                </a:solidFill>
              </a:rPr>
              <a:t>1020 - </a:t>
            </a:r>
            <a:r>
              <a:rPr lang="en-US" altLang="zh-CN" sz="2800" dirty="0" err="1">
                <a:solidFill>
                  <a:schemeClr val="bg1"/>
                </a:solidFill>
              </a:rPr>
              <a:t>核心代码</a:t>
            </a:r>
            <a:endParaRPr lang="en-US" altLang="zh-CN" sz="2800" dirty="0">
              <a:solidFill>
                <a:schemeClr val="bg1"/>
              </a:solidFill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05190E32-C5AE-B028-E1FC-814F800D7725}"/>
              </a:ext>
            </a:extLst>
          </p:cNvPr>
          <p:cNvGrpSpPr/>
          <p:nvPr/>
        </p:nvGrpSpPr>
        <p:grpSpPr>
          <a:xfrm>
            <a:off x="3047920" y="2111794"/>
            <a:ext cx="6096160" cy="2634412"/>
            <a:chOff x="1493943" y="2111794"/>
            <a:chExt cx="6096160" cy="2634412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9562587D-532A-6577-586A-B98C136C04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01896" y="2111794"/>
              <a:ext cx="2988207" cy="2634412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5945017A-539E-2E16-EC0A-86296C57E04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93943" y="2231540"/>
              <a:ext cx="3107953" cy="239492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01040" y="40195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800" dirty="0">
                <a:solidFill>
                  <a:schemeClr val="bg1"/>
                </a:solidFill>
              </a:rPr>
              <a:t>1020 – </a:t>
            </a:r>
            <a:r>
              <a:rPr lang="zh-CN" altLang="en-US" sz="2800" dirty="0">
                <a:solidFill>
                  <a:schemeClr val="bg1"/>
                </a:solidFill>
              </a:rPr>
              <a:t>拓展</a:t>
            </a:r>
            <a:endParaRPr lang="en-US" altLang="zh-CN" sz="2800" dirty="0">
              <a:solidFill>
                <a:schemeClr val="bg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35025" y="1457960"/>
            <a:ext cx="7159625" cy="880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en-US" dirty="0"/>
              <a:t>如果矩阵的规模较大，矩阵的存储会占用大量空间，其运算也会消耗过多时间。感兴趣的同学可以去了解一下加速矩阵运算的相关内容。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01040" y="40195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800" dirty="0">
                <a:solidFill>
                  <a:schemeClr val="bg1"/>
                </a:solidFill>
              </a:rPr>
              <a:t>1024 - </a:t>
            </a:r>
            <a:r>
              <a:rPr lang="en-US" altLang="zh-CN" sz="2800" dirty="0" err="1">
                <a:solidFill>
                  <a:schemeClr val="bg1"/>
                </a:solidFill>
              </a:rPr>
              <a:t>题目</a:t>
            </a:r>
            <a:endParaRPr lang="en-US" altLang="zh-CN" sz="2800" dirty="0">
              <a:solidFill>
                <a:schemeClr val="bg1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C50FC6B-BCF8-F683-33B4-D3952A634F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5522" y="1123875"/>
            <a:ext cx="8120955" cy="57859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01040" y="40195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800" dirty="0">
                <a:solidFill>
                  <a:schemeClr val="bg1"/>
                </a:solidFill>
              </a:rPr>
              <a:t>1024- </a:t>
            </a:r>
            <a:r>
              <a:rPr lang="en-US" altLang="zh-CN" sz="2800" dirty="0" err="1">
                <a:solidFill>
                  <a:schemeClr val="bg1"/>
                </a:solidFill>
              </a:rPr>
              <a:t>解题思路</a:t>
            </a:r>
            <a:endParaRPr lang="en-US" altLang="zh-CN" sz="2800" dirty="0">
              <a:solidFill>
                <a:schemeClr val="bg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35025" y="1334770"/>
            <a:ext cx="105219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直接读取输入，然后定义一个</a:t>
            </a:r>
            <a:r>
              <a:rPr lang="en-US" altLang="zh-CN" sz="2400" dirty="0"/>
              <a:t>128</a:t>
            </a:r>
            <a:r>
              <a:rPr lang="zh-CN" altLang="en-US" sz="2400" dirty="0"/>
              <a:t>大小的数组，用于存储</a:t>
            </a:r>
            <a:r>
              <a:rPr lang="en-US" altLang="zh-CN" sz="2400" dirty="0"/>
              <a:t>128</a:t>
            </a:r>
            <a:r>
              <a:rPr lang="zh-CN" altLang="en-US" sz="2400" dirty="0"/>
              <a:t>个字符的出现频率。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01040" y="40195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800" dirty="0">
                <a:solidFill>
                  <a:schemeClr val="bg1"/>
                </a:solidFill>
              </a:rPr>
              <a:t>1024 - </a:t>
            </a:r>
            <a:r>
              <a:rPr lang="en-US" altLang="zh-CN" sz="2800" dirty="0" err="1">
                <a:solidFill>
                  <a:schemeClr val="bg1"/>
                </a:solidFill>
              </a:rPr>
              <a:t>核心代码</a:t>
            </a:r>
            <a:endParaRPr lang="en-US" altLang="zh-CN" sz="2800" dirty="0">
              <a:solidFill>
                <a:schemeClr val="bg1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F960D97-CE98-F308-446C-780709161D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2785" y="1899517"/>
            <a:ext cx="3826429" cy="305896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01040" y="40195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800" dirty="0">
                <a:solidFill>
                  <a:schemeClr val="bg1"/>
                </a:solidFill>
              </a:rPr>
              <a:t>1033 - </a:t>
            </a:r>
            <a:r>
              <a:rPr lang="en-US" altLang="zh-CN" sz="2800" dirty="0" err="1">
                <a:solidFill>
                  <a:schemeClr val="bg1"/>
                </a:solidFill>
              </a:rPr>
              <a:t>题目</a:t>
            </a:r>
            <a:endParaRPr lang="en-US" altLang="zh-CN" sz="2800" dirty="0">
              <a:solidFill>
                <a:schemeClr val="bg1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3DC6BA5-520B-1474-D1DE-F8CE2FB717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7095" y="1080239"/>
            <a:ext cx="7757810" cy="577776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01040" y="40195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800" dirty="0">
                <a:solidFill>
                  <a:schemeClr val="bg1"/>
                </a:solidFill>
              </a:rPr>
              <a:t>1033 - </a:t>
            </a:r>
            <a:r>
              <a:rPr lang="en-US" altLang="zh-CN" sz="2800" dirty="0" err="1">
                <a:solidFill>
                  <a:schemeClr val="bg1"/>
                </a:solidFill>
              </a:rPr>
              <a:t>解题思路</a:t>
            </a:r>
            <a:endParaRPr lang="en-US" altLang="zh-CN" sz="2800" dirty="0">
              <a:solidFill>
                <a:schemeClr val="bg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500ABBF-7687-9EAE-A3BB-9C2EB215F9EB}"/>
              </a:ext>
            </a:extLst>
          </p:cNvPr>
          <p:cNvSpPr txBox="1"/>
          <p:nvPr/>
        </p:nvSpPr>
        <p:spPr>
          <a:xfrm>
            <a:off x="835025" y="1334770"/>
            <a:ext cx="105219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首先明确字典序的定义：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894A907-03D5-409A-3683-59B5A676A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025" y="1796435"/>
            <a:ext cx="9312972" cy="1366193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C2DB780A-5E25-2BCD-61F4-6746864A3C63}"/>
              </a:ext>
            </a:extLst>
          </p:cNvPr>
          <p:cNvSpPr txBox="1"/>
          <p:nvPr/>
        </p:nvSpPr>
        <p:spPr>
          <a:xfrm>
            <a:off x="835025" y="3233708"/>
            <a:ext cx="105219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C++</a:t>
            </a:r>
            <a:r>
              <a:rPr lang="zh-CN" altLang="en-US" sz="2400" dirty="0"/>
              <a:t>的</a:t>
            </a:r>
            <a:r>
              <a:rPr lang="en-US" altLang="zh-CN" sz="2400" dirty="0"/>
              <a:t>string</a:t>
            </a:r>
            <a:r>
              <a:rPr lang="zh-CN" altLang="en-US" sz="2400" dirty="0"/>
              <a:t>类型重载了比较运算符：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00E1C95E-33FC-EDD8-30BA-9655B04130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" y="3725630"/>
            <a:ext cx="7979437" cy="281403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01040" y="40195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800" dirty="0">
                <a:solidFill>
                  <a:schemeClr val="bg1"/>
                </a:solidFill>
              </a:rPr>
              <a:t>1033 - </a:t>
            </a:r>
            <a:r>
              <a:rPr lang="en-US" altLang="zh-CN" sz="2800" dirty="0" err="1">
                <a:solidFill>
                  <a:schemeClr val="bg1"/>
                </a:solidFill>
              </a:rPr>
              <a:t>核心代码</a:t>
            </a:r>
            <a:endParaRPr lang="en-US" altLang="zh-CN" sz="2800" dirty="0">
              <a:solidFill>
                <a:schemeClr val="bg1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00D0344-219E-36AA-C7A8-38C209501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2150" y="1311673"/>
            <a:ext cx="3227699" cy="423465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01040" y="40195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800" dirty="0">
                <a:solidFill>
                  <a:schemeClr val="bg1"/>
                </a:solidFill>
              </a:rPr>
              <a:t>1035 - </a:t>
            </a:r>
            <a:r>
              <a:rPr lang="en-US" altLang="zh-CN" sz="2800" dirty="0" err="1">
                <a:solidFill>
                  <a:schemeClr val="bg1"/>
                </a:solidFill>
              </a:rPr>
              <a:t>题目</a:t>
            </a:r>
            <a:endParaRPr lang="en-US" altLang="zh-CN" sz="2800" dirty="0">
              <a:solidFill>
                <a:schemeClr val="bg1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0CF4B39-6780-FDB8-8058-36637499A5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231" y="1132042"/>
            <a:ext cx="8017538" cy="550831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01040" y="40195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800" dirty="0">
                <a:solidFill>
                  <a:schemeClr val="bg1"/>
                </a:solidFill>
              </a:rPr>
              <a:t>1035 - </a:t>
            </a:r>
            <a:r>
              <a:rPr lang="en-US" altLang="zh-CN" sz="2800" dirty="0" err="1">
                <a:solidFill>
                  <a:schemeClr val="bg1"/>
                </a:solidFill>
              </a:rPr>
              <a:t>解题思路</a:t>
            </a:r>
            <a:endParaRPr lang="en-US" altLang="zh-CN" sz="2800" dirty="0">
              <a:solidFill>
                <a:schemeClr val="bg1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5BE994E-7DA6-DE8D-4AA0-593F648D5EE3}"/>
              </a:ext>
            </a:extLst>
          </p:cNvPr>
          <p:cNvSpPr txBox="1"/>
          <p:nvPr/>
        </p:nvSpPr>
        <p:spPr>
          <a:xfrm>
            <a:off x="835025" y="1334770"/>
            <a:ext cx="10521950" cy="2803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这个题目主要分为三部分，分别是排序、平均值计算以及插入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排序使用任何一种排序算法均可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平均值计算时遍历即可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最后在插入的时候，需要提前留出插入的位置，防止数组溢出；也可以不插入，直接在输出的时候进行判定，添加输出的条件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01040" y="40195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800" dirty="0">
                <a:solidFill>
                  <a:schemeClr val="bg1"/>
                </a:solidFill>
              </a:rPr>
              <a:t>1035 - </a:t>
            </a:r>
            <a:r>
              <a:rPr lang="en-US" altLang="zh-CN" sz="2800" dirty="0" err="1">
                <a:solidFill>
                  <a:schemeClr val="bg1"/>
                </a:solidFill>
              </a:rPr>
              <a:t>核心代码</a:t>
            </a:r>
            <a:endParaRPr lang="en-US" altLang="zh-CN" sz="2800" dirty="0">
              <a:solidFill>
                <a:schemeClr val="bg1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15A0D8E-F991-60CE-2877-8D8D1D48D2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012" y="2481918"/>
            <a:ext cx="2585425" cy="189416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AB511AE-197C-2716-B5EE-73D3DCC7CB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5437" y="2884700"/>
            <a:ext cx="2041125" cy="10886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669BBBB-8977-143C-626F-B94B66DE20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6562" y="2571727"/>
            <a:ext cx="3042637" cy="171454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01040" y="40195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800" dirty="0">
                <a:solidFill>
                  <a:schemeClr val="bg1"/>
                </a:solidFill>
              </a:rPr>
              <a:t>1045 - </a:t>
            </a:r>
            <a:r>
              <a:rPr lang="en-US" altLang="zh-CN" sz="2800" dirty="0" err="1">
                <a:solidFill>
                  <a:schemeClr val="bg1"/>
                </a:solidFill>
              </a:rPr>
              <a:t>题目</a:t>
            </a:r>
            <a:endParaRPr lang="en-US" altLang="zh-CN" sz="2800" dirty="0">
              <a:solidFill>
                <a:schemeClr val="bg1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A172715-6483-A017-4413-30126585F4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9952" y="1266485"/>
            <a:ext cx="8012095" cy="510009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01040" y="40195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800" dirty="0">
                <a:solidFill>
                  <a:schemeClr val="bg1"/>
                </a:solidFill>
              </a:rPr>
              <a:t>1045 - </a:t>
            </a:r>
            <a:r>
              <a:rPr lang="en-US" altLang="zh-CN" sz="2800" dirty="0" err="1">
                <a:solidFill>
                  <a:schemeClr val="bg1"/>
                </a:solidFill>
              </a:rPr>
              <a:t>解题思路</a:t>
            </a:r>
            <a:endParaRPr lang="en-US" altLang="zh-CN" sz="2800" dirty="0">
              <a:solidFill>
                <a:schemeClr val="bg1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432C6F3-9B0B-A3BD-01F6-744A6FDDFD9B}"/>
              </a:ext>
            </a:extLst>
          </p:cNvPr>
          <p:cNvSpPr txBox="1"/>
          <p:nvPr/>
        </p:nvSpPr>
        <p:spPr>
          <a:xfrm>
            <a:off x="835025" y="1334770"/>
            <a:ext cx="10521950" cy="2803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这个题目需要搞清楚大小写字母以及数字的</a:t>
            </a:r>
            <a:r>
              <a:rPr lang="en-US" altLang="zh-CN" sz="2400" dirty="0"/>
              <a:t>ASCII</a:t>
            </a:r>
            <a:r>
              <a:rPr lang="zh-CN" altLang="en-US" sz="2400" dirty="0"/>
              <a:t>编码范围及转换。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在此引入标志位的概念。通过设置标志位可以用于确定某一项是否需要输出。</a:t>
            </a:r>
            <a:endParaRPr lang="en-US" altLang="zh-CN" sz="2400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比如在示例代码中，遇到数字时，将其置</a:t>
            </a:r>
            <a:r>
              <a:rPr lang="en-US" altLang="zh-CN" sz="2400" dirty="0"/>
              <a:t>0</a:t>
            </a:r>
            <a:r>
              <a:rPr lang="zh-CN" altLang="en-US" sz="2400" dirty="0"/>
              <a:t>；后面在输出的时候，如果碰到</a:t>
            </a:r>
            <a:r>
              <a:rPr lang="en-US" altLang="zh-CN" sz="2400" dirty="0"/>
              <a:t>0</a:t>
            </a:r>
            <a:r>
              <a:rPr lang="zh-CN" altLang="en-US" sz="2400" dirty="0"/>
              <a:t>就不输出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01040" y="40195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800" dirty="0">
                <a:solidFill>
                  <a:schemeClr val="bg1"/>
                </a:solidFill>
              </a:rPr>
              <a:t>1045 - </a:t>
            </a:r>
            <a:r>
              <a:rPr lang="en-US" altLang="zh-CN" sz="2800" dirty="0" err="1">
                <a:solidFill>
                  <a:schemeClr val="bg1"/>
                </a:solidFill>
              </a:rPr>
              <a:t>核心代码</a:t>
            </a:r>
            <a:endParaRPr lang="en-US" altLang="zh-CN" sz="2800" dirty="0">
              <a:solidFill>
                <a:schemeClr val="bg1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F6437C4-80E6-5BB2-0DA3-88E611F201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4494" y="1469520"/>
            <a:ext cx="3723012" cy="39189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01040" y="40195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800" dirty="0">
                <a:solidFill>
                  <a:schemeClr val="bg1"/>
                </a:solidFill>
              </a:rPr>
              <a:t>1142 - </a:t>
            </a:r>
            <a:r>
              <a:rPr lang="en-US" altLang="zh-CN" sz="2800" dirty="0" err="1">
                <a:solidFill>
                  <a:schemeClr val="bg1"/>
                </a:solidFill>
              </a:rPr>
              <a:t>题目</a:t>
            </a:r>
            <a:endParaRPr lang="en-US" altLang="zh-CN" sz="2800" dirty="0">
              <a:solidFill>
                <a:schemeClr val="bg1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707B073-F423-0A2E-9F00-72F4E8E93D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8322" y="1116287"/>
            <a:ext cx="5675355" cy="569825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01040" y="40195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800" dirty="0">
                <a:solidFill>
                  <a:schemeClr val="bg1"/>
                </a:solidFill>
              </a:rPr>
              <a:t>1142 - </a:t>
            </a:r>
            <a:r>
              <a:rPr lang="en-US" altLang="zh-CN" sz="2800" dirty="0" err="1">
                <a:solidFill>
                  <a:schemeClr val="bg1"/>
                </a:solidFill>
              </a:rPr>
              <a:t>解题思路</a:t>
            </a:r>
            <a:endParaRPr lang="en-US" altLang="zh-CN" sz="2800" dirty="0">
              <a:solidFill>
                <a:schemeClr val="bg1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BCFA34B-80A8-6385-4009-11362564AB81}"/>
              </a:ext>
            </a:extLst>
          </p:cNvPr>
          <p:cNvSpPr txBox="1"/>
          <p:nvPr/>
        </p:nvSpPr>
        <p:spPr>
          <a:xfrm>
            <a:off x="835025" y="1334770"/>
            <a:ext cx="105219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这个题目需要搞清楚题目中设定的矩阵旋转的概念，通过示例找到旋转规则。</a:t>
            </a:r>
            <a:endParaRPr lang="en-US" altLang="zh-CN" sz="2400" dirty="0"/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52180DA0-BE4A-4BFA-6818-A01E610102A4}"/>
              </a:ext>
            </a:extLst>
          </p:cNvPr>
          <p:cNvGrpSpPr/>
          <p:nvPr/>
        </p:nvGrpSpPr>
        <p:grpSpPr>
          <a:xfrm>
            <a:off x="2100392" y="2107843"/>
            <a:ext cx="7991216" cy="3844285"/>
            <a:chOff x="1035218" y="2107843"/>
            <a:chExt cx="7991216" cy="3844285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BB5DD37D-528B-17E0-B504-929FC1132E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35218" y="2267301"/>
              <a:ext cx="2118518" cy="1799601"/>
            </a:xfrm>
            <a:prstGeom prst="rect">
              <a:avLst/>
            </a:prstGeom>
          </p:spPr>
        </p:pic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4A49C256-C20D-6DE6-FC65-5C8385033E4C}"/>
                </a:ext>
              </a:extLst>
            </p:cNvPr>
            <p:cNvSpPr txBox="1"/>
            <p:nvPr/>
          </p:nvSpPr>
          <p:spPr>
            <a:xfrm>
              <a:off x="1409791" y="4076103"/>
              <a:ext cx="12927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/>
                <a:t>原矩阵</a:t>
              </a:r>
              <a:endParaRPr lang="en-US" altLang="zh-CN" sz="2400" dirty="0"/>
            </a:p>
          </p:txBody>
        </p:sp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F75DEC74-5B6B-9738-6D12-F90658AB63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3744082" y="2267301"/>
              <a:ext cx="2118518" cy="1799601"/>
            </a:xfrm>
            <a:prstGeom prst="rect">
              <a:avLst/>
            </a:prstGeom>
          </p:spPr>
        </p:pic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A0DEF11C-662A-D57A-19D4-AC63D46B9ADE}"/>
                </a:ext>
              </a:extLst>
            </p:cNvPr>
            <p:cNvSpPr txBox="1"/>
            <p:nvPr/>
          </p:nvSpPr>
          <p:spPr>
            <a:xfrm>
              <a:off x="3638513" y="4076103"/>
              <a:ext cx="22240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/>
                <a:t>顺时针旋转</a:t>
              </a:r>
              <a:r>
                <a:rPr lang="en-US" altLang="zh-CN" sz="2400" dirty="0"/>
                <a:t>90°</a:t>
              </a:r>
            </a:p>
          </p:txBody>
        </p:sp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96FBAE83-B323-5C2A-43CC-E168E5ED82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0800000">
              <a:off x="6452946" y="2267301"/>
              <a:ext cx="2118518" cy="1799601"/>
            </a:xfrm>
            <a:prstGeom prst="rect">
              <a:avLst/>
            </a:prstGeom>
          </p:spPr>
        </p:pic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58CD51FE-26A7-9BFD-B573-F7990369E99F}"/>
                </a:ext>
              </a:extLst>
            </p:cNvPr>
            <p:cNvSpPr txBox="1"/>
            <p:nvPr/>
          </p:nvSpPr>
          <p:spPr>
            <a:xfrm>
              <a:off x="6209211" y="4076103"/>
              <a:ext cx="281722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/>
                <a:t>顺时针旋转</a:t>
              </a:r>
              <a:r>
                <a:rPr lang="en-US" altLang="zh-CN" sz="2400" dirty="0"/>
                <a:t>180°</a:t>
              </a: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236179E6-93D0-6B2A-AD1D-CB4FBFD27A09}"/>
                </a:ext>
              </a:extLst>
            </p:cNvPr>
            <p:cNvSpPr txBox="1"/>
            <p:nvPr/>
          </p:nvSpPr>
          <p:spPr>
            <a:xfrm>
              <a:off x="3638513" y="5121131"/>
              <a:ext cx="222408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/>
                <a:t>即原数组按列输出</a:t>
              </a:r>
              <a:endParaRPr lang="en-US" altLang="zh-CN" sz="2400" dirty="0"/>
            </a:p>
          </p:txBody>
        </p:sp>
        <p:sp>
          <p:nvSpPr>
            <p:cNvPr id="14" name="箭头: 下 13">
              <a:extLst>
                <a:ext uri="{FF2B5EF4-FFF2-40B4-BE49-F238E27FC236}">
                  <a16:creationId xmlns:a16="http://schemas.microsoft.com/office/drawing/2014/main" id="{B1F393EB-D3F6-6035-9F5B-164867FE7294}"/>
                </a:ext>
              </a:extLst>
            </p:cNvPr>
            <p:cNvSpPr/>
            <p:nvPr/>
          </p:nvSpPr>
          <p:spPr>
            <a:xfrm>
              <a:off x="4636573" y="4502331"/>
              <a:ext cx="256933" cy="561703"/>
            </a:xfrm>
            <a:prstGeom prst="downArrow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DD7799C0-BAA4-E07E-4F3C-CE13134153A2}"/>
                </a:ext>
              </a:extLst>
            </p:cNvPr>
            <p:cNvSpPr txBox="1"/>
            <p:nvPr/>
          </p:nvSpPr>
          <p:spPr>
            <a:xfrm>
              <a:off x="6452946" y="5121131"/>
              <a:ext cx="222408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/>
                <a:t>即原数组倒序输出</a:t>
              </a:r>
              <a:endParaRPr lang="en-US" altLang="zh-CN" sz="2400" dirty="0"/>
            </a:p>
          </p:txBody>
        </p:sp>
        <p:sp>
          <p:nvSpPr>
            <p:cNvPr id="17" name="箭头: 下 16">
              <a:extLst>
                <a:ext uri="{FF2B5EF4-FFF2-40B4-BE49-F238E27FC236}">
                  <a16:creationId xmlns:a16="http://schemas.microsoft.com/office/drawing/2014/main" id="{6493066C-095C-B44A-DDD5-F47CB0495F8B}"/>
                </a:ext>
              </a:extLst>
            </p:cNvPr>
            <p:cNvSpPr/>
            <p:nvPr/>
          </p:nvSpPr>
          <p:spPr>
            <a:xfrm>
              <a:off x="7451006" y="4502331"/>
              <a:ext cx="256933" cy="561703"/>
            </a:xfrm>
            <a:prstGeom prst="downArrow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01040" y="40195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800" dirty="0">
                <a:solidFill>
                  <a:schemeClr val="bg1"/>
                </a:solidFill>
              </a:rPr>
              <a:t>1142 - </a:t>
            </a:r>
            <a:r>
              <a:rPr lang="en-US" altLang="zh-CN" sz="2800" dirty="0" err="1">
                <a:solidFill>
                  <a:schemeClr val="bg1"/>
                </a:solidFill>
              </a:rPr>
              <a:t>核心代码</a:t>
            </a:r>
            <a:endParaRPr lang="en-US" altLang="zh-CN" sz="2800" dirty="0">
              <a:solidFill>
                <a:schemeClr val="bg1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760272C-FB0C-3C94-50E1-44046F51B7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7276" y="1396039"/>
            <a:ext cx="2917448" cy="406592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01040" y="40195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800" dirty="0">
                <a:solidFill>
                  <a:schemeClr val="bg1"/>
                </a:solidFill>
              </a:rPr>
              <a:t>1195 - </a:t>
            </a:r>
            <a:r>
              <a:rPr lang="en-US" altLang="zh-CN" sz="2800" dirty="0" err="1">
                <a:solidFill>
                  <a:schemeClr val="bg1"/>
                </a:solidFill>
              </a:rPr>
              <a:t>题目</a:t>
            </a:r>
            <a:endParaRPr lang="en-US" altLang="zh-CN" sz="2800" dirty="0">
              <a:solidFill>
                <a:schemeClr val="bg1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7F0A7B2-ED6B-EF5B-52F7-FB5F1DF7C6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2737" y="1204979"/>
            <a:ext cx="8066525" cy="530148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01040" y="40195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800" dirty="0">
                <a:solidFill>
                  <a:schemeClr val="bg1"/>
                </a:solidFill>
              </a:rPr>
              <a:t>1195 - </a:t>
            </a:r>
            <a:r>
              <a:rPr lang="en-US" altLang="zh-CN" sz="2800" dirty="0" err="1">
                <a:solidFill>
                  <a:schemeClr val="bg1"/>
                </a:solidFill>
              </a:rPr>
              <a:t>解题思路</a:t>
            </a:r>
            <a:endParaRPr lang="en-US" altLang="zh-CN" sz="2800" dirty="0">
              <a:solidFill>
                <a:schemeClr val="bg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6B399D0-A99A-A1AE-E6BC-EB5250FF0F20}"/>
              </a:ext>
            </a:extLst>
          </p:cNvPr>
          <p:cNvSpPr txBox="1"/>
          <p:nvPr/>
        </p:nvSpPr>
        <p:spPr>
          <a:xfrm>
            <a:off x="835025" y="1334770"/>
            <a:ext cx="10521950" cy="11413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这个题目需要搞清楚二进制相加的原则，同时需要注意进位的问题。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设置一个进位变量，用于记录上一次运算的进位情况。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01040" y="40195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800" dirty="0">
                <a:solidFill>
                  <a:schemeClr val="bg1"/>
                </a:solidFill>
              </a:rPr>
              <a:t>1195 - </a:t>
            </a:r>
            <a:r>
              <a:rPr lang="en-US" altLang="zh-CN" sz="2800" dirty="0" err="1">
                <a:solidFill>
                  <a:schemeClr val="bg1"/>
                </a:solidFill>
              </a:rPr>
              <a:t>核心代码</a:t>
            </a:r>
            <a:endParaRPr lang="en-US" altLang="zh-CN" sz="2800" dirty="0">
              <a:solidFill>
                <a:schemeClr val="bg1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CB9FEE3-CECF-EC33-F1C7-DED06CCD5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1518" y="2196160"/>
            <a:ext cx="3488963" cy="246567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01040" y="40195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800" dirty="0">
                <a:solidFill>
                  <a:schemeClr val="bg1"/>
                </a:solidFill>
              </a:rPr>
              <a:t>1213 - </a:t>
            </a:r>
            <a:r>
              <a:rPr lang="en-US" altLang="zh-CN" sz="2800" dirty="0" err="1">
                <a:solidFill>
                  <a:schemeClr val="bg1"/>
                </a:solidFill>
                <a:sym typeface="+mn-ea"/>
              </a:rPr>
              <a:t>题目</a:t>
            </a:r>
            <a:endParaRPr lang="en-US" altLang="zh-CN" sz="2800" dirty="0">
              <a:solidFill>
                <a:schemeClr val="bg1"/>
              </a:solidFill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CA84B0A-91CC-5786-8F82-1D7559FB55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3623" y="1330167"/>
            <a:ext cx="8044753" cy="509464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01040" y="40195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800" dirty="0">
                <a:solidFill>
                  <a:schemeClr val="bg1"/>
                </a:solidFill>
              </a:rPr>
              <a:t>1213 - </a:t>
            </a:r>
            <a:r>
              <a:rPr lang="en-US" altLang="zh-CN" sz="2800" dirty="0" err="1">
                <a:solidFill>
                  <a:schemeClr val="bg1"/>
                </a:solidFill>
              </a:rPr>
              <a:t>解题思路</a:t>
            </a:r>
            <a:endParaRPr lang="en-US" altLang="zh-CN" sz="2800" dirty="0">
              <a:solidFill>
                <a:schemeClr val="bg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D1D47CD-BF02-7765-7122-C7CB3FE4948E}"/>
              </a:ext>
            </a:extLst>
          </p:cNvPr>
          <p:cNvSpPr txBox="1"/>
          <p:nvPr/>
        </p:nvSpPr>
        <p:spPr>
          <a:xfrm>
            <a:off x="835025" y="1334770"/>
            <a:ext cx="10521950" cy="587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这个题目的输入中要求包含空格。可以用如下四种方式：</a:t>
            </a:r>
            <a:endParaRPr lang="en-US" altLang="zh-CN" sz="2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9D6491F-E588-E055-87DE-CE6717754A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025" y="1998043"/>
            <a:ext cx="4392501" cy="2182643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037C63CE-264A-A0DA-360B-B6876886162F}"/>
              </a:ext>
            </a:extLst>
          </p:cNvPr>
          <p:cNvSpPr txBox="1"/>
          <p:nvPr/>
        </p:nvSpPr>
        <p:spPr>
          <a:xfrm>
            <a:off x="835025" y="4256619"/>
            <a:ext cx="10521950" cy="22493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读取输入后，需要按照空格进行分割，并记录每个单词的起始位置、终止位置以及其长度。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注意，最后一个单词后面没有空格，所以需要单独计算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注意，如果多个单词长度相同，需要输出第一个。此项涉及比较时的取等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01040" y="40195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800" dirty="0">
                <a:solidFill>
                  <a:schemeClr val="bg1"/>
                </a:solidFill>
              </a:rPr>
              <a:t>1213 - </a:t>
            </a:r>
            <a:r>
              <a:rPr lang="en-US" altLang="zh-CN" sz="2800" dirty="0" err="1">
                <a:solidFill>
                  <a:schemeClr val="bg1"/>
                </a:solidFill>
              </a:rPr>
              <a:t>核心代码</a:t>
            </a:r>
            <a:endParaRPr lang="en-US" altLang="zh-CN" sz="2800" dirty="0">
              <a:solidFill>
                <a:schemeClr val="bg1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B157334-B662-307B-F9D0-D738ECA23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5567" y="1153826"/>
            <a:ext cx="3020865" cy="4550348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mJhNTgxZjI2ZmUzMDA4YjY3NzlhZjVmNmU0YTUzZmQ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442</TotalTime>
  <Words>456</Words>
  <Application>Microsoft Office PowerPoint</Application>
  <PresentationFormat>宽屏</PresentationFormat>
  <Paragraphs>51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29" baseType="lpstr">
      <vt:lpstr>Noto Sans S Chinese Black</vt:lpstr>
      <vt:lpstr>Arial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XiuMing Liu</cp:lastModifiedBy>
  <cp:revision>128</cp:revision>
  <dcterms:created xsi:type="dcterms:W3CDTF">2023-08-09T12:44:00Z</dcterms:created>
  <dcterms:modified xsi:type="dcterms:W3CDTF">2024-11-10T13:08:06Z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2052-12.1.0.18608</vt:lpwstr>
  </property>
</Properties>
</file>